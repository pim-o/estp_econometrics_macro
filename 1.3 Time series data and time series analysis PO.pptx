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4"/>
  </p:sldMasterIdLst>
  <p:notesMasterIdLst>
    <p:notesMasterId r:id="rId64"/>
  </p:notesMasterIdLst>
  <p:handoutMasterIdLst>
    <p:handoutMasterId r:id="rId65"/>
  </p:handoutMasterIdLst>
  <p:sldIdLst>
    <p:sldId id="262" r:id="rId5"/>
    <p:sldId id="264" r:id="rId6"/>
    <p:sldId id="879" r:id="rId7"/>
    <p:sldId id="272" r:id="rId8"/>
    <p:sldId id="273" r:id="rId9"/>
    <p:sldId id="885" r:id="rId10"/>
    <p:sldId id="886" r:id="rId11"/>
    <p:sldId id="887" r:id="rId12"/>
    <p:sldId id="968" r:id="rId13"/>
    <p:sldId id="319" r:id="rId14"/>
    <p:sldId id="802" r:id="rId15"/>
    <p:sldId id="291" r:id="rId16"/>
    <p:sldId id="876" r:id="rId17"/>
    <p:sldId id="877" r:id="rId18"/>
    <p:sldId id="970" r:id="rId19"/>
    <p:sldId id="295" r:id="rId20"/>
    <p:sldId id="817" r:id="rId21"/>
    <p:sldId id="316" r:id="rId22"/>
    <p:sldId id="317" r:id="rId23"/>
    <p:sldId id="318" r:id="rId24"/>
    <p:sldId id="959" r:id="rId25"/>
    <p:sldId id="961" r:id="rId26"/>
    <p:sldId id="997" r:id="rId27"/>
    <p:sldId id="928" r:id="rId28"/>
    <p:sldId id="975" r:id="rId29"/>
    <p:sldId id="979" r:id="rId30"/>
    <p:sldId id="933" r:id="rId31"/>
    <p:sldId id="1016" r:id="rId32"/>
    <p:sldId id="921" r:id="rId33"/>
    <p:sldId id="998" r:id="rId34"/>
    <p:sldId id="999" r:id="rId35"/>
    <p:sldId id="1001" r:id="rId36"/>
    <p:sldId id="976" r:id="rId37"/>
    <p:sldId id="937" r:id="rId38"/>
    <p:sldId id="938" r:id="rId39"/>
    <p:sldId id="1015" r:id="rId40"/>
    <p:sldId id="926" r:id="rId41"/>
    <p:sldId id="927" r:id="rId42"/>
    <p:sldId id="929" r:id="rId43"/>
    <p:sldId id="932" r:id="rId44"/>
    <p:sldId id="1018" r:id="rId45"/>
    <p:sldId id="882" r:id="rId46"/>
    <p:sldId id="982" r:id="rId47"/>
    <p:sldId id="984" r:id="rId48"/>
    <p:sldId id="995" r:id="rId49"/>
    <p:sldId id="1017" r:id="rId50"/>
    <p:sldId id="994" r:id="rId51"/>
    <p:sldId id="1008" r:id="rId52"/>
    <p:sldId id="986" r:id="rId53"/>
    <p:sldId id="1010" r:id="rId54"/>
    <p:sldId id="987" r:id="rId55"/>
    <p:sldId id="1012" r:id="rId56"/>
    <p:sldId id="1009" r:id="rId57"/>
    <p:sldId id="1013" r:id="rId58"/>
    <p:sldId id="985" r:id="rId59"/>
    <p:sldId id="988" r:id="rId60"/>
    <p:sldId id="990" r:id="rId61"/>
    <p:sldId id="991" r:id="rId62"/>
    <p:sldId id="261" r:id="rId63"/>
  </p:sldIdLst>
  <p:sldSz cx="12192000" cy="6858000"/>
  <p:notesSz cx="6858000" cy="9144000"/>
  <p:custDataLst>
    <p:tags r:id="rId6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9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73" roundtripDataSignature="AMtx7mh3YP3xexYcFoahXa2ehi0H5V4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4A7"/>
    <a:srgbClr val="101010"/>
    <a:srgbClr val="F4F4F4"/>
    <a:srgbClr val="104F99"/>
    <a:srgbClr val="0E47CB"/>
    <a:srgbClr val="003180"/>
    <a:srgbClr val="0A2744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9" autoAdjust="0"/>
    <p:restoredTop sz="81100" autoAdjust="0"/>
  </p:normalViewPr>
  <p:slideViewPr>
    <p:cSldViewPr snapToGrid="0">
      <p:cViewPr varScale="1">
        <p:scale>
          <a:sx n="153" d="100"/>
          <a:sy n="153" d="100"/>
        </p:scale>
        <p:origin x="156" y="192"/>
      </p:cViewPr>
      <p:guideLst>
        <p:guide orient="horz" pos="209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293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gs" Target="tags/tag1.xml"/><Relationship Id="rId74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notesMaster" Target="notesMasters/notesMaster1.xml"/><Relationship Id="rId7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handoutMaster" Target="handoutMasters/handoutMaster1.xml"/><Relationship Id="rId73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6D6800-DB9C-EBAC-83AC-5F9D7E2C8B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D1430-DB1F-C50E-E2CC-369D36DF27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B8CE-488C-4A7E-87F2-3AF6127C51C1}" type="datetimeFigureOut">
              <a:rPr lang="en-IE" smtClean="0"/>
              <a:t>02/10/2026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B46C1-E31F-1BE5-CF29-FC2D8EA3E2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38F49-91A1-E3F0-770A-4578CF8E58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F2F4C-E206-483F-A4B8-E82471BA527C}" type="slidenum">
              <a:rPr lang="en-IE" smtClean="0"/>
              <a:t>‹nr.›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9827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 Title Slid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898605-EE7A-6AAE-447A-080B2C6D22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 t="3042" b="3042"/>
          <a:stretch/>
        </p:blipFill>
        <p:spPr>
          <a:xfrm>
            <a:off x="-918" y="0"/>
            <a:ext cx="12192001" cy="6866879"/>
          </a:xfrm>
          <a:prstGeom prst="rect">
            <a:avLst/>
          </a:prstGeom>
        </p:spPr>
      </p:pic>
      <p:sp>
        <p:nvSpPr>
          <p:cNvPr id="19" name="Google Shape;19;p22"/>
          <p:cNvSpPr txBox="1">
            <a:spLocks noGrp="1"/>
          </p:cNvSpPr>
          <p:nvPr>
            <p:ph type="subTitle" idx="1"/>
          </p:nvPr>
        </p:nvSpPr>
        <p:spPr>
          <a:xfrm>
            <a:off x="1112521" y="3277775"/>
            <a:ext cx="3957106" cy="1745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i="0">
                <a:solidFill>
                  <a:schemeClr val="bg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09F257-77BC-80DD-CDE4-F5B22D7951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381876" y="3596720"/>
            <a:ext cx="4224858" cy="1374485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784A076C-4C5D-810C-C205-F06C49169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521" y="885018"/>
            <a:ext cx="9448800" cy="2037783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5F2B0E4-A35A-CFA1-4E98-55EAD82CE8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07994" y="5771588"/>
            <a:ext cx="2509626" cy="777875"/>
          </a:xfr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407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BA733-25B6-C4BB-1150-48850654F2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D3E27D-21BB-B8BD-0101-611C3D7A9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CD64-6B9A-81A2-BDB2-55DA96C9E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901951"/>
            <a:ext cx="10515597" cy="4194176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350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2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491114-E7C3-4716-7109-6FDE72E853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C1ABAA-9559-8C24-1A56-0668CC664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BC1E451-4262-316A-7418-6EF16E049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B9F341-14FC-51F5-105A-E4BFB54BFE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533867" y="1910188"/>
            <a:ext cx="5327092" cy="4240591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824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Object" preserve="1" userDrawn="1">
  <p:cSld name="Content and Object 3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1"/>
          <p:cNvSpPr txBox="1">
            <a:spLocks noGrp="1"/>
          </p:cNvSpPr>
          <p:nvPr>
            <p:ph type="title"/>
          </p:nvPr>
        </p:nvSpPr>
        <p:spPr>
          <a:xfrm>
            <a:off x="970722" y="413590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rgbClr val="2644A7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cxnSp>
        <p:nvCxnSpPr>
          <p:cNvPr id="177" name="Google Shape;177;p41"/>
          <p:cNvCxnSpPr>
            <a:cxnSpLocks/>
          </p:cNvCxnSpPr>
          <p:nvPr/>
        </p:nvCxnSpPr>
        <p:spPr>
          <a:xfrm>
            <a:off x="0" y="1552418"/>
            <a:ext cx="970722" cy="0"/>
          </a:xfrm>
          <a:prstGeom prst="straightConnector1">
            <a:avLst/>
          </a:prstGeom>
          <a:noFill/>
          <a:ln w="76200" cap="flat" cmpd="sng">
            <a:solidFill>
              <a:schemeClr val="accent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;p21">
            <a:extLst>
              <a:ext uri="{FF2B5EF4-FFF2-40B4-BE49-F238E27FC236}">
                <a16:creationId xmlns:a16="http://schemas.microsoft.com/office/drawing/2014/main" id="{C87DACA3-4A62-7EF9-9155-5CC0EBE6EC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9220B6-B4CB-BA59-8F58-4304C8D42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0723" y="1894895"/>
            <a:ext cx="5157787" cy="823912"/>
          </a:xfrm>
        </p:spPr>
        <p:txBody>
          <a:bodyPr wrap="square" anchor="t">
            <a:noAutofit/>
          </a:bodyPr>
          <a:lstStyle>
            <a:lvl1pPr marL="0" indent="0">
              <a:buNone/>
              <a:defRPr sz="2400" b="0" baseline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DB0ABC1-873A-F2DD-170F-E80FE4830D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3" y="2725735"/>
            <a:ext cx="5157787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57B6DC-82B6-DC47-2B36-FBA16BFA54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3134" y="1894895"/>
            <a:ext cx="5183188" cy="823912"/>
          </a:xfrm>
          <a:noFill/>
        </p:spPr>
        <p:txBody>
          <a:bodyPr wrap="square" anchor="t">
            <a:noAutofit/>
          </a:bodyPr>
          <a:lstStyle>
            <a:lvl1pPr marL="0" indent="0">
              <a:buNone/>
              <a:defRPr sz="2400" b="0">
                <a:solidFill>
                  <a:srgbClr val="2644A7"/>
                </a:solidFill>
              </a:defRPr>
            </a:lvl1pPr>
            <a:lvl2pPr marL="338383" indent="0">
              <a:buNone/>
              <a:defRPr sz="1480" b="1"/>
            </a:lvl2pPr>
            <a:lvl3pPr marL="676765" indent="0">
              <a:buNone/>
              <a:defRPr sz="1332" b="1"/>
            </a:lvl3pPr>
            <a:lvl4pPr marL="1015148" indent="0">
              <a:buNone/>
              <a:defRPr sz="1184" b="1"/>
            </a:lvl4pPr>
            <a:lvl5pPr marL="1353530" indent="0">
              <a:buNone/>
              <a:defRPr sz="1184" b="1"/>
            </a:lvl5pPr>
            <a:lvl6pPr marL="1691913" indent="0">
              <a:buNone/>
              <a:defRPr sz="1184" b="1"/>
            </a:lvl6pPr>
            <a:lvl7pPr marL="2030295" indent="0">
              <a:buNone/>
              <a:defRPr sz="1184" b="1"/>
            </a:lvl7pPr>
            <a:lvl8pPr marL="2368678" indent="0">
              <a:buNone/>
              <a:defRPr sz="1184" b="1"/>
            </a:lvl8pPr>
            <a:lvl9pPr marL="2707061" indent="0">
              <a:buNone/>
              <a:defRPr sz="118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95916A-C750-070D-C528-9F655246D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36BD-C483-ED07-0866-A0A591A0170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623D267-A36F-1DAC-4912-F3587711782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09559" y="2725735"/>
            <a:ext cx="5183188" cy="3384119"/>
          </a:xfrm>
        </p:spPr>
        <p:txBody>
          <a:bodyPr wrap="square">
            <a:noAutofit/>
          </a:bodyPr>
          <a:lstStyle>
            <a:lvl1pPr marL="342000" indent="-342000">
              <a:lnSpc>
                <a:spcPct val="90000"/>
              </a:lnSpc>
              <a:spcAft>
                <a:spcPts val="1000"/>
              </a:spcAft>
              <a:defRPr sz="2000">
                <a:solidFill>
                  <a:srgbClr val="101010"/>
                </a:solidFill>
              </a:defRPr>
            </a:lvl1pPr>
            <a:lvl2pPr marL="684000" indent="-342000">
              <a:spcBef>
                <a:spcPts val="0"/>
              </a:spcBef>
              <a:spcAft>
                <a:spcPts val="800"/>
              </a:spcAft>
              <a:defRPr sz="1800">
                <a:solidFill>
                  <a:srgbClr val="101010"/>
                </a:solidFill>
              </a:defRPr>
            </a:lvl2pPr>
            <a:lvl3pPr marL="97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600">
                <a:solidFill>
                  <a:srgbClr val="101010"/>
                </a:solidFill>
              </a:defRPr>
            </a:lvl3pPr>
            <a:lvl4pPr marL="1296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400">
                <a:solidFill>
                  <a:srgbClr val="101010"/>
                </a:solidFill>
              </a:defRPr>
            </a:lvl4pPr>
            <a:lvl5pPr marL="1620000" indent="-342000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defRPr sz="1200">
                <a:solidFill>
                  <a:srgbClr val="10101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344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st slide (option 1)" preserve="1" userDrawn="1">
  <p:cSld name="Last slide (option 1)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41;p37">
            <a:extLst>
              <a:ext uri="{FF2B5EF4-FFF2-40B4-BE49-F238E27FC236}">
                <a16:creationId xmlns:a16="http://schemas.microsoft.com/office/drawing/2014/main" id="{ACED6512-1BD5-58D6-D635-D62C0A34BF8C}"/>
              </a:ext>
            </a:extLst>
          </p:cNvPr>
          <p:cNvSpPr>
            <a:spLocks/>
          </p:cNvSpPr>
          <p:nvPr userDrawn="1"/>
        </p:nvSpPr>
        <p:spPr>
          <a:xfrm>
            <a:off x="0" y="3328560"/>
            <a:ext cx="12192000" cy="2913720"/>
          </a:xfrm>
          <a:prstGeom prst="rect">
            <a:avLst/>
          </a:prstGeom>
          <a:solidFill>
            <a:srgbClr val="2644A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7"/>
          <p:cNvSpPr txBox="1">
            <a:spLocks noGrp="1"/>
          </p:cNvSpPr>
          <p:nvPr>
            <p:ph type="body" idx="1"/>
          </p:nvPr>
        </p:nvSpPr>
        <p:spPr>
          <a:xfrm>
            <a:off x="970723" y="3777422"/>
            <a:ext cx="6865686" cy="2174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>
                <a:solidFill>
                  <a:srgbClr val="F4F4F4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2000"/>
              <a:buNone/>
              <a:defRPr/>
            </a:lvl2pPr>
            <a:lvl3pPr marL="1371600" lvl="2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CD49B01-566F-CA34-C636-83E50BFD4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2" y="414281"/>
            <a:ext cx="10515600" cy="2937139"/>
          </a:xfrm>
          <a:prstGeom prst="rect">
            <a:avLst/>
          </a:prstGeom>
        </p:spPr>
        <p:txBody>
          <a:bodyPr vert="horz" lIns="91440" tIns="45720" rIns="91440" bIns="0" rtlCol="0" anchor="ctr" anchorCtr="0">
            <a:noAutofit/>
          </a:bodyPr>
          <a:lstStyle>
            <a:lvl1pPr algn="ctr">
              <a:defRPr sz="4800">
                <a:solidFill>
                  <a:srgbClr val="10101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Google Shape;10;p21">
            <a:extLst>
              <a:ext uri="{FF2B5EF4-FFF2-40B4-BE49-F238E27FC236}">
                <a16:creationId xmlns:a16="http://schemas.microsoft.com/office/drawing/2014/main" id="{C209E83E-F338-C8C6-D016-6C5FE194EA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43733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GB" smtClean="0"/>
              <a:pPr/>
              <a:t>‹nr.›</a:t>
            </a:fld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6B8EBF-8A1C-818A-CBBC-1DC51D94C5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326539" y="5728720"/>
            <a:ext cx="1865461" cy="1130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541C9F-06FD-4BC7-C438-D852985D159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24731" y="6499013"/>
            <a:ext cx="1332000" cy="1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49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1"/>
            <a:ext cx="12192000" cy="989013"/>
          </a:xfrm>
          <a:prstGeom prst="rect">
            <a:avLst/>
          </a:prstGeom>
          <a:solidFill>
            <a:srgbClr val="0F5494"/>
          </a:solidFill>
          <a:ln>
            <a:solidFill>
              <a:srgbClr val="0F54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b="0"/>
          </a:p>
        </p:txBody>
      </p:sp>
      <p:pic>
        <p:nvPicPr>
          <p:cNvPr id="5" name="Picture 5" descr="LOGO CE-EN-NEG-quadri.ai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167" y="3175"/>
            <a:ext cx="2015067" cy="151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5683251" y="6669089"/>
            <a:ext cx="795867" cy="198437"/>
          </a:xfrm>
          <a:prstGeom prst="rect">
            <a:avLst/>
          </a:prstGeom>
          <a:solidFill>
            <a:srgbClr val="133176"/>
          </a:solidFill>
          <a:ln>
            <a:solidFill>
              <a:srgbClr val="1331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00" b="0" i="1" dirty="0">
                <a:solidFill>
                  <a:schemeClr val="bg1"/>
                </a:solidFill>
              </a:rPr>
              <a:t>Eurostat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4417" y="1556272"/>
            <a:ext cx="10972800" cy="9366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09600" y="2564904"/>
            <a:ext cx="10972800" cy="3633788"/>
          </a:xfrm>
        </p:spPr>
        <p:txBody>
          <a:bodyPr/>
          <a:lstStyle>
            <a:lvl1pPr marL="342900" indent="-342900">
              <a:buClr>
                <a:srgbClr val="0F5494"/>
              </a:buClr>
              <a:buFont typeface="Arial" pitchFamily="34" charset="0"/>
              <a:buChar char="•"/>
              <a:defRPr i="0"/>
            </a:lvl1pPr>
            <a:lvl2pPr>
              <a:buClr>
                <a:srgbClr val="0F5494"/>
              </a:buCl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33176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37289"/>
            <a:ext cx="3860800" cy="484187"/>
          </a:xfrm>
        </p:spPr>
        <p:txBody>
          <a:bodyPr/>
          <a:lstStyle>
            <a:lvl1pPr>
              <a:defRPr>
                <a:solidFill>
                  <a:srgbClr val="133176"/>
                </a:solidFill>
              </a:defRPr>
            </a:lvl1pPr>
          </a:lstStyle>
          <a:p>
            <a:pPr>
              <a:defRPr/>
            </a:pPr>
            <a:r>
              <a:rPr lang="en-US"/>
              <a:t>CONTRACTORS ORGANISING SOME OF THE COURSES ARE ACTING UNDER A FRAMEWORK CONTRACT CONCLUDED WITH THE COMMISSION</a:t>
            </a:r>
            <a:endParaRPr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33176"/>
                </a:solidFill>
              </a:defRPr>
            </a:lvl1pPr>
          </a:lstStyle>
          <a:p>
            <a:pPr>
              <a:defRPr/>
            </a:pPr>
            <a:fld id="{635DD6CB-0961-442F-A92A-F016252A940F}" type="slidenum">
              <a:rPr lang="en-GB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3866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oud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ianumm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600" smtClean="0"/>
              <a:pPr algn="ctr"/>
              <a:t>‹nr.›</a:t>
            </a:fld>
            <a:endParaRPr lang="nl-NL" sz="1600" dirty="0"/>
          </a:p>
        </p:txBody>
      </p:sp>
      <p:sp>
        <p:nvSpPr>
          <p:cNvPr id="10" name="Tijdelijke aanduiding voor tekst 9"/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1316765"/>
            <a:ext cx="10177131" cy="489654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200" spc="53" baseline="0">
                <a:solidFill>
                  <a:srgbClr val="271D6C"/>
                </a:solidFill>
                <a:latin typeface="Calibri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nl-NL" dirty="0"/>
              <a:t>Tekst</a:t>
            </a:r>
          </a:p>
        </p:txBody>
      </p:sp>
      <p:sp>
        <p:nvSpPr>
          <p:cNvPr id="13" name="Tijdelijke aanduiding voor tekst 9"/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452669"/>
            <a:ext cx="10177131" cy="672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 i="0" spc="80" baseline="0">
                <a:solidFill>
                  <a:srgbClr val="00A1CD"/>
                </a:solidFill>
                <a:latin typeface="Calibri" pitchFamily="34" charset="0"/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nl-NL" dirty="0"/>
              <a:t>Titel 1 regel</a:t>
            </a:r>
          </a:p>
        </p:txBody>
      </p:sp>
    </p:spTree>
    <p:extLst>
      <p:ext uri="{BB962C8B-B14F-4D97-AF65-F5344CB8AC3E}">
        <p14:creationId xmlns:p14="http://schemas.microsoft.com/office/powerpoint/2010/main" val="340728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838200" y="763064"/>
            <a:ext cx="10515600" cy="78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2" name="Google Shape;12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81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17" r:id="rId2"/>
    <p:sldLayoutId id="2147483724" r:id="rId3"/>
    <p:sldLayoutId id="2147483725" r:id="rId4"/>
    <p:sldLayoutId id="2147483723" r:id="rId5"/>
    <p:sldLayoutId id="2147483728" r:id="rId6"/>
    <p:sldLayoutId id="214748372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2644A7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emf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otexts.com/fpp3/stationarity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86E511-2A8E-CD8D-FA1D-6DDA5388C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2520" y="3277775"/>
            <a:ext cx="4185989" cy="1745469"/>
          </a:xfrm>
        </p:spPr>
        <p:txBody>
          <a:bodyPr/>
          <a:lstStyle/>
          <a:p>
            <a:r>
              <a:rPr lang="en-IE" dirty="0" err="1"/>
              <a:t>Dr.</a:t>
            </a:r>
            <a:r>
              <a:rPr lang="en-IE" dirty="0"/>
              <a:t> Pim Ouwehand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18E6D-618C-DDB2-DF84-26EB66F0C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1.3 Time series data and applications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A50BB-3958-DA6F-CD7B-74B9FFF5C4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E" dirty="0"/>
              <a:t>October 2026</a:t>
            </a:r>
          </a:p>
        </p:txBody>
      </p:sp>
    </p:spTree>
    <p:extLst>
      <p:ext uri="{BB962C8B-B14F-4D97-AF65-F5344CB8AC3E}">
        <p14:creationId xmlns:p14="http://schemas.microsoft.com/office/powerpoint/2010/main" val="2942376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47B82D-1991-13D2-5B62-76F0A40D0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Overview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255789A-21E5-9C30-4F36-E583237EE0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852A06D-3075-A521-72CD-ECC35A6951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What is a time series?</a:t>
            </a:r>
          </a:p>
          <a:p>
            <a:r>
              <a:rPr lang="en-US" sz="2400" dirty="0"/>
              <a:t>Time series components and properties</a:t>
            </a:r>
          </a:p>
          <a:p>
            <a:r>
              <a:rPr lang="en-US" sz="2400" dirty="0"/>
              <a:t>Economic relations between series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4224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47CF2-6362-D77C-DE37-E23F45E0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1121FB5-7EA3-21D0-AE46-9156313FF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A4D51-EA7E-19B5-7B8E-1145EA632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sz="3200" dirty="0"/>
              <a:t>Time series </a:t>
            </a:r>
            <a:r>
              <a:rPr lang="nl-NL" sz="3200" dirty="0" err="1"/>
              <a:t>decomposition</a:t>
            </a:r>
            <a:r>
              <a:rPr lang="nl-NL" sz="3200" dirty="0"/>
              <a:t> &amp; </a:t>
            </a:r>
          </a:p>
          <a:p>
            <a:pPr marL="0" indent="0" algn="ctr">
              <a:buNone/>
            </a:pPr>
            <a:r>
              <a:rPr lang="nl-NL" sz="3200" dirty="0"/>
              <a:t>Time series </a:t>
            </a:r>
            <a:r>
              <a:rPr lang="nl-NL" sz="3200" dirty="0" err="1"/>
              <a:t>components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409959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BCC20E-E94E-407C-036F-70D5410E4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Time series </a:t>
            </a:r>
            <a:r>
              <a:rPr lang="nl-NL" dirty="0" err="1"/>
              <a:t>modelling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AAAF001-694B-358E-32C9-B88BA5C762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84048AA-C6DA-7429-B2F5-E87092C656D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sz="2400" dirty="0" err="1"/>
              <a:t>Assumption</a:t>
            </a:r>
            <a:r>
              <a:rPr lang="nl-NL" sz="2400" dirty="0"/>
              <a:t>: time series </a:t>
            </a:r>
            <a:r>
              <a:rPr lang="nl-NL" sz="2400" dirty="0" err="1"/>
              <a:t>can</a:t>
            </a:r>
            <a:r>
              <a:rPr lang="nl-NL" sz="2400" dirty="0"/>
              <a:t>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decomposed</a:t>
            </a:r>
            <a:r>
              <a:rPr lang="nl-NL" sz="2400" dirty="0"/>
              <a:t> </a:t>
            </a:r>
            <a:r>
              <a:rPr lang="nl-NL" sz="2400" dirty="0" err="1"/>
              <a:t>into</a:t>
            </a:r>
            <a:r>
              <a:rPr lang="nl-NL" sz="2400" dirty="0"/>
              <a:t> </a:t>
            </a:r>
            <a:r>
              <a:rPr lang="nl-NL" sz="2400" dirty="0" err="1"/>
              <a:t>components</a:t>
            </a:r>
            <a:r>
              <a:rPr lang="nl-NL" sz="2400" dirty="0"/>
              <a:t> </a:t>
            </a:r>
          </a:p>
          <a:p>
            <a:pPr lvl="1"/>
            <a:r>
              <a:rPr lang="nl-NL" sz="2000" b="0" dirty="0"/>
              <a:t>Trend (long term </a:t>
            </a:r>
            <a:r>
              <a:rPr lang="nl-NL" sz="2000" b="0" dirty="0" err="1"/>
              <a:t>movement</a:t>
            </a:r>
            <a:r>
              <a:rPr lang="nl-NL" sz="2000" b="0" dirty="0"/>
              <a:t>)</a:t>
            </a:r>
          </a:p>
          <a:p>
            <a:pPr lvl="1"/>
            <a:r>
              <a:rPr lang="nl-NL" sz="2000" b="0" dirty="0" err="1"/>
              <a:t>Cycle</a:t>
            </a:r>
            <a:r>
              <a:rPr lang="nl-NL" sz="2000" b="0" dirty="0"/>
              <a:t> </a:t>
            </a:r>
            <a:r>
              <a:rPr lang="en-US" sz="2000" b="0" dirty="0"/>
              <a:t>(business cycle, without fixed frequency)</a:t>
            </a:r>
            <a:endParaRPr lang="nl-NL" sz="2000" b="0" dirty="0"/>
          </a:p>
          <a:p>
            <a:pPr lvl="1"/>
            <a:r>
              <a:rPr lang="nl-NL" sz="2000" b="0" dirty="0" err="1"/>
              <a:t>Seasonal</a:t>
            </a:r>
            <a:r>
              <a:rPr lang="nl-NL" sz="2000" b="0" dirty="0"/>
              <a:t> </a:t>
            </a:r>
          </a:p>
          <a:p>
            <a:pPr lvl="1"/>
            <a:r>
              <a:rPr lang="nl-NL" sz="2000" b="0" dirty="0" err="1"/>
              <a:t>Working</a:t>
            </a:r>
            <a:r>
              <a:rPr lang="nl-NL" sz="2000" b="0" dirty="0"/>
              <a:t> </a:t>
            </a:r>
            <a:r>
              <a:rPr lang="nl-NL" sz="2000" b="0" dirty="0" err="1"/>
              <a:t>days</a:t>
            </a:r>
            <a:endParaRPr lang="nl-NL" sz="2000" b="0" dirty="0"/>
          </a:p>
          <a:p>
            <a:pPr lvl="1"/>
            <a:r>
              <a:rPr lang="nl-NL" sz="2000" b="0" dirty="0" err="1"/>
              <a:t>Outlier</a:t>
            </a:r>
            <a:r>
              <a:rPr lang="nl-NL" sz="2000" b="0" dirty="0"/>
              <a:t> </a:t>
            </a:r>
          </a:p>
          <a:p>
            <a:pPr lvl="1"/>
            <a:r>
              <a:rPr lang="nl-NL" sz="2000" b="0" dirty="0" err="1"/>
              <a:t>Structural</a:t>
            </a:r>
            <a:r>
              <a:rPr lang="nl-NL" sz="2000" b="0" dirty="0"/>
              <a:t> breaks </a:t>
            </a:r>
          </a:p>
          <a:p>
            <a:pPr lvl="1"/>
            <a:r>
              <a:rPr lang="nl-NL" sz="2000" b="0" dirty="0"/>
              <a:t>… </a:t>
            </a:r>
          </a:p>
          <a:p>
            <a:pPr lvl="1"/>
            <a:r>
              <a:rPr lang="nl-NL" sz="2000" b="0" dirty="0" err="1"/>
              <a:t>Noise</a:t>
            </a:r>
            <a:r>
              <a:rPr lang="nl-NL" sz="2000" b="0" dirty="0"/>
              <a:t> / </a:t>
            </a:r>
            <a:r>
              <a:rPr lang="nl-NL" sz="2000" b="0" dirty="0" err="1"/>
              <a:t>irregular</a:t>
            </a:r>
            <a:endParaRPr lang="nl-NL" sz="2000" b="0" dirty="0"/>
          </a:p>
          <a:p>
            <a:r>
              <a:rPr lang="nl-NL" sz="2400" dirty="0" err="1"/>
              <a:t>Assumption</a:t>
            </a:r>
            <a:r>
              <a:rPr lang="nl-NL" sz="2400" dirty="0"/>
              <a:t>: model </a:t>
            </a:r>
            <a:r>
              <a:rPr lang="nl-NL" sz="2400" dirty="0" err="1"/>
              <a:t>specification</a:t>
            </a:r>
            <a:r>
              <a:rPr lang="nl-NL" sz="2400" dirty="0"/>
              <a:t> is </a:t>
            </a:r>
            <a:r>
              <a:rPr lang="nl-NL" sz="2400" dirty="0" err="1"/>
              <a:t>still</a:t>
            </a:r>
            <a:r>
              <a:rPr lang="nl-NL" sz="2400" dirty="0"/>
              <a:t> </a:t>
            </a:r>
            <a:r>
              <a:rPr lang="nl-NL" sz="2400" dirty="0" err="1"/>
              <a:t>valid</a:t>
            </a:r>
            <a:r>
              <a:rPr lang="nl-NL" sz="2400" dirty="0"/>
              <a:t> in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future</a:t>
            </a:r>
            <a:endParaRPr lang="nl-NL" sz="2400" dirty="0"/>
          </a:p>
          <a:p>
            <a:pPr lvl="1"/>
            <a:endParaRPr lang="nl-NL" sz="2000" dirty="0"/>
          </a:p>
          <a:p>
            <a:endParaRPr lang="nl-NL" sz="2400" dirty="0"/>
          </a:p>
          <a:p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3930010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9752A9-C70D-F4E9-21DB-73735E282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Time series </a:t>
            </a:r>
            <a:r>
              <a:rPr lang="nl-NL" dirty="0" err="1"/>
              <a:t>decomposition</a:t>
            </a:r>
            <a:r>
              <a:rPr lang="nl-NL" dirty="0"/>
              <a:t> (</a:t>
            </a:r>
            <a:r>
              <a:rPr lang="nl-NL" dirty="0" err="1"/>
              <a:t>example</a:t>
            </a:r>
            <a:r>
              <a:rPr lang="nl-NL" dirty="0"/>
              <a:t>)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2EA0D2A-E3F5-DCB4-4B0B-24C77CBB5D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0330824-65E2-1367-B5A9-FC3659E5A3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Picture 10">
            <a:extLst>
              <a:ext uri="{FF2B5EF4-FFF2-40B4-BE49-F238E27FC236}">
                <a16:creationId xmlns:a16="http://schemas.microsoft.com/office/drawing/2014/main" id="{046E9E82-5C91-A871-C7AD-49E02B5C36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827" y="3216926"/>
            <a:ext cx="1835818" cy="122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5CE29303-28A4-4669-E3DD-FB19BA4B14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085" y="1901951"/>
            <a:ext cx="1835818" cy="122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9">
            <a:extLst>
              <a:ext uri="{FF2B5EF4-FFF2-40B4-BE49-F238E27FC236}">
                <a16:creationId xmlns:a16="http://schemas.microsoft.com/office/drawing/2014/main" id="{5D323352-5CF8-DDC9-2EE7-B73F31C4D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099" y="4640034"/>
            <a:ext cx="1835818" cy="122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Line 14">
            <a:extLst>
              <a:ext uri="{FF2B5EF4-FFF2-40B4-BE49-F238E27FC236}">
                <a16:creationId xmlns:a16="http://schemas.microsoft.com/office/drawing/2014/main" id="{8E257987-8622-A839-65C5-C0C2AD230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5062" y="4479793"/>
            <a:ext cx="168363" cy="7158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08123" fontAlgn="auto">
              <a:spcBef>
                <a:spcPts val="0"/>
              </a:spcBef>
              <a:spcAft>
                <a:spcPts val="0"/>
              </a:spcAft>
            </a:pPr>
            <a:endParaRPr lang="nl-NL" sz="1600" b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9" name="Line 14">
            <a:extLst>
              <a:ext uri="{FF2B5EF4-FFF2-40B4-BE49-F238E27FC236}">
                <a16:creationId xmlns:a16="http://schemas.microsoft.com/office/drawing/2014/main" id="{D3881A50-CBE5-BA46-1648-2C18B3D204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85062" y="3904916"/>
            <a:ext cx="151885" cy="635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08123" fontAlgn="auto">
              <a:spcBef>
                <a:spcPts val="0"/>
              </a:spcBef>
              <a:spcAft>
                <a:spcPts val="0"/>
              </a:spcAft>
            </a:pPr>
            <a:endParaRPr lang="nl-NL" sz="1600" b="0">
              <a:solidFill>
                <a:prstClr val="black"/>
              </a:solidFill>
              <a:latin typeface="Calibri"/>
              <a:cs typeface="+mn-cs"/>
            </a:endParaRPr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C627E2CB-677D-7A44-9395-0234DD6BC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3033" y="3283700"/>
            <a:ext cx="1835818" cy="1225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Line 14">
            <a:extLst>
              <a:ext uri="{FF2B5EF4-FFF2-40B4-BE49-F238E27FC236}">
                <a16:creationId xmlns:a16="http://schemas.microsoft.com/office/drawing/2014/main" id="{D7C071A3-7D29-F560-5F94-3528A49F8B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2590" y="3252800"/>
            <a:ext cx="135404" cy="54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defTabSz="408123" fontAlgn="auto">
              <a:spcBef>
                <a:spcPts val="0"/>
              </a:spcBef>
              <a:spcAft>
                <a:spcPts val="0"/>
              </a:spcAft>
            </a:pPr>
            <a:endParaRPr lang="nl-NL" sz="1600" b="0">
              <a:solidFill>
                <a:prstClr val="black"/>
              </a:solidFill>
              <a:latin typeface="Calibri"/>
              <a:cs typeface="+mn-cs"/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12285A99-F879-8601-A4DB-CD2D6F0D652E}"/>
              </a:ext>
            </a:extLst>
          </p:cNvPr>
          <p:cNvSpPr txBox="1"/>
          <p:nvPr/>
        </p:nvSpPr>
        <p:spPr>
          <a:xfrm>
            <a:off x="4724400" y="1852003"/>
            <a:ext cx="1558137" cy="2000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700" b="1" dirty="0"/>
              <a:t>trend/</a:t>
            </a:r>
            <a:r>
              <a:rPr lang="nl-NL" sz="700" b="1" dirty="0" err="1"/>
              <a:t>trendcycle</a:t>
            </a:r>
            <a:endParaRPr lang="nl-NL" sz="1100" b="1" dirty="0"/>
          </a:p>
        </p:txBody>
      </p:sp>
    </p:spTree>
    <p:extLst>
      <p:ext uri="{BB962C8B-B14F-4D97-AF65-F5344CB8AC3E}">
        <p14:creationId xmlns:p14="http://schemas.microsoft.com/office/powerpoint/2010/main" val="2066979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el 50">
            <a:extLst>
              <a:ext uri="{FF2B5EF4-FFF2-40B4-BE49-F238E27FC236}">
                <a16:creationId xmlns:a16="http://schemas.microsoft.com/office/drawing/2014/main" id="{44D7374B-F19D-68B3-0498-275BD2DE8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Additive </a:t>
            </a:r>
            <a:r>
              <a:rPr lang="nl-NL" dirty="0" err="1"/>
              <a:t>decomposition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600"/>
              <a:pPr algn="ctr"/>
              <a:t>6</a:t>
            </a:fld>
            <a:endParaRPr lang="nl-NL" sz="16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sz="half" idx="2"/>
          </p:nvPr>
        </p:nvSpPr>
        <p:spPr>
          <a:xfrm>
            <a:off x="990778" y="1195947"/>
            <a:ext cx="10515597" cy="4194176"/>
          </a:xfrm>
        </p:spPr>
        <p:txBody>
          <a:bodyPr/>
          <a:lstStyle/>
          <a:p>
            <a:r>
              <a:rPr lang="nl-NL" sz="2400" dirty="0" err="1"/>
              <a:t>Y</a:t>
            </a:r>
            <a:r>
              <a:rPr lang="nl-NL" sz="2400" baseline="-25000" dirty="0" err="1"/>
              <a:t>t</a:t>
            </a:r>
            <a:r>
              <a:rPr lang="nl-NL" sz="2400" dirty="0"/>
              <a:t> = </a:t>
            </a:r>
            <a:r>
              <a:rPr lang="nl-NL" sz="2400" dirty="0" err="1"/>
              <a:t>TC</a:t>
            </a:r>
            <a:r>
              <a:rPr lang="nl-NL" sz="2400" baseline="-25000" dirty="0" err="1"/>
              <a:t>t</a:t>
            </a:r>
            <a:r>
              <a:rPr lang="nl-NL" sz="2400" dirty="0"/>
              <a:t> + S</a:t>
            </a:r>
            <a:r>
              <a:rPr lang="nl-NL" sz="2400" baseline="-25000" dirty="0"/>
              <a:t>t</a:t>
            </a:r>
            <a:r>
              <a:rPr lang="nl-NL" sz="2400" dirty="0"/>
              <a:t> + I</a:t>
            </a:r>
            <a:r>
              <a:rPr lang="nl-NL" sz="2400" baseline="-25000" dirty="0"/>
              <a:t>t</a:t>
            </a:r>
            <a:endParaRPr lang="nl-NL" sz="2400" dirty="0">
              <a:solidFill>
                <a:schemeClr val="tx2"/>
              </a:solidFill>
            </a:endParaRPr>
          </a:p>
          <a:p>
            <a:r>
              <a:rPr lang="nl-NL" sz="2400" dirty="0" err="1"/>
              <a:t>Seasonal</a:t>
            </a:r>
            <a:r>
              <a:rPr lang="nl-NL" sz="2400" dirty="0"/>
              <a:t> </a:t>
            </a:r>
            <a:r>
              <a:rPr lang="nl-NL" sz="2400" dirty="0" err="1"/>
              <a:t>fluctuations</a:t>
            </a:r>
            <a:r>
              <a:rPr lang="nl-NL" sz="2400" dirty="0"/>
              <a:t> (S</a:t>
            </a:r>
            <a:r>
              <a:rPr lang="nl-NL" sz="2400" baseline="-25000" dirty="0"/>
              <a:t>t</a:t>
            </a:r>
            <a:r>
              <a:rPr lang="nl-NL" sz="2400" dirty="0"/>
              <a:t>) are constant</a:t>
            </a:r>
          </a:p>
          <a:p>
            <a:endParaRPr lang="nl-NL" sz="2400" dirty="0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163240" y="2179803"/>
            <a:ext cx="9097434" cy="4099507"/>
            <a:chOff x="995" y="1632"/>
            <a:chExt cx="4298" cy="2500"/>
          </a:xfrm>
          <a:noFill/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706" y="3932"/>
              <a:ext cx="72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2272" y="3932"/>
              <a:ext cx="144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20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860" y="3932"/>
              <a:ext cx="144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40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3451" y="3932"/>
              <a:ext cx="144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60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038" y="3932"/>
              <a:ext cx="144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80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4604" y="3929"/>
              <a:ext cx="216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100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416" y="3786"/>
              <a:ext cx="3810" cy="0"/>
            </a:xfrm>
            <a:prstGeom prst="rect">
              <a:avLst/>
            </a:prstGeom>
            <a:grpFill/>
            <a:ln w="63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 flipV="1">
              <a:off x="1730" y="3786"/>
              <a:ext cx="1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V="1">
              <a:off x="2320" y="3786"/>
              <a:ext cx="0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V="1">
              <a:off x="2908" y="3786"/>
              <a:ext cx="1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V="1">
              <a:off x="3497" y="3786"/>
              <a:ext cx="1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V="1">
              <a:off x="4086" y="3786"/>
              <a:ext cx="1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V="1">
              <a:off x="4676" y="3786"/>
              <a:ext cx="0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1416" y="1683"/>
              <a:ext cx="3810" cy="0"/>
            </a:xfrm>
            <a:prstGeom prst="rect">
              <a:avLst/>
            </a:prstGeom>
            <a:grpFill/>
            <a:ln w="63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1730" y="1632"/>
              <a:ext cx="1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2320" y="1632"/>
              <a:ext cx="0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2908" y="1632"/>
              <a:ext cx="1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3497" y="1632"/>
              <a:ext cx="1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4086" y="1632"/>
              <a:ext cx="1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>
              <a:off x="4676" y="1632"/>
              <a:ext cx="0" cy="52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414" y="1684"/>
              <a:ext cx="1" cy="2102"/>
            </a:xfrm>
            <a:prstGeom prst="rect">
              <a:avLst/>
            </a:prstGeom>
            <a:grpFill/>
            <a:ln w="63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1349" y="3619"/>
              <a:ext cx="66" cy="1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1349" y="3325"/>
              <a:ext cx="66" cy="0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1349" y="3030"/>
              <a:ext cx="66" cy="1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1349" y="2735"/>
              <a:ext cx="66" cy="0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1349" y="2440"/>
              <a:ext cx="66" cy="1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1349" y="2145"/>
              <a:ext cx="66" cy="1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1349" y="1850"/>
              <a:ext cx="66" cy="0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5227" y="1684"/>
              <a:ext cx="1" cy="2102"/>
            </a:xfrm>
            <a:prstGeom prst="rect">
              <a:avLst/>
            </a:prstGeom>
            <a:grpFill/>
            <a:ln w="635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H="1">
              <a:off x="5227" y="3619"/>
              <a:ext cx="66" cy="1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 flipH="1">
              <a:off x="5227" y="3325"/>
              <a:ext cx="66" cy="0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 flipH="1">
              <a:off x="5227" y="3030"/>
              <a:ext cx="66" cy="1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 flipH="1">
              <a:off x="5227" y="2735"/>
              <a:ext cx="66" cy="0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 flipH="1">
              <a:off x="5227" y="2440"/>
              <a:ext cx="66" cy="1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 flipH="1">
              <a:off x="5227" y="2145"/>
              <a:ext cx="66" cy="1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 flipH="1">
              <a:off x="5227" y="1850"/>
              <a:ext cx="66" cy="0"/>
            </a:xfrm>
            <a:prstGeom prst="line">
              <a:avLst/>
            </a:prstGeom>
            <a:grpFill/>
            <a:ln w="635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1220" y="3636"/>
              <a:ext cx="115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-1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1256" y="3341"/>
              <a:ext cx="72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1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1256" y="3046"/>
              <a:ext cx="72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3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1256" y="2753"/>
              <a:ext cx="72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5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1256" y="2459"/>
              <a:ext cx="72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7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1256" y="2162"/>
              <a:ext cx="72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9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1208" y="1866"/>
              <a:ext cx="144" cy="2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11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 rot="5400000">
              <a:off x="1017" y="2729"/>
              <a:ext cx="111" cy="15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2133">
                  <a:solidFill>
                    <a:schemeClr val="accent2"/>
                  </a:solidFill>
                </a:rPr>
                <a:t>Y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50" name="Freeform 49"/>
            <p:cNvSpPr>
              <a:spLocks/>
            </p:cNvSpPr>
            <p:nvPr/>
          </p:nvSpPr>
          <p:spPr bwMode="auto">
            <a:xfrm>
              <a:off x="1789" y="1883"/>
              <a:ext cx="3123" cy="1664"/>
            </a:xfrm>
            <a:custGeom>
              <a:avLst/>
              <a:gdLst>
                <a:gd name="T0" fmla="*/ 13 w 4086"/>
                <a:gd name="T1" fmla="*/ 259 h 2751"/>
                <a:gd name="T2" fmla="*/ 39 w 4086"/>
                <a:gd name="T3" fmla="*/ 310 h 2751"/>
                <a:gd name="T4" fmla="*/ 66 w 4086"/>
                <a:gd name="T5" fmla="*/ 319 h 2751"/>
                <a:gd name="T6" fmla="*/ 92 w 4086"/>
                <a:gd name="T7" fmla="*/ 356 h 2751"/>
                <a:gd name="T8" fmla="*/ 118 w 4086"/>
                <a:gd name="T9" fmla="*/ 350 h 2751"/>
                <a:gd name="T10" fmla="*/ 145 w 4086"/>
                <a:gd name="T11" fmla="*/ 285 h 2751"/>
                <a:gd name="T12" fmla="*/ 171 w 4086"/>
                <a:gd name="T13" fmla="*/ 237 h 2751"/>
                <a:gd name="T14" fmla="*/ 197 w 4086"/>
                <a:gd name="T15" fmla="*/ 270 h 2751"/>
                <a:gd name="T16" fmla="*/ 224 w 4086"/>
                <a:gd name="T17" fmla="*/ 321 h 2751"/>
                <a:gd name="T18" fmla="*/ 249 w 4086"/>
                <a:gd name="T19" fmla="*/ 349 h 2751"/>
                <a:gd name="T20" fmla="*/ 276 w 4086"/>
                <a:gd name="T21" fmla="*/ 322 h 2751"/>
                <a:gd name="T22" fmla="*/ 302 w 4086"/>
                <a:gd name="T23" fmla="*/ 234 h 2751"/>
                <a:gd name="T24" fmla="*/ 329 w 4086"/>
                <a:gd name="T25" fmla="*/ 210 h 2751"/>
                <a:gd name="T26" fmla="*/ 355 w 4086"/>
                <a:gd name="T27" fmla="*/ 245 h 2751"/>
                <a:gd name="T28" fmla="*/ 381 w 4086"/>
                <a:gd name="T29" fmla="*/ 290 h 2751"/>
                <a:gd name="T30" fmla="*/ 407 w 4086"/>
                <a:gd name="T31" fmla="*/ 321 h 2751"/>
                <a:gd name="T32" fmla="*/ 434 w 4086"/>
                <a:gd name="T33" fmla="*/ 274 h 2751"/>
                <a:gd name="T34" fmla="*/ 460 w 4086"/>
                <a:gd name="T35" fmla="*/ 240 h 2751"/>
                <a:gd name="T36" fmla="*/ 487 w 4086"/>
                <a:gd name="T37" fmla="*/ 186 h 2751"/>
                <a:gd name="T38" fmla="*/ 514 w 4086"/>
                <a:gd name="T39" fmla="*/ 229 h 2751"/>
                <a:gd name="T40" fmla="*/ 539 w 4086"/>
                <a:gd name="T41" fmla="*/ 275 h 2751"/>
                <a:gd name="T42" fmla="*/ 566 w 4086"/>
                <a:gd name="T43" fmla="*/ 290 h 2751"/>
                <a:gd name="T44" fmla="*/ 592 w 4086"/>
                <a:gd name="T45" fmla="*/ 259 h 2751"/>
                <a:gd name="T46" fmla="*/ 618 w 4086"/>
                <a:gd name="T47" fmla="*/ 186 h 2751"/>
                <a:gd name="T48" fmla="*/ 645 w 4086"/>
                <a:gd name="T49" fmla="*/ 174 h 2751"/>
                <a:gd name="T50" fmla="*/ 671 w 4086"/>
                <a:gd name="T51" fmla="*/ 197 h 2751"/>
                <a:gd name="T52" fmla="*/ 698 w 4086"/>
                <a:gd name="T53" fmla="*/ 222 h 2751"/>
                <a:gd name="T54" fmla="*/ 723 w 4086"/>
                <a:gd name="T55" fmla="*/ 250 h 2751"/>
                <a:gd name="T56" fmla="*/ 750 w 4086"/>
                <a:gd name="T57" fmla="*/ 218 h 2751"/>
                <a:gd name="T58" fmla="*/ 777 w 4086"/>
                <a:gd name="T59" fmla="*/ 137 h 2751"/>
                <a:gd name="T60" fmla="*/ 803 w 4086"/>
                <a:gd name="T61" fmla="*/ 124 h 2751"/>
                <a:gd name="T62" fmla="*/ 829 w 4086"/>
                <a:gd name="T63" fmla="*/ 151 h 2751"/>
                <a:gd name="T64" fmla="*/ 855 w 4086"/>
                <a:gd name="T65" fmla="*/ 202 h 2751"/>
                <a:gd name="T66" fmla="*/ 881 w 4086"/>
                <a:gd name="T67" fmla="*/ 233 h 2751"/>
                <a:gd name="T68" fmla="*/ 908 w 4086"/>
                <a:gd name="T69" fmla="*/ 188 h 2751"/>
                <a:gd name="T70" fmla="*/ 934 w 4086"/>
                <a:gd name="T71" fmla="*/ 121 h 2751"/>
                <a:gd name="T72" fmla="*/ 961 w 4086"/>
                <a:gd name="T73" fmla="*/ 87 h 2751"/>
                <a:gd name="T74" fmla="*/ 987 w 4086"/>
                <a:gd name="T75" fmla="*/ 135 h 2751"/>
                <a:gd name="T76" fmla="*/ 1013 w 4086"/>
                <a:gd name="T77" fmla="*/ 141 h 2751"/>
                <a:gd name="T78" fmla="*/ 1039 w 4086"/>
                <a:gd name="T79" fmla="*/ 174 h 2751"/>
                <a:gd name="T80" fmla="*/ 1065 w 4086"/>
                <a:gd name="T81" fmla="*/ 165 h 2751"/>
                <a:gd name="T82" fmla="*/ 1092 w 4086"/>
                <a:gd name="T83" fmla="*/ 98 h 2751"/>
                <a:gd name="T84" fmla="*/ 1119 w 4086"/>
                <a:gd name="T85" fmla="*/ 45 h 2751"/>
                <a:gd name="T86" fmla="*/ 1144 w 4086"/>
                <a:gd name="T87" fmla="*/ 76 h 2751"/>
                <a:gd name="T88" fmla="*/ 1171 w 4086"/>
                <a:gd name="T89" fmla="*/ 123 h 2751"/>
                <a:gd name="T90" fmla="*/ 1197 w 4086"/>
                <a:gd name="T91" fmla="*/ 149 h 2751"/>
                <a:gd name="T92" fmla="*/ 1223 w 4086"/>
                <a:gd name="T93" fmla="*/ 119 h 2751"/>
                <a:gd name="T94" fmla="*/ 1250 w 4086"/>
                <a:gd name="T95" fmla="*/ 27 h 2751"/>
                <a:gd name="T96" fmla="*/ 1276 w 4086"/>
                <a:gd name="T97" fmla="*/ 0 h 2751"/>
                <a:gd name="T98" fmla="*/ 1302 w 4086"/>
                <a:gd name="T99" fmla="*/ 31 h 2751"/>
                <a:gd name="T100" fmla="*/ 1329 w 4086"/>
                <a:gd name="T101" fmla="*/ 74 h 2751"/>
                <a:gd name="T102" fmla="*/ 1355 w 4086"/>
                <a:gd name="T103" fmla="*/ 100 h 2751"/>
                <a:gd name="T104" fmla="*/ 1382 w 4086"/>
                <a:gd name="T105" fmla="*/ 51 h 275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4086" h="2751">
                  <a:moveTo>
                    <a:pt x="0" y="1989"/>
                  </a:moveTo>
                  <a:lnTo>
                    <a:pt x="38" y="1935"/>
                  </a:lnTo>
                  <a:lnTo>
                    <a:pt x="77" y="2038"/>
                  </a:lnTo>
                  <a:lnTo>
                    <a:pt x="115" y="2318"/>
                  </a:lnTo>
                  <a:lnTo>
                    <a:pt x="154" y="2241"/>
                  </a:lnTo>
                  <a:lnTo>
                    <a:pt x="192" y="2385"/>
                  </a:lnTo>
                  <a:lnTo>
                    <a:pt x="231" y="2751"/>
                  </a:lnTo>
                  <a:lnTo>
                    <a:pt x="269" y="2656"/>
                  </a:lnTo>
                  <a:lnTo>
                    <a:pt x="307" y="2742"/>
                  </a:lnTo>
                  <a:lnTo>
                    <a:pt x="347" y="2611"/>
                  </a:lnTo>
                  <a:lnTo>
                    <a:pt x="385" y="2155"/>
                  </a:lnTo>
                  <a:lnTo>
                    <a:pt x="424" y="2135"/>
                  </a:lnTo>
                  <a:lnTo>
                    <a:pt x="462" y="1786"/>
                  </a:lnTo>
                  <a:lnTo>
                    <a:pt x="501" y="1766"/>
                  </a:lnTo>
                  <a:lnTo>
                    <a:pt x="539" y="1881"/>
                  </a:lnTo>
                  <a:lnTo>
                    <a:pt x="578" y="2017"/>
                  </a:lnTo>
                  <a:lnTo>
                    <a:pt x="616" y="2356"/>
                  </a:lnTo>
                  <a:lnTo>
                    <a:pt x="656" y="2399"/>
                  </a:lnTo>
                  <a:lnTo>
                    <a:pt x="694" y="2711"/>
                  </a:lnTo>
                  <a:lnTo>
                    <a:pt x="731" y="2609"/>
                  </a:lnTo>
                  <a:lnTo>
                    <a:pt x="771" y="2495"/>
                  </a:lnTo>
                  <a:lnTo>
                    <a:pt x="809" y="2409"/>
                  </a:lnTo>
                  <a:lnTo>
                    <a:pt x="848" y="2136"/>
                  </a:lnTo>
                  <a:lnTo>
                    <a:pt x="886" y="1747"/>
                  </a:lnTo>
                  <a:lnTo>
                    <a:pt x="925" y="1704"/>
                  </a:lnTo>
                  <a:lnTo>
                    <a:pt x="963" y="1572"/>
                  </a:lnTo>
                  <a:lnTo>
                    <a:pt x="1002" y="1700"/>
                  </a:lnTo>
                  <a:lnTo>
                    <a:pt x="1040" y="1828"/>
                  </a:lnTo>
                  <a:lnTo>
                    <a:pt x="1080" y="1895"/>
                  </a:lnTo>
                  <a:lnTo>
                    <a:pt x="1118" y="2171"/>
                  </a:lnTo>
                  <a:lnTo>
                    <a:pt x="1156" y="2259"/>
                  </a:lnTo>
                  <a:lnTo>
                    <a:pt x="1195" y="2395"/>
                  </a:lnTo>
                  <a:lnTo>
                    <a:pt x="1233" y="2188"/>
                  </a:lnTo>
                  <a:lnTo>
                    <a:pt x="1272" y="2048"/>
                  </a:lnTo>
                  <a:lnTo>
                    <a:pt x="1310" y="1848"/>
                  </a:lnTo>
                  <a:lnTo>
                    <a:pt x="1349" y="1789"/>
                  </a:lnTo>
                  <a:lnTo>
                    <a:pt x="1387" y="1342"/>
                  </a:lnTo>
                  <a:lnTo>
                    <a:pt x="1427" y="1391"/>
                  </a:lnTo>
                  <a:lnTo>
                    <a:pt x="1464" y="1369"/>
                  </a:lnTo>
                  <a:lnTo>
                    <a:pt x="1504" y="1708"/>
                  </a:lnTo>
                  <a:lnTo>
                    <a:pt x="1542" y="1816"/>
                  </a:lnTo>
                  <a:lnTo>
                    <a:pt x="1580" y="2051"/>
                  </a:lnTo>
                  <a:lnTo>
                    <a:pt x="1619" y="2112"/>
                  </a:lnTo>
                  <a:lnTo>
                    <a:pt x="1657" y="2165"/>
                  </a:lnTo>
                  <a:lnTo>
                    <a:pt x="1696" y="2065"/>
                  </a:lnTo>
                  <a:lnTo>
                    <a:pt x="1734" y="1940"/>
                  </a:lnTo>
                  <a:lnTo>
                    <a:pt x="1773" y="1712"/>
                  </a:lnTo>
                  <a:lnTo>
                    <a:pt x="1811" y="1389"/>
                  </a:lnTo>
                  <a:lnTo>
                    <a:pt x="1851" y="1113"/>
                  </a:lnTo>
                  <a:lnTo>
                    <a:pt x="1889" y="1299"/>
                  </a:lnTo>
                  <a:lnTo>
                    <a:pt x="1928" y="1032"/>
                  </a:lnTo>
                  <a:lnTo>
                    <a:pt x="1966" y="1472"/>
                  </a:lnTo>
                  <a:lnTo>
                    <a:pt x="2005" y="1628"/>
                  </a:lnTo>
                  <a:lnTo>
                    <a:pt x="2043" y="1659"/>
                  </a:lnTo>
                  <a:lnTo>
                    <a:pt x="2081" y="1892"/>
                  </a:lnTo>
                  <a:lnTo>
                    <a:pt x="2120" y="1871"/>
                  </a:lnTo>
                  <a:lnTo>
                    <a:pt x="2158" y="1964"/>
                  </a:lnTo>
                  <a:lnTo>
                    <a:pt x="2198" y="1631"/>
                  </a:lnTo>
                  <a:lnTo>
                    <a:pt x="2235" y="1569"/>
                  </a:lnTo>
                  <a:lnTo>
                    <a:pt x="2275" y="1018"/>
                  </a:lnTo>
                  <a:lnTo>
                    <a:pt x="2313" y="1010"/>
                  </a:lnTo>
                  <a:lnTo>
                    <a:pt x="2352" y="927"/>
                  </a:lnTo>
                  <a:lnTo>
                    <a:pt x="2390" y="852"/>
                  </a:lnTo>
                  <a:lnTo>
                    <a:pt x="2429" y="1132"/>
                  </a:lnTo>
                  <a:lnTo>
                    <a:pt x="2467" y="1423"/>
                  </a:lnTo>
                  <a:lnTo>
                    <a:pt x="2505" y="1513"/>
                  </a:lnTo>
                  <a:lnTo>
                    <a:pt x="2544" y="1642"/>
                  </a:lnTo>
                  <a:lnTo>
                    <a:pt x="2582" y="1740"/>
                  </a:lnTo>
                  <a:lnTo>
                    <a:pt x="2622" y="1547"/>
                  </a:lnTo>
                  <a:lnTo>
                    <a:pt x="2660" y="1405"/>
                  </a:lnTo>
                  <a:lnTo>
                    <a:pt x="2699" y="1223"/>
                  </a:lnTo>
                  <a:lnTo>
                    <a:pt x="2737" y="902"/>
                  </a:lnTo>
                  <a:lnTo>
                    <a:pt x="2776" y="718"/>
                  </a:lnTo>
                  <a:lnTo>
                    <a:pt x="2814" y="651"/>
                  </a:lnTo>
                  <a:lnTo>
                    <a:pt x="2853" y="743"/>
                  </a:lnTo>
                  <a:lnTo>
                    <a:pt x="2891" y="1012"/>
                  </a:lnTo>
                  <a:lnTo>
                    <a:pt x="2929" y="922"/>
                  </a:lnTo>
                  <a:lnTo>
                    <a:pt x="2968" y="1053"/>
                  </a:lnTo>
                  <a:lnTo>
                    <a:pt x="3006" y="1408"/>
                  </a:lnTo>
                  <a:lnTo>
                    <a:pt x="3046" y="1300"/>
                  </a:lnTo>
                  <a:lnTo>
                    <a:pt x="3084" y="1375"/>
                  </a:lnTo>
                  <a:lnTo>
                    <a:pt x="3123" y="1232"/>
                  </a:lnTo>
                  <a:lnTo>
                    <a:pt x="3161" y="764"/>
                  </a:lnTo>
                  <a:lnTo>
                    <a:pt x="3200" y="732"/>
                  </a:lnTo>
                  <a:lnTo>
                    <a:pt x="3238" y="371"/>
                  </a:lnTo>
                  <a:lnTo>
                    <a:pt x="3277" y="339"/>
                  </a:lnTo>
                  <a:lnTo>
                    <a:pt x="3315" y="442"/>
                  </a:lnTo>
                  <a:lnTo>
                    <a:pt x="3353" y="566"/>
                  </a:lnTo>
                  <a:lnTo>
                    <a:pt x="3393" y="893"/>
                  </a:lnTo>
                  <a:lnTo>
                    <a:pt x="3431" y="924"/>
                  </a:lnTo>
                  <a:lnTo>
                    <a:pt x="3470" y="1223"/>
                  </a:lnTo>
                  <a:lnTo>
                    <a:pt x="3508" y="1109"/>
                  </a:lnTo>
                  <a:lnTo>
                    <a:pt x="3547" y="984"/>
                  </a:lnTo>
                  <a:lnTo>
                    <a:pt x="3585" y="885"/>
                  </a:lnTo>
                  <a:lnTo>
                    <a:pt x="3624" y="600"/>
                  </a:lnTo>
                  <a:lnTo>
                    <a:pt x="3662" y="200"/>
                  </a:lnTo>
                  <a:lnTo>
                    <a:pt x="3701" y="144"/>
                  </a:lnTo>
                  <a:lnTo>
                    <a:pt x="3739" y="0"/>
                  </a:lnTo>
                  <a:lnTo>
                    <a:pt x="3777" y="117"/>
                  </a:lnTo>
                  <a:lnTo>
                    <a:pt x="3817" y="232"/>
                  </a:lnTo>
                  <a:lnTo>
                    <a:pt x="3855" y="288"/>
                  </a:lnTo>
                  <a:lnTo>
                    <a:pt x="3894" y="551"/>
                  </a:lnTo>
                  <a:lnTo>
                    <a:pt x="3932" y="627"/>
                  </a:lnTo>
                  <a:lnTo>
                    <a:pt x="3971" y="751"/>
                  </a:lnTo>
                  <a:lnTo>
                    <a:pt x="4009" y="532"/>
                  </a:lnTo>
                  <a:lnTo>
                    <a:pt x="4048" y="380"/>
                  </a:lnTo>
                  <a:lnTo>
                    <a:pt x="4086" y="169"/>
                  </a:lnTo>
                </a:path>
              </a:pathLst>
            </a:custGeom>
            <a:grpFill/>
            <a:ln w="31750">
              <a:solidFill>
                <a:schemeClr val="tx2"/>
              </a:solidFill>
              <a:round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</p:grpSp>
    </p:spTree>
    <p:extLst>
      <p:ext uri="{BB962C8B-B14F-4D97-AF65-F5344CB8AC3E}">
        <p14:creationId xmlns:p14="http://schemas.microsoft.com/office/powerpoint/2010/main" val="2111531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el 51">
            <a:extLst>
              <a:ext uri="{FF2B5EF4-FFF2-40B4-BE49-F238E27FC236}">
                <a16:creationId xmlns:a16="http://schemas.microsoft.com/office/drawing/2014/main" id="{A9098A7F-D554-6433-5DAB-C9111832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Multiplicative</a:t>
            </a:r>
            <a:r>
              <a:rPr lang="nl-NL" dirty="0"/>
              <a:t> </a:t>
            </a:r>
            <a:r>
              <a:rPr lang="nl-NL" dirty="0" err="1"/>
              <a:t>decomposition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dianumm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600"/>
              <a:pPr algn="ctr"/>
              <a:t>7</a:t>
            </a:fld>
            <a:endParaRPr lang="nl-NL" sz="16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sz="half" idx="2"/>
          </p:nvPr>
        </p:nvSpPr>
        <p:spPr>
          <a:xfrm>
            <a:off x="970722" y="1264263"/>
            <a:ext cx="10515597" cy="5173068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nl-NL" sz="2400" dirty="0" err="1"/>
              <a:t>Y</a:t>
            </a:r>
            <a:r>
              <a:rPr lang="nl-NL" sz="2400" baseline="-25000" dirty="0" err="1"/>
              <a:t>t</a:t>
            </a:r>
            <a:r>
              <a:rPr lang="nl-NL" sz="2400" dirty="0"/>
              <a:t> = </a:t>
            </a:r>
            <a:r>
              <a:rPr lang="nl-NL" sz="2400" dirty="0" err="1"/>
              <a:t>TC</a:t>
            </a:r>
            <a:r>
              <a:rPr lang="nl-NL" sz="2400" baseline="-25000" dirty="0" err="1"/>
              <a:t>t</a:t>
            </a:r>
            <a:r>
              <a:rPr lang="nl-NL" sz="2400" dirty="0"/>
              <a:t> * S</a:t>
            </a:r>
            <a:r>
              <a:rPr lang="nl-NL" sz="2400" baseline="-25000" dirty="0"/>
              <a:t>t</a:t>
            </a:r>
            <a:r>
              <a:rPr lang="nl-NL" sz="2400" dirty="0"/>
              <a:t> * I</a:t>
            </a:r>
            <a:r>
              <a:rPr lang="nl-NL" sz="2400" baseline="-25000" dirty="0"/>
              <a:t>t</a:t>
            </a:r>
            <a:endParaRPr lang="nl-NL" sz="2400" dirty="0"/>
          </a:p>
          <a:p>
            <a:pPr>
              <a:lnSpc>
                <a:spcPct val="90000"/>
              </a:lnSpc>
            </a:pPr>
            <a:r>
              <a:rPr lang="nl-NL" sz="2400" dirty="0" err="1"/>
              <a:t>Seasonal</a:t>
            </a:r>
            <a:r>
              <a:rPr lang="nl-NL" sz="2400" dirty="0"/>
              <a:t> </a:t>
            </a:r>
            <a:r>
              <a:rPr lang="nl-NL" sz="2400" dirty="0" err="1"/>
              <a:t>fluctuations</a:t>
            </a:r>
            <a:r>
              <a:rPr lang="nl-NL" sz="2400" dirty="0"/>
              <a:t> (S</a:t>
            </a:r>
            <a:r>
              <a:rPr lang="nl-NL" sz="2400" baseline="-25000" dirty="0"/>
              <a:t>t</a:t>
            </a:r>
            <a:r>
              <a:rPr lang="nl-NL" sz="2400" dirty="0"/>
              <a:t>) </a:t>
            </a:r>
            <a:r>
              <a:rPr lang="nl-NL" sz="2400" dirty="0" err="1"/>
              <a:t>increase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level</a:t>
            </a:r>
          </a:p>
          <a:p>
            <a:pPr>
              <a:lnSpc>
                <a:spcPct val="90000"/>
              </a:lnSpc>
            </a:pPr>
            <a:endParaRPr lang="nl-NL" sz="2400" dirty="0"/>
          </a:p>
          <a:p>
            <a:pPr>
              <a:lnSpc>
                <a:spcPct val="90000"/>
              </a:lnSpc>
            </a:pPr>
            <a:endParaRPr lang="nl-NL" sz="2400" dirty="0"/>
          </a:p>
          <a:p>
            <a:pPr>
              <a:lnSpc>
                <a:spcPct val="90000"/>
              </a:lnSpc>
            </a:pPr>
            <a:endParaRPr lang="nl-NL" sz="2400" dirty="0"/>
          </a:p>
          <a:p>
            <a:pPr>
              <a:lnSpc>
                <a:spcPct val="90000"/>
              </a:lnSpc>
            </a:pPr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endParaRPr lang="nl-NL" sz="2400" dirty="0"/>
          </a:p>
          <a:p>
            <a:pPr marL="0" indent="0">
              <a:buNone/>
            </a:pPr>
            <a:r>
              <a:rPr lang="nl-NL" sz="2400" dirty="0"/>
              <a:t>Log-additive: log(</a:t>
            </a:r>
            <a:r>
              <a:rPr lang="nl-NL" sz="2400" dirty="0" err="1"/>
              <a:t>Y</a:t>
            </a:r>
            <a:r>
              <a:rPr lang="nl-NL" sz="2400" baseline="-25000" dirty="0" err="1"/>
              <a:t>t</a:t>
            </a:r>
            <a:r>
              <a:rPr lang="nl-NL" sz="2400" dirty="0"/>
              <a:t>) = log(</a:t>
            </a:r>
            <a:r>
              <a:rPr lang="nl-NL" sz="2400" dirty="0" err="1"/>
              <a:t>TC</a:t>
            </a:r>
            <a:r>
              <a:rPr lang="nl-NL" sz="2400" baseline="-25000" dirty="0" err="1"/>
              <a:t>t</a:t>
            </a:r>
            <a:r>
              <a:rPr lang="nl-NL" sz="2400" dirty="0"/>
              <a:t>) + log(S</a:t>
            </a:r>
            <a:r>
              <a:rPr lang="nl-NL" sz="2400" baseline="-25000" dirty="0"/>
              <a:t>t</a:t>
            </a:r>
            <a:r>
              <a:rPr lang="nl-NL" sz="2400" dirty="0"/>
              <a:t>) + log(I</a:t>
            </a:r>
            <a:r>
              <a:rPr lang="nl-NL" sz="2400" baseline="-25000" dirty="0"/>
              <a:t>t</a:t>
            </a:r>
            <a:r>
              <a:rPr lang="nl-NL" sz="2400" dirty="0"/>
              <a:t>)</a:t>
            </a:r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222507" y="2281568"/>
            <a:ext cx="8978901" cy="3261588"/>
            <a:chOff x="1116" y="1609"/>
            <a:chExt cx="4242" cy="1697"/>
          </a:xfrm>
        </p:grpSpPr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455" y="3132"/>
              <a:ext cx="3836" cy="0"/>
            </a:xfrm>
            <a:prstGeom prst="rect">
              <a:avLst/>
            </a:prstGeom>
            <a:solidFill>
              <a:srgbClr val="000000"/>
            </a:solidFill>
            <a:ln w="4763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 flipV="1">
              <a:off x="1771" y="3132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 flipV="1">
              <a:off x="2364" y="3132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2957" y="3132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V="1">
              <a:off x="3551" y="3132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V="1">
              <a:off x="4144" y="3132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V="1">
              <a:off x="4737" y="3132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1454" y="1645"/>
              <a:ext cx="3838" cy="1"/>
            </a:xfrm>
            <a:prstGeom prst="rect">
              <a:avLst/>
            </a:prstGeom>
            <a:solidFill>
              <a:srgbClr val="000000"/>
            </a:solidFill>
            <a:ln w="4763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1771" y="1609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2364" y="1609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2957" y="1609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3551" y="1609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4144" y="1609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4737" y="1609"/>
              <a:ext cx="1" cy="37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1747" y="3230"/>
              <a:ext cx="32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316" y="3230"/>
              <a:ext cx="64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20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909" y="3230"/>
              <a:ext cx="64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40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3502" y="3230"/>
              <a:ext cx="64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60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4095" y="3230"/>
              <a:ext cx="64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80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4664" y="3231"/>
              <a:ext cx="95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100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1454" y="1647"/>
              <a:ext cx="0" cy="1484"/>
            </a:xfrm>
            <a:prstGeom prst="rect">
              <a:avLst/>
            </a:prstGeom>
            <a:solidFill>
              <a:srgbClr val="000000"/>
            </a:solidFill>
            <a:ln w="4763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1388" y="3017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>
              <a:off x="1388" y="2808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1388" y="2598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1388" y="2389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1388" y="2179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2" name="Line 31"/>
            <p:cNvSpPr>
              <a:spLocks noChangeShapeType="1"/>
            </p:cNvSpPr>
            <p:nvPr/>
          </p:nvSpPr>
          <p:spPr bwMode="auto">
            <a:xfrm>
              <a:off x="1388" y="1970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1388" y="1760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5292" y="1647"/>
              <a:ext cx="0" cy="1484"/>
            </a:xfrm>
            <a:prstGeom prst="rect">
              <a:avLst/>
            </a:prstGeom>
            <a:solidFill>
              <a:srgbClr val="000000"/>
            </a:solidFill>
            <a:ln w="4763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 flipH="1">
              <a:off x="5292" y="3017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6" name="Line 35"/>
            <p:cNvSpPr>
              <a:spLocks noChangeShapeType="1"/>
            </p:cNvSpPr>
            <p:nvPr/>
          </p:nvSpPr>
          <p:spPr bwMode="auto">
            <a:xfrm flipH="1">
              <a:off x="5292" y="2808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 flipH="1">
              <a:off x="5292" y="2598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 flipH="1">
              <a:off x="5292" y="2389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39" name="Line 38"/>
            <p:cNvSpPr>
              <a:spLocks noChangeShapeType="1"/>
            </p:cNvSpPr>
            <p:nvPr/>
          </p:nvSpPr>
          <p:spPr bwMode="auto">
            <a:xfrm flipH="1">
              <a:off x="5292" y="2179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 flipH="1">
              <a:off x="5292" y="1970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41" name="Line 40"/>
            <p:cNvSpPr>
              <a:spLocks noChangeShapeType="1"/>
            </p:cNvSpPr>
            <p:nvPr/>
          </p:nvSpPr>
          <p:spPr bwMode="auto">
            <a:xfrm flipH="1">
              <a:off x="5292" y="1760"/>
              <a:ext cx="66" cy="1"/>
            </a:xfrm>
            <a:prstGeom prst="line">
              <a:avLst/>
            </a:prstGeom>
            <a:noFill/>
            <a:ln w="4763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1294" y="3030"/>
              <a:ext cx="32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1294" y="2818"/>
              <a:ext cx="32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2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1294" y="2608"/>
              <a:ext cx="32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4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1294" y="2399"/>
              <a:ext cx="32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6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1294" y="2192"/>
              <a:ext cx="32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8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1246" y="1981"/>
              <a:ext cx="64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10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1246" y="1770"/>
              <a:ext cx="64" cy="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accent2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12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 rot="5400000">
              <a:off x="1129" y="2388"/>
              <a:ext cx="4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1015975"/>
              <a:r>
                <a:rPr lang="nl-NL" sz="933">
                  <a:solidFill>
                    <a:schemeClr val="accent2"/>
                  </a:solidFill>
                </a:rPr>
                <a:t>Y</a:t>
              </a:r>
              <a:endParaRPr lang="nl-NL" sz="1867">
                <a:solidFill>
                  <a:schemeClr val="accent2"/>
                </a:solidFill>
              </a:endParaRPr>
            </a:p>
          </p:txBody>
        </p:sp>
        <p:sp>
          <p:nvSpPr>
            <p:cNvPr id="50" name="Freeform 49"/>
            <p:cNvSpPr>
              <a:spLocks/>
            </p:cNvSpPr>
            <p:nvPr/>
          </p:nvSpPr>
          <p:spPr bwMode="auto">
            <a:xfrm>
              <a:off x="1801" y="1765"/>
              <a:ext cx="3173" cy="1145"/>
            </a:xfrm>
            <a:custGeom>
              <a:avLst/>
              <a:gdLst>
                <a:gd name="T0" fmla="*/ 3 w 6347"/>
                <a:gd name="T1" fmla="*/ 139 h 2290"/>
                <a:gd name="T2" fmla="*/ 11 w 6347"/>
                <a:gd name="T3" fmla="*/ 136 h 2290"/>
                <a:gd name="T4" fmla="*/ 18 w 6347"/>
                <a:gd name="T5" fmla="*/ 140 h 2290"/>
                <a:gd name="T6" fmla="*/ 26 w 6347"/>
                <a:gd name="T7" fmla="*/ 144 h 2290"/>
                <a:gd name="T8" fmla="*/ 33 w 6347"/>
                <a:gd name="T9" fmla="*/ 141 h 2290"/>
                <a:gd name="T10" fmla="*/ 40 w 6347"/>
                <a:gd name="T11" fmla="*/ 135 h 2290"/>
                <a:gd name="T12" fmla="*/ 48 w 6347"/>
                <a:gd name="T13" fmla="*/ 126 h 2290"/>
                <a:gd name="T14" fmla="*/ 55 w 6347"/>
                <a:gd name="T15" fmla="*/ 126 h 2290"/>
                <a:gd name="T16" fmla="*/ 63 w 6347"/>
                <a:gd name="T17" fmla="*/ 131 h 2290"/>
                <a:gd name="T18" fmla="*/ 70 w 6347"/>
                <a:gd name="T19" fmla="*/ 139 h 2290"/>
                <a:gd name="T20" fmla="*/ 77 w 6347"/>
                <a:gd name="T21" fmla="*/ 135 h 2290"/>
                <a:gd name="T22" fmla="*/ 85 w 6347"/>
                <a:gd name="T23" fmla="*/ 128 h 2290"/>
                <a:gd name="T24" fmla="*/ 92 w 6347"/>
                <a:gd name="T25" fmla="*/ 114 h 2290"/>
                <a:gd name="T26" fmla="*/ 100 w 6347"/>
                <a:gd name="T27" fmla="*/ 115 h 2290"/>
                <a:gd name="T28" fmla="*/ 107 w 6347"/>
                <a:gd name="T29" fmla="*/ 120 h 2290"/>
                <a:gd name="T30" fmla="*/ 114 w 6347"/>
                <a:gd name="T31" fmla="*/ 128 h 2290"/>
                <a:gd name="T32" fmla="*/ 122 w 6347"/>
                <a:gd name="T33" fmla="*/ 130 h 2290"/>
                <a:gd name="T34" fmla="*/ 129 w 6347"/>
                <a:gd name="T35" fmla="*/ 114 h 2290"/>
                <a:gd name="T36" fmla="*/ 137 w 6347"/>
                <a:gd name="T37" fmla="*/ 105 h 2290"/>
                <a:gd name="T38" fmla="*/ 144 w 6347"/>
                <a:gd name="T39" fmla="*/ 95 h 2290"/>
                <a:gd name="T40" fmla="*/ 152 w 6347"/>
                <a:gd name="T41" fmla="*/ 105 h 2290"/>
                <a:gd name="T42" fmla="*/ 159 w 6347"/>
                <a:gd name="T43" fmla="*/ 114 h 2290"/>
                <a:gd name="T44" fmla="*/ 166 w 6347"/>
                <a:gd name="T45" fmla="*/ 121 h 2290"/>
                <a:gd name="T46" fmla="*/ 174 w 6347"/>
                <a:gd name="T47" fmla="*/ 104 h 2290"/>
                <a:gd name="T48" fmla="*/ 181 w 6347"/>
                <a:gd name="T49" fmla="*/ 86 h 2290"/>
                <a:gd name="T50" fmla="*/ 189 w 6347"/>
                <a:gd name="T51" fmla="*/ 84 h 2290"/>
                <a:gd name="T52" fmla="*/ 196 w 6347"/>
                <a:gd name="T53" fmla="*/ 96 h 2290"/>
                <a:gd name="T54" fmla="*/ 203 w 6347"/>
                <a:gd name="T55" fmla="*/ 117 h 2290"/>
                <a:gd name="T56" fmla="*/ 211 w 6347"/>
                <a:gd name="T57" fmla="*/ 107 h 2290"/>
                <a:gd name="T58" fmla="*/ 218 w 6347"/>
                <a:gd name="T59" fmla="*/ 82 h 2290"/>
                <a:gd name="T60" fmla="*/ 226 w 6347"/>
                <a:gd name="T61" fmla="*/ 76 h 2290"/>
                <a:gd name="T62" fmla="*/ 233 w 6347"/>
                <a:gd name="T63" fmla="*/ 72 h 2290"/>
                <a:gd name="T64" fmla="*/ 241 w 6347"/>
                <a:gd name="T65" fmla="*/ 91 h 2290"/>
                <a:gd name="T66" fmla="*/ 248 w 6347"/>
                <a:gd name="T67" fmla="*/ 109 h 2290"/>
                <a:gd name="T68" fmla="*/ 255 w 6347"/>
                <a:gd name="T69" fmla="*/ 99 h 2290"/>
                <a:gd name="T70" fmla="*/ 263 w 6347"/>
                <a:gd name="T71" fmla="*/ 69 h 2290"/>
                <a:gd name="T72" fmla="*/ 270 w 6347"/>
                <a:gd name="T73" fmla="*/ 56 h 2290"/>
                <a:gd name="T74" fmla="*/ 278 w 6347"/>
                <a:gd name="T75" fmla="*/ 41 h 2290"/>
                <a:gd name="T76" fmla="*/ 285 w 6347"/>
                <a:gd name="T77" fmla="*/ 70 h 2290"/>
                <a:gd name="T78" fmla="*/ 292 w 6347"/>
                <a:gd name="T79" fmla="*/ 91 h 2290"/>
                <a:gd name="T80" fmla="*/ 300 w 6347"/>
                <a:gd name="T81" fmla="*/ 81 h 2290"/>
                <a:gd name="T82" fmla="*/ 307 w 6347"/>
                <a:gd name="T83" fmla="*/ 57 h 2290"/>
                <a:gd name="T84" fmla="*/ 315 w 6347"/>
                <a:gd name="T85" fmla="*/ 22 h 2290"/>
                <a:gd name="T86" fmla="*/ 322 w 6347"/>
                <a:gd name="T87" fmla="*/ 24 h 2290"/>
                <a:gd name="T88" fmla="*/ 330 w 6347"/>
                <a:gd name="T89" fmla="*/ 53 h 2290"/>
                <a:gd name="T90" fmla="*/ 337 w 6347"/>
                <a:gd name="T91" fmla="*/ 85 h 2290"/>
                <a:gd name="T92" fmla="*/ 344 w 6347"/>
                <a:gd name="T93" fmla="*/ 73 h 2290"/>
                <a:gd name="T94" fmla="*/ 352 w 6347"/>
                <a:gd name="T95" fmla="*/ 48 h 2290"/>
                <a:gd name="T96" fmla="*/ 359 w 6347"/>
                <a:gd name="T97" fmla="*/ 0 h 2290"/>
                <a:gd name="T98" fmla="*/ 367 w 6347"/>
                <a:gd name="T99" fmla="*/ 9 h 2290"/>
                <a:gd name="T100" fmla="*/ 374 w 6347"/>
                <a:gd name="T101" fmla="*/ 29 h 2290"/>
                <a:gd name="T102" fmla="*/ 381 w 6347"/>
                <a:gd name="T103" fmla="*/ 60 h 2290"/>
                <a:gd name="T104" fmla="*/ 389 w 6347"/>
                <a:gd name="T105" fmla="*/ 69 h 2290"/>
                <a:gd name="T106" fmla="*/ 396 w 6347"/>
                <a:gd name="T107" fmla="*/ 20 h 229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347" h="2290">
                  <a:moveTo>
                    <a:pt x="0" y="2257"/>
                  </a:moveTo>
                  <a:lnTo>
                    <a:pt x="61" y="2224"/>
                  </a:lnTo>
                  <a:lnTo>
                    <a:pt x="119" y="2215"/>
                  </a:lnTo>
                  <a:lnTo>
                    <a:pt x="179" y="2165"/>
                  </a:lnTo>
                  <a:lnTo>
                    <a:pt x="238" y="2203"/>
                  </a:lnTo>
                  <a:lnTo>
                    <a:pt x="298" y="2235"/>
                  </a:lnTo>
                  <a:lnTo>
                    <a:pt x="357" y="2254"/>
                  </a:lnTo>
                  <a:lnTo>
                    <a:pt x="417" y="2290"/>
                  </a:lnTo>
                  <a:lnTo>
                    <a:pt x="475" y="2285"/>
                  </a:lnTo>
                  <a:lnTo>
                    <a:pt x="534" y="2247"/>
                  </a:lnTo>
                  <a:lnTo>
                    <a:pt x="594" y="2234"/>
                  </a:lnTo>
                  <a:lnTo>
                    <a:pt x="653" y="2155"/>
                  </a:lnTo>
                  <a:lnTo>
                    <a:pt x="713" y="2116"/>
                  </a:lnTo>
                  <a:lnTo>
                    <a:pt x="772" y="2010"/>
                  </a:lnTo>
                  <a:lnTo>
                    <a:pt x="832" y="2026"/>
                  </a:lnTo>
                  <a:lnTo>
                    <a:pt x="890" y="2002"/>
                  </a:lnTo>
                  <a:lnTo>
                    <a:pt x="951" y="2025"/>
                  </a:lnTo>
                  <a:lnTo>
                    <a:pt x="1009" y="2096"/>
                  </a:lnTo>
                  <a:lnTo>
                    <a:pt x="1069" y="2150"/>
                  </a:lnTo>
                  <a:lnTo>
                    <a:pt x="1128" y="2215"/>
                  </a:lnTo>
                  <a:lnTo>
                    <a:pt x="1186" y="2177"/>
                  </a:lnTo>
                  <a:lnTo>
                    <a:pt x="1247" y="2153"/>
                  </a:lnTo>
                  <a:lnTo>
                    <a:pt x="1305" y="2066"/>
                  </a:lnTo>
                  <a:lnTo>
                    <a:pt x="1366" y="2038"/>
                  </a:lnTo>
                  <a:lnTo>
                    <a:pt x="1424" y="1940"/>
                  </a:lnTo>
                  <a:lnTo>
                    <a:pt x="1484" y="1813"/>
                  </a:lnTo>
                  <a:lnTo>
                    <a:pt x="1543" y="1811"/>
                  </a:lnTo>
                  <a:lnTo>
                    <a:pt x="1603" y="1833"/>
                  </a:lnTo>
                  <a:lnTo>
                    <a:pt x="1662" y="1865"/>
                  </a:lnTo>
                  <a:lnTo>
                    <a:pt x="1722" y="1911"/>
                  </a:lnTo>
                  <a:lnTo>
                    <a:pt x="1780" y="1985"/>
                  </a:lnTo>
                  <a:lnTo>
                    <a:pt x="1839" y="2040"/>
                  </a:lnTo>
                  <a:lnTo>
                    <a:pt x="1899" y="2025"/>
                  </a:lnTo>
                  <a:lnTo>
                    <a:pt x="1958" y="2075"/>
                  </a:lnTo>
                  <a:lnTo>
                    <a:pt x="2018" y="1976"/>
                  </a:lnTo>
                  <a:lnTo>
                    <a:pt x="2076" y="1822"/>
                  </a:lnTo>
                  <a:lnTo>
                    <a:pt x="2137" y="1774"/>
                  </a:lnTo>
                  <a:lnTo>
                    <a:pt x="2195" y="1667"/>
                  </a:lnTo>
                  <a:lnTo>
                    <a:pt x="2256" y="1599"/>
                  </a:lnTo>
                  <a:lnTo>
                    <a:pt x="2314" y="1509"/>
                  </a:lnTo>
                  <a:lnTo>
                    <a:pt x="2374" y="1565"/>
                  </a:lnTo>
                  <a:lnTo>
                    <a:pt x="2433" y="1680"/>
                  </a:lnTo>
                  <a:lnTo>
                    <a:pt x="2491" y="1855"/>
                  </a:lnTo>
                  <a:lnTo>
                    <a:pt x="2552" y="1823"/>
                  </a:lnTo>
                  <a:lnTo>
                    <a:pt x="2610" y="1950"/>
                  </a:lnTo>
                  <a:lnTo>
                    <a:pt x="2670" y="1926"/>
                  </a:lnTo>
                  <a:lnTo>
                    <a:pt x="2729" y="1938"/>
                  </a:lnTo>
                  <a:lnTo>
                    <a:pt x="2789" y="1656"/>
                  </a:lnTo>
                  <a:lnTo>
                    <a:pt x="2848" y="1649"/>
                  </a:lnTo>
                  <a:lnTo>
                    <a:pt x="2908" y="1368"/>
                  </a:lnTo>
                  <a:lnTo>
                    <a:pt x="2966" y="1427"/>
                  </a:lnTo>
                  <a:lnTo>
                    <a:pt x="3027" y="1338"/>
                  </a:lnTo>
                  <a:lnTo>
                    <a:pt x="3085" y="1489"/>
                  </a:lnTo>
                  <a:lnTo>
                    <a:pt x="3146" y="1536"/>
                  </a:lnTo>
                  <a:lnTo>
                    <a:pt x="3204" y="1706"/>
                  </a:lnTo>
                  <a:lnTo>
                    <a:pt x="3262" y="1859"/>
                  </a:lnTo>
                  <a:lnTo>
                    <a:pt x="3323" y="1844"/>
                  </a:lnTo>
                  <a:lnTo>
                    <a:pt x="3381" y="1701"/>
                  </a:lnTo>
                  <a:lnTo>
                    <a:pt x="3442" y="1626"/>
                  </a:lnTo>
                  <a:lnTo>
                    <a:pt x="3500" y="1310"/>
                  </a:lnTo>
                  <a:lnTo>
                    <a:pt x="3560" y="1183"/>
                  </a:lnTo>
                  <a:lnTo>
                    <a:pt x="3619" y="1214"/>
                  </a:lnTo>
                  <a:lnTo>
                    <a:pt x="3679" y="1095"/>
                  </a:lnTo>
                  <a:lnTo>
                    <a:pt x="3738" y="1138"/>
                  </a:lnTo>
                  <a:lnTo>
                    <a:pt x="3798" y="1137"/>
                  </a:lnTo>
                  <a:lnTo>
                    <a:pt x="3856" y="1442"/>
                  </a:lnTo>
                  <a:lnTo>
                    <a:pt x="3915" y="1595"/>
                  </a:lnTo>
                  <a:lnTo>
                    <a:pt x="3975" y="1729"/>
                  </a:lnTo>
                  <a:lnTo>
                    <a:pt x="4034" y="1737"/>
                  </a:lnTo>
                  <a:lnTo>
                    <a:pt x="4094" y="1579"/>
                  </a:lnTo>
                  <a:lnTo>
                    <a:pt x="4152" y="1529"/>
                  </a:lnTo>
                  <a:lnTo>
                    <a:pt x="4213" y="1103"/>
                  </a:lnTo>
                  <a:lnTo>
                    <a:pt x="4271" y="1037"/>
                  </a:lnTo>
                  <a:lnTo>
                    <a:pt x="4332" y="889"/>
                  </a:lnTo>
                  <a:lnTo>
                    <a:pt x="4390" y="879"/>
                  </a:lnTo>
                  <a:lnTo>
                    <a:pt x="4450" y="651"/>
                  </a:lnTo>
                  <a:lnTo>
                    <a:pt x="4509" y="897"/>
                  </a:lnTo>
                  <a:lnTo>
                    <a:pt x="4567" y="1110"/>
                  </a:lnTo>
                  <a:lnTo>
                    <a:pt x="4628" y="1230"/>
                  </a:lnTo>
                  <a:lnTo>
                    <a:pt x="4686" y="1446"/>
                  </a:lnTo>
                  <a:lnTo>
                    <a:pt x="4746" y="1441"/>
                  </a:lnTo>
                  <a:lnTo>
                    <a:pt x="4805" y="1284"/>
                  </a:lnTo>
                  <a:lnTo>
                    <a:pt x="4865" y="1251"/>
                  </a:lnTo>
                  <a:lnTo>
                    <a:pt x="4924" y="912"/>
                  </a:lnTo>
                  <a:lnTo>
                    <a:pt x="4984" y="769"/>
                  </a:lnTo>
                  <a:lnTo>
                    <a:pt x="5042" y="340"/>
                  </a:lnTo>
                  <a:lnTo>
                    <a:pt x="5103" y="448"/>
                  </a:lnTo>
                  <a:lnTo>
                    <a:pt x="5161" y="377"/>
                  </a:lnTo>
                  <a:lnTo>
                    <a:pt x="5220" y="514"/>
                  </a:lnTo>
                  <a:lnTo>
                    <a:pt x="5280" y="835"/>
                  </a:lnTo>
                  <a:lnTo>
                    <a:pt x="5339" y="1081"/>
                  </a:lnTo>
                  <a:lnTo>
                    <a:pt x="5399" y="1360"/>
                  </a:lnTo>
                  <a:lnTo>
                    <a:pt x="5457" y="1228"/>
                  </a:lnTo>
                  <a:lnTo>
                    <a:pt x="5518" y="1156"/>
                  </a:lnTo>
                  <a:lnTo>
                    <a:pt x="5576" y="848"/>
                  </a:lnTo>
                  <a:lnTo>
                    <a:pt x="5636" y="768"/>
                  </a:lnTo>
                  <a:lnTo>
                    <a:pt x="5695" y="429"/>
                  </a:lnTo>
                  <a:lnTo>
                    <a:pt x="5755" y="0"/>
                  </a:lnTo>
                  <a:lnTo>
                    <a:pt x="5814" y="26"/>
                  </a:lnTo>
                  <a:lnTo>
                    <a:pt x="5872" y="131"/>
                  </a:lnTo>
                  <a:lnTo>
                    <a:pt x="5933" y="276"/>
                  </a:lnTo>
                  <a:lnTo>
                    <a:pt x="5991" y="458"/>
                  </a:lnTo>
                  <a:lnTo>
                    <a:pt x="6051" y="738"/>
                  </a:lnTo>
                  <a:lnTo>
                    <a:pt x="6110" y="945"/>
                  </a:lnTo>
                  <a:lnTo>
                    <a:pt x="6170" y="914"/>
                  </a:lnTo>
                  <a:lnTo>
                    <a:pt x="6229" y="1093"/>
                  </a:lnTo>
                  <a:lnTo>
                    <a:pt x="6289" y="785"/>
                  </a:lnTo>
                  <a:lnTo>
                    <a:pt x="6347" y="311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  <p:sp>
          <p:nvSpPr>
            <p:cNvPr id="51" name="Freeform 50"/>
            <p:cNvSpPr>
              <a:spLocks/>
            </p:cNvSpPr>
            <p:nvPr/>
          </p:nvSpPr>
          <p:spPr bwMode="auto">
            <a:xfrm>
              <a:off x="1831" y="1765"/>
              <a:ext cx="3143" cy="1145"/>
            </a:xfrm>
            <a:custGeom>
              <a:avLst/>
              <a:gdLst>
                <a:gd name="T0" fmla="*/ 4 w 6286"/>
                <a:gd name="T1" fmla="*/ 139 h 2290"/>
                <a:gd name="T2" fmla="*/ 12 w 6286"/>
                <a:gd name="T3" fmla="*/ 138 h 2290"/>
                <a:gd name="T4" fmla="*/ 19 w 6286"/>
                <a:gd name="T5" fmla="*/ 141 h 2290"/>
                <a:gd name="T6" fmla="*/ 26 w 6286"/>
                <a:gd name="T7" fmla="*/ 143 h 2290"/>
                <a:gd name="T8" fmla="*/ 34 w 6286"/>
                <a:gd name="T9" fmla="*/ 140 h 2290"/>
                <a:gd name="T10" fmla="*/ 41 w 6286"/>
                <a:gd name="T11" fmla="*/ 133 h 2290"/>
                <a:gd name="T12" fmla="*/ 49 w 6286"/>
                <a:gd name="T13" fmla="*/ 127 h 2290"/>
                <a:gd name="T14" fmla="*/ 56 w 6286"/>
                <a:gd name="T15" fmla="*/ 127 h 2290"/>
                <a:gd name="T16" fmla="*/ 63 w 6286"/>
                <a:gd name="T17" fmla="*/ 135 h 2290"/>
                <a:gd name="T18" fmla="*/ 71 w 6286"/>
                <a:gd name="T19" fmla="*/ 137 h 2290"/>
                <a:gd name="T20" fmla="*/ 78 w 6286"/>
                <a:gd name="T21" fmla="*/ 130 h 2290"/>
                <a:gd name="T22" fmla="*/ 86 w 6286"/>
                <a:gd name="T23" fmla="*/ 122 h 2290"/>
                <a:gd name="T24" fmla="*/ 93 w 6286"/>
                <a:gd name="T25" fmla="*/ 114 h 2290"/>
                <a:gd name="T26" fmla="*/ 101 w 6286"/>
                <a:gd name="T27" fmla="*/ 117 h 2290"/>
                <a:gd name="T28" fmla="*/ 108 w 6286"/>
                <a:gd name="T29" fmla="*/ 125 h 2290"/>
                <a:gd name="T30" fmla="*/ 115 w 6286"/>
                <a:gd name="T31" fmla="*/ 127 h 2290"/>
                <a:gd name="T32" fmla="*/ 123 w 6286"/>
                <a:gd name="T33" fmla="*/ 124 h 2290"/>
                <a:gd name="T34" fmla="*/ 130 w 6286"/>
                <a:gd name="T35" fmla="*/ 111 h 2290"/>
                <a:gd name="T36" fmla="*/ 138 w 6286"/>
                <a:gd name="T37" fmla="*/ 100 h 2290"/>
                <a:gd name="T38" fmla="*/ 145 w 6286"/>
                <a:gd name="T39" fmla="*/ 98 h 2290"/>
                <a:gd name="T40" fmla="*/ 152 w 6286"/>
                <a:gd name="T41" fmla="*/ 116 h 2290"/>
                <a:gd name="T42" fmla="*/ 160 w 6286"/>
                <a:gd name="T43" fmla="*/ 122 h 2290"/>
                <a:gd name="T44" fmla="*/ 167 w 6286"/>
                <a:gd name="T45" fmla="*/ 122 h 2290"/>
                <a:gd name="T46" fmla="*/ 175 w 6286"/>
                <a:gd name="T47" fmla="*/ 104 h 2290"/>
                <a:gd name="T48" fmla="*/ 182 w 6286"/>
                <a:gd name="T49" fmla="*/ 90 h 2290"/>
                <a:gd name="T50" fmla="*/ 189 w 6286"/>
                <a:gd name="T51" fmla="*/ 94 h 2290"/>
                <a:gd name="T52" fmla="*/ 197 w 6286"/>
                <a:gd name="T53" fmla="*/ 107 h 2290"/>
                <a:gd name="T54" fmla="*/ 204 w 6286"/>
                <a:gd name="T55" fmla="*/ 116 h 2290"/>
                <a:gd name="T56" fmla="*/ 212 w 6286"/>
                <a:gd name="T57" fmla="*/ 102 h 2290"/>
                <a:gd name="T58" fmla="*/ 219 w 6286"/>
                <a:gd name="T59" fmla="*/ 74 h 2290"/>
                <a:gd name="T60" fmla="*/ 227 w 6286"/>
                <a:gd name="T61" fmla="*/ 69 h 2290"/>
                <a:gd name="T62" fmla="*/ 234 w 6286"/>
                <a:gd name="T63" fmla="*/ 72 h 2290"/>
                <a:gd name="T64" fmla="*/ 241 w 6286"/>
                <a:gd name="T65" fmla="*/ 100 h 2290"/>
                <a:gd name="T66" fmla="*/ 249 w 6286"/>
                <a:gd name="T67" fmla="*/ 109 h 2290"/>
                <a:gd name="T68" fmla="*/ 256 w 6286"/>
                <a:gd name="T69" fmla="*/ 96 h 2290"/>
                <a:gd name="T70" fmla="*/ 264 w 6286"/>
                <a:gd name="T71" fmla="*/ 65 h 2290"/>
                <a:gd name="T72" fmla="*/ 271 w 6286"/>
                <a:gd name="T73" fmla="*/ 55 h 2290"/>
                <a:gd name="T74" fmla="*/ 278 w 6286"/>
                <a:gd name="T75" fmla="*/ 57 h 2290"/>
                <a:gd name="T76" fmla="*/ 286 w 6286"/>
                <a:gd name="T77" fmla="*/ 77 h 2290"/>
                <a:gd name="T78" fmla="*/ 293 w 6286"/>
                <a:gd name="T79" fmla="*/ 91 h 2290"/>
                <a:gd name="T80" fmla="*/ 301 w 6286"/>
                <a:gd name="T81" fmla="*/ 79 h 2290"/>
                <a:gd name="T82" fmla="*/ 308 w 6286"/>
                <a:gd name="T83" fmla="*/ 49 h 2290"/>
                <a:gd name="T84" fmla="*/ 316 w 6286"/>
                <a:gd name="T85" fmla="*/ 28 h 2290"/>
                <a:gd name="T86" fmla="*/ 323 w 6286"/>
                <a:gd name="T87" fmla="*/ 33 h 2290"/>
                <a:gd name="T88" fmla="*/ 330 w 6286"/>
                <a:gd name="T89" fmla="*/ 68 h 2290"/>
                <a:gd name="T90" fmla="*/ 338 w 6286"/>
                <a:gd name="T91" fmla="*/ 77 h 2290"/>
                <a:gd name="T92" fmla="*/ 345 w 6286"/>
                <a:gd name="T93" fmla="*/ 53 h 2290"/>
                <a:gd name="T94" fmla="*/ 353 w 6286"/>
                <a:gd name="T95" fmla="*/ 27 h 2290"/>
                <a:gd name="T96" fmla="*/ 360 w 6286"/>
                <a:gd name="T97" fmla="*/ 2 h 2290"/>
                <a:gd name="T98" fmla="*/ 367 w 6286"/>
                <a:gd name="T99" fmla="*/ 18 h 2290"/>
                <a:gd name="T100" fmla="*/ 375 w 6286"/>
                <a:gd name="T101" fmla="*/ 47 h 2290"/>
                <a:gd name="T102" fmla="*/ 382 w 6286"/>
                <a:gd name="T103" fmla="*/ 58 h 2290"/>
                <a:gd name="T104" fmla="*/ 390 w 6286"/>
                <a:gd name="T105" fmla="*/ 50 h 229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6286" h="2290">
                  <a:moveTo>
                    <a:pt x="0" y="2224"/>
                  </a:moveTo>
                  <a:lnTo>
                    <a:pt x="58" y="2215"/>
                  </a:lnTo>
                  <a:lnTo>
                    <a:pt x="118" y="2165"/>
                  </a:lnTo>
                  <a:lnTo>
                    <a:pt x="177" y="2203"/>
                  </a:lnTo>
                  <a:lnTo>
                    <a:pt x="237" y="2235"/>
                  </a:lnTo>
                  <a:lnTo>
                    <a:pt x="296" y="2254"/>
                  </a:lnTo>
                  <a:lnTo>
                    <a:pt x="356" y="2290"/>
                  </a:lnTo>
                  <a:lnTo>
                    <a:pt x="414" y="2285"/>
                  </a:lnTo>
                  <a:lnTo>
                    <a:pt x="473" y="2247"/>
                  </a:lnTo>
                  <a:lnTo>
                    <a:pt x="533" y="2234"/>
                  </a:lnTo>
                  <a:lnTo>
                    <a:pt x="592" y="2155"/>
                  </a:lnTo>
                  <a:lnTo>
                    <a:pt x="652" y="2116"/>
                  </a:lnTo>
                  <a:lnTo>
                    <a:pt x="711" y="2010"/>
                  </a:lnTo>
                  <a:lnTo>
                    <a:pt x="771" y="2026"/>
                  </a:lnTo>
                  <a:lnTo>
                    <a:pt x="829" y="2002"/>
                  </a:lnTo>
                  <a:lnTo>
                    <a:pt x="890" y="2025"/>
                  </a:lnTo>
                  <a:lnTo>
                    <a:pt x="948" y="2096"/>
                  </a:lnTo>
                  <a:lnTo>
                    <a:pt x="1008" y="2150"/>
                  </a:lnTo>
                  <a:lnTo>
                    <a:pt x="1067" y="2215"/>
                  </a:lnTo>
                  <a:lnTo>
                    <a:pt x="1125" y="2177"/>
                  </a:lnTo>
                  <a:lnTo>
                    <a:pt x="1186" y="2153"/>
                  </a:lnTo>
                  <a:lnTo>
                    <a:pt x="1244" y="2066"/>
                  </a:lnTo>
                  <a:lnTo>
                    <a:pt x="1305" y="2038"/>
                  </a:lnTo>
                  <a:lnTo>
                    <a:pt x="1363" y="1940"/>
                  </a:lnTo>
                  <a:lnTo>
                    <a:pt x="1423" y="1813"/>
                  </a:lnTo>
                  <a:lnTo>
                    <a:pt x="1482" y="1811"/>
                  </a:lnTo>
                  <a:lnTo>
                    <a:pt x="1542" y="1833"/>
                  </a:lnTo>
                  <a:lnTo>
                    <a:pt x="1601" y="1865"/>
                  </a:lnTo>
                  <a:lnTo>
                    <a:pt x="1661" y="1911"/>
                  </a:lnTo>
                  <a:lnTo>
                    <a:pt x="1719" y="1985"/>
                  </a:lnTo>
                  <a:lnTo>
                    <a:pt x="1778" y="2040"/>
                  </a:lnTo>
                  <a:lnTo>
                    <a:pt x="1838" y="2025"/>
                  </a:lnTo>
                  <a:lnTo>
                    <a:pt x="1897" y="2075"/>
                  </a:lnTo>
                  <a:lnTo>
                    <a:pt x="1957" y="1976"/>
                  </a:lnTo>
                  <a:lnTo>
                    <a:pt x="2015" y="1822"/>
                  </a:lnTo>
                  <a:lnTo>
                    <a:pt x="2076" y="1774"/>
                  </a:lnTo>
                  <a:lnTo>
                    <a:pt x="2134" y="1667"/>
                  </a:lnTo>
                  <a:lnTo>
                    <a:pt x="2195" y="1599"/>
                  </a:lnTo>
                  <a:lnTo>
                    <a:pt x="2253" y="1509"/>
                  </a:lnTo>
                  <a:lnTo>
                    <a:pt x="2313" y="1565"/>
                  </a:lnTo>
                  <a:lnTo>
                    <a:pt x="2372" y="1680"/>
                  </a:lnTo>
                  <a:lnTo>
                    <a:pt x="2430" y="1855"/>
                  </a:lnTo>
                  <a:lnTo>
                    <a:pt x="2491" y="1823"/>
                  </a:lnTo>
                  <a:lnTo>
                    <a:pt x="2549" y="1950"/>
                  </a:lnTo>
                  <a:lnTo>
                    <a:pt x="2609" y="1926"/>
                  </a:lnTo>
                  <a:lnTo>
                    <a:pt x="2668" y="1938"/>
                  </a:lnTo>
                  <a:lnTo>
                    <a:pt x="2728" y="1656"/>
                  </a:lnTo>
                  <a:lnTo>
                    <a:pt x="2787" y="1649"/>
                  </a:lnTo>
                  <a:lnTo>
                    <a:pt x="2847" y="1368"/>
                  </a:lnTo>
                  <a:lnTo>
                    <a:pt x="2905" y="1427"/>
                  </a:lnTo>
                  <a:lnTo>
                    <a:pt x="2966" y="1338"/>
                  </a:lnTo>
                  <a:lnTo>
                    <a:pt x="3024" y="1489"/>
                  </a:lnTo>
                  <a:lnTo>
                    <a:pt x="3085" y="1536"/>
                  </a:lnTo>
                  <a:lnTo>
                    <a:pt x="3143" y="1706"/>
                  </a:lnTo>
                  <a:lnTo>
                    <a:pt x="3201" y="1859"/>
                  </a:lnTo>
                  <a:lnTo>
                    <a:pt x="3262" y="1844"/>
                  </a:lnTo>
                  <a:lnTo>
                    <a:pt x="3320" y="1701"/>
                  </a:lnTo>
                  <a:lnTo>
                    <a:pt x="3381" y="1626"/>
                  </a:lnTo>
                  <a:lnTo>
                    <a:pt x="3439" y="1310"/>
                  </a:lnTo>
                  <a:lnTo>
                    <a:pt x="3499" y="1183"/>
                  </a:lnTo>
                  <a:lnTo>
                    <a:pt x="3558" y="1214"/>
                  </a:lnTo>
                  <a:lnTo>
                    <a:pt x="3618" y="1095"/>
                  </a:lnTo>
                  <a:lnTo>
                    <a:pt x="3677" y="1138"/>
                  </a:lnTo>
                  <a:lnTo>
                    <a:pt x="3737" y="1137"/>
                  </a:lnTo>
                  <a:lnTo>
                    <a:pt x="3795" y="1442"/>
                  </a:lnTo>
                  <a:lnTo>
                    <a:pt x="3854" y="1595"/>
                  </a:lnTo>
                  <a:lnTo>
                    <a:pt x="3914" y="1729"/>
                  </a:lnTo>
                  <a:lnTo>
                    <a:pt x="3973" y="1737"/>
                  </a:lnTo>
                  <a:lnTo>
                    <a:pt x="4033" y="1579"/>
                  </a:lnTo>
                  <a:lnTo>
                    <a:pt x="4091" y="1529"/>
                  </a:lnTo>
                  <a:lnTo>
                    <a:pt x="4152" y="1103"/>
                  </a:lnTo>
                  <a:lnTo>
                    <a:pt x="4210" y="1037"/>
                  </a:lnTo>
                  <a:lnTo>
                    <a:pt x="4271" y="889"/>
                  </a:lnTo>
                  <a:lnTo>
                    <a:pt x="4329" y="879"/>
                  </a:lnTo>
                  <a:lnTo>
                    <a:pt x="4389" y="651"/>
                  </a:lnTo>
                  <a:lnTo>
                    <a:pt x="4448" y="897"/>
                  </a:lnTo>
                  <a:lnTo>
                    <a:pt x="4506" y="1110"/>
                  </a:lnTo>
                  <a:lnTo>
                    <a:pt x="4567" y="1230"/>
                  </a:lnTo>
                  <a:lnTo>
                    <a:pt x="4625" y="1446"/>
                  </a:lnTo>
                  <a:lnTo>
                    <a:pt x="4685" y="1441"/>
                  </a:lnTo>
                  <a:lnTo>
                    <a:pt x="4744" y="1284"/>
                  </a:lnTo>
                  <a:lnTo>
                    <a:pt x="4804" y="1251"/>
                  </a:lnTo>
                  <a:lnTo>
                    <a:pt x="4863" y="912"/>
                  </a:lnTo>
                  <a:lnTo>
                    <a:pt x="4923" y="769"/>
                  </a:lnTo>
                  <a:lnTo>
                    <a:pt x="4981" y="340"/>
                  </a:lnTo>
                  <a:lnTo>
                    <a:pt x="5042" y="448"/>
                  </a:lnTo>
                  <a:lnTo>
                    <a:pt x="5100" y="377"/>
                  </a:lnTo>
                  <a:lnTo>
                    <a:pt x="5159" y="514"/>
                  </a:lnTo>
                  <a:lnTo>
                    <a:pt x="5219" y="835"/>
                  </a:lnTo>
                  <a:lnTo>
                    <a:pt x="5278" y="1081"/>
                  </a:lnTo>
                  <a:lnTo>
                    <a:pt x="5338" y="1360"/>
                  </a:lnTo>
                  <a:lnTo>
                    <a:pt x="5396" y="1228"/>
                  </a:lnTo>
                  <a:lnTo>
                    <a:pt x="5457" y="1156"/>
                  </a:lnTo>
                  <a:lnTo>
                    <a:pt x="5515" y="848"/>
                  </a:lnTo>
                  <a:lnTo>
                    <a:pt x="5575" y="768"/>
                  </a:lnTo>
                  <a:lnTo>
                    <a:pt x="5634" y="429"/>
                  </a:lnTo>
                  <a:lnTo>
                    <a:pt x="5694" y="0"/>
                  </a:lnTo>
                  <a:lnTo>
                    <a:pt x="5753" y="26"/>
                  </a:lnTo>
                  <a:lnTo>
                    <a:pt x="5811" y="131"/>
                  </a:lnTo>
                  <a:lnTo>
                    <a:pt x="5872" y="276"/>
                  </a:lnTo>
                  <a:lnTo>
                    <a:pt x="5930" y="458"/>
                  </a:lnTo>
                  <a:lnTo>
                    <a:pt x="5990" y="738"/>
                  </a:lnTo>
                  <a:lnTo>
                    <a:pt x="6049" y="945"/>
                  </a:lnTo>
                  <a:lnTo>
                    <a:pt x="6109" y="914"/>
                  </a:lnTo>
                  <a:lnTo>
                    <a:pt x="6168" y="1093"/>
                  </a:lnTo>
                  <a:lnTo>
                    <a:pt x="6228" y="785"/>
                  </a:lnTo>
                  <a:lnTo>
                    <a:pt x="6286" y="311"/>
                  </a:lnTo>
                </a:path>
              </a:pathLst>
            </a:custGeom>
            <a:noFill/>
            <a:ln w="317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nl-NL" sz="1867"/>
            </a:p>
          </p:txBody>
        </p:sp>
      </p:grpSp>
    </p:spTree>
    <p:extLst>
      <p:ext uri="{BB962C8B-B14F-4D97-AF65-F5344CB8AC3E}">
        <p14:creationId xmlns:p14="http://schemas.microsoft.com/office/powerpoint/2010/main" val="3445763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600"/>
              <a:pPr algn="ctr"/>
              <a:t>8</a:t>
            </a:fld>
            <a:endParaRPr lang="nl-NL" sz="16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Additive or </a:t>
            </a:r>
            <a:r>
              <a:rPr lang="nl-NL" dirty="0" err="1"/>
              <a:t>multiplicative</a:t>
            </a:r>
            <a:r>
              <a:rPr lang="nl-NL" dirty="0"/>
              <a:t>?</a:t>
            </a:r>
          </a:p>
          <a:p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40" y="1074417"/>
            <a:ext cx="7394144" cy="5307783"/>
          </a:xfrm>
          <a:prstGeom prst="rect">
            <a:avLst/>
          </a:prstGeom>
        </p:spPr>
      </p:pic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41A5D04-0C69-A6E1-245A-A041D475D7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0205" y="1304734"/>
            <a:ext cx="10177131" cy="4896544"/>
          </a:xfrm>
        </p:spPr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63543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4C64E-601B-2818-10B5-2ADA490E1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Properties</a:t>
            </a:r>
            <a:r>
              <a:rPr lang="nl-NL" dirty="0"/>
              <a:t> of time series </a:t>
            </a:r>
            <a:r>
              <a:rPr lang="nl-NL" dirty="0" err="1"/>
              <a:t>models</a:t>
            </a:r>
            <a:r>
              <a:rPr lang="nl-NL" dirty="0"/>
              <a:t> 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355A83D-928C-55B7-1A50-8FA82E06E1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2C63FCA-5621-CCCA-5317-09EAFE317EB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nl-NL" dirty="0" err="1"/>
              <a:t>Revisions</a:t>
            </a:r>
            <a:endParaRPr lang="nl-NL" dirty="0"/>
          </a:p>
          <a:p>
            <a:pPr marL="342900" indent="-342900">
              <a:buFontTx/>
              <a:buChar char="-"/>
            </a:pPr>
            <a:r>
              <a:rPr lang="nl-NL" dirty="0"/>
              <a:t>End point </a:t>
            </a:r>
            <a:r>
              <a:rPr lang="nl-NL" dirty="0" err="1"/>
              <a:t>problems</a:t>
            </a:r>
            <a:endParaRPr lang="nl-NL" dirty="0"/>
          </a:p>
          <a:p>
            <a:pPr marL="342900" indent="-342900">
              <a:buFontTx/>
              <a:buChar char="-"/>
            </a:pPr>
            <a:r>
              <a:rPr lang="nl-NL" dirty="0" err="1"/>
              <a:t>Overfitting</a:t>
            </a:r>
            <a:endParaRPr lang="nl-NL" dirty="0"/>
          </a:p>
          <a:p>
            <a:pPr marL="342900" indent="-342900">
              <a:buFontTx/>
              <a:buChar char="-"/>
            </a:pPr>
            <a:r>
              <a:rPr lang="nl-NL" dirty="0"/>
              <a:t>Nr. of </a:t>
            </a:r>
            <a:r>
              <a:rPr lang="nl-NL" dirty="0" err="1"/>
              <a:t>observations</a:t>
            </a:r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1F740C6-DED9-4D7A-E7D9-69C391009A0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430" y="3812146"/>
            <a:ext cx="5192434" cy="2624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F65EEB5C-3443-5A26-4E4C-5D9B3CC438B4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988" y="3799490"/>
            <a:ext cx="4933224" cy="26375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6793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47CF2-6362-D77C-DE37-E23F45E0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1121FB5-7EA3-21D0-AE46-9156313FF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A4D51-EA7E-19B5-7B8E-1145EA632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sz="3200" dirty="0"/>
              <a:t>Time series </a:t>
            </a:r>
            <a:r>
              <a:rPr lang="nl-NL" sz="3200" dirty="0" err="1"/>
              <a:t>components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3651372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346" y="2370337"/>
            <a:ext cx="5061220" cy="296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Afbeelding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55" y="2504447"/>
            <a:ext cx="4889116" cy="2507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33E4C6CE-4D35-2F1E-F7CC-32FA0F8CC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is a trend?</a:t>
            </a:r>
            <a:br>
              <a:rPr lang="nl-NL" dirty="0"/>
            </a:b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2D737392-BFF6-4758-997B-6D4972B410DF}" type="slidenum">
              <a:rPr lang="nl-NL" smtClean="0"/>
              <a:pPr>
                <a:defRPr/>
              </a:pPr>
              <a:t>11</a:t>
            </a:fld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>
          <a:xfrm>
            <a:off x="970722" y="1401856"/>
            <a:ext cx="10515597" cy="48719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 err="1"/>
              <a:t>Underlying</a:t>
            </a:r>
            <a:r>
              <a:rPr lang="nl-NL" dirty="0"/>
              <a:t> long term </a:t>
            </a:r>
            <a:r>
              <a:rPr lang="nl-NL" dirty="0" err="1"/>
              <a:t>growth</a:t>
            </a:r>
            <a:r>
              <a:rPr lang="nl-NL" dirty="0"/>
              <a:t> </a:t>
            </a:r>
            <a:r>
              <a:rPr lang="nl-NL" dirty="0" err="1"/>
              <a:t>rate</a:t>
            </a:r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Global			       	                         </a:t>
            </a:r>
            <a:r>
              <a:rPr lang="nl-NL" dirty="0" err="1"/>
              <a:t>Local</a:t>
            </a:r>
            <a:r>
              <a:rPr lang="nl-NL" dirty="0"/>
              <a:t> (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margins</a:t>
            </a:r>
            <a:r>
              <a:rPr lang="nl-NL" dirty="0"/>
              <a:t>)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697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8E3E49-2241-A592-B1F7-5C1E13F7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Trends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margins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63C9D6F-1FB6-9550-6931-79FFF4C0EE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1A71066-FA35-FF44-52E3-1758D052FC5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err="1"/>
              <a:t>Which</a:t>
            </a:r>
            <a:r>
              <a:rPr lang="nl-NL" dirty="0"/>
              <a:t> plot shows </a:t>
            </a:r>
          </a:p>
          <a:p>
            <a:pPr marL="0" indent="0">
              <a:buNone/>
            </a:pP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correct</a:t>
            </a:r>
          </a:p>
          <a:p>
            <a:pPr marL="0" indent="0">
              <a:buNone/>
            </a:pPr>
            <a:r>
              <a:rPr lang="nl-NL" dirty="0"/>
              <a:t> 95%-</a:t>
            </a:r>
            <a:r>
              <a:rPr lang="nl-NL" dirty="0" err="1"/>
              <a:t>margin</a:t>
            </a:r>
            <a:r>
              <a:rPr lang="nl-NL" dirty="0"/>
              <a:t>? </a:t>
            </a:r>
          </a:p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2125331-E1D6-38B6-CFC5-2D6593149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3565779"/>
            <a:ext cx="6210970" cy="3105485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0099697B-5938-9AD3-078D-73A335FAB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864" y="1049622"/>
            <a:ext cx="6210970" cy="310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41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51" y="2064011"/>
            <a:ext cx="4780219" cy="2901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783" y="1863037"/>
            <a:ext cx="4746587" cy="2836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600"/>
              <a:pPr algn="ctr"/>
              <a:t>13</a:t>
            </a:fld>
            <a:endParaRPr lang="nl-NL" sz="16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>
          <a:xfrm>
            <a:off x="623392" y="822056"/>
            <a:ext cx="11379536" cy="5273541"/>
          </a:xfrm>
        </p:spPr>
        <p:txBody>
          <a:bodyPr>
            <a:normAutofit/>
          </a:bodyPr>
          <a:lstStyle/>
          <a:p>
            <a:r>
              <a:rPr lang="nl-NL" sz="2000" dirty="0"/>
              <a:t>up- </a:t>
            </a:r>
            <a:r>
              <a:rPr lang="nl-NL" sz="2000" dirty="0" err="1"/>
              <a:t>and</a:t>
            </a:r>
            <a:r>
              <a:rPr lang="nl-NL" sz="2000" dirty="0"/>
              <a:t> </a:t>
            </a:r>
            <a:r>
              <a:rPr lang="nl-NL" sz="2000" dirty="0" err="1"/>
              <a:t>downward</a:t>
            </a:r>
            <a:r>
              <a:rPr lang="nl-NL" sz="2000" dirty="0"/>
              <a:t> </a:t>
            </a:r>
            <a:r>
              <a:rPr lang="nl-NL" sz="2000" dirty="0" err="1"/>
              <a:t>movements</a:t>
            </a:r>
            <a:r>
              <a:rPr lang="nl-NL" sz="2000" dirty="0"/>
              <a:t> </a:t>
            </a:r>
            <a:r>
              <a:rPr lang="nl-NL" sz="2000" dirty="0" err="1"/>
              <a:t>that</a:t>
            </a:r>
            <a:r>
              <a:rPr lang="nl-NL" sz="2000" dirty="0"/>
              <a:t> </a:t>
            </a:r>
            <a:r>
              <a:rPr lang="nl-NL" sz="2000" dirty="0" err="1"/>
              <a:t>repeat</a:t>
            </a:r>
            <a:r>
              <a:rPr lang="nl-NL" sz="2000" dirty="0"/>
              <a:t> </a:t>
            </a:r>
            <a:r>
              <a:rPr lang="nl-NL" sz="2000" dirty="0" err="1"/>
              <a:t>with</a:t>
            </a:r>
            <a:r>
              <a:rPr lang="nl-NL" sz="2000" dirty="0"/>
              <a:t> a </a:t>
            </a:r>
            <a:r>
              <a:rPr lang="nl-NL" sz="2000" dirty="0" err="1"/>
              <a:t>fixed</a:t>
            </a:r>
            <a:r>
              <a:rPr lang="nl-NL" sz="2000" dirty="0"/>
              <a:t> (e.g. </a:t>
            </a:r>
            <a:r>
              <a:rPr lang="nl-NL" sz="2000" dirty="0" err="1"/>
              <a:t>annual</a:t>
            </a:r>
            <a:r>
              <a:rPr lang="nl-NL" sz="2000" dirty="0"/>
              <a:t>) </a:t>
            </a:r>
            <a:r>
              <a:rPr lang="nl-NL" sz="2000" dirty="0" err="1"/>
              <a:t>frequency</a:t>
            </a:r>
            <a:endParaRPr lang="nl-NL" sz="2000" dirty="0"/>
          </a:p>
          <a:p>
            <a:pPr marL="457189" indent="-457189">
              <a:buFontTx/>
              <a:buChar char="-"/>
            </a:pPr>
            <a:endParaRPr lang="nl-NL" sz="2133" dirty="0"/>
          </a:p>
          <a:p>
            <a:r>
              <a:rPr lang="nl-NL" sz="2133" dirty="0"/>
              <a:t>       …</a:t>
            </a:r>
            <a:r>
              <a:rPr lang="en-US" sz="2133" dirty="0"/>
              <a:t>do not necessarily follow 			        	… are not always clearly visible</a:t>
            </a:r>
          </a:p>
          <a:p>
            <a:r>
              <a:rPr lang="en-US" sz="2133" dirty="0"/>
              <a:t>       meteorological seasons </a:t>
            </a:r>
          </a:p>
          <a:p>
            <a:endParaRPr lang="en-US" sz="2133" dirty="0"/>
          </a:p>
          <a:p>
            <a:endParaRPr lang="en-US" sz="2133" dirty="0"/>
          </a:p>
          <a:p>
            <a:endParaRPr lang="en-US" sz="2133" dirty="0"/>
          </a:p>
          <a:p>
            <a:endParaRPr lang="en-US" sz="2133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>
          <a:xfrm>
            <a:off x="623392" y="225653"/>
            <a:ext cx="10177131" cy="672075"/>
          </a:xfrm>
        </p:spPr>
        <p:txBody>
          <a:bodyPr/>
          <a:lstStyle/>
          <a:p>
            <a:r>
              <a:rPr lang="nl-NL" dirty="0" err="1"/>
              <a:t>Seasonal</a:t>
            </a:r>
            <a:r>
              <a:rPr lang="nl-NL" dirty="0"/>
              <a:t> </a:t>
            </a:r>
            <a:r>
              <a:rPr lang="nl-NL" dirty="0" err="1"/>
              <a:t>patterns</a:t>
            </a:r>
            <a:r>
              <a:rPr lang="nl-NL" dirty="0"/>
              <a:t>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022" y="4223416"/>
            <a:ext cx="4933612" cy="3002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DAAA51F9-A2E1-402F-7527-494BFBA3CC86}"/>
              </a:ext>
            </a:extLst>
          </p:cNvPr>
          <p:cNvSpPr txBox="1"/>
          <p:nvPr/>
        </p:nvSpPr>
        <p:spPr>
          <a:xfrm>
            <a:off x="1988351" y="2166890"/>
            <a:ext cx="288032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1600" dirty="0" err="1"/>
              <a:t>Births</a:t>
            </a:r>
            <a:r>
              <a:rPr lang="nl-NL" sz="1600" dirty="0"/>
              <a:t> per </a:t>
            </a:r>
            <a:r>
              <a:rPr lang="nl-NL" sz="1600" dirty="0" err="1"/>
              <a:t>month</a:t>
            </a:r>
            <a:endParaRPr lang="nl-NL" sz="1600" dirty="0"/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594E510-C9A7-47C9-ABD9-6BB4951BA6D5}"/>
              </a:ext>
            </a:extLst>
          </p:cNvPr>
          <p:cNvSpPr txBox="1"/>
          <p:nvPr/>
        </p:nvSpPr>
        <p:spPr>
          <a:xfrm>
            <a:off x="7440149" y="1865368"/>
            <a:ext cx="288032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1600" dirty="0" err="1"/>
              <a:t>Registered</a:t>
            </a:r>
            <a:r>
              <a:rPr lang="nl-NL" sz="1600" dirty="0"/>
              <a:t> </a:t>
            </a:r>
            <a:r>
              <a:rPr lang="nl-NL" sz="1600" dirty="0" err="1"/>
              <a:t>population</a:t>
            </a:r>
            <a:r>
              <a:rPr lang="nl-NL" sz="1600" dirty="0"/>
              <a:t> 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4C3B3C6E-E15C-5828-F6D1-BBEC3651E24C}"/>
              </a:ext>
            </a:extLst>
          </p:cNvPr>
          <p:cNvSpPr txBox="1"/>
          <p:nvPr/>
        </p:nvSpPr>
        <p:spPr>
          <a:xfrm>
            <a:off x="7536160" y="4374529"/>
            <a:ext cx="288032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1600" dirty="0"/>
              <a:t>Change per </a:t>
            </a:r>
            <a:r>
              <a:rPr lang="nl-NL" sz="1600" dirty="0" err="1"/>
              <a:t>month</a:t>
            </a:r>
            <a:endParaRPr lang="nl-NL" sz="1600" dirty="0"/>
          </a:p>
        </p:txBody>
      </p:sp>
    </p:spTree>
    <p:extLst>
      <p:ext uri="{BB962C8B-B14F-4D97-AF65-F5344CB8AC3E}">
        <p14:creationId xmlns:p14="http://schemas.microsoft.com/office/powerpoint/2010/main" val="1205963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600"/>
              <a:pPr algn="ctr"/>
              <a:t>14</a:t>
            </a:fld>
            <a:endParaRPr lang="nl-NL" sz="1600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err="1"/>
              <a:t>Seasonal</a:t>
            </a:r>
            <a:r>
              <a:rPr lang="nl-NL" dirty="0"/>
              <a:t> </a:t>
            </a:r>
            <a:r>
              <a:rPr lang="nl-NL" dirty="0" err="1"/>
              <a:t>pattern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change..</a:t>
            </a:r>
          </a:p>
          <a:p>
            <a:endParaRPr lang="nl-NL" dirty="0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40" y="1170900"/>
            <a:ext cx="6513283" cy="4260443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044" y="1941976"/>
            <a:ext cx="4935317" cy="1586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jdelijke aanduiding voor tekst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2"/>
            <a:endParaRPr lang="nl-NL" dirty="0"/>
          </a:p>
        </p:txBody>
      </p:sp>
      <p:pic>
        <p:nvPicPr>
          <p:cNvPr id="3" name="Afbeelding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345" y="4164289"/>
            <a:ext cx="4662713" cy="2267919"/>
          </a:xfrm>
          <a:prstGeom prst="rect">
            <a:avLst/>
          </a:prstGeom>
        </p:spPr>
      </p:pic>
      <p:sp>
        <p:nvSpPr>
          <p:cNvPr id="7" name="Tekstvak 6"/>
          <p:cNvSpPr txBox="1"/>
          <p:nvPr/>
        </p:nvSpPr>
        <p:spPr>
          <a:xfrm>
            <a:off x="7136675" y="1608936"/>
            <a:ext cx="2607731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67" dirty="0"/>
              <a:t>..</a:t>
            </a:r>
            <a:r>
              <a:rPr lang="nl-NL" sz="1867" dirty="0" err="1"/>
              <a:t>suddenly</a:t>
            </a:r>
            <a:r>
              <a:rPr lang="nl-NL" sz="1867" dirty="0"/>
              <a:t>, or….</a:t>
            </a:r>
          </a:p>
        </p:txBody>
      </p:sp>
      <p:sp>
        <p:nvSpPr>
          <p:cNvPr id="9" name="Tekstvak 8"/>
          <p:cNvSpPr txBox="1"/>
          <p:nvPr/>
        </p:nvSpPr>
        <p:spPr>
          <a:xfrm>
            <a:off x="7199035" y="3565969"/>
            <a:ext cx="3313456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867" dirty="0"/>
              <a:t>…more </a:t>
            </a:r>
            <a:r>
              <a:rPr lang="nl-NL" sz="1867" dirty="0" err="1"/>
              <a:t>gradually</a:t>
            </a:r>
            <a:endParaRPr lang="nl-NL" sz="1867" dirty="0"/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3552BE6-7341-DE3A-CA76-6DA4265AAB87}"/>
              </a:ext>
            </a:extLst>
          </p:cNvPr>
          <p:cNvSpPr txBox="1"/>
          <p:nvPr/>
        </p:nvSpPr>
        <p:spPr>
          <a:xfrm>
            <a:off x="590565" y="1270610"/>
            <a:ext cx="309638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1600" dirty="0"/>
              <a:t>GDP   </a:t>
            </a:r>
          </a:p>
        </p:txBody>
      </p:sp>
    </p:spTree>
    <p:extLst>
      <p:ext uri="{BB962C8B-B14F-4D97-AF65-F5344CB8AC3E}">
        <p14:creationId xmlns:p14="http://schemas.microsoft.com/office/powerpoint/2010/main" val="3883185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A18C5EB0-EC05-FC0C-F28F-1F5BDFAD2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600" smtClean="0"/>
              <a:pPr algn="ctr"/>
              <a:t>15</a:t>
            </a:fld>
            <a:endParaRPr lang="nl-NL" sz="16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ECEA742-4BFD-7DB2-3288-6734B79A4A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Tx/>
              <a:buChar char="-"/>
            </a:pPr>
            <a:r>
              <a:rPr lang="nl-NL" dirty="0"/>
              <a:t>‘</a:t>
            </a:r>
            <a:r>
              <a:rPr lang="nl-NL" dirty="0" err="1"/>
              <a:t>Noise</a:t>
            </a:r>
            <a:r>
              <a:rPr lang="nl-NL" dirty="0"/>
              <a:t>’, </a:t>
            </a:r>
            <a:r>
              <a:rPr lang="nl-NL" dirty="0" err="1"/>
              <a:t>should</a:t>
            </a:r>
            <a:r>
              <a:rPr lang="nl-NL" dirty="0"/>
              <a:t> have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remaing</a:t>
            </a:r>
            <a:r>
              <a:rPr lang="nl-NL" dirty="0"/>
              <a:t> </a:t>
            </a:r>
            <a:r>
              <a:rPr lang="nl-NL" dirty="0" err="1"/>
              <a:t>pattern</a:t>
            </a:r>
            <a:endParaRPr lang="nl-NL" dirty="0"/>
          </a:p>
          <a:p>
            <a:endParaRPr lang="nl-NL" sz="1400" dirty="0"/>
          </a:p>
          <a:p>
            <a:r>
              <a:rPr lang="nl-NL" sz="1400" dirty="0" err="1"/>
              <a:t>Decomposition</a:t>
            </a:r>
            <a:r>
              <a:rPr lang="nl-NL" sz="1400" dirty="0"/>
              <a:t> </a:t>
            </a:r>
            <a:r>
              <a:rPr lang="nl-NL" sz="1400" dirty="0" err="1"/>
              <a:t>with</a:t>
            </a:r>
            <a:r>
              <a:rPr lang="nl-NL" sz="1400" dirty="0"/>
              <a:t> </a:t>
            </a:r>
            <a:r>
              <a:rPr lang="nl-NL" sz="1400" dirty="0" err="1"/>
              <a:t>seasonal</a:t>
            </a:r>
            <a:r>
              <a:rPr lang="nl-NL" sz="1400" dirty="0"/>
              <a:t> 					without </a:t>
            </a:r>
            <a:r>
              <a:rPr lang="nl-NL" sz="1400" dirty="0" err="1"/>
              <a:t>seasonal</a:t>
            </a:r>
            <a:endParaRPr lang="nl-NL" sz="1400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E59D49A-419C-13D1-93EC-F657D9F321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irregular</a:t>
            </a:r>
            <a:r>
              <a:rPr lang="nl-NL" dirty="0"/>
              <a:t> component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2EE4AF0-DBCE-AF10-F0C7-2F2F453C9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7" y="2311051"/>
            <a:ext cx="5824874" cy="4346098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E0198E8-BC0E-A655-F6B3-3F6271B16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477" y="2299358"/>
            <a:ext cx="5824874" cy="434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50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F03668-0094-2B85-0DB9-E741CCB1D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Outliers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breaks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C4473DE-9818-149A-E4E8-494E72FBD0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2628E1EE-3380-C68A-885D-90AA241D37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O</a:t>
            </a:r>
            <a:r>
              <a:rPr lang="en-US" dirty="0" err="1"/>
              <a:t>bservation</a:t>
            </a:r>
            <a:r>
              <a:rPr lang="en-US" dirty="0"/>
              <a:t> whose value is unusually high or low compared with what the series’ typical behavior would predict.</a:t>
            </a:r>
          </a:p>
          <a:p>
            <a:pPr marL="0" indent="0">
              <a:buNone/>
            </a:pPr>
            <a:r>
              <a:rPr lang="nl-NL" dirty="0"/>
              <a:t>	-&gt; Has a large </a:t>
            </a:r>
            <a:r>
              <a:rPr lang="nl-NL" dirty="0" err="1"/>
              <a:t>residual</a:t>
            </a:r>
            <a:r>
              <a:rPr lang="nl-NL" dirty="0"/>
              <a:t> error </a:t>
            </a:r>
            <a:r>
              <a:rPr lang="nl-NL" dirty="0" err="1"/>
              <a:t>to</a:t>
            </a:r>
            <a:r>
              <a:rPr lang="nl-NL" dirty="0"/>
              <a:t> a </a:t>
            </a:r>
            <a:r>
              <a:rPr lang="nl-NL" dirty="0" err="1"/>
              <a:t>fitted</a:t>
            </a:r>
            <a:r>
              <a:rPr lang="nl-NL" dirty="0"/>
              <a:t> model</a:t>
            </a:r>
          </a:p>
          <a:p>
            <a:pPr marL="0" indent="0">
              <a:buNone/>
            </a:pPr>
            <a:r>
              <a:rPr lang="nl-NL"/>
              <a:t>	-&gt; </a:t>
            </a:r>
            <a:r>
              <a:rPr lang="nl-NL" dirty="0"/>
              <a:t>Has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accounted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model, in order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achieve</a:t>
            </a:r>
            <a:r>
              <a:rPr lang="nl-NL" dirty="0"/>
              <a:t> a </a:t>
            </a:r>
            <a:r>
              <a:rPr lang="nl-NL" dirty="0" err="1"/>
              <a:t>good</a:t>
            </a:r>
            <a:r>
              <a:rPr lang="nl-NL" dirty="0"/>
              <a:t> fit. </a:t>
            </a:r>
          </a:p>
        </p:txBody>
      </p:sp>
    </p:spTree>
    <p:extLst>
      <p:ext uri="{BB962C8B-B14F-4D97-AF65-F5344CB8AC3E}">
        <p14:creationId xmlns:p14="http://schemas.microsoft.com/office/powerpoint/2010/main" val="2652305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B1D9FF42-3D69-6364-CCCD-06E29209C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5787" y="1604798"/>
            <a:ext cx="3654187" cy="2217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26B1F76F-642E-54E7-ED0E-8B0C233A8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Outliers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breaks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3F7662EB-0932-D1F6-8445-BC1EAA1185B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 baseline="0">
                <a:solidFill>
                  <a:srgbClr val="271D6C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845CA951-4815-4987-9CD6-BB5D6648C0B5}" type="slidenum">
              <a:rPr lang="nl-NL" sz="1200" smtClean="0"/>
              <a:pPr algn="ctr"/>
              <a:t>17</a:t>
            </a:fld>
            <a:endParaRPr lang="nl-NL" sz="16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8C2AE2C-F5B4-854B-FBBA-D1769C101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096" y="1391803"/>
            <a:ext cx="10515597" cy="4194176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Additive </a:t>
            </a:r>
            <a:r>
              <a:rPr lang="nl-NL" dirty="0" err="1"/>
              <a:t>outlier</a:t>
            </a:r>
            <a:r>
              <a:rPr lang="nl-NL" dirty="0"/>
              <a:t>    		 Level shift</a:t>
            </a:r>
          </a:p>
          <a:p>
            <a:endParaRPr lang="nl-NL" dirty="0"/>
          </a:p>
          <a:p>
            <a:endParaRPr lang="nl-NL" dirty="0"/>
          </a:p>
          <a:p>
            <a:endParaRPr lang="nl-NL" sz="1333" dirty="0"/>
          </a:p>
          <a:p>
            <a:endParaRPr lang="nl-NL" sz="1333" dirty="0"/>
          </a:p>
          <a:p>
            <a:endParaRPr lang="nl-NL" sz="1333" dirty="0"/>
          </a:p>
          <a:p>
            <a:endParaRPr lang="nl-NL" sz="1333" dirty="0"/>
          </a:p>
          <a:p>
            <a:pPr marL="0" indent="0">
              <a:buNone/>
            </a:pPr>
            <a:r>
              <a:rPr lang="nl-NL" dirty="0" err="1"/>
              <a:t>Transitory</a:t>
            </a:r>
            <a:r>
              <a:rPr lang="nl-NL" dirty="0"/>
              <a:t> change        		</a:t>
            </a:r>
            <a:r>
              <a:rPr lang="nl-NL" dirty="0" err="1"/>
              <a:t>Seasonal</a:t>
            </a:r>
            <a:r>
              <a:rPr lang="nl-NL" dirty="0"/>
              <a:t> break 		Ramp</a:t>
            </a:r>
          </a:p>
          <a:p>
            <a:endParaRPr lang="nl-NL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AA9995E-3CA5-EDAD-EC7E-6DF0BC0DF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50" y="1700809"/>
            <a:ext cx="3654185" cy="2217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7FEB2F20-2507-BE8B-C1FB-8D7533027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2097" y="4512786"/>
            <a:ext cx="4320480" cy="1389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2341E7A1-5BFD-0EFC-07AA-B8DF62400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705" y="4134969"/>
            <a:ext cx="3764392" cy="22846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A344EB1E-41B0-5130-1D32-7982E21DA3DB}"/>
              </a:ext>
            </a:extLst>
          </p:cNvPr>
          <p:cNvSpPr txBox="1"/>
          <p:nvPr/>
        </p:nvSpPr>
        <p:spPr>
          <a:xfrm>
            <a:off x="8359316" y="187017"/>
            <a:ext cx="3506545" cy="3949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Examples of </a:t>
            </a:r>
          </a:p>
          <a:p>
            <a:r>
              <a:rPr lang="en-GB" sz="2400" dirty="0"/>
              <a:t>real world impacts</a:t>
            </a:r>
            <a:br>
              <a:rPr lang="en-GB" sz="2400" dirty="0"/>
            </a:br>
            <a:endParaRPr lang="en-GB" sz="2400" dirty="0"/>
          </a:p>
          <a:p>
            <a:pPr marL="457189" indent="-457189">
              <a:buAutoNum type="arabicPeriod"/>
            </a:pPr>
            <a:r>
              <a:rPr lang="en-GB" sz="2400" dirty="0"/>
              <a:t>Change in tax reporting</a:t>
            </a:r>
          </a:p>
          <a:p>
            <a:pPr marL="457189" indent="-457189">
              <a:buAutoNum type="arabicPeriod"/>
            </a:pPr>
            <a:r>
              <a:rPr lang="en-GB" sz="2400" dirty="0"/>
              <a:t>Impact of COVID-19</a:t>
            </a:r>
          </a:p>
          <a:p>
            <a:pPr marL="457189" indent="-457189">
              <a:buAutoNum type="arabicPeriod"/>
            </a:pPr>
            <a:r>
              <a:rPr lang="en-GB" sz="2400" dirty="0"/>
              <a:t>Change in coverage</a:t>
            </a:r>
          </a:p>
          <a:p>
            <a:pPr marL="457189" indent="-457189">
              <a:buAutoNum type="arabicPeriod"/>
            </a:pPr>
            <a:r>
              <a:rPr lang="en-GB" sz="2400" dirty="0"/>
              <a:t>One-off impact, e.g. weather related</a:t>
            </a:r>
          </a:p>
          <a:p>
            <a:pPr marL="457189" indent="-457189">
              <a:buAutoNum type="arabicPeriod"/>
            </a:pPr>
            <a:endParaRPr lang="en-GB" sz="3200" dirty="0"/>
          </a:p>
        </p:txBody>
      </p:sp>
      <p:grpSp>
        <p:nvGrpSpPr>
          <p:cNvPr id="12" name="Groep 11">
            <a:extLst>
              <a:ext uri="{FF2B5EF4-FFF2-40B4-BE49-F238E27FC236}">
                <a16:creationId xmlns:a16="http://schemas.microsoft.com/office/drawing/2014/main" id="{C37A48E6-6724-0611-8CC4-FCD2F395137E}"/>
              </a:ext>
            </a:extLst>
          </p:cNvPr>
          <p:cNvGrpSpPr/>
          <p:nvPr/>
        </p:nvGrpSpPr>
        <p:grpSpPr>
          <a:xfrm>
            <a:off x="8303108" y="4185635"/>
            <a:ext cx="3745551" cy="2208244"/>
            <a:chOff x="2050868" y="1275607"/>
            <a:chExt cx="4496324" cy="2685946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A59FF880-F420-FB46-DB6C-57D73B0B5F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1673" y="1275607"/>
              <a:ext cx="4425519" cy="26859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2538FB85-7D3A-E9D4-231D-AF66E1AA14A4}"/>
                </a:ext>
              </a:extLst>
            </p:cNvPr>
            <p:cNvSpPr/>
            <p:nvPr/>
          </p:nvSpPr>
          <p:spPr>
            <a:xfrm>
              <a:off x="2050868" y="1629183"/>
              <a:ext cx="424544" cy="20312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7600">
                <a:solidFill>
                  <a:schemeClr val="tx1"/>
                </a:solidFill>
              </a:endParaRPr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77BB2F6-F492-7F2C-B05A-3FCB35E7114F}"/>
                </a:ext>
              </a:extLst>
            </p:cNvPr>
            <p:cNvSpPr/>
            <p:nvPr/>
          </p:nvSpPr>
          <p:spPr>
            <a:xfrm rot="5400000">
              <a:off x="4341766" y="1813697"/>
              <a:ext cx="424544" cy="369352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760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AA817F19-C324-3B0C-3DAC-EE844E769AFB}"/>
                </a:ext>
              </a:extLst>
            </p:cNvPr>
            <p:cNvSpPr/>
            <p:nvPr/>
          </p:nvSpPr>
          <p:spPr>
            <a:xfrm>
              <a:off x="2707278" y="1981881"/>
              <a:ext cx="3445328" cy="12899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nl-NL" sz="7600"/>
            </a:p>
          </p:txBody>
        </p:sp>
        <p:sp>
          <p:nvSpPr>
            <p:cNvPr id="17" name="Tekstvak 16">
              <a:extLst>
                <a:ext uri="{FF2B5EF4-FFF2-40B4-BE49-F238E27FC236}">
                  <a16:creationId xmlns:a16="http://schemas.microsoft.com/office/drawing/2014/main" id="{32EF5166-3EDB-6028-C73E-AA0AF0A6B6F7}"/>
                </a:ext>
              </a:extLst>
            </p:cNvPr>
            <p:cNvSpPr txBox="1"/>
            <p:nvPr/>
          </p:nvSpPr>
          <p:spPr>
            <a:xfrm rot="16200000">
              <a:off x="1596113" y="2194876"/>
              <a:ext cx="1482634" cy="443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nl-NL" sz="900" dirty="0">
                  <a:solidFill>
                    <a:schemeClr val="tx1"/>
                  </a:solidFill>
                </a:rPr>
                <a:t>0                           1	       </a:t>
              </a:r>
            </a:p>
          </p:txBody>
        </p:sp>
        <p:cxnSp>
          <p:nvCxnSpPr>
            <p:cNvPr id="18" name="Rechte verbindingslijn 17">
              <a:extLst>
                <a:ext uri="{FF2B5EF4-FFF2-40B4-BE49-F238E27FC236}">
                  <a16:creationId xmlns:a16="http://schemas.microsoft.com/office/drawing/2014/main" id="{D82EAE54-5DAA-2BB3-4B92-F22B898FF1E3}"/>
                </a:ext>
              </a:extLst>
            </p:cNvPr>
            <p:cNvCxnSpPr/>
            <p:nvPr/>
          </p:nvCxnSpPr>
          <p:spPr>
            <a:xfrm>
              <a:off x="2707277" y="3079161"/>
              <a:ext cx="1205049" cy="6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Rechte verbindingslijn 18">
              <a:extLst>
                <a:ext uri="{FF2B5EF4-FFF2-40B4-BE49-F238E27FC236}">
                  <a16:creationId xmlns:a16="http://schemas.microsoft.com/office/drawing/2014/main" id="{C36D9002-A019-86AD-EDAC-32458DEA0E4E}"/>
                </a:ext>
              </a:extLst>
            </p:cNvPr>
            <p:cNvCxnSpPr/>
            <p:nvPr/>
          </p:nvCxnSpPr>
          <p:spPr>
            <a:xfrm>
              <a:off x="4533765" y="2246403"/>
              <a:ext cx="1205049" cy="653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Rechte verbindingslijn 19">
              <a:extLst>
                <a:ext uri="{FF2B5EF4-FFF2-40B4-BE49-F238E27FC236}">
                  <a16:creationId xmlns:a16="http://schemas.microsoft.com/office/drawing/2014/main" id="{8874D2B2-4D9E-1498-611E-C8C669FD394F}"/>
                </a:ext>
              </a:extLst>
            </p:cNvPr>
            <p:cNvCxnSpPr/>
            <p:nvPr/>
          </p:nvCxnSpPr>
          <p:spPr>
            <a:xfrm flipV="1">
              <a:off x="3912325" y="2246403"/>
              <a:ext cx="621440" cy="83275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5453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Additive </a:t>
            </a:r>
            <a:r>
              <a:rPr lang="nl-NL" dirty="0" err="1"/>
              <a:t>outlier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F45184-AE9A-FF16-3DDD-6F53736BC0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5" name="Afbeelding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219" y="2119812"/>
            <a:ext cx="7093964" cy="3973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049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Example</a:t>
            </a:r>
            <a:r>
              <a:rPr lang="nl-NL" dirty="0"/>
              <a:t> </a:t>
            </a:r>
            <a:r>
              <a:rPr lang="nl-NL" dirty="0" err="1"/>
              <a:t>regressor</a:t>
            </a:r>
            <a:r>
              <a:rPr lang="nl-NL" dirty="0"/>
              <a:t> </a:t>
            </a:r>
            <a:r>
              <a:rPr lang="nl-NL" dirty="0" err="1"/>
              <a:t>creation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000" dirty="0">
                <a:solidFill>
                  <a:srgbClr val="271D6C"/>
                </a:solidFill>
              </a:rPr>
              <a:t>Level shift</a:t>
            </a:r>
          </a:p>
          <a:p>
            <a:endParaRPr lang="nl-NL" sz="2000" dirty="0">
              <a:solidFill>
                <a:srgbClr val="271D6C"/>
              </a:solidFill>
            </a:endParaRPr>
          </a:p>
          <a:p>
            <a:endParaRPr lang="nl-NL" sz="2000" dirty="0">
              <a:solidFill>
                <a:srgbClr val="271D6C"/>
              </a:solidFill>
            </a:endParaRPr>
          </a:p>
          <a:p>
            <a:endParaRPr lang="nl-NL" sz="2000" dirty="0">
              <a:solidFill>
                <a:srgbClr val="271D6C"/>
              </a:solidFill>
            </a:endParaRPr>
          </a:p>
          <a:p>
            <a:pPr marL="0" indent="0">
              <a:buNone/>
            </a:pPr>
            <a:r>
              <a:rPr lang="nl-NL" sz="2000" dirty="0">
                <a:solidFill>
                  <a:srgbClr val="271D6C"/>
                </a:solidFill>
              </a:rPr>
              <a:t>Additive </a:t>
            </a:r>
            <a:r>
              <a:rPr lang="nl-NL" sz="2000" dirty="0" err="1">
                <a:solidFill>
                  <a:srgbClr val="271D6C"/>
                </a:solidFill>
              </a:rPr>
              <a:t>outlier</a:t>
            </a:r>
            <a:endParaRPr lang="nl-NL" sz="2000" dirty="0">
              <a:solidFill>
                <a:srgbClr val="271D6C"/>
              </a:solidFill>
            </a:endParaRPr>
          </a:p>
          <a:p>
            <a:endParaRPr lang="nl-NL" dirty="0">
              <a:solidFill>
                <a:srgbClr val="271D6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hthoek 7"/>
              <p:cNvSpPr/>
              <p:nvPr/>
            </p:nvSpPr>
            <p:spPr>
              <a:xfrm>
                <a:off x="2519560" y="2378222"/>
                <a:ext cx="7056784" cy="6415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08123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l-NL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lang="nl-NL" sz="1600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𝑗</m:t>
                          </m:r>
                          <m:r>
                            <a:rPr lang="nl-NL" sz="1600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,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𝑡</m:t>
                          </m:r>
                        </m:sub>
                        <m:sup/>
                      </m:sSubSup>
                      <m:r>
                        <a:rPr lang="nl-NL" sz="1600" i="1">
                          <a:solidFill>
                            <a:prstClr val="black"/>
                          </a:solidFill>
                          <a:latin typeface="Cambria Math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nl-NL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nl-NL" sz="16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for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every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period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 ≥</m:t>
                                </m:r>
                                <m:r>
                                  <a:rPr lang="en-GB" sz="16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𝑡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from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the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period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in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which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the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break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occurs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.</m:t>
                                </m:r>
                              </m:e>
                            </m:mr>
                            <m:mr>
                              <m:e>
                                <m:r>
                                  <a:rPr lang="nl-NL" sz="16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for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all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other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periods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lang="nl-NL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                                                            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NL" sz="1600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8" name="Rechthoek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9560" y="2378222"/>
                <a:ext cx="7056784" cy="6415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hoek 8"/>
              <p:cNvSpPr/>
              <p:nvPr/>
            </p:nvSpPr>
            <p:spPr>
              <a:xfrm>
                <a:off x="1524000" y="4109873"/>
                <a:ext cx="7056784" cy="6415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defTabSz="40812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l-NL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SupPr>
                        <m:e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/>
                              <a:ea typeface="Cambria Math"/>
                              <a:cs typeface="+mn-cs"/>
                            </a:rPr>
                            <m:t>𝛿</m:t>
                          </m:r>
                        </m:e>
                        <m:sub>
                          <m:r>
                            <a:rPr lang="nl-NL" sz="1600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𝑗</m:t>
                          </m:r>
                          <m:r>
                            <a:rPr lang="nl-NL" sz="1600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,</m:t>
                          </m:r>
                          <m:r>
                            <a:rPr lang="en-GB" sz="1600" i="1">
                              <a:solidFill>
                                <a:prstClr val="black"/>
                              </a:solidFill>
                              <a:latin typeface="Cambria Math"/>
                              <a:cs typeface="+mn-cs"/>
                            </a:rPr>
                            <m:t>𝑡</m:t>
                          </m:r>
                        </m:sub>
                        <m:sup/>
                      </m:sSubSup>
                      <m:r>
                        <a:rPr lang="nl-NL" sz="1600" i="1">
                          <a:solidFill>
                            <a:prstClr val="black"/>
                          </a:solidFill>
                          <a:latin typeface="Cambria Math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nl-NL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NL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nl-NL" sz="16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for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the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period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in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which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the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outlier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occurs</m:t>
                                </m:r>
                              </m:e>
                            </m:mr>
                            <m:mr>
                              <m:e>
                                <m:r>
                                  <a:rPr lang="nl-NL" sz="1600" i="1">
                                    <a:solidFill>
                                      <a:prstClr val="black"/>
                                    </a:solidFill>
                                    <a:latin typeface="Cambria Math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for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all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other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periods</m:t>
                                </m:r>
                                <m:r>
                                  <a:rPr lang="nl-NL" sz="16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cs typeface="+mn-cs"/>
                                  </a:rPr>
                                  <m:t>                        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NL" sz="1600" dirty="0">
                  <a:solidFill>
                    <a:prstClr val="black"/>
                  </a:solidFill>
                  <a:latin typeface="Calibri"/>
                  <a:cs typeface="+mn-cs"/>
                </a:endParaRPr>
              </a:p>
            </p:txBody>
          </p:sp>
        </mc:Choice>
        <mc:Fallback xmlns="">
          <p:sp>
            <p:nvSpPr>
              <p:cNvPr id="9" name="Rechthoe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109873"/>
                <a:ext cx="7056784" cy="6415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7154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Outliers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97FFF61-9605-5C46-AC8D-34734486B7C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  <p:graphicFrame>
        <p:nvGraphicFramePr>
          <p:cNvPr id="7" name="Tijdelijke aanduiding voor inhoud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5570016"/>
              </p:ext>
            </p:extLst>
          </p:nvPr>
        </p:nvGraphicFramePr>
        <p:xfrm>
          <a:off x="4460308" y="1429788"/>
          <a:ext cx="4032448" cy="4137842"/>
        </p:xfrm>
        <a:graphic>
          <a:graphicData uri="http://schemas.openxmlformats.org/drawingml/2006/table">
            <a:tbl>
              <a:tblPr firstRow="1" bandRow="1"/>
              <a:tblGrid>
                <a:gridCol w="118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04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NL" sz="1600" b="1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Period</a:t>
                      </a:r>
                      <a:r>
                        <a:rPr lang="nl-NL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NL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Additive </a:t>
                      </a:r>
                      <a:r>
                        <a:rPr lang="nl-NL" sz="1600" b="1" kern="1200" baseline="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nl-NL" sz="1600" b="1" kern="1200" baseline="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outlier</a:t>
                      </a:r>
                      <a:endParaRPr lang="nl-NL" sz="1600" b="1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nl-NL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Level shift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2017 Q3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2017 Q4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2018 Q1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2018 Q2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2018 Q3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2018 Q4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2019 Q2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2019 Q2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2019 Q3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2019 Q4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2020 Q1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2020 Q2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2020 Q3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48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2020 Q4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r" fontAlgn="b"/>
                      <a:r>
                        <a:rPr lang="nl-NL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440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A55C23F-4B43-6551-D61B-A66F0CB2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identify</a:t>
            </a:r>
            <a:r>
              <a:rPr lang="nl-NL" dirty="0"/>
              <a:t> </a:t>
            </a:r>
            <a:r>
              <a:rPr lang="nl-NL" dirty="0" err="1"/>
              <a:t>outliers</a:t>
            </a:r>
            <a:r>
              <a:rPr lang="nl-NL" dirty="0"/>
              <a:t>?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609585" indent="-609585">
              <a:buAutoNum type="arabicPeriod"/>
            </a:pPr>
            <a:r>
              <a:rPr lang="nl-NL" sz="2400" dirty="0"/>
              <a:t>Prior </a:t>
            </a:r>
            <a:r>
              <a:rPr lang="nl-NL" sz="2400" dirty="0" err="1"/>
              <a:t>knowledge</a:t>
            </a:r>
            <a:endParaRPr lang="nl-NL" sz="2400" dirty="0"/>
          </a:p>
          <a:p>
            <a:pPr marL="609585" indent="-609585">
              <a:buAutoNum type="arabicPeriod"/>
            </a:pPr>
            <a:r>
              <a:rPr lang="nl-NL" sz="2400" dirty="0"/>
              <a:t>Visual </a:t>
            </a:r>
            <a:r>
              <a:rPr lang="nl-NL" sz="2400" dirty="0" err="1"/>
              <a:t>inspection</a:t>
            </a:r>
            <a:endParaRPr lang="nl-NL" sz="2400" dirty="0"/>
          </a:p>
          <a:p>
            <a:pPr marL="609585" indent="-609585">
              <a:buAutoNum type="arabicPeriod"/>
            </a:pPr>
            <a:r>
              <a:rPr lang="nl-NL" sz="2400" dirty="0"/>
              <a:t>Automatic </a:t>
            </a:r>
            <a:r>
              <a:rPr lang="nl-NL" sz="2400" dirty="0" err="1"/>
              <a:t>detection</a:t>
            </a:r>
            <a:r>
              <a:rPr lang="nl-NL" sz="2400" dirty="0"/>
              <a:t> X13: </a:t>
            </a:r>
            <a:r>
              <a:rPr lang="nl-NL" sz="2400" dirty="0" err="1"/>
              <a:t>Addone</a:t>
            </a:r>
            <a:endParaRPr lang="nl-NL" sz="2400" dirty="0"/>
          </a:p>
          <a:p>
            <a:pPr marL="1219170" lvl="1" indent="-609585">
              <a:buFont typeface="+mj-lt"/>
              <a:buAutoNum type="arabicPeriod"/>
            </a:pPr>
            <a:r>
              <a:rPr lang="nl-NL" sz="2400" dirty="0">
                <a:solidFill>
                  <a:srgbClr val="271D6C"/>
                </a:solidFill>
              </a:rPr>
              <a:t>For </a:t>
            </a:r>
            <a:r>
              <a:rPr lang="nl-NL" sz="2400" dirty="0" err="1">
                <a:solidFill>
                  <a:srgbClr val="271D6C"/>
                </a:solidFill>
              </a:rPr>
              <a:t>every</a:t>
            </a:r>
            <a:r>
              <a:rPr lang="nl-NL" sz="2400" dirty="0">
                <a:solidFill>
                  <a:srgbClr val="271D6C"/>
                </a:solidFill>
              </a:rPr>
              <a:t> </a:t>
            </a:r>
            <a:r>
              <a:rPr lang="nl-NL" sz="2400" dirty="0" err="1">
                <a:solidFill>
                  <a:srgbClr val="271D6C"/>
                </a:solidFill>
              </a:rPr>
              <a:t>period</a:t>
            </a:r>
            <a:r>
              <a:rPr lang="nl-NL" sz="2400" dirty="0">
                <a:solidFill>
                  <a:srgbClr val="271D6C"/>
                </a:solidFill>
              </a:rPr>
              <a:t> </a:t>
            </a:r>
            <a:r>
              <a:rPr lang="nl-NL" sz="2400" dirty="0" err="1">
                <a:solidFill>
                  <a:srgbClr val="271D6C"/>
                </a:solidFill>
              </a:rPr>
              <a:t>try</a:t>
            </a:r>
            <a:r>
              <a:rPr lang="nl-NL" sz="2400" dirty="0">
                <a:solidFill>
                  <a:srgbClr val="271D6C"/>
                </a:solidFill>
              </a:rPr>
              <a:t> </a:t>
            </a:r>
            <a:r>
              <a:rPr lang="nl-NL" sz="2400" dirty="0" err="1">
                <a:solidFill>
                  <a:srgbClr val="271D6C"/>
                </a:solidFill>
              </a:rPr>
              <a:t>every</a:t>
            </a:r>
            <a:r>
              <a:rPr lang="nl-NL" sz="2400" dirty="0">
                <a:solidFill>
                  <a:srgbClr val="271D6C"/>
                </a:solidFill>
              </a:rPr>
              <a:t> type of </a:t>
            </a:r>
            <a:r>
              <a:rPr lang="nl-NL" sz="2400" dirty="0" err="1">
                <a:solidFill>
                  <a:srgbClr val="271D6C"/>
                </a:solidFill>
              </a:rPr>
              <a:t>outlier</a:t>
            </a:r>
            <a:r>
              <a:rPr lang="nl-NL" sz="2400" dirty="0">
                <a:solidFill>
                  <a:srgbClr val="271D6C"/>
                </a:solidFill>
              </a:rPr>
              <a:t> (AO/TC/LS/SO) </a:t>
            </a:r>
          </a:p>
          <a:p>
            <a:pPr marL="1219170" lvl="1" indent="-609585">
              <a:buFont typeface="+mj-lt"/>
              <a:buAutoNum type="arabicPeriod"/>
            </a:pPr>
            <a:r>
              <a:rPr lang="nl-NL" sz="2400" dirty="0" err="1">
                <a:solidFill>
                  <a:srgbClr val="271D6C"/>
                </a:solidFill>
              </a:rPr>
              <a:t>If</a:t>
            </a:r>
            <a:r>
              <a:rPr lang="nl-NL" sz="2400" dirty="0">
                <a:solidFill>
                  <a:srgbClr val="271D6C"/>
                </a:solidFill>
              </a:rPr>
              <a:t> </a:t>
            </a:r>
            <a:r>
              <a:rPr lang="nl-NL" sz="2400" dirty="0" err="1">
                <a:solidFill>
                  <a:srgbClr val="271D6C"/>
                </a:solidFill>
              </a:rPr>
              <a:t>highest</a:t>
            </a:r>
            <a:r>
              <a:rPr lang="nl-NL" sz="2400" dirty="0">
                <a:solidFill>
                  <a:srgbClr val="271D6C"/>
                </a:solidFill>
              </a:rPr>
              <a:t> t-</a:t>
            </a:r>
            <a:r>
              <a:rPr lang="nl-NL" sz="2400" dirty="0" err="1">
                <a:solidFill>
                  <a:srgbClr val="271D6C"/>
                </a:solidFill>
              </a:rPr>
              <a:t>value</a:t>
            </a:r>
            <a:r>
              <a:rPr lang="nl-NL" sz="2400" dirty="0">
                <a:solidFill>
                  <a:srgbClr val="271D6C"/>
                </a:solidFill>
              </a:rPr>
              <a:t> &gt; </a:t>
            </a:r>
            <a:r>
              <a:rPr lang="nl-NL" sz="2400" dirty="0" err="1">
                <a:solidFill>
                  <a:srgbClr val="271D6C"/>
                </a:solidFill>
              </a:rPr>
              <a:t>critical</a:t>
            </a:r>
            <a:r>
              <a:rPr lang="nl-NL" sz="2400" dirty="0">
                <a:solidFill>
                  <a:srgbClr val="271D6C"/>
                </a:solidFill>
              </a:rPr>
              <a:t> </a:t>
            </a:r>
            <a:r>
              <a:rPr lang="nl-NL" sz="2400" dirty="0" err="1">
                <a:solidFill>
                  <a:srgbClr val="271D6C"/>
                </a:solidFill>
              </a:rPr>
              <a:t>value</a:t>
            </a:r>
            <a:r>
              <a:rPr lang="nl-NL" sz="2400" dirty="0">
                <a:solidFill>
                  <a:srgbClr val="271D6C"/>
                </a:solidFill>
              </a:rPr>
              <a:t>, </a:t>
            </a:r>
            <a:r>
              <a:rPr lang="nl-NL" sz="2400" dirty="0" err="1">
                <a:solidFill>
                  <a:srgbClr val="271D6C"/>
                </a:solidFill>
              </a:rPr>
              <a:t>add</a:t>
            </a:r>
            <a:r>
              <a:rPr lang="nl-NL" sz="2400" dirty="0">
                <a:solidFill>
                  <a:srgbClr val="271D6C"/>
                </a:solidFill>
              </a:rPr>
              <a:t> </a:t>
            </a:r>
            <a:r>
              <a:rPr lang="nl-NL" sz="2400" dirty="0" err="1">
                <a:solidFill>
                  <a:srgbClr val="271D6C"/>
                </a:solidFill>
              </a:rPr>
              <a:t>outlier</a:t>
            </a:r>
            <a:endParaRPr lang="nl-NL" sz="2400" dirty="0">
              <a:solidFill>
                <a:srgbClr val="271D6C"/>
              </a:solidFill>
            </a:endParaRPr>
          </a:p>
          <a:p>
            <a:pPr marL="1219170" lvl="1" indent="-609585">
              <a:buFont typeface="+mj-lt"/>
              <a:buAutoNum type="arabicPeriod"/>
            </a:pPr>
            <a:r>
              <a:rPr lang="nl-NL" sz="2400" dirty="0">
                <a:solidFill>
                  <a:srgbClr val="271D6C"/>
                </a:solidFill>
              </a:rPr>
              <a:t>Re-</a:t>
            </a:r>
            <a:r>
              <a:rPr lang="nl-NL" sz="2400" dirty="0" err="1">
                <a:solidFill>
                  <a:srgbClr val="271D6C"/>
                </a:solidFill>
              </a:rPr>
              <a:t>estimate</a:t>
            </a:r>
            <a:r>
              <a:rPr lang="nl-NL" sz="2400" dirty="0">
                <a:solidFill>
                  <a:srgbClr val="271D6C"/>
                </a:solidFill>
              </a:rPr>
              <a:t> model </a:t>
            </a:r>
            <a:r>
              <a:rPr lang="nl-NL" sz="2400" dirty="0" err="1">
                <a:solidFill>
                  <a:srgbClr val="271D6C"/>
                </a:solidFill>
              </a:rPr>
              <a:t>and</a:t>
            </a:r>
            <a:r>
              <a:rPr lang="nl-NL" sz="2400" dirty="0">
                <a:solidFill>
                  <a:srgbClr val="271D6C"/>
                </a:solidFill>
              </a:rPr>
              <a:t> </a:t>
            </a:r>
            <a:r>
              <a:rPr lang="nl-NL" sz="2400" dirty="0" err="1">
                <a:solidFill>
                  <a:srgbClr val="271D6C"/>
                </a:solidFill>
              </a:rPr>
              <a:t>repeat</a:t>
            </a:r>
            <a:r>
              <a:rPr lang="nl-NL" sz="2400" dirty="0">
                <a:solidFill>
                  <a:srgbClr val="271D6C"/>
                </a:solidFill>
              </a:rPr>
              <a:t> step 1 </a:t>
            </a:r>
            <a:r>
              <a:rPr lang="nl-NL" sz="2400" dirty="0" err="1">
                <a:solidFill>
                  <a:srgbClr val="271D6C"/>
                </a:solidFill>
              </a:rPr>
              <a:t>and</a:t>
            </a:r>
            <a:r>
              <a:rPr lang="nl-NL" sz="2400" dirty="0">
                <a:solidFill>
                  <a:srgbClr val="271D6C"/>
                </a:solidFill>
              </a:rPr>
              <a:t> 2 </a:t>
            </a:r>
            <a:r>
              <a:rPr lang="nl-NL" sz="2400" dirty="0" err="1">
                <a:solidFill>
                  <a:srgbClr val="271D6C"/>
                </a:solidFill>
              </a:rPr>
              <a:t>until</a:t>
            </a:r>
            <a:r>
              <a:rPr lang="nl-NL" sz="2400" dirty="0">
                <a:solidFill>
                  <a:srgbClr val="271D6C"/>
                </a:solidFill>
              </a:rPr>
              <a:t> no more </a:t>
            </a:r>
            <a:r>
              <a:rPr lang="nl-NL" sz="2400" dirty="0" err="1">
                <a:solidFill>
                  <a:srgbClr val="271D6C"/>
                </a:solidFill>
              </a:rPr>
              <a:t>outliers</a:t>
            </a:r>
            <a:r>
              <a:rPr lang="nl-NL" sz="2400" dirty="0">
                <a:solidFill>
                  <a:srgbClr val="271D6C"/>
                </a:solidFill>
              </a:rPr>
              <a:t> are found </a:t>
            </a:r>
          </a:p>
          <a:p>
            <a:pPr marL="1219170" lvl="1" indent="-609585">
              <a:buFont typeface="+mj-lt"/>
              <a:buAutoNum type="arabicPeriod"/>
            </a:pPr>
            <a:r>
              <a:rPr lang="nl-NL" sz="2400" dirty="0">
                <a:solidFill>
                  <a:srgbClr val="271D6C"/>
                </a:solidFill>
              </a:rPr>
              <a:t>Backward </a:t>
            </a:r>
            <a:r>
              <a:rPr lang="nl-NL" sz="2400" dirty="0" err="1">
                <a:solidFill>
                  <a:srgbClr val="271D6C"/>
                </a:solidFill>
              </a:rPr>
              <a:t>deletion</a:t>
            </a:r>
            <a:r>
              <a:rPr lang="nl-NL" sz="2400" dirty="0">
                <a:solidFill>
                  <a:srgbClr val="271D6C"/>
                </a:solidFill>
              </a:rPr>
              <a:t>: </a:t>
            </a:r>
            <a:r>
              <a:rPr lang="nl-NL" sz="2400" dirty="0" err="1">
                <a:solidFill>
                  <a:srgbClr val="271D6C"/>
                </a:solidFill>
              </a:rPr>
              <a:t>remove</a:t>
            </a:r>
            <a:r>
              <a:rPr lang="nl-NL" sz="2400" dirty="0">
                <a:solidFill>
                  <a:srgbClr val="271D6C"/>
                </a:solidFill>
              </a:rPr>
              <a:t> </a:t>
            </a:r>
            <a:r>
              <a:rPr lang="nl-NL" sz="2400" dirty="0" err="1">
                <a:solidFill>
                  <a:srgbClr val="271D6C"/>
                </a:solidFill>
              </a:rPr>
              <a:t>least</a:t>
            </a:r>
            <a:r>
              <a:rPr lang="nl-NL" sz="2400" dirty="0">
                <a:solidFill>
                  <a:srgbClr val="271D6C"/>
                </a:solidFill>
              </a:rPr>
              <a:t> significant </a:t>
            </a:r>
            <a:r>
              <a:rPr lang="nl-NL" sz="2400" dirty="0" err="1">
                <a:solidFill>
                  <a:srgbClr val="271D6C"/>
                </a:solidFill>
              </a:rPr>
              <a:t>outliers</a:t>
            </a:r>
            <a:r>
              <a:rPr lang="nl-NL" sz="2400" dirty="0">
                <a:solidFill>
                  <a:srgbClr val="271D6C"/>
                </a:solidFill>
              </a:rPr>
              <a:t> </a:t>
            </a:r>
            <a:r>
              <a:rPr lang="nl-NL" sz="2400" dirty="0" err="1">
                <a:solidFill>
                  <a:srgbClr val="271D6C"/>
                </a:solidFill>
              </a:rPr>
              <a:t>one</a:t>
            </a:r>
            <a:r>
              <a:rPr lang="nl-NL" sz="2400" dirty="0">
                <a:solidFill>
                  <a:srgbClr val="271D6C"/>
                </a:solidFill>
              </a:rPr>
              <a:t> </a:t>
            </a:r>
            <a:r>
              <a:rPr lang="nl-NL" sz="2400" dirty="0" err="1">
                <a:solidFill>
                  <a:srgbClr val="271D6C"/>
                </a:solidFill>
              </a:rPr>
              <a:t>by</a:t>
            </a:r>
            <a:r>
              <a:rPr lang="nl-NL" sz="2400" dirty="0">
                <a:solidFill>
                  <a:srgbClr val="271D6C"/>
                </a:solidFill>
              </a:rPr>
              <a:t> </a:t>
            </a:r>
            <a:r>
              <a:rPr lang="nl-NL" sz="2400" dirty="0" err="1">
                <a:solidFill>
                  <a:srgbClr val="271D6C"/>
                </a:solidFill>
              </a:rPr>
              <a:t>one</a:t>
            </a:r>
            <a:endParaRPr lang="nl-NL" sz="2400" dirty="0">
              <a:solidFill>
                <a:srgbClr val="271D6C"/>
              </a:solidFill>
            </a:endParaRPr>
          </a:p>
          <a:p>
            <a:pPr lvl="1"/>
            <a:endParaRPr lang="nl-NL" sz="2400" dirty="0">
              <a:solidFill>
                <a:srgbClr val="271D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9985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numm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600"/>
              <a:pPr algn="ctr"/>
              <a:t>22</a:t>
            </a:fld>
            <a:endParaRPr lang="nl-NL" sz="1600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 err="1"/>
              <a:t>Working</a:t>
            </a:r>
            <a:r>
              <a:rPr lang="nl-NL" dirty="0"/>
              <a:t> </a:t>
            </a:r>
            <a:r>
              <a:rPr lang="nl-NL" dirty="0" err="1"/>
              <a:t>days</a:t>
            </a:r>
            <a:r>
              <a:rPr lang="nl-NL" dirty="0"/>
              <a:t> </a:t>
            </a:r>
          </a:p>
          <a:p>
            <a:pPr>
              <a:lnSpc>
                <a:spcPct val="100000"/>
              </a:lnSpc>
            </a:pPr>
            <a:r>
              <a:rPr lang="nl-NL" dirty="0" err="1"/>
              <a:t>Trading</a:t>
            </a:r>
            <a:r>
              <a:rPr lang="nl-NL" dirty="0"/>
              <a:t> </a:t>
            </a:r>
            <a:r>
              <a:rPr lang="nl-NL" dirty="0" err="1"/>
              <a:t>days</a:t>
            </a:r>
            <a:endParaRPr lang="nl-NL" dirty="0"/>
          </a:p>
          <a:p>
            <a:pPr>
              <a:lnSpc>
                <a:spcPct val="100000"/>
              </a:lnSpc>
            </a:pPr>
            <a:r>
              <a:rPr lang="nl-NL" dirty="0"/>
              <a:t>National </a:t>
            </a:r>
            <a:r>
              <a:rPr lang="nl-NL" dirty="0" err="1"/>
              <a:t>holiday</a:t>
            </a:r>
            <a:r>
              <a:rPr lang="nl-NL" dirty="0"/>
              <a:t> (</a:t>
            </a:r>
            <a:r>
              <a:rPr lang="nl-NL" dirty="0" err="1"/>
              <a:t>fixed</a:t>
            </a:r>
            <a:r>
              <a:rPr lang="nl-NL" dirty="0"/>
              <a:t> vs. </a:t>
            </a:r>
            <a:r>
              <a:rPr lang="nl-NL" dirty="0" err="1"/>
              <a:t>moving</a:t>
            </a:r>
            <a:r>
              <a:rPr lang="nl-NL" dirty="0"/>
              <a:t>)</a:t>
            </a:r>
          </a:p>
          <a:p>
            <a:pPr>
              <a:lnSpc>
                <a:spcPct val="100000"/>
              </a:lnSpc>
            </a:pPr>
            <a:r>
              <a:rPr lang="nl-NL" dirty="0" err="1"/>
              <a:t>Leap</a:t>
            </a:r>
            <a:r>
              <a:rPr lang="nl-NL" dirty="0"/>
              <a:t> </a:t>
            </a:r>
            <a:r>
              <a:rPr lang="nl-NL" dirty="0" err="1"/>
              <a:t>year</a:t>
            </a:r>
            <a:endParaRPr lang="nl-NL" dirty="0"/>
          </a:p>
          <a:p>
            <a:pPr>
              <a:lnSpc>
                <a:spcPct val="100000"/>
              </a:lnSpc>
            </a:pPr>
            <a:r>
              <a:rPr lang="nl-NL" sz="2933" dirty="0"/>
              <a:t>Bridge </a:t>
            </a:r>
            <a:r>
              <a:rPr lang="nl-NL" sz="2933" dirty="0" err="1"/>
              <a:t>days</a:t>
            </a:r>
            <a:endParaRPr lang="nl-NL" sz="2933" dirty="0"/>
          </a:p>
          <a:p>
            <a:endParaRPr lang="nl-NL" dirty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err="1"/>
              <a:t>Calendar</a:t>
            </a:r>
            <a:r>
              <a:rPr lang="nl-NL" dirty="0"/>
              <a:t> </a:t>
            </a:r>
            <a:r>
              <a:rPr lang="nl-NL" dirty="0" err="1"/>
              <a:t>effects</a:t>
            </a:r>
            <a:endParaRPr lang="nl-NL" dirty="0"/>
          </a:p>
        </p:txBody>
      </p:sp>
      <p:pic>
        <p:nvPicPr>
          <p:cNvPr id="12" name="Afbeelding 11" descr="Afbeelding met tekst, kleding, schermopname, krant&#10;&#10;Door AI gegenereerde inhoud is mogelijk onjuist.">
            <a:extLst>
              <a:ext uri="{FF2B5EF4-FFF2-40B4-BE49-F238E27FC236}">
                <a16:creationId xmlns:a16="http://schemas.microsoft.com/office/drawing/2014/main" id="{2CFE879E-5795-6F1B-AB11-6C0BFB3D9B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98"/>
          <a:stretch/>
        </p:blipFill>
        <p:spPr>
          <a:xfrm>
            <a:off x="7083154" y="38110"/>
            <a:ext cx="5108847" cy="686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091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47CF2-6362-D77C-DE37-E23F45E0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1121FB5-7EA3-21D0-AE46-9156313FF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A4D51-EA7E-19B5-7B8E-1145EA632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sz="3200" dirty="0" err="1"/>
              <a:t>Stationarity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5687586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C574C5B-1D6C-D728-FE61-2F96AFCF6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Stationarity</a:t>
            </a:r>
            <a:r>
              <a:rPr lang="nl-NL" dirty="0"/>
              <a:t> </a:t>
            </a:r>
            <a:br>
              <a:rPr lang="nl-NL" dirty="0"/>
            </a:b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tekst 1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457189" indent="-457189">
                  <a:buFontTx/>
                  <a:buChar char="-"/>
                </a:pPr>
                <a:r>
                  <a:rPr lang="nl-NL" sz="2400" dirty="0"/>
                  <a:t>Assumption </a:t>
                </a:r>
                <a:r>
                  <a:rPr lang="nl-NL" sz="2400" dirty="0" err="1"/>
                  <a:t>for</a:t>
                </a:r>
                <a:r>
                  <a:rPr lang="nl-NL" sz="2400" dirty="0"/>
                  <a:t> ARMA-</a:t>
                </a:r>
                <a:r>
                  <a:rPr lang="nl-NL" sz="2400" dirty="0" err="1"/>
                  <a:t>models</a:t>
                </a:r>
                <a:endParaRPr lang="nl-NL" sz="2400" dirty="0"/>
              </a:p>
              <a:p>
                <a:pPr marL="457189" indent="-457189">
                  <a:buFontTx/>
                  <a:buChar char="-"/>
                </a:pPr>
                <a:r>
                  <a:rPr lang="en-US" sz="2400" dirty="0"/>
                  <a:t>A stationary time series is one whose statistical properties do not depend on the time at which the series is observed</a:t>
                </a:r>
              </a:p>
              <a:p>
                <a:pPr marL="457189" indent="-457189">
                  <a:buFontTx/>
                  <a:buChar char="-"/>
                </a:pPr>
                <a:r>
                  <a:rPr lang="en-US" sz="2400" dirty="0"/>
                  <a:t>-&gt; time series with trends or seasonality are not stationary</a:t>
                </a:r>
                <a:endParaRPr lang="nl-NL" sz="2400" dirty="0"/>
              </a:p>
              <a:p>
                <a:pPr marL="457189" indent="-457189">
                  <a:buFontTx/>
                  <a:buChar char="-"/>
                </a:pPr>
                <a:r>
                  <a:rPr lang="nl-NL" sz="2400" dirty="0"/>
                  <a:t>More </a:t>
                </a:r>
                <a:r>
                  <a:rPr lang="nl-NL" sz="2400" dirty="0" err="1"/>
                  <a:t>formal</a:t>
                </a:r>
                <a:r>
                  <a:rPr lang="nl-NL" sz="2400" dirty="0"/>
                  <a:t>: </a:t>
                </a:r>
              </a:p>
              <a:p>
                <a:pPr marL="0" indent="0">
                  <a:buNone/>
                </a:pPr>
                <a:r>
                  <a:rPr lang="nl-NL" sz="2400" dirty="0"/>
                  <a:t>      A </a:t>
                </a:r>
                <a:r>
                  <a:rPr lang="nl-NL" sz="2400" dirty="0" err="1"/>
                  <a:t>stochastic</a:t>
                </a:r>
                <a:r>
                  <a:rPr lang="nl-NL" sz="2400" dirty="0"/>
                  <a:t> </a:t>
                </a:r>
                <a:r>
                  <a:rPr lang="nl-NL" sz="2400" dirty="0" err="1"/>
                  <a:t>process</a:t>
                </a:r>
                <a:r>
                  <a:rPr lang="nl-NL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sz="2400" dirty="0"/>
                  <a:t> is (</a:t>
                </a:r>
                <a:r>
                  <a:rPr lang="nl-NL" sz="2400" dirty="0" err="1"/>
                  <a:t>weakly</a:t>
                </a:r>
                <a:r>
                  <a:rPr lang="nl-NL" sz="2400" dirty="0"/>
                  <a:t>) </a:t>
                </a:r>
                <a:r>
                  <a:rPr lang="nl-NL" sz="2400" dirty="0" err="1"/>
                  <a:t>stationary</a:t>
                </a:r>
                <a:r>
                  <a:rPr lang="nl-NL" sz="2400" dirty="0"/>
                  <a:t> </a:t>
                </a:r>
                <a:r>
                  <a:rPr lang="nl-NL" sz="2400" dirty="0" err="1"/>
                  <a:t>if</a:t>
                </a:r>
                <a:endParaRPr lang="nl-NL" sz="2400" dirty="0"/>
              </a:p>
              <a:p>
                <a:pPr marL="1066773" lvl="1" indent="-457189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sz="2400" dirty="0"/>
                  <a:t>for </a:t>
                </a:r>
                <a:r>
                  <a:rPr lang="nl-NL" sz="2400" dirty="0" err="1"/>
                  <a:t>all</a:t>
                </a:r>
                <a:r>
                  <a:rPr lang="nl-NL" sz="2400" dirty="0"/>
                  <a:t> t</a:t>
                </a:r>
              </a:p>
              <a:p>
                <a:pPr marL="1066773" lvl="1" indent="-457189">
                  <a:buFontTx/>
                  <a:buChar char="-"/>
                </a:pPr>
                <a:r>
                  <a:rPr lang="nl-NL" sz="2400" dirty="0"/>
                  <a:t>Var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nor/>
                      </m:rPr>
                      <a:rPr lang="nl-NL" sz="24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nl-NL" sz="2400" dirty="0"/>
                      <m:t>for</m:t>
                    </m:r>
                    <m:r>
                      <m:rPr>
                        <m:nor/>
                      </m:rPr>
                      <a:rPr lang="nl-NL" sz="2400" dirty="0"/>
                      <m:t> </m:t>
                    </m:r>
                    <m:r>
                      <m:rPr>
                        <m:nor/>
                      </m:rPr>
                      <a:rPr lang="nl-NL" sz="2400" dirty="0"/>
                      <m:t>all</m:t>
                    </m:r>
                    <m:r>
                      <m:rPr>
                        <m:nor/>
                      </m:rPr>
                      <a:rPr lang="nl-NL" sz="2400" dirty="0"/>
                      <m:t> </m:t>
                    </m:r>
                    <m:r>
                      <m:rPr>
                        <m:nor/>
                      </m:rPr>
                      <a:rPr lang="nl-NL" sz="2400" dirty="0"/>
                      <m:t>t</m:t>
                    </m:r>
                  </m:oMath>
                </a14:m>
                <a:r>
                  <a:rPr lang="nl-NL" sz="2400" dirty="0"/>
                  <a:t>  (</a:t>
                </a:r>
                <a:r>
                  <a:rPr lang="nl-NL" sz="2400" dirty="0" err="1"/>
                  <a:t>homoscedasticity</a:t>
                </a:r>
                <a:r>
                  <a:rPr lang="nl-NL" sz="2400" dirty="0"/>
                  <a:t>)</a:t>
                </a:r>
              </a:p>
              <a:p>
                <a:pPr marL="1066773" lvl="1" indent="-457189">
                  <a:buFontTx/>
                  <a:buChar char="-"/>
                </a:pPr>
                <a:r>
                  <a:rPr lang="nl-NL" sz="2400" dirty="0" err="1"/>
                  <a:t>Cov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l-NL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nl-NL" sz="2400" dirty="0"/>
                  <a:t> for </a:t>
                </a:r>
                <a:r>
                  <a:rPr lang="nl-NL" sz="2400" dirty="0" err="1"/>
                  <a:t>all</a:t>
                </a:r>
                <a:r>
                  <a:rPr lang="nl-NL" sz="2400" dirty="0"/>
                  <a:t> t (</a:t>
                </a:r>
                <a:r>
                  <a:rPr lang="nl-NL" sz="2400" dirty="0" err="1"/>
                  <a:t>autocovariancefunction</a:t>
                </a:r>
                <a:r>
                  <a:rPr lang="nl-NL" sz="2400" dirty="0"/>
                  <a:t>, </a:t>
                </a:r>
                <a:r>
                  <a:rPr lang="nl-NL" sz="2400" dirty="0" err="1"/>
                  <a:t>acvf</a:t>
                </a:r>
                <a:r>
                  <a:rPr lang="nl-NL" sz="2400" dirty="0"/>
                  <a:t>)</a:t>
                </a:r>
              </a:p>
              <a:p>
                <a:pPr marL="629100" lvl="2" indent="0">
                  <a:buNone/>
                </a:pPr>
                <a:r>
                  <a:rPr lang="nl-NL" sz="2400" dirty="0">
                    <a:ea typeface="Cambria Math" panose="02040503050406030204" pitchFamily="18" charset="0"/>
                  </a:rPr>
                  <a:t>	   </a:t>
                </a:r>
                <a14:m>
                  <m:oMath xmlns:m="http://schemas.openxmlformats.org/officeDocument/2006/math">
                    <m:r>
                      <a:rPr lang="nl-NL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nl-NL" sz="2400" dirty="0"/>
                  <a:t> autocorrelations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nl-NL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nl-NL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/</m:t>
                    </m:r>
                    <m:sSub>
                      <m:sSub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nl-N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nl-NL" sz="2400" dirty="0"/>
                  <a:t> (</a:t>
                </a:r>
                <a:r>
                  <a:rPr lang="nl-NL" sz="2400" dirty="0" err="1"/>
                  <a:t>acf</a:t>
                </a:r>
                <a:r>
                  <a:rPr lang="nl-NL" sz="2400" dirty="0"/>
                  <a:t>)</a:t>
                </a:r>
              </a:p>
              <a:p>
                <a:pPr marL="457189" indent="-457189">
                  <a:buFontTx/>
                  <a:buChar char="-"/>
                </a:pPr>
                <a:endParaRPr lang="nl-NL" sz="2400" dirty="0"/>
              </a:p>
              <a:p>
                <a:pPr lvl="2"/>
                <a:endParaRPr lang="nl-NL" sz="2400" dirty="0"/>
              </a:p>
              <a:p>
                <a:endParaRPr lang="nl-NL" sz="2400" dirty="0"/>
              </a:p>
            </p:txBody>
          </p:sp>
        </mc:Choice>
        <mc:Fallback xmlns="">
          <p:sp>
            <p:nvSpPr>
              <p:cNvPr id="2" name="Tijdelijke aanduiding voor tekst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61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6371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B2458B5B-F550-78EB-65DC-AB3AB709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Which</a:t>
            </a:r>
            <a:r>
              <a:rPr lang="nl-NL" dirty="0"/>
              <a:t> series are </a:t>
            </a:r>
            <a:r>
              <a:rPr lang="nl-NL" dirty="0" err="1"/>
              <a:t>stationary</a:t>
            </a:r>
            <a:r>
              <a:rPr lang="nl-NL" dirty="0"/>
              <a:t>?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DB4577C3-99B0-C487-165F-1008CC494F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600"/>
              <a:pPr algn="ctr"/>
              <a:t>25</a:t>
            </a:fld>
            <a:endParaRPr lang="nl-NL" sz="160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0A3CEE1-ACF7-6C2E-8238-4D924CB90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2092451"/>
            <a:ext cx="10515597" cy="4194176"/>
          </a:xfrm>
        </p:spPr>
        <p:txBody>
          <a:bodyPr>
            <a:normAutofit lnSpcReduction="10000"/>
          </a:bodyPr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en-US" sz="1467" dirty="0">
                <a:hlinkClick r:id="rId2"/>
              </a:rPr>
              <a:t>https://otexts.com/fpp3/stationarity.html</a:t>
            </a:r>
            <a:endParaRPr lang="nl-NL" sz="1467" dirty="0"/>
          </a:p>
        </p:txBody>
      </p:sp>
      <p:pic>
        <p:nvPicPr>
          <p:cNvPr id="1026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>
            <a:extLst>
              <a:ext uri="{FF2B5EF4-FFF2-40B4-BE49-F238E27FC236}">
                <a16:creationId xmlns:a16="http://schemas.microsoft.com/office/drawing/2014/main" id="{9255BD38-9505-292A-A3CF-1B6E2A45C8A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600"/>
          <a:stretch/>
        </p:blipFill>
        <p:spPr bwMode="auto">
          <a:xfrm>
            <a:off x="1139957" y="1186442"/>
            <a:ext cx="9144000" cy="448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al 4">
            <a:extLst>
              <a:ext uri="{FF2B5EF4-FFF2-40B4-BE49-F238E27FC236}">
                <a16:creationId xmlns:a16="http://schemas.microsoft.com/office/drawing/2014/main" id="{9A55BC54-16E3-8E17-42B3-589BB06FDF57}"/>
              </a:ext>
            </a:extLst>
          </p:cNvPr>
          <p:cNvSpPr/>
          <p:nvPr/>
        </p:nvSpPr>
        <p:spPr>
          <a:xfrm>
            <a:off x="4655840" y="1316765"/>
            <a:ext cx="2688299" cy="20162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67"/>
          </a:p>
        </p:txBody>
      </p:sp>
    </p:spTree>
    <p:extLst>
      <p:ext uri="{BB962C8B-B14F-4D97-AF65-F5344CB8AC3E}">
        <p14:creationId xmlns:p14="http://schemas.microsoft.com/office/powerpoint/2010/main" val="44924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FA1C68-C918-221A-B61A-DFF65AC04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Testing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stationarity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21F6404-9852-7ED1-B92F-B2E0DCCF8BA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46BAE4DE-1CE8-E9E8-2FF0-C25D6249549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rgbClr val="202122"/>
                    </a:solidFill>
                    <a:latin typeface="Arial" panose="020B0604020202020204" pitchFamily="34" charset="0"/>
                  </a:rPr>
                  <a:t>Augmented Dickey-Fuller (ADF) test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nl-NL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nl-NL" dirty="0"/>
                  <a:t> = </a:t>
                </a:r>
                <a:r>
                  <a:rPr lang="nl-NL" dirty="0" err="1"/>
                  <a:t>there</a:t>
                </a:r>
                <a:r>
                  <a:rPr lang="nl-NL" dirty="0"/>
                  <a:t> is a unit root (</a:t>
                </a:r>
                <a14:m>
                  <m:oMath xmlns:m="http://schemas.openxmlformats.org/officeDocument/2006/math">
                    <m:r>
                      <a:rPr lang="nl-NL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nl-NL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l-NL" dirty="0"/>
                  <a:t>)    =&gt;  non-</a:t>
                </a:r>
                <a:r>
                  <a:rPr lang="nl-NL" dirty="0" err="1"/>
                  <a:t>stationary</a:t>
                </a:r>
                <a:endParaRPr lang="nl-NL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l-N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nl-NL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nl-NL" dirty="0"/>
                  <a:t> = </a:t>
                </a:r>
                <a:r>
                  <a:rPr lang="nl-NL" dirty="0" err="1"/>
                  <a:t>there</a:t>
                </a:r>
                <a:r>
                  <a:rPr lang="nl-NL" dirty="0"/>
                  <a:t> is no unit root 	       =&gt;  </a:t>
                </a:r>
                <a:r>
                  <a:rPr lang="nl-NL" dirty="0" err="1"/>
                  <a:t>stationary</a:t>
                </a:r>
                <a:endParaRPr lang="nl-NL" dirty="0"/>
              </a:p>
              <a:p>
                <a:pPr lvl="1"/>
                <a:endParaRPr lang="nl-NL" dirty="0">
                  <a:solidFill>
                    <a:srgbClr val="FF0000"/>
                  </a:solidFill>
                </a:endParaRPr>
              </a:p>
              <a:p>
                <a:pPr lvl="1"/>
                <a:endParaRPr lang="nl-NL" dirty="0">
                  <a:solidFill>
                    <a:srgbClr val="FF0000"/>
                  </a:solidFill>
                </a:endParaRPr>
              </a:p>
              <a:p>
                <a:pPr lvl="1"/>
                <a:endParaRPr lang="nl-NL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nl-NL" dirty="0" err="1">
                    <a:solidFill>
                      <a:schemeClr val="tx1"/>
                    </a:solidFill>
                  </a:rPr>
                  <a:t>Example</a:t>
                </a:r>
                <a:r>
                  <a:rPr lang="nl-NL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342000" lvl="1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&gt;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adf.test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(y)</a:t>
                </a:r>
              </a:p>
              <a:p>
                <a:pPr marL="342000" lvl="1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Dickey-Fuller = -2.66, Lag order = 7, p-value = 0.3068 </a:t>
                </a:r>
              </a:p>
              <a:p>
                <a:pPr marL="342000" lvl="1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alternative hypothesis: stationary</a:t>
                </a:r>
                <a:endParaRPr lang="nl-NL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46BAE4DE-1CE8-E9E8-2FF0-C25D624954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kstvak 4">
            <a:extLst>
              <a:ext uri="{FF2B5EF4-FFF2-40B4-BE49-F238E27FC236}">
                <a16:creationId xmlns:a16="http://schemas.microsoft.com/office/drawing/2014/main" id="{99885379-2AAC-C5C0-2382-E0485A9099E5}"/>
              </a:ext>
            </a:extLst>
          </p:cNvPr>
          <p:cNvSpPr txBox="1"/>
          <p:nvPr/>
        </p:nvSpPr>
        <p:spPr>
          <a:xfrm>
            <a:off x="4279900" y="3409622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The more </a:t>
            </a:r>
            <a:r>
              <a:rPr lang="nl-NL" dirty="0" err="1">
                <a:solidFill>
                  <a:srgbClr val="FF0000"/>
                </a:solidFill>
              </a:rPr>
              <a:t>negative</a:t>
            </a:r>
            <a:r>
              <a:rPr lang="nl-NL" dirty="0">
                <a:solidFill>
                  <a:srgbClr val="FF0000"/>
                </a:solidFill>
              </a:rPr>
              <a:t>, </a:t>
            </a:r>
            <a:r>
              <a:rPr lang="nl-NL" dirty="0" err="1">
                <a:solidFill>
                  <a:srgbClr val="FF0000"/>
                </a:solidFill>
              </a:rPr>
              <a:t>the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stronger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the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evidence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againt</a:t>
            </a:r>
            <a:r>
              <a:rPr lang="nl-NL" dirty="0">
                <a:solidFill>
                  <a:srgbClr val="FF0000"/>
                </a:solidFill>
              </a:rPr>
              <a:t> H0 -&gt; i.e. </a:t>
            </a:r>
            <a:r>
              <a:rPr lang="nl-NL" dirty="0" err="1">
                <a:solidFill>
                  <a:srgbClr val="FF0000"/>
                </a:solidFill>
              </a:rPr>
              <a:t>that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the</a:t>
            </a:r>
            <a:r>
              <a:rPr lang="nl-NL" dirty="0">
                <a:solidFill>
                  <a:srgbClr val="FF0000"/>
                </a:solidFill>
              </a:rPr>
              <a:t> series is </a:t>
            </a:r>
            <a:r>
              <a:rPr lang="nl-NL" dirty="0" err="1">
                <a:solidFill>
                  <a:srgbClr val="FF0000"/>
                </a:solidFill>
              </a:rPr>
              <a:t>stationary</a:t>
            </a:r>
            <a:endParaRPr lang="nl-NL" dirty="0">
              <a:solidFill>
                <a:srgbClr val="FF0000"/>
              </a:solidFill>
            </a:endParaRPr>
          </a:p>
        </p:txBody>
      </p:sp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0F8222E9-FD8B-466B-241F-2F00D01FDC29}"/>
              </a:ext>
            </a:extLst>
          </p:cNvPr>
          <p:cNvCxnSpPr>
            <a:cxnSpLocks/>
          </p:cNvCxnSpPr>
          <p:nvPr/>
        </p:nvCxnSpPr>
        <p:spPr>
          <a:xfrm flipH="1">
            <a:off x="3962400" y="3999039"/>
            <a:ext cx="596900" cy="619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vak 8">
            <a:extLst>
              <a:ext uri="{FF2B5EF4-FFF2-40B4-BE49-F238E27FC236}">
                <a16:creationId xmlns:a16="http://schemas.microsoft.com/office/drawing/2014/main" id="{5E81C140-CE9A-9980-CA35-67617FD4DA84}"/>
              </a:ext>
            </a:extLst>
          </p:cNvPr>
          <p:cNvSpPr txBox="1"/>
          <p:nvPr/>
        </p:nvSpPr>
        <p:spPr>
          <a:xfrm>
            <a:off x="6375400" y="5509623"/>
            <a:ext cx="411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b="1" dirty="0">
                <a:solidFill>
                  <a:srgbClr val="FF0000"/>
                </a:solidFill>
              </a:rPr>
              <a:t>&lt;0.05 : </a:t>
            </a:r>
            <a:r>
              <a:rPr lang="nl-NL" b="1" dirty="0" err="1">
                <a:solidFill>
                  <a:srgbClr val="FF0000"/>
                </a:solidFill>
              </a:rPr>
              <a:t>reject</a:t>
            </a:r>
            <a:r>
              <a:rPr lang="nl-NL" b="1" dirty="0">
                <a:solidFill>
                  <a:srgbClr val="FF0000"/>
                </a:solidFill>
              </a:rPr>
              <a:t> H0 -&gt; no unit root -&gt; </a:t>
            </a:r>
            <a:r>
              <a:rPr lang="nl-NL" b="1" dirty="0" err="1">
                <a:solidFill>
                  <a:srgbClr val="FF0000"/>
                </a:solidFill>
              </a:rPr>
              <a:t>stationary</a:t>
            </a:r>
            <a:endParaRPr lang="nl-NL" b="1" dirty="0">
              <a:solidFill>
                <a:srgbClr val="FF0000"/>
              </a:solidFill>
            </a:endParaRPr>
          </a:p>
          <a:p>
            <a:endParaRPr lang="nl-NL" b="1" dirty="0">
              <a:solidFill>
                <a:srgbClr val="FF0000"/>
              </a:solidFill>
            </a:endParaRPr>
          </a:p>
        </p:txBody>
      </p:sp>
      <p:cxnSp>
        <p:nvCxnSpPr>
          <p:cNvPr id="10" name="Rechte verbindingslijn met pijl 9">
            <a:extLst>
              <a:ext uri="{FF2B5EF4-FFF2-40B4-BE49-F238E27FC236}">
                <a16:creationId xmlns:a16="http://schemas.microsoft.com/office/drawing/2014/main" id="{8CD2F15D-D069-89A6-C5EA-549A716DFC10}"/>
              </a:ext>
            </a:extLst>
          </p:cNvPr>
          <p:cNvCxnSpPr>
            <a:cxnSpLocks/>
          </p:cNvCxnSpPr>
          <p:nvPr/>
        </p:nvCxnSpPr>
        <p:spPr>
          <a:xfrm flipV="1">
            <a:off x="7810500" y="4867479"/>
            <a:ext cx="0" cy="469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162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40DF760-5D90-DA39-2E89-56AAB335C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Making a series </a:t>
            </a:r>
            <a:r>
              <a:rPr lang="nl-NL" dirty="0" err="1"/>
              <a:t>stationary</a:t>
            </a:r>
            <a:br>
              <a:rPr lang="nl-NL" dirty="0"/>
            </a:b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tekst 1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457189" indent="-457189">
                  <a:buFontTx/>
                  <a:buChar char="-"/>
                </a:pPr>
                <a:r>
                  <a:rPr lang="nl-NL" sz="2400" dirty="0">
                    <a:solidFill>
                      <a:schemeClr val="tx1"/>
                    </a:solidFill>
                  </a:rPr>
                  <a:t>Options</a:t>
                </a:r>
              </a:p>
              <a:p>
                <a:pPr marL="1066773" lvl="1" indent="-457189">
                  <a:buFontTx/>
                  <a:buChar char="-"/>
                </a:pP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Transformation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(e.g. log): 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when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variance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increases</a:t>
                </a:r>
                <a:endParaRPr lang="nl-NL" sz="2400" spc="53" dirty="0">
                  <a:solidFill>
                    <a:srgbClr val="271D6C"/>
                  </a:solidFill>
                  <a:latin typeface="Calibri" pitchFamily="34" charset="0"/>
                </a:endParaRPr>
              </a:p>
              <a:p>
                <a:pPr marL="1066773" lvl="1" indent="-457189">
                  <a:buFontTx/>
                  <a:buChar char="-"/>
                </a:pP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Differencing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nl-NL" sz="2400" b="0" i="0" spc="53" smtClean="0">
                        <a:solidFill>
                          <a:srgbClr val="271D6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l-GR" sz="2400" i="1" spc="53">
                        <a:solidFill>
                          <a:srgbClr val="271D6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sz="2400" spc="53">
                        <a:solidFill>
                          <a:srgbClr val="271D6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sz="2400" spc="53">
                        <a:solidFill>
                          <a:srgbClr val="271D6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) : 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to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stabilise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mean</a:t>
                </a:r>
                <a:endParaRPr lang="nl-NL" sz="2400" spc="53" dirty="0">
                  <a:solidFill>
                    <a:srgbClr val="271D6C"/>
                  </a:solidFill>
                  <a:latin typeface="Calibri" pitchFamily="34" charset="0"/>
                </a:endParaRPr>
              </a:p>
              <a:p>
                <a:pPr marL="1066773" lvl="1" indent="-457189">
                  <a:buFontTx/>
                  <a:buChar char="-"/>
                </a:pP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Seasonal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differencing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nl-NL" sz="2400" b="0" i="0" spc="53" smtClean="0">
                        <a:solidFill>
                          <a:srgbClr val="271D6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NL" sz="2400" b="0" i="1" spc="53" smtClean="0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nl-NL" sz="2400" b="0" i="1" spc="53" smtClean="0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sz="2400" spc="53">
                        <a:solidFill>
                          <a:srgbClr val="271D6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sz="2400" spc="53">
                        <a:solidFill>
                          <a:srgbClr val="271D6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sz="2400" b="0" i="1" spc="53" smtClean="0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</m:oMath>
                </a14:m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)</a:t>
                </a:r>
              </a:p>
              <a:p>
                <a:pPr marL="1066773" lvl="1" indent="-457189">
                  <a:buFontTx/>
                  <a:buChar char="-"/>
                </a:pP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Detrending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(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regression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against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time, 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then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use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residuals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)</a:t>
                </a:r>
              </a:p>
              <a:p>
                <a:pPr marL="457189" indent="-457189">
                  <a:buFontTx/>
                  <a:buChar char="-"/>
                </a:pPr>
                <a:r>
                  <a:rPr lang="nl-NL" sz="2400" dirty="0" err="1">
                    <a:solidFill>
                      <a:schemeClr val="tx1"/>
                    </a:solidFill>
                  </a:rPr>
                  <a:t>Sometimes</a:t>
                </a:r>
                <a:r>
                  <a:rPr lang="nl-NL" sz="2400" dirty="0">
                    <a:solidFill>
                      <a:schemeClr val="tx1"/>
                    </a:solidFill>
                  </a:rPr>
                  <a:t> </a:t>
                </a:r>
                <a:r>
                  <a:rPr lang="nl-NL" sz="2400" dirty="0" err="1">
                    <a:solidFill>
                      <a:schemeClr val="tx1"/>
                    </a:solidFill>
                  </a:rPr>
                  <a:t>not</a:t>
                </a:r>
                <a:r>
                  <a:rPr lang="nl-NL" sz="2400" dirty="0">
                    <a:solidFill>
                      <a:schemeClr val="tx1"/>
                    </a:solidFill>
                  </a:rPr>
                  <a:t> easy </a:t>
                </a:r>
                <a:r>
                  <a:rPr lang="nl-NL" sz="2400" dirty="0" err="1">
                    <a:solidFill>
                      <a:schemeClr val="tx1"/>
                    </a:solidFill>
                  </a:rPr>
                  <a:t>to</a:t>
                </a:r>
                <a:r>
                  <a:rPr lang="nl-NL" sz="2400" dirty="0">
                    <a:solidFill>
                      <a:schemeClr val="tx1"/>
                    </a:solidFill>
                  </a:rPr>
                  <a:t> </a:t>
                </a:r>
                <a:r>
                  <a:rPr lang="nl-NL" sz="2400" dirty="0" err="1">
                    <a:solidFill>
                      <a:schemeClr val="tx1"/>
                    </a:solidFill>
                  </a:rPr>
                  <a:t>see</a:t>
                </a:r>
                <a:r>
                  <a:rPr lang="nl-NL" sz="2400" dirty="0">
                    <a:solidFill>
                      <a:schemeClr val="tx1"/>
                    </a:solidFill>
                  </a:rPr>
                  <a:t> </a:t>
                </a:r>
                <a:r>
                  <a:rPr lang="nl-NL" sz="2400" dirty="0" err="1">
                    <a:solidFill>
                      <a:schemeClr val="tx1"/>
                    </a:solidFill>
                  </a:rPr>
                  <a:t>if</a:t>
                </a:r>
                <a:r>
                  <a:rPr lang="nl-NL" sz="2400" dirty="0">
                    <a:solidFill>
                      <a:schemeClr val="tx1"/>
                    </a:solidFill>
                  </a:rPr>
                  <a:t> </a:t>
                </a:r>
                <a:r>
                  <a:rPr lang="nl-NL" sz="2400" dirty="0" err="1">
                    <a:solidFill>
                      <a:schemeClr val="tx1"/>
                    </a:solidFill>
                  </a:rPr>
                  <a:t>process</a:t>
                </a:r>
                <a:r>
                  <a:rPr lang="nl-NL" sz="2400" dirty="0">
                    <a:solidFill>
                      <a:schemeClr val="tx1"/>
                    </a:solidFill>
                  </a:rPr>
                  <a:t> is </a:t>
                </a:r>
                <a:r>
                  <a:rPr lang="nl-NL" sz="2400" dirty="0" err="1">
                    <a:solidFill>
                      <a:schemeClr val="tx1"/>
                    </a:solidFill>
                  </a:rPr>
                  <a:t>stationary</a:t>
                </a:r>
                <a:r>
                  <a:rPr lang="nl-NL" sz="2400" dirty="0">
                    <a:solidFill>
                      <a:schemeClr val="tx1"/>
                    </a:solidFill>
                  </a:rPr>
                  <a:t>: </a:t>
                </a:r>
              </a:p>
              <a:p>
                <a:pPr marL="0" indent="0">
                  <a:buNone/>
                </a:pPr>
                <a:r>
                  <a:rPr lang="nl-NL" sz="2400" b="0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sz="2400" spc="53">
                        <a:solidFill>
                          <a:srgbClr val="271D6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sz="2400" spc="53">
                        <a:solidFill>
                          <a:srgbClr val="271D6C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(non-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stationary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)   vs.</a:t>
                </a:r>
              </a:p>
              <a:p>
                <a:pPr marL="0" indent="0">
                  <a:buNone/>
                </a:pP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sz="2400" spc="53">
                        <a:solidFill>
                          <a:srgbClr val="271D6C"/>
                        </a:solidFill>
                        <a:latin typeface="Cambria Math" panose="02040503050406030204" pitchFamily="18" charset="0"/>
                      </a:rPr>
                      <m:t>=0.95</m:t>
                    </m:r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sz="2400" spc="53">
                        <a:solidFill>
                          <a:srgbClr val="271D6C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sz="2400" i="1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nl-NL" sz="2400" spc="53">
                            <a:solidFill>
                              <a:srgbClr val="271D6C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 (</a:t>
                </a:r>
                <a:r>
                  <a:rPr lang="nl-NL" sz="2400" spc="53" dirty="0" err="1">
                    <a:solidFill>
                      <a:srgbClr val="271D6C"/>
                    </a:solidFill>
                    <a:latin typeface="Calibri" pitchFamily="34" charset="0"/>
                  </a:rPr>
                  <a:t>stationary</a:t>
                </a:r>
                <a:r>
                  <a:rPr lang="nl-NL" sz="2400" spc="53" dirty="0">
                    <a:solidFill>
                      <a:srgbClr val="271D6C"/>
                    </a:solidFill>
                    <a:latin typeface="Calibri" pitchFamily="34" charset="0"/>
                  </a:rPr>
                  <a:t>)</a:t>
                </a:r>
                <a:r>
                  <a:rPr lang="nl-NL" sz="2400" dirty="0"/>
                  <a:t>	</a:t>
                </a:r>
              </a:p>
              <a:p>
                <a:pPr marL="0" indent="0">
                  <a:buNone/>
                </a:pPr>
                <a:r>
                  <a:rPr lang="nl-NL" sz="2400" dirty="0"/>
                  <a:t>	</a:t>
                </a:r>
                <a:r>
                  <a:rPr lang="nl-NL" sz="2400" dirty="0">
                    <a:solidFill>
                      <a:schemeClr val="tx1"/>
                    </a:solidFill>
                  </a:rPr>
                  <a:t>in </a:t>
                </a:r>
                <a:r>
                  <a:rPr lang="nl-NL" sz="2400" dirty="0" err="1">
                    <a:solidFill>
                      <a:schemeClr val="tx1"/>
                    </a:solidFill>
                  </a:rPr>
                  <a:t>practice</a:t>
                </a:r>
                <a:r>
                  <a:rPr lang="nl-NL" sz="2400" dirty="0">
                    <a:solidFill>
                      <a:schemeClr val="tx1"/>
                    </a:solidFill>
                  </a:rPr>
                  <a:t> hard </a:t>
                </a:r>
                <a:r>
                  <a:rPr lang="nl-NL" sz="2400" dirty="0" err="1">
                    <a:solidFill>
                      <a:schemeClr val="tx1"/>
                    </a:solidFill>
                  </a:rPr>
                  <a:t>to</a:t>
                </a:r>
                <a:r>
                  <a:rPr lang="nl-NL" sz="2400" dirty="0">
                    <a:solidFill>
                      <a:schemeClr val="tx1"/>
                    </a:solidFill>
                  </a:rPr>
                  <a:t> </a:t>
                </a:r>
                <a:r>
                  <a:rPr lang="nl-NL" sz="2400" dirty="0" err="1">
                    <a:solidFill>
                      <a:schemeClr val="tx1"/>
                    </a:solidFill>
                  </a:rPr>
                  <a:t>distinguish</a:t>
                </a:r>
                <a:r>
                  <a:rPr lang="nl-NL" sz="2400" dirty="0">
                    <a:solidFill>
                      <a:schemeClr val="tx1"/>
                    </a:solidFill>
                  </a:rPr>
                  <a:t> </a:t>
                </a:r>
                <a:r>
                  <a:rPr lang="nl-NL" sz="2400" dirty="0" err="1">
                    <a:solidFill>
                      <a:schemeClr val="tx1"/>
                    </a:solidFill>
                  </a:rPr>
                  <a:t>for</a:t>
                </a:r>
                <a:r>
                  <a:rPr lang="nl-NL" sz="2400" dirty="0">
                    <a:solidFill>
                      <a:schemeClr val="tx1"/>
                    </a:solidFill>
                  </a:rPr>
                  <a:t> </a:t>
                </a:r>
                <a:r>
                  <a:rPr lang="nl-NL" sz="2400" dirty="0" err="1">
                    <a:solidFill>
                      <a:schemeClr val="tx1"/>
                    </a:solidFill>
                  </a:rPr>
                  <a:t>finite</a:t>
                </a:r>
                <a:r>
                  <a:rPr lang="nl-NL" sz="2400" dirty="0">
                    <a:solidFill>
                      <a:schemeClr val="tx1"/>
                    </a:solidFill>
                  </a:rPr>
                  <a:t> time series</a:t>
                </a:r>
              </a:p>
              <a:p>
                <a:pPr marL="457189" indent="-457189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nl-NL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nl-NL" sz="2400" dirty="0">
                    <a:solidFill>
                      <a:schemeClr val="tx1"/>
                    </a:solidFill>
                  </a:rPr>
                  <a:t> unit root test</a:t>
                </a:r>
              </a:p>
              <a:p>
                <a:pPr marL="457189" indent="-457189">
                  <a:buFontTx/>
                  <a:buChar char="-"/>
                </a:pPr>
                <a:endParaRPr lang="nl-NL" sz="2400" dirty="0">
                  <a:solidFill>
                    <a:schemeClr val="tx1"/>
                  </a:solidFill>
                </a:endParaRPr>
              </a:p>
              <a:p>
                <a:pPr marL="457189" indent="-457189">
                  <a:buFontTx/>
                  <a:buChar char="-"/>
                </a:pPr>
                <a:endParaRPr lang="nl-NL" sz="2400" dirty="0"/>
              </a:p>
            </p:txBody>
          </p:sp>
        </mc:Choice>
        <mc:Fallback xmlns="">
          <p:sp>
            <p:nvSpPr>
              <p:cNvPr id="2" name="Tijdelijke aanduiding voor tekst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870" t="-261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5054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38886-AE1B-C34E-6CFF-5F28689EC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Making a series </a:t>
            </a:r>
            <a:r>
              <a:rPr lang="nl-NL" dirty="0" err="1"/>
              <a:t>stationary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56C9354-C0F7-6880-58D3-2218C719F24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28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D6CA086C-F479-B3E2-AB7C-ABF6ECCAE0D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Examples of stationary series: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Difference-stationary (unit root process): taking differences makes it stationary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random walk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800" i="1" spc="53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sz="1800" spc="53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1800" i="1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sz="1800" spc="53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sz="1800" i="1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sz="1800" b="0" i="1" spc="53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sSub>
                      <m:sSubPr>
                        <m:ctrlPr>
                          <a:rPr lang="nl-NL" i="1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nl-NL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i="1" spc="53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nl-NL" b="0" i="1" spc="53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𝑤h𝑖𝑡𝑒</m:t>
                    </m:r>
                    <m:r>
                      <a:rPr lang="nl-NL" b="0" i="1" spc="53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nl-NL" b="0" i="1" spc="53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𝑛𝑜𝑖𝑠𝑒</m:t>
                    </m:r>
                    <m:r>
                      <a:rPr lang="nl-NL" b="0" i="1" spc="53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nl-NL" b="0" i="1" spc="53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b="0" i="1" spc="53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nl-NL" b="0" i="1" spc="53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nl-NL" b="0" i="1" spc="53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342000" lvl="1" indent="0">
                  <a:buNone/>
                </a:pPr>
                <a:r>
                  <a:rPr lang="en-US" dirty="0">
                    <a:solidFill>
                      <a:schemeClr val="tx1"/>
                    </a:solidFill>
                  </a:rPr>
                  <a:t>     taking differences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1800" i="1" spc="53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 spc="53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sz="1800" spc="53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i="1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b="0" i="1" spc="53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l-NL" sz="1800" i="1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sz="1800" b="0" i="0" spc="53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1800" i="1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nl-NL" sz="1800" spc="53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sz="1800" i="1" spc="53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			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ARMA: stationarity is assumed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ARIMA: I is number of differences to make series stationary</a:t>
                </a:r>
              </a:p>
              <a:p>
                <a:pPr lvl="1"/>
                <a:r>
                  <a:rPr lang="nl-NL" dirty="0">
                    <a:solidFill>
                      <a:schemeClr val="tx1"/>
                    </a:solidFill>
                  </a:rPr>
                  <a:t>Beware of </a:t>
                </a:r>
                <a:r>
                  <a:rPr lang="nl-NL" dirty="0" err="1">
                    <a:solidFill>
                      <a:schemeClr val="tx1"/>
                    </a:solidFill>
                  </a:rPr>
                  <a:t>overdifferencing</a:t>
                </a:r>
                <a:r>
                  <a:rPr lang="nl-NL" dirty="0">
                    <a:solidFill>
                      <a:schemeClr val="tx1"/>
                    </a:solidFill>
                  </a:rPr>
                  <a:t> 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Trend-stationary: must be detrended to become stationary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Series = deterministic trend + stationary noise</a:t>
                </a: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D6CA086C-F479-B3E2-AB7C-ABF6ECCAE0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145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Afbeelding 5">
            <a:extLst>
              <a:ext uri="{FF2B5EF4-FFF2-40B4-BE49-F238E27FC236}">
                <a16:creationId xmlns:a16="http://schemas.microsoft.com/office/drawing/2014/main" id="{CEE36948-11D0-7A05-9412-6001B92B9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800" y="0"/>
            <a:ext cx="4086156" cy="231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36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F3886535-A972-FE70-88DF-4DA5F7DE3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Transformations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nl-NL" dirty="0"/>
          </a:p>
          <a:p>
            <a:pPr marL="457189" indent="-457189">
              <a:buFontTx/>
              <a:buChar char="-"/>
            </a:pPr>
            <a:endParaRPr lang="nl-NL" dirty="0"/>
          </a:p>
          <a:p>
            <a:pPr marL="457189" indent="-457189">
              <a:buFontTx/>
              <a:buChar char="-"/>
            </a:pPr>
            <a:endParaRPr lang="nl-NL" dirty="0"/>
          </a:p>
          <a:p>
            <a:pPr marL="457189" indent="-457189">
              <a:buFontTx/>
              <a:buChar char="-"/>
            </a:pPr>
            <a:endParaRPr lang="nl-NL" dirty="0"/>
          </a:p>
          <a:p>
            <a:pPr marL="457189" indent="-457189">
              <a:buFontTx/>
              <a:buChar char="-"/>
            </a:pP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stabilise</a:t>
            </a:r>
            <a:r>
              <a:rPr lang="nl-NL" dirty="0"/>
              <a:t> </a:t>
            </a:r>
            <a:r>
              <a:rPr lang="nl-NL" dirty="0" err="1"/>
              <a:t>variance</a:t>
            </a:r>
            <a:r>
              <a:rPr lang="nl-NL" dirty="0"/>
              <a:t> (i.e. </a:t>
            </a:r>
            <a:r>
              <a:rPr lang="nl-NL" dirty="0" err="1"/>
              <a:t>homoscedasticity</a:t>
            </a:r>
            <a:r>
              <a:rPr lang="nl-NL" dirty="0"/>
              <a:t>)</a:t>
            </a:r>
          </a:p>
          <a:p>
            <a:pPr marL="457189" indent="-457189">
              <a:buFontTx/>
              <a:buChar char="-"/>
            </a:pPr>
            <a:r>
              <a:rPr lang="nl-NL" dirty="0" err="1"/>
              <a:t>To</a:t>
            </a:r>
            <a:r>
              <a:rPr lang="nl-NL" dirty="0"/>
              <a:t> make data more </a:t>
            </a:r>
            <a:r>
              <a:rPr lang="nl-NL" dirty="0" err="1"/>
              <a:t>normally</a:t>
            </a:r>
            <a:r>
              <a:rPr lang="nl-NL" dirty="0"/>
              <a:t> </a:t>
            </a:r>
            <a:r>
              <a:rPr lang="nl-NL" dirty="0" err="1"/>
              <a:t>distributed</a:t>
            </a:r>
            <a:endParaRPr lang="nl-NL" dirty="0"/>
          </a:p>
          <a:p>
            <a:pPr marL="457189" indent="-457189">
              <a:buFontTx/>
              <a:buChar char="-"/>
            </a:pPr>
            <a:r>
              <a:rPr lang="nl-NL" dirty="0" err="1"/>
              <a:t>To</a:t>
            </a:r>
            <a:r>
              <a:rPr lang="nl-NL" dirty="0"/>
              <a:t> make data more </a:t>
            </a:r>
            <a:r>
              <a:rPr lang="nl-NL" dirty="0" err="1"/>
              <a:t>linear</a:t>
            </a:r>
            <a:r>
              <a:rPr lang="nl-NL" dirty="0"/>
              <a:t> (make </a:t>
            </a:r>
            <a:r>
              <a:rPr lang="nl-NL" dirty="0" err="1"/>
              <a:t>multiplicative</a:t>
            </a:r>
            <a:r>
              <a:rPr lang="nl-NL" dirty="0"/>
              <a:t> </a:t>
            </a:r>
            <a:r>
              <a:rPr lang="nl-NL" dirty="0" err="1"/>
              <a:t>seasonal</a:t>
            </a:r>
            <a:r>
              <a:rPr lang="nl-NL" dirty="0"/>
              <a:t> additive) </a:t>
            </a:r>
          </a:p>
          <a:p>
            <a:endParaRPr lang="nl-NL" dirty="0"/>
          </a:p>
          <a:p>
            <a:pPr marL="1066773" lvl="1" indent="-457189">
              <a:buFontTx/>
              <a:buChar char="-"/>
            </a:pPr>
            <a:r>
              <a:rPr lang="nl-NL" dirty="0"/>
              <a:t>E.g., take Log</a:t>
            </a:r>
          </a:p>
          <a:p>
            <a:pPr marL="1066773" lvl="1" indent="-457189">
              <a:buFontTx/>
              <a:buChar char="-"/>
            </a:pPr>
            <a:r>
              <a:rPr lang="nl-NL" dirty="0"/>
              <a:t>But : </a:t>
            </a:r>
            <a:r>
              <a:rPr lang="nl-NL" dirty="0" err="1"/>
              <a:t>makes</a:t>
            </a:r>
            <a:r>
              <a:rPr lang="nl-NL" dirty="0"/>
              <a:t> model more </a:t>
            </a:r>
            <a:r>
              <a:rPr lang="nl-NL" dirty="0" err="1"/>
              <a:t>difficult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interpret</a:t>
            </a:r>
            <a:endParaRPr lang="nl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54EF53-45FC-08CE-7B6B-CB8E997EB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904" y="623359"/>
            <a:ext cx="6624736" cy="264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kstvak 4">
            <a:extLst>
              <a:ext uri="{FF2B5EF4-FFF2-40B4-BE49-F238E27FC236}">
                <a16:creationId xmlns:a16="http://schemas.microsoft.com/office/drawing/2014/main" id="{B35833CF-2EF0-DF16-D0AA-2772A37675D9}"/>
              </a:ext>
            </a:extLst>
          </p:cNvPr>
          <p:cNvSpPr txBox="1"/>
          <p:nvPr/>
        </p:nvSpPr>
        <p:spPr>
          <a:xfrm>
            <a:off x="6576054" y="597959"/>
            <a:ext cx="4800533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sz="1600" dirty="0"/>
              <a:t>series      		                 log(series)</a:t>
            </a:r>
          </a:p>
        </p:txBody>
      </p:sp>
    </p:spTree>
    <p:extLst>
      <p:ext uri="{BB962C8B-B14F-4D97-AF65-F5344CB8AC3E}">
        <p14:creationId xmlns:p14="http://schemas.microsoft.com/office/powerpoint/2010/main" val="3162341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47CF2-6362-D77C-DE37-E23F45E0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1121FB5-7EA3-21D0-AE46-9156313FF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30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A4D51-EA7E-19B5-7B8E-1145EA632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sz="3200" dirty="0" err="1"/>
              <a:t>Autocorrelations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2964326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508A7-719E-1F2E-347A-5D150679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Autocorrelations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BEC1586-20FB-F451-7FF8-C7D887A4C7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CB4BCC-4656-B4DE-932E-DAF645E6F8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 dirty="0">
              <a:solidFill>
                <a:srgbClr val="FF0000"/>
              </a:solidFill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49CF445-1282-8B04-A28B-8FFFC7BB1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00" y="1282482"/>
            <a:ext cx="8101497" cy="466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976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D8097-5087-B06D-4574-C057B22E6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78698A5-5063-F5BC-9B5C-78AD95F49D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32</a:t>
            </a:fld>
            <a:endParaRPr lang="en-GB"/>
          </a:p>
        </p:txBody>
      </p:sp>
      <p:pic>
        <p:nvPicPr>
          <p:cNvPr id="12" name="Tijdelijke aanduiding voor inhoud 11">
            <a:extLst>
              <a:ext uri="{FF2B5EF4-FFF2-40B4-BE49-F238E27FC236}">
                <a16:creationId xmlns:a16="http://schemas.microsoft.com/office/drawing/2014/main" id="{1A3FC7FF-24C6-659F-E168-E12C6D9AC3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666930" y="1057695"/>
            <a:ext cx="8858139" cy="5098210"/>
          </a:xfrm>
        </p:spPr>
      </p:pic>
    </p:spTree>
    <p:extLst>
      <p:ext uri="{BB962C8B-B14F-4D97-AF65-F5344CB8AC3E}">
        <p14:creationId xmlns:p14="http://schemas.microsoft.com/office/powerpoint/2010/main" val="37198630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131D7627-059D-3564-7723-50FA3F98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ACF </a:t>
            </a:r>
            <a:r>
              <a:rPr lang="nl-NL" dirty="0" err="1"/>
              <a:t>and</a:t>
            </a:r>
            <a:r>
              <a:rPr lang="nl-NL" dirty="0"/>
              <a:t> PACF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68135824-08DD-D337-6E77-481CFFFE8D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845CA951-4815-4987-9CD6-BB5D6648C0B5}" type="slidenum">
              <a:rPr lang="nl-NL" sz="1600"/>
              <a:pPr algn="ctr"/>
              <a:t>33</a:t>
            </a:fld>
            <a:endParaRPr lang="nl-NL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E21E2052-F5F9-C38D-B55B-CFB9C2AF696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nl-NL" dirty="0"/>
                  <a:t>ACF: </a:t>
                </a:r>
                <a:r>
                  <a:rPr lang="nl-NL" dirty="0" err="1"/>
                  <a:t>autocorrelation</a:t>
                </a:r>
                <a:r>
                  <a:rPr lang="nl-NL" dirty="0"/>
                  <a:t> </a:t>
                </a:r>
                <a:r>
                  <a:rPr lang="nl-NL" dirty="0" err="1"/>
                  <a:t>function</a:t>
                </a:r>
                <a:endParaRPr lang="nl-NL" dirty="0"/>
              </a:p>
              <a:p>
                <a:pPr marL="0" indent="0">
                  <a:buNone/>
                </a:pPr>
                <a:r>
                  <a:rPr lang="nl-NL" dirty="0"/>
                  <a:t>	</a:t>
                </a:r>
                <a:r>
                  <a:rPr lang="nl-NL" dirty="0" err="1"/>
                  <a:t>Corr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nl-NL" dirty="0"/>
                  <a:t> </a:t>
                </a:r>
                <a:endParaRPr lang="nl-NL" dirty="0">
                  <a:solidFill>
                    <a:srgbClr val="FF0000"/>
                  </a:solidFill>
                </a:endParaRPr>
              </a:p>
              <a:p>
                <a:endParaRPr lang="nl-NL" dirty="0"/>
              </a:p>
              <a:p>
                <a:r>
                  <a:rPr lang="nl-NL" dirty="0"/>
                  <a:t>PACF: </a:t>
                </a:r>
                <a:r>
                  <a:rPr lang="nl-NL" dirty="0" err="1"/>
                  <a:t>partial</a:t>
                </a:r>
                <a:r>
                  <a:rPr lang="nl-NL" dirty="0"/>
                  <a:t> </a:t>
                </a:r>
                <a:r>
                  <a:rPr lang="nl-NL" dirty="0" err="1"/>
                  <a:t>autocorrelation</a:t>
                </a:r>
                <a:r>
                  <a:rPr lang="nl-NL" dirty="0"/>
                  <a:t> </a:t>
                </a:r>
                <a:r>
                  <a:rPr lang="nl-NL" dirty="0" err="1"/>
                  <a:t>function</a:t>
                </a:r>
                <a:endParaRPr lang="nl-NL" dirty="0"/>
              </a:p>
              <a:p>
                <a:pPr marL="799189" lvl="1" indent="-457189">
                  <a:buFontTx/>
                  <a:buChar char="-"/>
                </a:pPr>
                <a:r>
                  <a:rPr lang="en-US" dirty="0"/>
                  <a:t>if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 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are correlated, then also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799189" lvl="1" indent="-457189">
                  <a:buFontTx/>
                  <a:buChar char="-"/>
                </a:pPr>
                <a:r>
                  <a:rPr lang="nl-NL" dirty="0" err="1"/>
                  <a:t>Then</a:t>
                </a:r>
                <a:r>
                  <a:rPr lang="nl-NL" dirty="0"/>
                  <a:t> </a:t>
                </a:r>
                <a:r>
                  <a:rPr lang="nl-NL" dirty="0" err="1"/>
                  <a:t>also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 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 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799189" lvl="1" indent="-457189">
                  <a:buFontTx/>
                  <a:buChar char="-"/>
                </a:pPr>
                <a:r>
                  <a:rPr lang="nl-NL" dirty="0"/>
                  <a:t>PACF </a:t>
                </a:r>
                <a:r>
                  <a:rPr lang="nl-NL" dirty="0" err="1"/>
                  <a:t>removes</a:t>
                </a:r>
                <a:r>
                  <a:rPr lang="nl-NL" dirty="0"/>
                  <a:t> indirect </a:t>
                </a:r>
                <a:r>
                  <a:rPr lang="nl-NL" dirty="0" err="1"/>
                  <a:t>correlations</a:t>
                </a:r>
                <a:endParaRPr lang="nl-NL" dirty="0"/>
              </a:p>
              <a:p>
                <a:pPr marL="457189" indent="-457189">
                  <a:buFontTx/>
                  <a:buChar char="-"/>
                </a:pPr>
                <a:endParaRPr lang="nl-NL" dirty="0"/>
              </a:p>
              <a:p>
                <a:pPr marL="457189" indent="-457189">
                  <a:buFontTx/>
                  <a:buChar char="-"/>
                </a:pPr>
                <a:endParaRPr lang="nl-NL" dirty="0"/>
              </a:p>
            </p:txBody>
          </p:sp>
        </mc:Choice>
        <mc:Fallback xmlns="">
          <p:sp>
            <p:nvSpPr>
              <p:cNvPr id="3" name="Tijdelijke aanduiding voor tekst 2">
                <a:extLst>
                  <a:ext uri="{FF2B5EF4-FFF2-40B4-BE49-F238E27FC236}">
                    <a16:creationId xmlns:a16="http://schemas.microsoft.com/office/drawing/2014/main" id="{E21E2052-F5F9-C38D-B55B-CFB9C2AF69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02742604-CAAD-EE4E-BEA4-845AC222CC28}"/>
                  </a:ext>
                </a:extLst>
              </p:cNvPr>
              <p:cNvSpPr txBox="1"/>
              <p:nvPr/>
            </p:nvSpPr>
            <p:spPr>
              <a:xfrm>
                <a:off x="4724400" y="2244849"/>
                <a:ext cx="4760794" cy="5637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1600" b="0" i="1" smtClean="0">
                          <a:latin typeface="Cambria Math" panose="02040503050406030204" pitchFamily="18" charset="0"/>
                        </a:rPr>
                        <m:t>𝑎𝑐𝑓</m:t>
                      </m:r>
                      <m:r>
                        <a:rPr lang="nl-NL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nl-NL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nl-NL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nl-NL" sz="16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nl-N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nl-NL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nl-NL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nl-NL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nl-NL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nl-NL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nl-NL" sz="16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nl-NL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nl-NL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nl-NL" sz="16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nl-NL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nl-NL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nl-NL" sz="1600" dirty="0"/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02742604-CAAD-EE4E-BEA4-845AC222C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244849"/>
                <a:ext cx="4760794" cy="5637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493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E64E662-663A-7C6B-CBF8-2DF04126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Correlogram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														</a:t>
            </a:r>
          </a:p>
          <a:p>
            <a:pPr marL="0" indent="0">
              <a:buNone/>
            </a:pPr>
            <a:r>
              <a:rPr lang="nl-NL" sz="1467" dirty="0"/>
              <a:t>																</a:t>
            </a:r>
            <a:endParaRPr lang="nl-NL" dirty="0"/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707" y="1316764"/>
            <a:ext cx="5476669" cy="377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31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9CE4E02-5833-D222-E3F5-0CE2EC400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ARMA order </a:t>
            </a:r>
            <a:r>
              <a:rPr lang="nl-NL" dirty="0" err="1"/>
              <a:t>selection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ACF </a:t>
            </a:r>
            <a:r>
              <a:rPr lang="nl-NL" dirty="0" err="1"/>
              <a:t>and</a:t>
            </a:r>
            <a:r>
              <a:rPr lang="nl-NL" dirty="0"/>
              <a:t> PACF	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AR(p): </a:t>
            </a:r>
          </a:p>
          <a:p>
            <a:pPr marL="457189" indent="-457189">
              <a:buFontTx/>
              <a:buChar char="-"/>
            </a:pPr>
            <a:r>
              <a:rPr lang="nl-NL" dirty="0"/>
              <a:t>ACF </a:t>
            </a:r>
            <a:r>
              <a:rPr lang="nl-NL" dirty="0" err="1"/>
              <a:t>exponentially</a:t>
            </a:r>
            <a:r>
              <a:rPr lang="nl-NL" dirty="0"/>
              <a:t> </a:t>
            </a:r>
            <a:r>
              <a:rPr lang="nl-NL" dirty="0" err="1"/>
              <a:t>decaying</a:t>
            </a:r>
            <a:r>
              <a:rPr lang="nl-NL" dirty="0"/>
              <a:t> or </a:t>
            </a:r>
            <a:r>
              <a:rPr lang="nl-NL" dirty="0" err="1"/>
              <a:t>sinusoidal</a:t>
            </a:r>
            <a:endParaRPr lang="nl-NL" dirty="0"/>
          </a:p>
          <a:p>
            <a:pPr marL="457189" indent="-457189">
              <a:buFontTx/>
              <a:buChar char="-"/>
            </a:pPr>
            <a:r>
              <a:rPr lang="nl-NL" dirty="0"/>
              <a:t>PACF </a:t>
            </a:r>
            <a:r>
              <a:rPr lang="nl-NL" dirty="0" err="1"/>
              <a:t>not</a:t>
            </a:r>
            <a:r>
              <a:rPr lang="nl-NL" dirty="0"/>
              <a:t> significant </a:t>
            </a:r>
            <a:r>
              <a:rPr lang="nl-NL" dirty="0" err="1"/>
              <a:t>after</a:t>
            </a:r>
            <a:r>
              <a:rPr lang="nl-NL" dirty="0"/>
              <a:t> lag p</a:t>
            </a:r>
          </a:p>
          <a:p>
            <a:r>
              <a:rPr lang="nl-NL" dirty="0"/>
              <a:t>MA(q):</a:t>
            </a:r>
          </a:p>
          <a:p>
            <a:pPr marL="457189" indent="-457189">
              <a:buFontTx/>
              <a:buChar char="-"/>
            </a:pPr>
            <a:r>
              <a:rPr lang="nl-NL" dirty="0"/>
              <a:t>ACF </a:t>
            </a:r>
            <a:r>
              <a:rPr lang="nl-NL" dirty="0" err="1"/>
              <a:t>not</a:t>
            </a:r>
            <a:r>
              <a:rPr lang="nl-NL" dirty="0"/>
              <a:t> significant </a:t>
            </a:r>
            <a:r>
              <a:rPr lang="nl-NL" dirty="0" err="1"/>
              <a:t>after</a:t>
            </a:r>
            <a:r>
              <a:rPr lang="nl-NL" dirty="0"/>
              <a:t> lag q</a:t>
            </a:r>
          </a:p>
          <a:p>
            <a:pPr marL="457189" indent="-457189">
              <a:buFontTx/>
              <a:buChar char="-"/>
            </a:pPr>
            <a:r>
              <a:rPr lang="nl-NL" dirty="0"/>
              <a:t>PACF </a:t>
            </a:r>
            <a:r>
              <a:rPr lang="nl-NL" dirty="0" err="1"/>
              <a:t>exponentially</a:t>
            </a:r>
            <a:r>
              <a:rPr lang="nl-NL" dirty="0"/>
              <a:t> </a:t>
            </a:r>
            <a:r>
              <a:rPr lang="nl-NL" dirty="0" err="1"/>
              <a:t>decaying</a:t>
            </a:r>
            <a:r>
              <a:rPr lang="nl-NL" dirty="0"/>
              <a:t> or </a:t>
            </a:r>
            <a:r>
              <a:rPr lang="nl-NL" dirty="0" err="1"/>
              <a:t>sinusoidal</a:t>
            </a:r>
            <a:endParaRPr lang="nl-NL" dirty="0"/>
          </a:p>
          <a:p>
            <a:pPr marL="457189" indent="-457189">
              <a:buFontTx/>
              <a:buChar char="-"/>
            </a:pPr>
            <a:endParaRPr lang="nl-NL" dirty="0"/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195" y="2631022"/>
            <a:ext cx="5476669" cy="377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2145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47CF2-6362-D77C-DE37-E23F45E0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1121FB5-7EA3-21D0-AE46-9156313FF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36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A4D51-EA7E-19B5-7B8E-1145EA632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sz="3200" dirty="0"/>
              <a:t>ARIMA </a:t>
            </a:r>
            <a:r>
              <a:rPr lang="nl-NL" sz="3200" dirty="0" err="1"/>
              <a:t>models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14958561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6033EFA-5870-A6CF-7291-D10D4D826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ARIMA-</a:t>
            </a:r>
            <a:r>
              <a:rPr lang="nl-NL" dirty="0" err="1"/>
              <a:t>models</a:t>
            </a:r>
            <a:br>
              <a:rPr lang="nl-NL" dirty="0"/>
            </a:br>
            <a:endParaRPr lang="nl-NL" dirty="0"/>
          </a:p>
        </p:txBody>
      </p:sp>
      <p:sp>
        <p:nvSpPr>
          <p:cNvPr id="2" name="Tijdelijke aanduiding voor tekst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nl-NL" sz="2400" dirty="0"/>
              <a:t>ARIMA : </a:t>
            </a:r>
            <a:r>
              <a:rPr lang="nl-NL" sz="2400" dirty="0" err="1"/>
              <a:t>describes</a:t>
            </a:r>
            <a:r>
              <a:rPr lang="nl-NL" sz="2400" dirty="0"/>
              <a:t> </a:t>
            </a:r>
            <a:r>
              <a:rPr lang="nl-NL" sz="2400" i="1" dirty="0" err="1"/>
              <a:t>auto</a:t>
            </a:r>
            <a:r>
              <a:rPr lang="nl-NL" sz="2400" dirty="0" err="1"/>
              <a:t>correlations</a:t>
            </a:r>
            <a:r>
              <a:rPr lang="nl-NL" sz="2400" dirty="0"/>
              <a:t>: </a:t>
            </a:r>
            <a:r>
              <a:rPr lang="nl-NL" sz="2400" dirty="0" err="1"/>
              <a:t>variable</a:t>
            </a:r>
            <a:r>
              <a:rPr lang="nl-NL" sz="2400" dirty="0"/>
              <a:t> is </a:t>
            </a:r>
            <a:r>
              <a:rPr lang="nl-NL" sz="2400" dirty="0" err="1"/>
              <a:t>correlated</a:t>
            </a:r>
            <a:r>
              <a:rPr lang="nl-NL" sz="2400" dirty="0"/>
              <a:t> </a:t>
            </a:r>
            <a:r>
              <a:rPr lang="nl-NL" sz="2400" dirty="0" err="1"/>
              <a:t>with</a:t>
            </a:r>
            <a:r>
              <a:rPr lang="nl-NL" sz="2400" dirty="0"/>
              <a:t> past 		        </a:t>
            </a:r>
            <a:r>
              <a:rPr lang="nl-NL" sz="2400" dirty="0" err="1"/>
              <a:t>values</a:t>
            </a:r>
            <a:r>
              <a:rPr lang="nl-NL" sz="2400" dirty="0"/>
              <a:t> of </a:t>
            </a:r>
            <a:r>
              <a:rPr lang="nl-NL" sz="2400" dirty="0" err="1"/>
              <a:t>itself</a:t>
            </a:r>
            <a:endParaRPr lang="nl-NL" sz="2400" dirty="0"/>
          </a:p>
          <a:p>
            <a:pPr>
              <a:lnSpc>
                <a:spcPct val="80000"/>
              </a:lnSpc>
            </a:pPr>
            <a:r>
              <a:rPr lang="nl-NL" sz="2400" dirty="0"/>
              <a:t>STM     : </a:t>
            </a:r>
            <a:r>
              <a:rPr lang="nl-NL" sz="2400" dirty="0" err="1"/>
              <a:t>describes</a:t>
            </a:r>
            <a:r>
              <a:rPr lang="nl-NL" sz="2400" dirty="0"/>
              <a:t> trend </a:t>
            </a:r>
            <a:r>
              <a:rPr lang="nl-NL" sz="2400" dirty="0" err="1"/>
              <a:t>and</a:t>
            </a:r>
            <a:r>
              <a:rPr lang="nl-NL" sz="2400" dirty="0"/>
              <a:t> </a:t>
            </a:r>
            <a:r>
              <a:rPr lang="nl-NL" sz="2400" dirty="0" err="1"/>
              <a:t>seasonal</a:t>
            </a:r>
            <a:endParaRPr lang="nl-NL" sz="2400" dirty="0"/>
          </a:p>
          <a:p>
            <a:pPr>
              <a:lnSpc>
                <a:spcPct val="80000"/>
              </a:lnSpc>
            </a:pPr>
            <a:endParaRPr lang="nl-NL" sz="2400" dirty="0"/>
          </a:p>
          <a:p>
            <a:pPr>
              <a:lnSpc>
                <a:spcPct val="80000"/>
              </a:lnSpc>
            </a:pPr>
            <a:r>
              <a:rPr lang="nl-NL" sz="2400" dirty="0" err="1"/>
              <a:t>Autoregressive</a:t>
            </a:r>
            <a:r>
              <a:rPr lang="nl-NL" sz="2400" dirty="0"/>
              <a:t> model: </a:t>
            </a:r>
            <a:r>
              <a:rPr lang="nl-NL" sz="2400" dirty="0" err="1"/>
              <a:t>linear</a:t>
            </a:r>
            <a:r>
              <a:rPr lang="nl-NL" sz="2400" dirty="0"/>
              <a:t> </a:t>
            </a:r>
            <a:r>
              <a:rPr lang="nl-NL" sz="2400" dirty="0" err="1"/>
              <a:t>combination</a:t>
            </a:r>
            <a:r>
              <a:rPr lang="nl-NL" sz="2400" dirty="0"/>
              <a:t> of past </a:t>
            </a:r>
            <a:r>
              <a:rPr lang="nl-NL" sz="2400" dirty="0" err="1"/>
              <a:t>values</a:t>
            </a:r>
            <a:r>
              <a:rPr lang="nl-NL" sz="2400" dirty="0"/>
              <a:t> (‘</a:t>
            </a:r>
            <a:r>
              <a:rPr lang="nl-NL" sz="2400" dirty="0" err="1"/>
              <a:t>lags</a:t>
            </a:r>
            <a:r>
              <a:rPr lang="nl-NL" sz="2400" dirty="0"/>
              <a:t>’), past </a:t>
            </a:r>
            <a:r>
              <a:rPr lang="nl-NL" sz="2400" dirty="0" err="1"/>
              <a:t>determines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present</a:t>
            </a:r>
          </a:p>
          <a:p>
            <a:pPr marL="342000" lvl="1" indent="0">
              <a:lnSpc>
                <a:spcPct val="80000"/>
              </a:lnSpc>
              <a:buNone/>
            </a:pPr>
            <a:r>
              <a:rPr lang="nl-NL" sz="2400" dirty="0"/>
              <a:t>	E.g.: </a:t>
            </a:r>
          </a:p>
          <a:p>
            <a:pPr marL="342000" lvl="1" indent="0">
              <a:lnSpc>
                <a:spcPct val="80000"/>
              </a:lnSpc>
              <a:buNone/>
            </a:pPr>
            <a:r>
              <a:rPr lang="nl-NL" sz="2400" dirty="0"/>
              <a:t>			</a:t>
            </a:r>
            <a:r>
              <a:rPr lang="nl-NL" sz="2400" dirty="0" err="1"/>
              <a:t>y</a:t>
            </a:r>
            <a:r>
              <a:rPr lang="nl-NL" sz="2400" baseline="-25000" dirty="0" err="1"/>
              <a:t>t</a:t>
            </a:r>
            <a:r>
              <a:rPr lang="nl-NL" sz="2400" dirty="0"/>
              <a:t> =   y</a:t>
            </a:r>
            <a:r>
              <a:rPr lang="nl-NL" sz="2400" baseline="-25000" dirty="0"/>
              <a:t>t-1</a:t>
            </a:r>
            <a:r>
              <a:rPr lang="nl-NL" sz="2400" dirty="0"/>
              <a:t> + error</a:t>
            </a:r>
          </a:p>
          <a:p>
            <a:pPr marL="342000" lvl="1" indent="0">
              <a:lnSpc>
                <a:spcPct val="80000"/>
              </a:lnSpc>
              <a:buNone/>
            </a:pPr>
            <a:r>
              <a:rPr lang="nl-NL" sz="2400" dirty="0"/>
              <a:t>			</a:t>
            </a:r>
            <a:r>
              <a:rPr lang="nl-NL" sz="2400" dirty="0" err="1"/>
              <a:t>y</a:t>
            </a:r>
            <a:r>
              <a:rPr lang="nl-NL" sz="2400" baseline="-25000" dirty="0" err="1"/>
              <a:t>t</a:t>
            </a:r>
            <a:r>
              <a:rPr lang="nl-NL" sz="2400" dirty="0"/>
              <a:t> =  ½ y</a:t>
            </a:r>
            <a:r>
              <a:rPr lang="nl-NL" sz="2400" baseline="-25000" dirty="0"/>
              <a:t>t-1</a:t>
            </a:r>
            <a:r>
              <a:rPr lang="nl-NL" sz="2400" dirty="0"/>
              <a:t> + ½ y</a:t>
            </a:r>
            <a:r>
              <a:rPr lang="nl-NL" sz="2400" baseline="-25000" dirty="0"/>
              <a:t>t-2</a:t>
            </a:r>
            <a:r>
              <a:rPr lang="nl-NL" sz="2400" dirty="0"/>
              <a:t> + </a:t>
            </a:r>
            <a:r>
              <a:rPr lang="el-GR" sz="2400" dirty="0"/>
              <a:t>ε</a:t>
            </a:r>
            <a:r>
              <a:rPr lang="nl-NL" sz="2400" baseline="-25000" dirty="0"/>
              <a:t>t</a:t>
            </a:r>
            <a:endParaRPr lang="nl-NL" sz="2400" dirty="0"/>
          </a:p>
          <a:p>
            <a:pPr marL="342000" lvl="1" indent="0">
              <a:lnSpc>
                <a:spcPct val="80000"/>
              </a:lnSpc>
              <a:buNone/>
            </a:pPr>
            <a:r>
              <a:rPr lang="nl-NL" sz="2400" dirty="0"/>
              <a:t>	  		</a:t>
            </a:r>
            <a:r>
              <a:rPr lang="nl-NL" sz="2400" dirty="0" err="1"/>
              <a:t>y</a:t>
            </a:r>
            <a:r>
              <a:rPr lang="nl-NL" sz="2400" baseline="-25000" dirty="0" err="1"/>
              <a:t>t</a:t>
            </a:r>
            <a:r>
              <a:rPr lang="nl-NL" sz="2400" dirty="0"/>
              <a:t> =   y</a:t>
            </a:r>
            <a:r>
              <a:rPr lang="nl-NL" sz="2400" baseline="-25000" dirty="0"/>
              <a:t>t-12</a:t>
            </a:r>
            <a:r>
              <a:rPr lang="nl-NL" sz="2400" dirty="0"/>
              <a:t> + </a:t>
            </a:r>
            <a:r>
              <a:rPr lang="el-GR" sz="2400" dirty="0"/>
              <a:t>ε</a:t>
            </a:r>
            <a:r>
              <a:rPr lang="nl-NL" sz="2400" baseline="-25000" dirty="0"/>
              <a:t>t</a:t>
            </a:r>
            <a:endParaRPr lang="nl-NL" sz="2400" dirty="0"/>
          </a:p>
          <a:p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18356422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dirty="0"/>
              <a:t>Box </a:t>
            </a:r>
            <a:r>
              <a:rPr lang="nl-NL" dirty="0" err="1"/>
              <a:t>and</a:t>
            </a:r>
            <a:r>
              <a:rPr lang="nl-NL" dirty="0"/>
              <a:t> Jenkins (1970)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dirty="0"/>
              <a:t>ARIMA = AR + I + MA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dirty="0"/>
              <a:t>Special cases:</a:t>
            </a:r>
          </a:p>
          <a:p>
            <a:pPr marL="1066773" lvl="1" indent="-457189">
              <a:buFont typeface="Arial" panose="020B0604020202020204" pitchFamily="34" charset="0"/>
              <a:buChar char="•"/>
            </a:pPr>
            <a:r>
              <a:rPr lang="nl-NL" dirty="0"/>
              <a:t>Random walk</a:t>
            </a:r>
          </a:p>
          <a:p>
            <a:pPr marL="1066773" lvl="1" indent="-457189">
              <a:buFont typeface="Arial" panose="020B0604020202020204" pitchFamily="34" charset="0"/>
              <a:buChar char="•"/>
            </a:pPr>
            <a:r>
              <a:rPr lang="nl-NL" dirty="0" err="1"/>
              <a:t>Exponential</a:t>
            </a:r>
            <a:r>
              <a:rPr lang="nl-NL" dirty="0"/>
              <a:t> </a:t>
            </a:r>
            <a:r>
              <a:rPr lang="nl-NL" dirty="0" err="1"/>
              <a:t>smoothing</a:t>
            </a:r>
            <a:endParaRPr lang="nl-NL" dirty="0"/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nl-NL" dirty="0"/>
              <a:t>Overlap </a:t>
            </a:r>
            <a:r>
              <a:rPr lang="nl-NL" dirty="0" err="1"/>
              <a:t>with</a:t>
            </a:r>
            <a:r>
              <a:rPr lang="nl-NL" dirty="0"/>
              <a:t> State </a:t>
            </a:r>
            <a:r>
              <a:rPr lang="nl-NL" dirty="0" err="1"/>
              <a:t>space</a:t>
            </a:r>
            <a:r>
              <a:rPr lang="nl-NL" dirty="0"/>
              <a:t> </a:t>
            </a:r>
            <a:r>
              <a:rPr lang="nl-NL" dirty="0" err="1"/>
              <a:t>models</a:t>
            </a:r>
            <a:endParaRPr lang="nl-NL" dirty="0"/>
          </a:p>
          <a:p>
            <a:pPr marL="457189" indent="-457189">
              <a:buFont typeface="Arial" panose="020B0604020202020204" pitchFamily="34" charset="0"/>
              <a:buChar char="•"/>
            </a:pPr>
            <a:endParaRPr lang="nl-NL" dirty="0"/>
          </a:p>
          <a:p>
            <a:endParaRPr lang="nl-NL" dirty="0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ARIMA-</a:t>
            </a:r>
            <a:r>
              <a:rPr lang="nl-NL" dirty="0" err="1"/>
              <a:t>models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97486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tekst 1"/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623392" y="969031"/>
                <a:ext cx="10503954" cy="556508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sz="2667" dirty="0"/>
                  <a:t> </a:t>
                </a:r>
                <a:r>
                  <a:rPr lang="nl-NL" sz="2667" dirty="0" err="1"/>
                  <a:t>depends</a:t>
                </a:r>
                <a:r>
                  <a:rPr lang="nl-NL" sz="2667" dirty="0"/>
                  <a:t> on past </a:t>
                </a:r>
                <a:r>
                  <a:rPr lang="nl-NL" sz="2667" dirty="0" err="1"/>
                  <a:t>observations</a:t>
                </a:r>
                <a:r>
                  <a:rPr lang="nl-NL" sz="2667" dirty="0"/>
                  <a:t>:</a:t>
                </a:r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:r>
                  <a:rPr lang="nl-NL" sz="2667" dirty="0"/>
                  <a:t>AR(1) 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667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nl-NL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nl-NL" sz="2667" i="1" spc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667" i="1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nl-NL" sz="2667" i="1" spc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l-NL" sz="2667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>
                            <a:latin typeface="Cambria Math"/>
                          </a:rPr>
                          <m:t>𝑡</m:t>
                        </m:r>
                        <m:r>
                          <a:rPr lang="nl-NL" sz="2667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sz="2667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sz="2667" dirty="0"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nl-NL" sz="2667" spc="0">
                        <a:latin typeface="Cambria Math" panose="02040503050406030204" pitchFamily="18" charset="0"/>
                      </a:rPr>
                      <m:t>                   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667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sz="2667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NID</m:t>
                    </m:r>
                    <m:r>
                      <a:rPr lang="en-US" sz="2667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lang="nl-NL" sz="2667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nl-NL" sz="2667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nl-NL" sz="2667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ε</m:t>
                        </m:r>
                      </m:sub>
                      <m:sup>
                        <m:r>
                          <a:rPr lang="en-US" sz="2667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667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nl-NL" sz="2667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:r>
                  <a:rPr lang="nl-NL" sz="2667" spc="0" dirty="0">
                    <a:cs typeface="Calibri" panose="020F0502020204030204" pitchFamily="34" charset="0"/>
                  </a:rPr>
                  <a:t>AR(p)   :</a:t>
                </a:r>
                <a14:m>
                  <m:oMath xmlns:m="http://schemas.openxmlformats.org/officeDocument/2006/math">
                    <m:r>
                      <a:rPr lang="nl-NL" sz="2667" spc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667" i="1" spc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nl-NL" sz="2667" i="1" spc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667" i="1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nl-NL" sz="2667" i="1" spc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sz="2667" i="1" spc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nl-NL" sz="2667" i="1" spc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667" i="1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nl-NL" sz="2667" i="1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nl-NL" sz="2667" i="1" spc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nl-NL" sz="2667" spc="0" dirty="0">
                  <a:latin typeface="Calibri"/>
                </a:endParaRPr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:endParaRPr lang="nl-NL" sz="2667" spc="0" dirty="0">
                  <a:latin typeface="Calibri"/>
                </a:endParaRPr>
              </a:p>
              <a:p>
                <a:r>
                  <a:rPr lang="nl-NL" sz="4000" b="1" spc="80" dirty="0" err="1">
                    <a:solidFill>
                      <a:srgbClr val="00A1CD"/>
                    </a:solidFill>
                  </a:rPr>
                  <a:t>Moving</a:t>
                </a:r>
                <a:r>
                  <a:rPr lang="nl-NL" sz="4000" b="1" spc="80" dirty="0">
                    <a:solidFill>
                      <a:srgbClr val="00A1CD"/>
                    </a:solidFill>
                  </a:rPr>
                  <a:t> </a:t>
                </a:r>
                <a:r>
                  <a:rPr lang="nl-NL" sz="4000" b="1" spc="80" dirty="0" err="1">
                    <a:solidFill>
                      <a:srgbClr val="00A1CD"/>
                    </a:solidFill>
                  </a:rPr>
                  <a:t>Average</a:t>
                </a:r>
                <a:r>
                  <a:rPr lang="nl-NL" sz="4000" b="1" spc="80" dirty="0">
                    <a:solidFill>
                      <a:srgbClr val="00A1CD"/>
                    </a:solidFill>
                  </a:rPr>
                  <a:t>: MA(q)</a:t>
                </a:r>
              </a:p>
              <a:p>
                <a:r>
                  <a:rPr lang="nl-NL" sz="2667" dirty="0">
                    <a:cs typeface="Calibri" panose="020F0502020204030204" pitchFamily="34" charset="0"/>
                  </a:rPr>
                  <a:t>Moving </a:t>
                </a:r>
                <a:r>
                  <a:rPr lang="nl-NL" sz="2667" dirty="0" err="1">
                    <a:cs typeface="Calibri" panose="020F0502020204030204" pitchFamily="34" charset="0"/>
                  </a:rPr>
                  <a:t>average</a:t>
                </a:r>
                <a:r>
                  <a:rPr lang="nl-NL" sz="2667" dirty="0">
                    <a:cs typeface="Calibri" panose="020F0502020204030204" pitchFamily="34" charset="0"/>
                  </a:rPr>
                  <a:t> of past forecast </a:t>
                </a:r>
                <a:r>
                  <a:rPr lang="nl-NL" sz="2667" dirty="0" err="1">
                    <a:cs typeface="Calibri" panose="020F0502020204030204" pitchFamily="34" charset="0"/>
                  </a:rPr>
                  <a:t>errors</a:t>
                </a:r>
                <a:r>
                  <a:rPr lang="nl-NL" sz="2667" dirty="0">
                    <a:cs typeface="Calibri" panose="020F0502020204030204" pitchFamily="34" charset="0"/>
                  </a:rPr>
                  <a:t> </a:t>
                </a:r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:r>
                  <a:rPr lang="nl-NL" sz="2667" dirty="0">
                    <a:cs typeface="Calibri" panose="020F0502020204030204" pitchFamily="34" charset="0"/>
                  </a:rPr>
                  <a:t>MA(1) :</a:t>
                </a:r>
                <a:r>
                  <a:rPr lang="nl-NL" sz="2667" i="1" dirty="0"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667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nl-NL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667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nl-NL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nl-NL" sz="2667" i="1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667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667" i="1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nl-NL" sz="2667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sz="2667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nl-NL" sz="2667" i="1">
                            <a:latin typeface="Cambria Math"/>
                          </a:rPr>
                          <m:t>𝑡</m:t>
                        </m:r>
                        <m:r>
                          <a:rPr lang="nl-NL" sz="2667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nl-NL" sz="2667" i="1" dirty="0">
                    <a:latin typeface="Cambria Math" panose="02040503050406030204" pitchFamily="18" charset="0"/>
                  </a:rPr>
                  <a:t>,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sz="2667" spc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67" spc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2667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sz="2667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NID</m:t>
                    </m:r>
                    <m:d>
                      <m:dPr>
                        <m:ctrlPr>
                          <a:rPr lang="en-US" sz="2667" i="1" spc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67" spc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sSubSup>
                          <m:sSubSupPr>
                            <m:ctrlPr>
                              <a:rPr lang="nl-NL" sz="2667" i="1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nl-NL" sz="2667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nl-NL" sz="2667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ε</m:t>
                            </m:r>
                          </m:sub>
                          <m:sup>
                            <m:r>
                              <a:rPr lang="en-US" sz="2667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nl-NL" sz="2667" i="1" dirty="0">
                  <a:latin typeface="Cambria Math" panose="02040503050406030204" pitchFamily="18" charset="0"/>
                </a:endParaRPr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:r>
                  <a:rPr lang="nl-NL" sz="2667" spc="0" dirty="0">
                    <a:cs typeface="Calibri" panose="020F0502020204030204" pitchFamily="34" charset="0"/>
                  </a:rPr>
                  <a:t>MA(q) :</a:t>
                </a:r>
                <a:r>
                  <a:rPr lang="nl-NL" sz="2667" i="1" spc="0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667" i="1" spc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667" i="1" spc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667" i="1" spc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667" i="1" spc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sz="2667" i="1" spc="0">
                        <a:latin typeface="Cambria Math" panose="02040503050406030204" pitchFamily="18" charset="0"/>
                      </a:rPr>
                      <m:t>+…+  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nl-NL" sz="2667" i="1" spc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667" i="1" spc="0">
                                <a:latin typeface="Cambria Math" panose="02040503050406030204" pitchFamily="18" charset="0"/>
                              </a:rPr>
                              <m:t>θ</m:t>
                            </m:r>
                          </m:e>
                          <m:sub>
                            <m:r>
                              <a:rPr lang="nl-NL" sz="2667" i="1" spc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sSub>
                          <m:sSubPr>
                            <m:ctrlPr>
                              <a:rPr lang="nl-NL" sz="2667" i="1" spc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sz="2667" i="1" spc="0">
                                <a:latin typeface="Cambria Math"/>
                              </a:rPr>
                              <m:t>𝜀</m:t>
                            </m:r>
                          </m:e>
                          <m:sub>
                            <m:r>
                              <a:rPr lang="nl-NL" sz="2667" i="1" spc="0">
                                <a:latin typeface="Cambria Math"/>
                              </a:rPr>
                              <m:t>𝑡</m:t>
                            </m:r>
                            <m:r>
                              <a:rPr lang="nl-NL" sz="2667" i="1" spc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nl-NL" sz="2667" i="1" spc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e>
                      <m:sub/>
                    </m:sSub>
                  </m:oMath>
                </a14:m>
                <a:endParaRPr lang="nl-NL" sz="2667" spc="0" dirty="0">
                  <a:latin typeface="Calibri"/>
                </a:endParaRPr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:endParaRPr lang="nl-NL" sz="2667" spc="0" dirty="0">
                  <a:latin typeface="Calibri"/>
                </a:endParaRPr>
              </a:p>
              <a:p>
                <a:r>
                  <a:rPr lang="nl-NL" sz="4000" b="1" spc="80" dirty="0">
                    <a:solidFill>
                      <a:srgbClr val="00A1CD"/>
                    </a:solidFill>
                  </a:rPr>
                  <a:t>Combination: ARMA(</a:t>
                </a:r>
                <a:r>
                  <a:rPr lang="nl-NL" sz="4000" b="1" spc="80" dirty="0" err="1">
                    <a:solidFill>
                      <a:srgbClr val="00A1CD"/>
                    </a:solidFill>
                  </a:rPr>
                  <a:t>p,q</a:t>
                </a:r>
                <a:r>
                  <a:rPr lang="nl-NL" sz="4000" b="1" spc="80" dirty="0">
                    <a:solidFill>
                      <a:srgbClr val="00A1CD"/>
                    </a:solidFill>
                  </a:rPr>
                  <a:t>)</a:t>
                </a:r>
              </a:p>
              <a:p>
                <a:pPr marL="457189" indent="-457189">
                  <a:buFont typeface="Arial" panose="020B0604020202020204" pitchFamily="34" charset="0"/>
                  <a:buChar char="•"/>
                </a:pPr>
                <a:r>
                  <a:rPr lang="nl-NL" sz="2667" spc="0" dirty="0">
                    <a:latin typeface="Calibri"/>
                  </a:rPr>
                  <a:t>ARMA(1,1):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667" i="1" spc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ɸ</m:t>
                        </m:r>
                      </m:e>
                      <m:sub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nl-NL" sz="2667" b="1" spc="0" dirty="0">
                    <a:latin typeface="Calibri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667" i="1" spc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667" i="1" spc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𝜀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nl-NL" sz="2667" i="1" spc="0" dirty="0">
                    <a:latin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sz="2667" spc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667" spc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2667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sz="2667" spc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NID</m:t>
                    </m:r>
                    <m:d>
                      <m:dPr>
                        <m:ctrlPr>
                          <a:rPr lang="en-US" sz="2667" i="1" spc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67" spc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</m:t>
                        </m:r>
                        <m:sSubSup>
                          <m:sSubSupPr>
                            <m:ctrlPr>
                              <a:rPr lang="nl-NL" sz="2667" i="1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nl-NL" sz="2667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nl-NL" sz="2667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ε</m:t>
                            </m:r>
                          </m:sub>
                          <m:sup>
                            <m:r>
                              <a:rPr lang="en-US" sz="2667" spc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nl-NL" sz="2667" spc="0" dirty="0">
                  <a:latin typeface="Calibri"/>
                  <a:ea typeface="Cambria Math" panose="02040503050406030204" pitchFamily="18" charset="0"/>
                </a:endParaRPr>
              </a:p>
              <a:p>
                <a:endParaRPr lang="nl-NL" sz="2667" spc="0" dirty="0">
                  <a:latin typeface="Calibri"/>
                </a:endParaRPr>
              </a:p>
              <a:p>
                <a:pPr marL="457189" indent="-457189">
                  <a:buFont typeface="Arial" panose="020B0604020202020204" pitchFamily="34" charset="0"/>
                  <a:buChar char="•"/>
                  <a:defRPr/>
                </a:pPr>
                <a:endParaRPr lang="nl-NL" sz="2667" spc="0" dirty="0">
                  <a:latin typeface="Calibri"/>
                </a:endParaRPr>
              </a:p>
            </p:txBody>
          </p:sp>
        </mc:Choice>
        <mc:Fallback xmlns="">
          <p:sp>
            <p:nvSpPr>
              <p:cNvPr id="2" name="Tijdelijke aanduiding voor tekst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623392" y="969031"/>
                <a:ext cx="10503954" cy="5565089"/>
              </a:xfrm>
              <a:blipFill>
                <a:blip r:embed="rId2"/>
                <a:stretch>
                  <a:fillRect l="-2031" t="-109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>
          <a:xfrm>
            <a:off x="623392" y="323879"/>
            <a:ext cx="10177131" cy="672075"/>
          </a:xfrm>
        </p:spPr>
        <p:txBody>
          <a:bodyPr/>
          <a:lstStyle/>
          <a:p>
            <a:r>
              <a:rPr lang="nl-NL" dirty="0" err="1"/>
              <a:t>Autoregressive</a:t>
            </a:r>
            <a:r>
              <a:rPr lang="nl-NL" dirty="0"/>
              <a:t>: AR(p)</a:t>
            </a:r>
          </a:p>
        </p:txBody>
      </p:sp>
    </p:spTree>
    <p:extLst>
      <p:ext uri="{BB962C8B-B14F-4D97-AF65-F5344CB8AC3E}">
        <p14:creationId xmlns:p14="http://schemas.microsoft.com/office/powerpoint/2010/main" val="49122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jdelijke aanduiding voor tekst 1"/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623392" y="1072064"/>
                <a:ext cx="10177131" cy="4896544"/>
              </a:xfrm>
            </p:spPr>
            <p:txBody>
              <a:bodyPr>
                <a:normAutofit/>
              </a:bodyPr>
              <a:lstStyle/>
              <a:p>
                <a:pPr lvl="0">
                  <a:defRPr/>
                </a:pPr>
                <a:r>
                  <a:rPr lang="nl-NL" sz="2667" spc="0" dirty="0">
                    <a:latin typeface="Calibri"/>
                  </a:rPr>
                  <a:t>Integrated:  </a:t>
                </a:r>
                <a:r>
                  <a:rPr lang="nl-NL" sz="2667" spc="0" dirty="0" err="1">
                    <a:latin typeface="Calibri"/>
                  </a:rPr>
                  <a:t>use</a:t>
                </a:r>
                <a:r>
                  <a:rPr lang="nl-NL" sz="2667" spc="0" dirty="0">
                    <a:latin typeface="Calibri"/>
                  </a:rPr>
                  <a:t> ‘</a:t>
                </a:r>
                <a:r>
                  <a:rPr lang="nl-NL" sz="2667" spc="0" dirty="0" err="1">
                    <a:latin typeface="Calibri"/>
                  </a:rPr>
                  <a:t>differenced</a:t>
                </a:r>
                <a:r>
                  <a:rPr lang="nl-NL" sz="2667" spc="0" dirty="0">
                    <a:latin typeface="Calibri"/>
                  </a:rPr>
                  <a:t>’ series:</a:t>
                </a:r>
              </a:p>
              <a:p>
                <a:pPr lvl="0">
                  <a:defRPr/>
                </a:pPr>
                <a:r>
                  <a:rPr lang="nl-NL" sz="2667" spc="0" dirty="0">
                    <a:latin typeface="Calibri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nl-NL" sz="2667" i="1" spc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667" i="1" spc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sz="2667" i="1" spc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∆</m:t>
                        </m:r>
                      </m:e>
                      <m:sup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sz="2667" spc="0" dirty="0">
                    <a:latin typeface="Calibri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nl-NL" sz="2667" i="1" spc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NL" sz="2667" i="1" spc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nl-NL" sz="2667" i="1" spc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e>
                      <m:sup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sz="2667" spc="0" dirty="0">
                    <a:latin typeface="Calibri"/>
                  </a:rPr>
                  <a:t> </a:t>
                </a:r>
              </a:p>
              <a:p>
                <a:endParaRPr lang="nl-NL" sz="2667" dirty="0">
                  <a:latin typeface="Calibri"/>
                  <a:ea typeface="Cambria Math" panose="02040503050406030204" pitchFamily="18" charset="0"/>
                </a:endParaRPr>
              </a:p>
              <a:p>
                <a:r>
                  <a:rPr lang="nl-NL" sz="2667" dirty="0" err="1">
                    <a:latin typeface="Calibri"/>
                    <a:ea typeface="Cambria Math" panose="02040503050406030204" pitchFamily="18" charset="0"/>
                  </a:rPr>
                  <a:t>Example</a:t>
                </a:r>
                <a:r>
                  <a:rPr lang="nl-NL" sz="2667" dirty="0">
                    <a:latin typeface="Calibri"/>
                    <a:ea typeface="Cambria Math" panose="02040503050406030204" pitchFamily="18" charset="0"/>
                  </a:rPr>
                  <a:t>: </a:t>
                </a:r>
              </a:p>
              <a:p>
                <a:r>
                  <a:rPr lang="nl-NL" sz="2667" dirty="0">
                    <a:latin typeface="Calibri"/>
                    <a:ea typeface="Cambria Math" panose="02040503050406030204" pitchFamily="18" charset="0"/>
                  </a:rPr>
                  <a:t>ARIMA(0,1,1) </a:t>
                </a:r>
                <a:r>
                  <a:rPr lang="nl-NL" sz="2667" dirty="0" err="1">
                    <a:latin typeface="Calibri"/>
                    <a:ea typeface="Cambria Math" panose="02040503050406030204" pitchFamily="18" charset="0"/>
                  </a:rPr>
                  <a:t>for</a:t>
                </a:r>
                <a:r>
                  <a:rPr lang="nl-NL" sz="2667" dirty="0">
                    <a:latin typeface="Calibri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667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sz="2667" dirty="0">
                    <a:latin typeface="Calibri"/>
                    <a:ea typeface="Cambria Math" panose="02040503050406030204" pitchFamily="18" charset="0"/>
                  </a:rPr>
                  <a:t> = MA(1) </a:t>
                </a:r>
                <a:r>
                  <a:rPr lang="nl-NL" sz="2667" dirty="0" err="1">
                    <a:latin typeface="Calibri"/>
                    <a:ea typeface="Cambria Math" panose="02040503050406030204" pitchFamily="18" charset="0"/>
                  </a:rPr>
                  <a:t>for</a:t>
                </a:r>
                <a:r>
                  <a:rPr lang="nl-NL" sz="2667" dirty="0">
                    <a:latin typeface="Calibri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NL" sz="2667" i="1" spc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nl-NL" sz="2667" i="1" spc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nl-NL" sz="2667" dirty="0">
                  <a:latin typeface="Calibri"/>
                  <a:ea typeface="Cambria Math" panose="02040503050406030204" pitchFamily="18" charset="0"/>
                </a:endParaRPr>
              </a:p>
              <a:p>
                <a:endParaRPr lang="nl-NL" sz="2667" dirty="0">
                  <a:latin typeface="Calibri"/>
                  <a:ea typeface="Cambria Math" panose="02040503050406030204" pitchFamily="18" charset="0"/>
                </a:endParaRPr>
              </a:p>
              <a:p>
                <a:endParaRPr lang="nl-NL" sz="2667" dirty="0">
                  <a:latin typeface="Calibri"/>
                  <a:ea typeface="Cambria Math" panose="02040503050406030204" pitchFamily="18" charset="0"/>
                </a:endParaRPr>
              </a:p>
              <a:p>
                <a:r>
                  <a:rPr lang="nl-NL" sz="4000" b="1" spc="80" dirty="0">
                    <a:solidFill>
                      <a:srgbClr val="00A1CD"/>
                    </a:solidFill>
                  </a:rPr>
                  <a:t>SARIMA – </a:t>
                </a:r>
                <a:r>
                  <a:rPr lang="nl-NL" sz="4000" b="1" spc="80" dirty="0" err="1">
                    <a:solidFill>
                      <a:srgbClr val="00A1CD"/>
                    </a:solidFill>
                  </a:rPr>
                  <a:t>seasonally</a:t>
                </a:r>
                <a:r>
                  <a:rPr lang="nl-NL" sz="4000" b="1" spc="80" dirty="0">
                    <a:solidFill>
                      <a:srgbClr val="00A1CD"/>
                    </a:solidFill>
                  </a:rPr>
                  <a:t> </a:t>
                </a:r>
                <a:r>
                  <a:rPr lang="nl-NL" sz="4000" b="1" spc="80" dirty="0" err="1">
                    <a:solidFill>
                      <a:srgbClr val="00A1CD"/>
                    </a:solidFill>
                  </a:rPr>
                  <a:t>integrated</a:t>
                </a:r>
                <a:r>
                  <a:rPr lang="nl-NL" sz="4000" b="1" spc="80" dirty="0">
                    <a:solidFill>
                      <a:srgbClr val="00A1CD"/>
                    </a:solidFill>
                  </a:rPr>
                  <a:t> ARMA</a:t>
                </a:r>
              </a:p>
              <a:p>
                <a:pPr lvl="0">
                  <a:defRPr/>
                </a:pPr>
                <a:r>
                  <a:rPr lang="nl-NL" sz="2800" spc="0" dirty="0" err="1">
                    <a:latin typeface="Calibri"/>
                  </a:rPr>
                  <a:t>Seasonal</a:t>
                </a:r>
                <a:r>
                  <a:rPr lang="nl-NL" sz="2800" spc="0" dirty="0">
                    <a:latin typeface="Calibri"/>
                  </a:rPr>
                  <a:t> </a:t>
                </a:r>
                <a:r>
                  <a:rPr lang="nl-NL" sz="2800" spc="0" dirty="0" err="1">
                    <a:latin typeface="Calibri"/>
                  </a:rPr>
                  <a:t>difference</a:t>
                </a:r>
                <a:r>
                  <a:rPr lang="nl-NL" sz="2800" spc="0" dirty="0">
                    <a:latin typeface="Calibri"/>
                  </a:rPr>
                  <a:t>:</a:t>
                </a:r>
              </a:p>
              <a:p>
                <a:pPr lvl="0">
                  <a:defRPr/>
                </a:pPr>
                <a:r>
                  <a:rPr lang="nl-NL" sz="2800" spc="0" dirty="0">
                    <a:latin typeface="Calibri"/>
                  </a:rPr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sz="2800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 i="1" spc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nl-NL" sz="2800" i="1" spc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nl-NL" sz="2800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800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800" i="1" spc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800" i="1" spc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sz="2800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800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800" i="1" spc="0">
                            <a:latin typeface="Cambria Math"/>
                          </a:rPr>
                          <m:t>𝑡</m:t>
                        </m:r>
                      </m:sub>
                    </m:sSub>
                    <m:r>
                      <a:rPr lang="nl-NL" sz="2800" i="1" spc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nl-NL" sz="2800" i="1" spc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sz="2800" i="1" spc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nl-NL" sz="2800" i="1" spc="0">
                            <a:latin typeface="Cambria Math"/>
                          </a:rPr>
                          <m:t>𝑡</m:t>
                        </m:r>
                        <m:r>
                          <a:rPr lang="nl-NL" sz="2800" i="1" spc="0">
                            <a:latin typeface="Cambria Math" panose="02040503050406030204" pitchFamily="18" charset="0"/>
                          </a:rPr>
                          <m:t>−12</m:t>
                        </m:r>
                      </m:sub>
                    </m:sSub>
                  </m:oMath>
                </a14:m>
                <a:endParaRPr lang="nl-NL" sz="2800" spc="0" dirty="0">
                  <a:latin typeface="Calibri"/>
                </a:endParaRPr>
              </a:p>
              <a:p>
                <a:pPr lvl="0">
                  <a:defRPr/>
                </a:pPr>
                <a:endParaRPr lang="nl-NL" sz="2800" spc="0" dirty="0">
                  <a:latin typeface="Calibri"/>
                </a:endParaRPr>
              </a:p>
              <a:p>
                <a:endParaRPr lang="nl-NL" sz="2667" dirty="0">
                  <a:latin typeface="Calibri"/>
                  <a:ea typeface="Cambria Math" panose="02040503050406030204" pitchFamily="18" charset="0"/>
                </a:endParaRPr>
              </a:p>
              <a:p>
                <a:endParaRPr lang="nl-NL" sz="2667" dirty="0">
                  <a:latin typeface="Calibri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Tijdelijke aanduiding voor tekst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623392" y="1072064"/>
                <a:ext cx="10177131" cy="4896544"/>
              </a:xfrm>
              <a:blipFill>
                <a:blip r:embed="rId2"/>
                <a:stretch>
                  <a:fillRect l="-2096" t="-1245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I - </a:t>
            </a:r>
            <a:r>
              <a:rPr lang="nl-NL" dirty="0" err="1"/>
              <a:t>Integrated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562031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nl-NL" dirty="0"/>
              <a:t>Log(y</a:t>
            </a:r>
            <a:r>
              <a:rPr lang="nl-NL" baseline="-25000" dirty="0"/>
              <a:t>t</a:t>
            </a:r>
            <a:r>
              <a:rPr lang="nl-NL" dirty="0"/>
              <a:t>): (0,1,1)(0,1,1)</a:t>
            </a:r>
            <a:r>
              <a:rPr lang="nl-NL" baseline="-25000" dirty="0"/>
              <a:t>12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 err="1"/>
              <a:t>Airline</a:t>
            </a:r>
            <a:r>
              <a:rPr lang="nl-NL" dirty="0"/>
              <a:t> model (Box </a:t>
            </a:r>
            <a:r>
              <a:rPr lang="nl-NL" dirty="0" err="1"/>
              <a:t>and</a:t>
            </a:r>
            <a:r>
              <a:rPr lang="nl-NL" dirty="0"/>
              <a:t> Jenkins)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1154DE2-0349-F386-3155-A300B028C9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556" y="2009775"/>
            <a:ext cx="9810750" cy="4848225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069FA805-3489-D75A-607E-257D8EC2D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556" y="2009775"/>
            <a:ext cx="981075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06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47CF2-6362-D77C-DE37-E23F45E0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1121FB5-7EA3-21D0-AE46-9156313FF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42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A4D51-EA7E-19B5-7B8E-1145EA632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sz="3200" dirty="0"/>
              <a:t>Relations </a:t>
            </a:r>
            <a:r>
              <a:rPr lang="nl-NL" sz="3200" dirty="0" err="1"/>
              <a:t>between</a:t>
            </a:r>
            <a:r>
              <a:rPr lang="nl-NL" sz="3200" dirty="0"/>
              <a:t> series </a:t>
            </a:r>
          </a:p>
        </p:txBody>
      </p:sp>
    </p:spTree>
    <p:extLst>
      <p:ext uri="{BB962C8B-B14F-4D97-AF65-F5344CB8AC3E}">
        <p14:creationId xmlns:p14="http://schemas.microsoft.com/office/powerpoint/2010/main" val="27313565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D4AB62-C97C-D829-F9E9-3C42A888A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Relations </a:t>
            </a:r>
            <a:r>
              <a:rPr lang="nl-NL" dirty="0" err="1"/>
              <a:t>between</a:t>
            </a:r>
            <a:r>
              <a:rPr lang="nl-NL" dirty="0"/>
              <a:t> time series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CC4B689-61B5-959A-F1CA-8571D98BAB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43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19841FE-E480-E380-D225-323CFBBE6E1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Do they move together simultaneously?</a:t>
            </a:r>
          </a:p>
          <a:p>
            <a:r>
              <a:rPr lang="en-US" dirty="0"/>
              <a:t>Does one influence the other (with a delay)?</a:t>
            </a:r>
          </a:p>
          <a:p>
            <a:r>
              <a:rPr lang="en-US" dirty="0"/>
              <a:t>Do they share a common trend?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We will look at:</a:t>
            </a:r>
          </a:p>
          <a:p>
            <a:r>
              <a:rPr lang="en-US" dirty="0"/>
              <a:t>Correlation</a:t>
            </a:r>
          </a:p>
          <a:p>
            <a:r>
              <a:rPr lang="en-US" dirty="0"/>
              <a:t>Cointegration</a:t>
            </a:r>
          </a:p>
          <a:p>
            <a:r>
              <a:rPr lang="en-US" dirty="0"/>
              <a:t>Leading/lagging series</a:t>
            </a:r>
          </a:p>
          <a:p>
            <a:pPr lvl="1"/>
            <a:r>
              <a:rPr lang="en-US" dirty="0"/>
              <a:t>Cross-correlation</a:t>
            </a:r>
          </a:p>
          <a:p>
            <a:pPr lvl="1"/>
            <a:r>
              <a:rPr lang="en-US" dirty="0"/>
              <a:t>Causality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2295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041DE-CD8E-8448-C472-760E5A81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Correlation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4E43E6B-6BE1-6B73-BF96-2E0F49447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nl-NL" dirty="0"/>
                  <a:t>Measures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extent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which</a:t>
                </a:r>
                <a:r>
                  <a:rPr lang="nl-NL" dirty="0"/>
                  <a:t> </a:t>
                </a:r>
                <a:r>
                  <a:rPr lang="nl-NL" dirty="0" err="1"/>
                  <a:t>two</a:t>
                </a:r>
                <a:r>
                  <a:rPr lang="nl-NL" dirty="0"/>
                  <a:t> series move at </a:t>
                </a:r>
                <a:r>
                  <a:rPr lang="nl-NL" dirty="0" err="1"/>
                  <a:t>same</a:t>
                </a:r>
                <a:r>
                  <a:rPr lang="nl-NL" dirty="0"/>
                  <a:t> time</a:t>
                </a:r>
              </a:p>
              <a:p>
                <a:pPr lvl="1"/>
                <a:r>
                  <a:rPr lang="nl-NL" dirty="0" err="1"/>
                  <a:t>Measure</a:t>
                </a:r>
                <a:r>
                  <a:rPr lang="nl-NL" dirty="0"/>
                  <a:t> of </a:t>
                </a:r>
                <a:r>
                  <a:rPr lang="nl-NL" dirty="0" err="1"/>
                  <a:t>linear</a:t>
                </a:r>
                <a:r>
                  <a:rPr lang="nl-NL" dirty="0"/>
                  <a:t> </a:t>
                </a:r>
                <a:r>
                  <a:rPr lang="nl-NL" dirty="0" err="1"/>
                  <a:t>dependence</a:t>
                </a:r>
                <a:r>
                  <a:rPr lang="nl-NL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[−1,1]</m:t>
                    </m:r>
                  </m:oMath>
                </a14:m>
                <a:endParaRPr lang="nl-NL" dirty="0"/>
              </a:p>
              <a:p>
                <a:pPr lvl="1"/>
                <a:endParaRPr lang="nl-NL" dirty="0"/>
              </a:p>
              <a:p>
                <a:pPr lvl="1"/>
                <a:endParaRPr lang="nl-NL" dirty="0"/>
              </a:p>
              <a:p>
                <a:pPr lvl="1"/>
                <a:endParaRPr lang="nl-NL" dirty="0"/>
              </a:p>
              <a:p>
                <a:pPr lvl="1"/>
                <a:endParaRPr lang="nl-NL" dirty="0"/>
              </a:p>
              <a:p>
                <a:pPr lvl="1"/>
                <a:endParaRPr lang="nl-NL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59290F09-5512-46BF-C864-D3ECA46248DE}"/>
                  </a:ext>
                </a:extLst>
              </p:cNvPr>
              <p:cNvSpPr txBox="1"/>
              <p:nvPr/>
            </p:nvSpPr>
            <p:spPr>
              <a:xfrm>
                <a:off x="3425588" y="2952750"/>
                <a:ext cx="5540991" cy="9109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nl-NL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nl-NL" sz="18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nl-NL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NL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nl-NL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l-NL" sz="18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nl-NL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NL" sz="1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nl-NL" sz="1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nl-NL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nl-NL" sz="1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nl-NL" sz="18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NL" sz="1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nl-NL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nl-NL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nl-NL" sz="18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nl-NL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nl-NL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NL" sz="1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nl-NL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nl-NL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nl-NL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nl-NL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nl-NL" sz="18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nl-NL" sz="1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nl-NL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nl-N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nl-NL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nl-NL" sz="1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nl-NL" sz="18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nl-NL" sz="18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nl-NL" sz="1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NL" sz="18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nl-NL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nl-NL" sz="18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nl-NL" sz="18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nl-NL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nl-NL" sz="18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nl-NL" sz="18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nl-NL" sz="1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nl-NL" sz="1800" dirty="0"/>
              </a:p>
            </p:txBody>
          </p:sp>
        </mc:Choice>
        <mc:Fallback xmlns="">
          <p:sp>
            <p:nvSpPr>
              <p:cNvPr id="7" name="Tekstvak 6">
                <a:extLst>
                  <a:ext uri="{FF2B5EF4-FFF2-40B4-BE49-F238E27FC236}">
                    <a16:creationId xmlns:a16="http://schemas.microsoft.com/office/drawing/2014/main" id="{59290F09-5512-46BF-C864-D3ECA4624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588" y="2952750"/>
                <a:ext cx="5540991" cy="9109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2580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36719-2256-5256-EB28-E5891B3C3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Correlation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51381D1E-04CA-0CBE-BF25-03B29FE19C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45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2B23E6D-A7B6-7E25-3326-1B645CA3D9A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nl-NL" dirty="0"/>
              <a:t>Do </a:t>
            </a:r>
            <a:r>
              <a:rPr lang="nl-NL" dirty="0" err="1"/>
              <a:t>their</a:t>
            </a:r>
            <a:r>
              <a:rPr lang="nl-NL" dirty="0"/>
              <a:t> </a:t>
            </a:r>
            <a:r>
              <a:rPr lang="nl-NL" i="1" dirty="0"/>
              <a:t>changes</a:t>
            </a:r>
            <a:r>
              <a:rPr lang="nl-NL" dirty="0"/>
              <a:t> </a:t>
            </a:r>
            <a:r>
              <a:rPr lang="nl-NL" dirty="0" err="1"/>
              <a:t>coincide</a:t>
            </a:r>
            <a:r>
              <a:rPr lang="nl-NL" dirty="0"/>
              <a:t>? </a:t>
            </a:r>
          </a:p>
          <a:p>
            <a:pPr lvl="1"/>
            <a:r>
              <a:rPr lang="nl-NL" dirty="0"/>
              <a:t>Does </a:t>
            </a:r>
            <a:r>
              <a:rPr lang="nl-NL" dirty="0" err="1"/>
              <a:t>not</a:t>
            </a:r>
            <a:r>
              <a:rPr lang="nl-NL" dirty="0"/>
              <a:t> say </a:t>
            </a:r>
            <a:r>
              <a:rPr lang="nl-NL" dirty="0" err="1"/>
              <a:t>anything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long-term </a:t>
            </a:r>
            <a:r>
              <a:rPr lang="nl-NL" dirty="0" err="1"/>
              <a:t>relation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</a:t>
            </a:r>
            <a:r>
              <a:rPr lang="nl-NL" i="1" dirty="0"/>
              <a:t>levels</a:t>
            </a:r>
            <a:r>
              <a:rPr lang="nl-NL" dirty="0"/>
              <a:t> </a:t>
            </a:r>
          </a:p>
          <a:p>
            <a:pPr lvl="1"/>
            <a:endParaRPr lang="nl-NL" dirty="0"/>
          </a:p>
          <a:p>
            <a:pPr lvl="1"/>
            <a:r>
              <a:rPr lang="nl-NL" dirty="0" err="1"/>
              <a:t>Example</a:t>
            </a:r>
            <a:r>
              <a:rPr lang="nl-NL" dirty="0"/>
              <a:t>: stock </a:t>
            </a:r>
            <a:r>
              <a:rPr lang="nl-NL" dirty="0" err="1"/>
              <a:t>prices</a:t>
            </a:r>
            <a:r>
              <a:rPr lang="nl-NL" dirty="0"/>
              <a:t>: </a:t>
            </a:r>
            <a:r>
              <a:rPr lang="nl-NL" dirty="0" err="1"/>
              <a:t>same</a:t>
            </a:r>
            <a:r>
              <a:rPr lang="nl-NL" dirty="0"/>
              <a:t> changes but levels </a:t>
            </a:r>
            <a:r>
              <a:rPr lang="nl-NL" dirty="0" err="1"/>
              <a:t>may</a:t>
            </a:r>
            <a:r>
              <a:rPr lang="nl-NL" dirty="0"/>
              <a:t> move in </a:t>
            </a:r>
            <a:r>
              <a:rPr lang="nl-NL" dirty="0" err="1"/>
              <a:t>opposite</a:t>
            </a:r>
            <a:r>
              <a:rPr lang="nl-NL" dirty="0"/>
              <a:t> </a:t>
            </a:r>
            <a:r>
              <a:rPr lang="nl-NL" dirty="0" err="1"/>
              <a:t>direction</a:t>
            </a:r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4330C30-C832-FD11-BF90-9BCBBF2AB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124" y="3269402"/>
            <a:ext cx="7527752" cy="316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766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0AE84A-23F4-995B-9BB8-FDD0FE1AD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Correlation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3C073E4-7F58-B3D5-2020-2B906F5E11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46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185C829-528C-386D-BDD8-D407A3D22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70722" y="1116012"/>
            <a:ext cx="10840278" cy="4194176"/>
          </a:xfrm>
        </p:spPr>
        <p:txBody>
          <a:bodyPr/>
          <a:lstStyle/>
          <a:p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correlation</a:t>
            </a:r>
            <a:r>
              <a:rPr lang="nl-NL" dirty="0"/>
              <a:t>: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misleading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nonstationary</a:t>
            </a:r>
            <a:r>
              <a:rPr lang="nl-NL" dirty="0"/>
              <a:t> series</a:t>
            </a:r>
          </a:p>
          <a:p>
            <a:pPr lvl="1"/>
            <a:r>
              <a:rPr lang="nl-NL" dirty="0"/>
              <a:t>Risk of </a:t>
            </a:r>
            <a:r>
              <a:rPr lang="nl-NL" i="1" dirty="0" err="1"/>
              <a:t>spurious</a:t>
            </a:r>
            <a:r>
              <a:rPr lang="nl-NL" i="1" dirty="0"/>
              <a:t> </a:t>
            </a:r>
            <a:r>
              <a:rPr lang="nl-NL" i="1" dirty="0" err="1"/>
              <a:t>correlation</a:t>
            </a:r>
            <a:r>
              <a:rPr lang="nl-NL" i="1" dirty="0"/>
              <a:t>*</a:t>
            </a:r>
            <a:r>
              <a:rPr lang="nl-NL" dirty="0"/>
              <a:t> (</a:t>
            </a:r>
            <a:r>
              <a:rPr lang="nl-NL" dirty="0" err="1"/>
              <a:t>statistical</a:t>
            </a:r>
            <a:r>
              <a:rPr lang="nl-NL" dirty="0"/>
              <a:t> </a:t>
            </a:r>
            <a:r>
              <a:rPr lang="nl-NL" dirty="0" err="1"/>
              <a:t>relation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has no </a:t>
            </a:r>
            <a:r>
              <a:rPr lang="nl-NL" dirty="0" err="1"/>
              <a:t>meaningful</a:t>
            </a:r>
            <a:r>
              <a:rPr lang="nl-NL" dirty="0"/>
              <a:t>/</a:t>
            </a:r>
            <a:r>
              <a:rPr lang="nl-NL" dirty="0" err="1"/>
              <a:t>causal</a:t>
            </a:r>
            <a:r>
              <a:rPr lang="nl-NL" dirty="0"/>
              <a:t> </a:t>
            </a:r>
            <a:r>
              <a:rPr lang="nl-NL" dirty="0" err="1"/>
              <a:t>relation</a:t>
            </a:r>
            <a:r>
              <a:rPr lang="nl-NL" dirty="0"/>
              <a:t>), </a:t>
            </a:r>
            <a:r>
              <a:rPr lang="nl-NL" dirty="0" err="1"/>
              <a:t>caused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:</a:t>
            </a:r>
            <a:endParaRPr lang="nl-NL" i="1" dirty="0"/>
          </a:p>
          <a:p>
            <a:pPr lvl="2"/>
            <a:r>
              <a:rPr lang="nl-NL" dirty="0" err="1"/>
              <a:t>By</a:t>
            </a:r>
            <a:r>
              <a:rPr lang="nl-NL" dirty="0"/>
              <a:t> chance (e.g. small sample </a:t>
            </a:r>
            <a:r>
              <a:rPr lang="nl-NL" dirty="0" err="1"/>
              <a:t>size</a:t>
            </a:r>
            <a:r>
              <a:rPr lang="nl-NL" dirty="0"/>
              <a:t>)</a:t>
            </a:r>
          </a:p>
          <a:p>
            <a:pPr lvl="2"/>
            <a:r>
              <a:rPr lang="nl-NL" dirty="0" err="1"/>
              <a:t>Nonstationarity</a:t>
            </a:r>
            <a:r>
              <a:rPr lang="nl-NL" dirty="0"/>
              <a:t>, (e.g. a shared trend), &gt; </a:t>
            </a:r>
            <a:r>
              <a:rPr lang="nl-NL" dirty="0" err="1"/>
              <a:t>differencing</a:t>
            </a:r>
            <a:r>
              <a:rPr lang="nl-NL" dirty="0"/>
              <a:t> / </a:t>
            </a:r>
            <a:r>
              <a:rPr lang="nl-NL" dirty="0" err="1"/>
              <a:t>detrending</a:t>
            </a:r>
            <a:r>
              <a:rPr lang="nl-NL" dirty="0"/>
              <a:t> </a:t>
            </a:r>
          </a:p>
          <a:p>
            <a:pPr lvl="2"/>
            <a:r>
              <a:rPr lang="nl-NL" dirty="0"/>
              <a:t>A </a:t>
            </a:r>
            <a:r>
              <a:rPr lang="nl-NL" dirty="0" err="1"/>
              <a:t>third</a:t>
            </a:r>
            <a:r>
              <a:rPr lang="nl-NL" dirty="0"/>
              <a:t> </a:t>
            </a:r>
            <a:r>
              <a:rPr lang="nl-NL" dirty="0" err="1"/>
              <a:t>confounding</a:t>
            </a:r>
            <a:r>
              <a:rPr lang="nl-NL" dirty="0"/>
              <a:t> factor (e.g. a </a:t>
            </a:r>
            <a:r>
              <a:rPr lang="nl-NL" dirty="0" err="1"/>
              <a:t>seasonal</a:t>
            </a:r>
            <a:r>
              <a:rPr lang="nl-NL" dirty="0"/>
              <a:t> or macro-</a:t>
            </a:r>
            <a:r>
              <a:rPr lang="nl-NL" dirty="0" err="1"/>
              <a:t>economic</a:t>
            </a:r>
            <a:r>
              <a:rPr lang="nl-NL" dirty="0"/>
              <a:t> factor): 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e.g. coffee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consumption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electricity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production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(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both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trend up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because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of GDP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population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growth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) or ice cream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consumption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and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drownings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(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both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 high in </a:t>
            </a:r>
            <a:r>
              <a:rPr lang="nl-NL" dirty="0" err="1">
                <a:solidFill>
                  <a:schemeClr val="tx1">
                    <a:lumMod val="60000"/>
                    <a:lumOff val="40000"/>
                  </a:schemeClr>
                </a:solidFill>
              </a:rPr>
              <a:t>summer</a:t>
            </a:r>
            <a:r>
              <a:rPr lang="nl-NL" dirty="0">
                <a:solidFill>
                  <a:schemeClr val="tx1">
                    <a:lumMod val="60000"/>
                    <a:lumOff val="40000"/>
                  </a:schemeClr>
                </a:solidFill>
              </a:rPr>
              <a:t>)</a:t>
            </a:r>
          </a:p>
          <a:p>
            <a:pPr lvl="2"/>
            <a:endParaRPr lang="nl-NL" dirty="0"/>
          </a:p>
          <a:p>
            <a:pPr lvl="2"/>
            <a:endParaRPr lang="nl-NL" dirty="0"/>
          </a:p>
          <a:p>
            <a:pPr lvl="1"/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r>
              <a:rPr lang="nl-NL" sz="1400" dirty="0"/>
              <a:t>* </a:t>
            </a:r>
            <a:r>
              <a:rPr lang="nl-NL" sz="1400" dirty="0" err="1"/>
              <a:t>Granger</a:t>
            </a:r>
            <a:r>
              <a:rPr lang="nl-NL" sz="1400" dirty="0"/>
              <a:t> &amp; </a:t>
            </a:r>
            <a:r>
              <a:rPr lang="nl-NL" sz="1400" dirty="0" err="1"/>
              <a:t>Newbold</a:t>
            </a:r>
            <a:r>
              <a:rPr lang="nl-NL" sz="1400" dirty="0"/>
              <a:t> (1974) </a:t>
            </a:r>
          </a:p>
          <a:p>
            <a:endParaRPr lang="nl-NL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BF9BDD2E-5FA6-856D-2FB1-3377DD985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840" y="3142009"/>
            <a:ext cx="6742748" cy="3889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878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15F9C5-1F20-A1B3-2C46-A0E9EEEFC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Time series clustering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BF6C41E-54C7-3298-B0E7-9D3C589446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47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6430E80-4C15-24FC-043D-B4BEE55AD7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dirty="0"/>
              <a:t>Do </a:t>
            </a:r>
            <a:r>
              <a:rPr lang="nl-NL" dirty="0" err="1"/>
              <a:t>they</a:t>
            </a:r>
            <a:r>
              <a:rPr lang="nl-NL" dirty="0"/>
              <a:t> move </a:t>
            </a:r>
            <a:r>
              <a:rPr lang="nl-NL" dirty="0" err="1"/>
              <a:t>together</a:t>
            </a:r>
            <a:r>
              <a:rPr lang="nl-NL" dirty="0"/>
              <a:t>?: </a:t>
            </a:r>
            <a:r>
              <a:rPr lang="nl-NL" dirty="0" err="1"/>
              <a:t>hierarchical</a:t>
            </a:r>
            <a:r>
              <a:rPr lang="nl-NL" dirty="0"/>
              <a:t> clustering </a:t>
            </a:r>
            <a:r>
              <a:rPr lang="nl-NL" dirty="0" err="1"/>
              <a:t>based</a:t>
            </a:r>
            <a:r>
              <a:rPr lang="nl-NL" dirty="0"/>
              <a:t> on </a:t>
            </a:r>
            <a:r>
              <a:rPr lang="nl-NL" dirty="0" err="1"/>
              <a:t>correlation</a:t>
            </a:r>
            <a:r>
              <a:rPr lang="nl-NL" dirty="0"/>
              <a:t> matrix</a:t>
            </a:r>
          </a:p>
          <a:p>
            <a:endParaRPr lang="nl-NL" dirty="0"/>
          </a:p>
          <a:p>
            <a:r>
              <a:rPr lang="nl-NL" dirty="0"/>
              <a:t>Steps:</a:t>
            </a:r>
          </a:p>
          <a:p>
            <a:pPr lvl="1"/>
            <a:r>
              <a:rPr lang="nl-NL" dirty="0" err="1"/>
              <a:t>Normalise</a:t>
            </a:r>
            <a:r>
              <a:rPr lang="nl-NL" dirty="0"/>
              <a:t> / </a:t>
            </a:r>
            <a:r>
              <a:rPr lang="nl-NL" dirty="0" err="1"/>
              <a:t>standardise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series (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avoid</a:t>
            </a:r>
            <a:r>
              <a:rPr lang="nl-NL" dirty="0"/>
              <a:t> </a:t>
            </a:r>
            <a:r>
              <a:rPr lang="nl-NL" dirty="0" err="1"/>
              <a:t>scale</a:t>
            </a:r>
            <a:r>
              <a:rPr lang="nl-NL" dirty="0"/>
              <a:t>/amplitude </a:t>
            </a:r>
            <a:r>
              <a:rPr lang="nl-NL" dirty="0" err="1"/>
              <a:t>influencing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clustering)</a:t>
            </a:r>
          </a:p>
          <a:p>
            <a:pPr lvl="1"/>
            <a:r>
              <a:rPr lang="nl-NL" dirty="0" err="1"/>
              <a:t>Hierarchical</a:t>
            </a:r>
            <a:r>
              <a:rPr lang="nl-NL" dirty="0"/>
              <a:t> clustering:</a:t>
            </a:r>
          </a:p>
          <a:p>
            <a:pPr lvl="2"/>
            <a:r>
              <a:rPr lang="nl-NL" dirty="0"/>
              <a:t>Start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time series as a separate cluster</a:t>
            </a:r>
          </a:p>
          <a:p>
            <a:pPr lvl="2"/>
            <a:r>
              <a:rPr lang="nl-NL" dirty="0"/>
              <a:t>Combine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nearest</a:t>
            </a:r>
            <a:r>
              <a:rPr lang="nl-NL" dirty="0"/>
              <a:t> clusters </a:t>
            </a:r>
            <a:r>
              <a:rPr lang="nl-NL" dirty="0" err="1"/>
              <a:t>based</a:t>
            </a:r>
            <a:r>
              <a:rPr lang="nl-NL" dirty="0"/>
              <a:t> on </a:t>
            </a:r>
            <a:r>
              <a:rPr lang="nl-NL" dirty="0" err="1"/>
              <a:t>distance</a:t>
            </a:r>
            <a:endParaRPr lang="nl-NL" dirty="0"/>
          </a:p>
          <a:p>
            <a:pPr lvl="2"/>
            <a:r>
              <a:rPr lang="nl-NL" dirty="0" err="1"/>
              <a:t>Compute</a:t>
            </a:r>
            <a:r>
              <a:rPr lang="nl-NL" dirty="0"/>
              <a:t> new </a:t>
            </a:r>
            <a:r>
              <a:rPr lang="nl-NL" dirty="0" err="1"/>
              <a:t>distance</a:t>
            </a:r>
            <a:r>
              <a:rPr lang="nl-NL" dirty="0"/>
              <a:t> matrix</a:t>
            </a:r>
          </a:p>
          <a:p>
            <a:pPr lvl="2"/>
            <a:r>
              <a:rPr lang="nl-NL" dirty="0" err="1"/>
              <a:t>Repeat</a:t>
            </a:r>
            <a:r>
              <a:rPr lang="nl-NL" dirty="0"/>
              <a:t> </a:t>
            </a:r>
            <a:r>
              <a:rPr lang="nl-NL" dirty="0" err="1"/>
              <a:t>until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is </a:t>
            </a:r>
            <a:r>
              <a:rPr lang="nl-NL" dirty="0" err="1"/>
              <a:t>one</a:t>
            </a:r>
            <a:r>
              <a:rPr lang="nl-NL" dirty="0"/>
              <a:t> cluster</a:t>
            </a:r>
          </a:p>
          <a:p>
            <a:pPr lvl="2"/>
            <a:r>
              <a:rPr lang="nl-NL" dirty="0" err="1"/>
              <a:t>Choose</a:t>
            </a:r>
            <a:r>
              <a:rPr lang="nl-NL" dirty="0"/>
              <a:t> # clusters</a:t>
            </a:r>
          </a:p>
          <a:p>
            <a:pPr lvl="2"/>
            <a:endParaRPr lang="nl-NL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F21B48F-2658-BC32-DA75-93046257E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292" y="1754747"/>
            <a:ext cx="9298193" cy="542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062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47CF2-6362-D77C-DE37-E23F45E0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1121FB5-7EA3-21D0-AE46-9156313FF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48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A4D51-EA7E-19B5-7B8E-1145EA632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sz="3200" dirty="0" err="1"/>
              <a:t>Cointegration</a:t>
            </a:r>
            <a:endParaRPr lang="nl-NL" sz="3200" dirty="0"/>
          </a:p>
        </p:txBody>
      </p:sp>
    </p:spTree>
    <p:extLst>
      <p:ext uri="{BB962C8B-B14F-4D97-AF65-F5344CB8AC3E}">
        <p14:creationId xmlns:p14="http://schemas.microsoft.com/office/powerpoint/2010/main" val="14969836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041DE-CD8E-8448-C472-760E5A81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Cointegration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4E43E6B-6BE1-6B73-BF96-2E0F49447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49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b="0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Describes a long-run equilibrium relationship among two or more time series variables</a:t>
                </a:r>
                <a:endParaRPr lang="nl-NL" dirty="0"/>
              </a:p>
              <a:p>
                <a:r>
                  <a:rPr lang="nl-NL" dirty="0" err="1"/>
                  <a:t>Two</a:t>
                </a:r>
                <a:r>
                  <a:rPr lang="nl-NL" dirty="0"/>
                  <a:t> series are </a:t>
                </a:r>
                <a:r>
                  <a:rPr lang="nl-NL" dirty="0" err="1"/>
                  <a:t>cointegrated</a:t>
                </a:r>
                <a:r>
                  <a:rPr lang="nl-NL" dirty="0"/>
                  <a:t> </a:t>
                </a:r>
                <a:r>
                  <a:rPr lang="nl-NL" dirty="0" err="1"/>
                  <a:t>if</a:t>
                </a:r>
                <a:r>
                  <a:rPr lang="nl-NL" dirty="0"/>
                  <a:t> </a:t>
                </a:r>
                <a:r>
                  <a:rPr lang="nl-NL" dirty="0" err="1"/>
                  <a:t>there</a:t>
                </a:r>
                <a:r>
                  <a:rPr lang="nl-NL" dirty="0"/>
                  <a:t> </a:t>
                </a:r>
                <a:r>
                  <a:rPr lang="nl-NL" dirty="0" err="1"/>
                  <a:t>exists</a:t>
                </a:r>
                <a:r>
                  <a:rPr lang="nl-NL" dirty="0"/>
                  <a:t> a </a:t>
                </a:r>
                <a:r>
                  <a:rPr lang="nl-NL" dirty="0" err="1"/>
                  <a:t>linear</a:t>
                </a:r>
                <a:r>
                  <a:rPr lang="nl-NL" dirty="0"/>
                  <a:t> </a:t>
                </a:r>
                <a:r>
                  <a:rPr lang="nl-NL" dirty="0" err="1"/>
                  <a:t>combination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is </a:t>
                </a:r>
                <a:r>
                  <a:rPr lang="nl-NL" dirty="0" err="1"/>
                  <a:t>stationary</a:t>
                </a:r>
                <a:r>
                  <a:rPr lang="nl-NL" dirty="0"/>
                  <a:t> </a:t>
                </a:r>
              </a:p>
              <a:p>
                <a:r>
                  <a:rPr lang="nl-NL" dirty="0"/>
                  <a:t>The series </a:t>
                </a:r>
                <a:r>
                  <a:rPr lang="nl-NL" dirty="0" err="1"/>
                  <a:t>themselves</a:t>
                </a:r>
                <a:r>
                  <a:rPr lang="nl-NL" dirty="0"/>
                  <a:t> </a:t>
                </a:r>
                <a:r>
                  <a:rPr lang="nl-NL" dirty="0" err="1"/>
                  <a:t>may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non-</a:t>
                </a:r>
                <a:r>
                  <a:rPr lang="nl-NL" dirty="0" err="1"/>
                  <a:t>stationary</a:t>
                </a:r>
                <a:endParaRPr lang="nl-NL" dirty="0"/>
              </a:p>
              <a:p>
                <a:endParaRPr lang="nl-NL" dirty="0"/>
              </a:p>
              <a:p>
                <a:r>
                  <a:rPr lang="nl-NL" dirty="0" err="1"/>
                  <a:t>If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both</a:t>
                </a:r>
                <a:r>
                  <a:rPr lang="nl-NL" dirty="0"/>
                  <a:t> have </a:t>
                </a:r>
                <a:r>
                  <a:rPr lang="nl-NL" dirty="0" err="1"/>
                  <a:t>integration</a:t>
                </a:r>
                <a:r>
                  <a:rPr lang="nl-NL" dirty="0"/>
                  <a:t> order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l-NL" dirty="0"/>
                  <a:t>, </a:t>
                </a:r>
                <a:r>
                  <a:rPr lang="nl-NL" dirty="0" err="1"/>
                  <a:t>then</a:t>
                </a:r>
                <a:r>
                  <a:rPr lang="nl-NL" dirty="0"/>
                  <a:t> a </a:t>
                </a:r>
                <a:r>
                  <a:rPr lang="nl-NL" dirty="0" err="1"/>
                  <a:t>linear</a:t>
                </a:r>
                <a:r>
                  <a:rPr lang="nl-NL" dirty="0"/>
                  <a:t> </a:t>
                </a:r>
                <a:r>
                  <a:rPr lang="nl-NL" dirty="0" err="1"/>
                  <a:t>combination</a:t>
                </a:r>
                <a:r>
                  <a:rPr lang="nl-NL" dirty="0"/>
                  <a:t> of </a:t>
                </a:r>
                <a:r>
                  <a:rPr lang="nl-NL" dirty="0" err="1"/>
                  <a:t>them</a:t>
                </a:r>
                <a:r>
                  <a:rPr lang="nl-NL" dirty="0"/>
                  <a:t> must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stationary</a:t>
                </a:r>
                <a:r>
                  <a:rPr lang="nl-NL" dirty="0"/>
                  <a:t>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some</a:t>
                </a:r>
                <a:r>
                  <a:rPr lang="nl-NL" dirty="0"/>
                  <a:t> </a:t>
                </a:r>
                <a:r>
                  <a:rPr lang="nl-NL" dirty="0" err="1"/>
                  <a:t>value</a:t>
                </a:r>
                <a:r>
                  <a:rPr lang="nl-NL" dirty="0"/>
                  <a:t> of </a:t>
                </a:r>
                <a14:m>
                  <m:oMath xmlns:m="http://schemas.openxmlformats.org/officeDocument/2006/math">
                    <m:r>
                      <a:rPr lang="nl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nl-NL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nl-NL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dirty="0"/>
                  <a:t>, </a:t>
                </a:r>
                <a:r>
                  <a:rPr lang="nl-NL" dirty="0" err="1"/>
                  <a:t>where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dirty="0"/>
                  <a:t> is </a:t>
                </a:r>
                <a:r>
                  <a:rPr lang="nl-NL" dirty="0" err="1"/>
                  <a:t>stationary</a:t>
                </a:r>
                <a:r>
                  <a:rPr lang="nl-NL" dirty="0"/>
                  <a:t>,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nl-NL" dirty="0"/>
                  <a:t> (</a:t>
                </a:r>
                <a:r>
                  <a:rPr lang="nl-NL" dirty="0" err="1"/>
                  <a:t>integrated</a:t>
                </a:r>
                <a:r>
                  <a:rPr lang="nl-NL" dirty="0"/>
                  <a:t> of order 0) </a:t>
                </a:r>
              </a:p>
              <a:p>
                <a:endParaRPr lang="nl-NL" dirty="0"/>
              </a:p>
              <a:p>
                <a:endParaRPr lang="nl-NL" dirty="0"/>
              </a:p>
              <a:p>
                <a:r>
                  <a:rPr lang="nl-NL" dirty="0"/>
                  <a:t>E.g. ‘</a:t>
                </a:r>
                <a:r>
                  <a:rPr lang="nl-NL" dirty="0" err="1"/>
                  <a:t>drunken</a:t>
                </a:r>
                <a:r>
                  <a:rPr lang="nl-NL" dirty="0"/>
                  <a:t> man </a:t>
                </a:r>
                <a:r>
                  <a:rPr lang="nl-NL" dirty="0" err="1"/>
                  <a:t>and</a:t>
                </a:r>
                <a:r>
                  <a:rPr lang="nl-NL" dirty="0"/>
                  <a:t> his dog’ (</a:t>
                </a:r>
                <a:r>
                  <a:rPr lang="nl-NL" dirty="0" err="1"/>
                  <a:t>both</a:t>
                </a:r>
                <a:r>
                  <a:rPr lang="nl-NL" dirty="0"/>
                  <a:t> random walk)</a:t>
                </a:r>
              </a:p>
              <a:p>
                <a:pPr lvl="1"/>
                <a:endParaRPr lang="nl-NL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Unit Roots and Cointegrated Series">
            <a:extLst>
              <a:ext uri="{FF2B5EF4-FFF2-40B4-BE49-F238E27FC236}">
                <a16:creationId xmlns:a16="http://schemas.microsoft.com/office/drawing/2014/main" id="{3D4697A5-D1BA-AEDA-BFF6-587B0DDDE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2869" y="4561754"/>
            <a:ext cx="2228850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5553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FA640F-3D90-F57A-0903-BAF11EE5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Cointegration</a:t>
            </a:r>
            <a:r>
              <a:rPr lang="nl-NL" dirty="0"/>
              <a:t> - </a:t>
            </a:r>
            <a:r>
              <a:rPr lang="nl-NL" dirty="0" err="1"/>
              <a:t>example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AB5C2EF-CE62-09C4-70B6-950AD30CBE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50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9FB86DC-E746-5B0F-C180-8ECA1CE9DB9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B81C7E7-2BE6-DB12-A38B-BBE03C3AE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700" y="1688309"/>
            <a:ext cx="7689252" cy="457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7734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041DE-CD8E-8448-C472-760E5A81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Identifying</a:t>
            </a:r>
            <a:r>
              <a:rPr lang="nl-NL" dirty="0"/>
              <a:t> </a:t>
            </a:r>
            <a:r>
              <a:rPr lang="nl-NL" dirty="0" err="1"/>
              <a:t>cointegrated</a:t>
            </a:r>
            <a:r>
              <a:rPr lang="nl-NL" dirty="0"/>
              <a:t> series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4E43E6B-6BE1-6B73-BF96-2E0F49447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51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nl-NL" dirty="0"/>
                  <a:t>Engle-Granger test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cointegration</a:t>
                </a:r>
                <a:r>
                  <a:rPr lang="nl-NL" dirty="0"/>
                  <a:t> (1987)</a:t>
                </a:r>
              </a:p>
              <a:p>
                <a:endParaRPr lang="nl-NL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nl-NL" dirty="0" err="1"/>
                  <a:t>Estimate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nl-NL" dirty="0"/>
                  <a:t> via OLS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nl-NL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nl-N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nl-N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nl-NL" dirty="0"/>
              </a:p>
              <a:p>
                <a:endParaRPr lang="nl-NL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nl-NL" dirty="0"/>
                  <a:t>Test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stationarity</a:t>
                </a:r>
                <a:r>
                  <a:rPr lang="nl-NL" dirty="0"/>
                  <a:t> </a:t>
                </a:r>
                <a:r>
                  <a:rPr lang="nl-NL" dirty="0" err="1"/>
                  <a:t>with</a:t>
                </a:r>
                <a:r>
                  <a:rPr lang="nl-NL" dirty="0"/>
                  <a:t> ADF-test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nl-NL" dirty="0"/>
              </a:p>
              <a:p>
                <a:pPr marL="0" indent="0">
                  <a:buNone/>
                </a:pPr>
                <a:r>
                  <a:rPr lang="nl-NL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model &lt;- lm(y ~ x)</a:t>
                </a:r>
              </a:p>
              <a:p>
                <a:pPr marL="0" indent="0">
                  <a:buNone/>
                </a:pPr>
                <a:r>
                  <a:rPr lang="nl-NL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adf.test</a:t>
                </a:r>
                <a:r>
                  <a:rPr lang="nl-NL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nl-NL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residuals</a:t>
                </a:r>
                <a:r>
                  <a:rPr lang="nl-NL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(model))</a:t>
                </a:r>
              </a:p>
              <a:p>
                <a:pPr marL="0" indent="0">
                  <a:buNone/>
                </a:pPr>
                <a:endParaRPr lang="nl-NL" dirty="0"/>
              </a:p>
              <a:p>
                <a:pPr marL="0" indent="0">
                  <a:buNone/>
                </a:pPr>
                <a:r>
                  <a:rPr lang="nl-NL" sz="1600" dirty="0" err="1"/>
                  <a:t>Note</a:t>
                </a:r>
                <a:r>
                  <a:rPr lang="nl-NL" sz="1600" dirty="0"/>
                  <a:t>: test is </a:t>
                </a:r>
                <a:r>
                  <a:rPr lang="nl-NL" sz="1600" dirty="0" err="1"/>
                  <a:t>assymetrical</a:t>
                </a:r>
                <a:r>
                  <a:rPr lang="nl-NL" sz="1600" dirty="0"/>
                  <a:t>. </a:t>
                </a:r>
                <a:r>
                  <a:rPr lang="nl-NL" sz="1600" dirty="0" err="1"/>
                  <a:t>Outcome</a:t>
                </a:r>
                <a:r>
                  <a:rPr lang="nl-NL" sz="1600" dirty="0"/>
                  <a:t> </a:t>
                </a:r>
                <a:r>
                  <a:rPr lang="nl-NL" sz="1600" dirty="0" err="1"/>
                  <a:t>depends</a:t>
                </a:r>
                <a:r>
                  <a:rPr lang="nl-NL" sz="1600" dirty="0"/>
                  <a:t> on </a:t>
                </a:r>
                <a:r>
                  <a:rPr lang="nl-NL" sz="1600" dirty="0" err="1"/>
                  <a:t>choice</a:t>
                </a:r>
                <a:r>
                  <a:rPr lang="nl-NL" sz="1600" dirty="0"/>
                  <a:t> </a:t>
                </a:r>
                <a:r>
                  <a:rPr lang="nl-NL" sz="1600" dirty="0" err="1"/>
                  <a:t>dependent</a:t>
                </a:r>
                <a:r>
                  <a:rPr lang="nl-NL" sz="1600" dirty="0"/>
                  <a:t> </a:t>
                </a:r>
                <a:r>
                  <a:rPr lang="nl-NL" sz="1600" dirty="0" err="1"/>
                  <a:t>variable</a:t>
                </a:r>
                <a:r>
                  <a:rPr lang="nl-NL" sz="1600" dirty="0"/>
                  <a:t>, </a:t>
                </a:r>
                <a:r>
                  <a:rPr lang="nl-NL" sz="1600" dirty="0" err="1"/>
                  <a:t>and</a:t>
                </a:r>
                <a:r>
                  <a:rPr lang="nl-NL" sz="1600" dirty="0"/>
                  <a:t> </a:t>
                </a:r>
                <a:r>
                  <a:rPr lang="nl-NL" sz="1600" dirty="0" err="1"/>
                  <a:t>can</a:t>
                </a:r>
                <a:r>
                  <a:rPr lang="nl-NL" sz="1600" dirty="0"/>
                  <a:t> lead </a:t>
                </a:r>
                <a:r>
                  <a:rPr lang="nl-NL" sz="1600" dirty="0" err="1"/>
                  <a:t>to</a:t>
                </a:r>
                <a:r>
                  <a:rPr lang="nl-NL" sz="1600" dirty="0"/>
                  <a:t> different </a:t>
                </a:r>
                <a:r>
                  <a:rPr lang="nl-NL" sz="1600" dirty="0" err="1"/>
                  <a:t>outcome</a:t>
                </a:r>
                <a:r>
                  <a:rPr lang="nl-NL" sz="1600" dirty="0"/>
                  <a:t> in </a:t>
                </a:r>
                <a:r>
                  <a:rPr lang="nl-NL" sz="1600" dirty="0" err="1"/>
                  <a:t>some</a:t>
                </a:r>
                <a:r>
                  <a:rPr lang="nl-NL" sz="1600" dirty="0"/>
                  <a:t> cases. </a:t>
                </a:r>
                <a:r>
                  <a:rPr lang="nl-NL" sz="1600" dirty="0" err="1"/>
                  <a:t>To</a:t>
                </a:r>
                <a:r>
                  <a:rPr lang="nl-NL" sz="1600" dirty="0"/>
                  <a:t> </a:t>
                </a:r>
                <a:r>
                  <a:rPr lang="nl-NL" sz="1600" dirty="0" err="1"/>
                  <a:t>be</a:t>
                </a:r>
                <a:r>
                  <a:rPr lang="nl-NL" sz="1600" dirty="0"/>
                  <a:t> </a:t>
                </a:r>
                <a:r>
                  <a:rPr lang="nl-NL" sz="1600" dirty="0" err="1"/>
                  <a:t>sure</a:t>
                </a:r>
                <a:r>
                  <a:rPr lang="nl-NL" sz="1600" dirty="0"/>
                  <a:t>, do in </a:t>
                </a:r>
                <a:r>
                  <a:rPr lang="nl-NL" sz="1600" dirty="0" err="1"/>
                  <a:t>both</a:t>
                </a:r>
                <a:r>
                  <a:rPr lang="nl-NL" sz="1600" dirty="0"/>
                  <a:t> </a:t>
                </a:r>
                <a:r>
                  <a:rPr lang="nl-NL" sz="1600" dirty="0" err="1"/>
                  <a:t>directions</a:t>
                </a:r>
                <a:r>
                  <a:rPr lang="nl-NL" sz="1600" dirty="0"/>
                  <a:t>.</a:t>
                </a:r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 b="-10320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69285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06E567-E510-0315-E6E5-AF006993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Correlation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/or </a:t>
            </a:r>
            <a:r>
              <a:rPr lang="nl-NL" dirty="0" err="1"/>
              <a:t>cointegration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7B0AB17-2CD5-AD29-5262-233DE854C26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52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884B2F03-8BCF-5E77-98A6-202314844BD3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970722" y="1320800"/>
                <a:ext cx="10515597" cy="4775327"/>
              </a:xfrm>
            </p:spPr>
            <p:txBody>
              <a:bodyPr/>
              <a:lstStyle/>
              <a:p>
                <a:r>
                  <a:rPr lang="nl-NL" dirty="0"/>
                  <a:t>Series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correlated</a:t>
                </a:r>
                <a:r>
                  <a:rPr lang="nl-NL" dirty="0"/>
                  <a:t>, but </a:t>
                </a:r>
                <a:r>
                  <a:rPr lang="nl-NL" dirty="0" err="1"/>
                  <a:t>not</a:t>
                </a:r>
                <a:r>
                  <a:rPr lang="nl-NL" dirty="0"/>
                  <a:t> </a:t>
                </a:r>
                <a:r>
                  <a:rPr lang="nl-NL" dirty="0" err="1"/>
                  <a:t>cointegrated</a:t>
                </a:r>
                <a:endParaRPr lang="nl-NL" dirty="0"/>
              </a:p>
              <a:p>
                <a:pPr lvl="1"/>
                <a:r>
                  <a:rPr lang="nl-NL" dirty="0"/>
                  <a:t>E.g. </a:t>
                </a:r>
                <a:r>
                  <a:rPr lang="nl-NL" dirty="0" err="1"/>
                  <a:t>two</a:t>
                </a:r>
                <a:r>
                  <a:rPr lang="nl-NL" dirty="0"/>
                  <a:t> stock </a:t>
                </a:r>
                <a:r>
                  <a:rPr lang="nl-NL" dirty="0" err="1"/>
                  <a:t>prices</a:t>
                </a:r>
                <a:r>
                  <a:rPr lang="nl-NL" dirty="0"/>
                  <a:t>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highly</a:t>
                </a:r>
                <a:r>
                  <a:rPr lang="nl-NL" dirty="0"/>
                  <a:t> </a:t>
                </a:r>
                <a:r>
                  <a:rPr lang="nl-NL" dirty="0" err="1"/>
                  <a:t>correlated</a:t>
                </a:r>
                <a:r>
                  <a:rPr lang="nl-NL" dirty="0"/>
                  <a:t> in </a:t>
                </a:r>
                <a:r>
                  <a:rPr lang="nl-NL" dirty="0" err="1"/>
                  <a:t>their</a:t>
                </a:r>
                <a:r>
                  <a:rPr lang="nl-NL" dirty="0"/>
                  <a:t> </a:t>
                </a:r>
                <a:r>
                  <a:rPr lang="nl-NL" dirty="0" err="1"/>
                  <a:t>daily</a:t>
                </a:r>
                <a:r>
                  <a:rPr lang="nl-NL" dirty="0"/>
                  <a:t> returns, without </a:t>
                </a:r>
                <a:r>
                  <a:rPr lang="nl-NL" dirty="0" err="1"/>
                  <a:t>being</a:t>
                </a:r>
                <a:r>
                  <a:rPr lang="nl-NL" dirty="0"/>
                  <a:t> </a:t>
                </a:r>
                <a:r>
                  <a:rPr lang="nl-NL" dirty="0" err="1"/>
                  <a:t>cointegrated</a:t>
                </a:r>
                <a:r>
                  <a:rPr lang="nl-NL" dirty="0"/>
                  <a:t> (</a:t>
                </a:r>
                <a:r>
                  <a:rPr lang="nl-NL" dirty="0" err="1"/>
                  <a:t>prices</a:t>
                </a:r>
                <a:r>
                  <a:rPr lang="nl-NL" dirty="0"/>
                  <a:t> levels </a:t>
                </a:r>
                <a:r>
                  <a:rPr lang="nl-NL" dirty="0" err="1"/>
                  <a:t>drifting</a:t>
                </a:r>
                <a:r>
                  <a:rPr lang="nl-NL" dirty="0"/>
                  <a:t> apart) </a:t>
                </a:r>
              </a:p>
              <a:p>
                <a:pPr lvl="1"/>
                <a:r>
                  <a:rPr lang="nl-NL" dirty="0"/>
                  <a:t>GDP of </a:t>
                </a:r>
                <a:r>
                  <a:rPr lang="nl-NL" dirty="0" err="1"/>
                  <a:t>developed</a:t>
                </a:r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dirty="0" err="1"/>
                  <a:t>developing</a:t>
                </a:r>
                <a:r>
                  <a:rPr lang="nl-NL" dirty="0"/>
                  <a:t> country </a:t>
                </a:r>
                <a:r>
                  <a:rPr lang="nl-NL" dirty="0" err="1"/>
                  <a:t>may</a:t>
                </a:r>
                <a:r>
                  <a:rPr lang="nl-NL" dirty="0"/>
                  <a:t> have different trends, but </a:t>
                </a:r>
                <a:r>
                  <a:rPr lang="nl-NL" dirty="0" err="1"/>
                  <a:t>their</a:t>
                </a:r>
                <a:r>
                  <a:rPr lang="nl-NL" dirty="0"/>
                  <a:t> </a:t>
                </a:r>
                <a:r>
                  <a:rPr lang="nl-NL" dirty="0" err="1"/>
                  <a:t>quarterly</a:t>
                </a:r>
                <a:r>
                  <a:rPr lang="nl-NL" dirty="0"/>
                  <a:t> </a:t>
                </a:r>
                <a:r>
                  <a:rPr lang="nl-NL" dirty="0" err="1"/>
                  <a:t>growth</a:t>
                </a:r>
                <a:r>
                  <a:rPr lang="nl-NL" dirty="0"/>
                  <a:t> </a:t>
                </a:r>
                <a:r>
                  <a:rPr lang="nl-NL" dirty="0" err="1"/>
                  <a:t>rates</a:t>
                </a:r>
                <a:r>
                  <a:rPr lang="nl-NL" dirty="0"/>
                  <a:t> </a:t>
                </a:r>
                <a:r>
                  <a:rPr lang="nl-NL" dirty="0" err="1"/>
                  <a:t>may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highly</a:t>
                </a:r>
                <a:r>
                  <a:rPr lang="nl-NL" dirty="0"/>
                  <a:t> </a:t>
                </a:r>
                <a:r>
                  <a:rPr lang="nl-NL" dirty="0" err="1"/>
                  <a:t>correlated</a:t>
                </a:r>
                <a:r>
                  <a:rPr lang="nl-NL" dirty="0"/>
                  <a:t>. </a:t>
                </a:r>
              </a:p>
              <a:p>
                <a:endParaRPr lang="nl-NL" dirty="0"/>
              </a:p>
              <a:p>
                <a:r>
                  <a:rPr lang="nl-NL" dirty="0"/>
                  <a:t>Series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cointegrated</a:t>
                </a:r>
                <a:r>
                  <a:rPr lang="nl-NL" dirty="0"/>
                  <a:t>, but </a:t>
                </a:r>
                <a:r>
                  <a:rPr lang="nl-NL" dirty="0" err="1"/>
                  <a:t>with</a:t>
                </a:r>
                <a:r>
                  <a:rPr lang="nl-NL" dirty="0"/>
                  <a:t> small </a:t>
                </a:r>
                <a:r>
                  <a:rPr lang="nl-NL" dirty="0" err="1"/>
                  <a:t>correlation</a:t>
                </a:r>
                <a:endParaRPr lang="nl-NL" dirty="0"/>
              </a:p>
              <a:p>
                <a:pPr lvl="1"/>
                <a:r>
                  <a:rPr lang="nl-NL" dirty="0" err="1"/>
                  <a:t>Income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dirty="0" err="1"/>
                  <a:t>consumption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nl-NL" dirty="0"/>
              </a:p>
              <a:p>
                <a:pPr lvl="1"/>
                <a:r>
                  <a:rPr lang="nl-NL" dirty="0" err="1"/>
                  <a:t>Consumers</a:t>
                </a:r>
                <a:r>
                  <a:rPr lang="nl-NL" dirty="0"/>
                  <a:t> </a:t>
                </a:r>
                <a:r>
                  <a:rPr lang="nl-NL" dirty="0" err="1"/>
                  <a:t>adapt</a:t>
                </a:r>
                <a:r>
                  <a:rPr lang="nl-NL" dirty="0"/>
                  <a:t> </a:t>
                </a:r>
                <a:r>
                  <a:rPr lang="nl-NL" dirty="0" err="1"/>
                  <a:t>their</a:t>
                </a:r>
                <a:r>
                  <a:rPr lang="nl-NL" dirty="0"/>
                  <a:t> </a:t>
                </a:r>
                <a:r>
                  <a:rPr lang="nl-NL" dirty="0" err="1"/>
                  <a:t>spending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their</a:t>
                </a:r>
                <a:r>
                  <a:rPr lang="nl-NL" dirty="0"/>
                  <a:t> </a:t>
                </a:r>
                <a:r>
                  <a:rPr lang="nl-NL" dirty="0" err="1"/>
                  <a:t>income</a:t>
                </a:r>
                <a:endParaRPr lang="nl-NL" dirty="0"/>
              </a:p>
              <a:p>
                <a:pPr lvl="1"/>
                <a:r>
                  <a:rPr lang="nl-NL" dirty="0"/>
                  <a:t>Both are I(1), but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consumption</a:t>
                </a:r>
                <a:r>
                  <a:rPr lang="nl-NL" dirty="0"/>
                  <a:t> quote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nl-NL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should</a:t>
                </a:r>
                <a:r>
                  <a:rPr lang="nl-NL" dirty="0"/>
                  <a:t> </a:t>
                </a:r>
                <a:r>
                  <a:rPr lang="nl-NL" dirty="0" err="1"/>
                  <a:t>be</a:t>
                </a:r>
                <a:r>
                  <a:rPr lang="nl-NL" dirty="0"/>
                  <a:t> </a:t>
                </a:r>
                <a:r>
                  <a:rPr lang="nl-NL" dirty="0" err="1"/>
                  <a:t>stationary</a:t>
                </a:r>
                <a:endParaRPr lang="nl-NL" dirty="0"/>
              </a:p>
              <a:p>
                <a:pPr lvl="1"/>
                <a:r>
                  <a:rPr lang="nl-NL" dirty="0"/>
                  <a:t>&gt; </a:t>
                </a:r>
                <a:r>
                  <a:rPr lang="nl-NL" dirty="0" err="1"/>
                  <a:t>see</a:t>
                </a:r>
                <a:r>
                  <a:rPr lang="nl-NL" dirty="0"/>
                  <a:t> </a:t>
                </a:r>
                <a:r>
                  <a:rPr lang="nl-NL" dirty="0" err="1"/>
                  <a:t>Exercise</a:t>
                </a:r>
                <a:endParaRPr lang="nl-NL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884B2F03-8BCF-5E77-98A6-202314844B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970722" y="1320800"/>
                <a:ext cx="10515597" cy="4775327"/>
              </a:xfrm>
              <a:blipFill>
                <a:blip r:embed="rId2"/>
                <a:stretch>
                  <a:fillRect l="-754" t="-2043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93632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147CF2-6362-D77C-DE37-E23F45E01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1121FB5-7EA3-21D0-AE46-9156313FF3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53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D8A4D51-EA7E-19B5-7B8E-1145EA6321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  <a:p>
            <a:endParaRPr lang="nl-NL" dirty="0"/>
          </a:p>
          <a:p>
            <a:pPr marL="0" indent="0" algn="ctr">
              <a:buNone/>
            </a:pPr>
            <a:r>
              <a:rPr lang="nl-NL" sz="3200" dirty="0" err="1"/>
              <a:t>Temporal</a:t>
            </a:r>
            <a:r>
              <a:rPr lang="nl-NL" sz="3200" dirty="0"/>
              <a:t> relations</a:t>
            </a:r>
          </a:p>
        </p:txBody>
      </p:sp>
    </p:spTree>
    <p:extLst>
      <p:ext uri="{BB962C8B-B14F-4D97-AF65-F5344CB8AC3E}">
        <p14:creationId xmlns:p14="http://schemas.microsoft.com/office/powerpoint/2010/main" val="12803123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B4B568-016B-5C6C-BFB7-59945927B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Temporal</a:t>
            </a:r>
            <a:r>
              <a:rPr lang="nl-NL" dirty="0"/>
              <a:t> relations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1A4BDBE-E05F-6EA7-ED58-02E1A91DAB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54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9229246-4DAF-BF2C-7312-E173CE47EA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nl-NL" i="1" dirty="0" err="1"/>
              <a:t>Leading</a:t>
            </a:r>
            <a:r>
              <a:rPr lang="nl-NL" dirty="0"/>
              <a:t> indicator has </a:t>
            </a:r>
            <a:r>
              <a:rPr lang="nl-NL" dirty="0" err="1"/>
              <a:t>predictive</a:t>
            </a:r>
            <a:r>
              <a:rPr lang="nl-NL" dirty="0"/>
              <a:t> 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another</a:t>
            </a:r>
            <a:r>
              <a:rPr lang="nl-NL" dirty="0"/>
              <a:t> indicator</a:t>
            </a:r>
          </a:p>
          <a:p>
            <a:r>
              <a:rPr lang="nl-NL" i="1" dirty="0" err="1"/>
              <a:t>Coincident</a:t>
            </a:r>
            <a:r>
              <a:rPr lang="nl-NL" dirty="0"/>
              <a:t> indicator: moves at </a:t>
            </a:r>
            <a:r>
              <a:rPr lang="nl-NL" dirty="0" err="1"/>
              <a:t>same</a:t>
            </a:r>
            <a:r>
              <a:rPr lang="nl-NL" dirty="0"/>
              <a:t> time</a:t>
            </a:r>
          </a:p>
          <a:p>
            <a:r>
              <a:rPr lang="nl-NL" i="1" dirty="0" err="1"/>
              <a:t>Lagging</a:t>
            </a:r>
            <a:r>
              <a:rPr lang="nl-NL" dirty="0"/>
              <a:t> indicator: moves </a:t>
            </a:r>
            <a:r>
              <a:rPr lang="nl-NL" dirty="0" err="1"/>
              <a:t>with</a:t>
            </a:r>
            <a:r>
              <a:rPr lang="nl-NL" dirty="0"/>
              <a:t> a </a:t>
            </a:r>
            <a:r>
              <a:rPr lang="nl-NL" dirty="0" err="1"/>
              <a:t>certain</a:t>
            </a:r>
            <a:r>
              <a:rPr lang="nl-NL" dirty="0"/>
              <a:t> delay</a:t>
            </a:r>
          </a:p>
          <a:p>
            <a:endParaRPr lang="nl-NL" dirty="0"/>
          </a:p>
          <a:p>
            <a:r>
              <a:rPr lang="nl-NL" dirty="0"/>
              <a:t>E.g. </a:t>
            </a:r>
            <a:r>
              <a:rPr lang="nl-NL" dirty="0" err="1"/>
              <a:t>unemployment</a:t>
            </a:r>
            <a:r>
              <a:rPr lang="nl-NL" dirty="0"/>
              <a:t> (</a:t>
            </a:r>
            <a:r>
              <a:rPr lang="nl-NL" dirty="0" err="1"/>
              <a:t>lags</a:t>
            </a:r>
            <a:r>
              <a:rPr lang="nl-NL" dirty="0"/>
              <a:t> </a:t>
            </a:r>
            <a:r>
              <a:rPr lang="nl-NL" dirty="0" err="1"/>
              <a:t>wrt</a:t>
            </a:r>
            <a:r>
              <a:rPr lang="nl-NL" dirty="0"/>
              <a:t> </a:t>
            </a:r>
            <a:r>
              <a:rPr lang="nl-NL" dirty="0" err="1"/>
              <a:t>economic</a:t>
            </a:r>
            <a:r>
              <a:rPr lang="nl-NL" dirty="0"/>
              <a:t> </a:t>
            </a:r>
            <a:r>
              <a:rPr lang="nl-NL" dirty="0" err="1"/>
              <a:t>cycle</a:t>
            </a:r>
            <a:r>
              <a:rPr lang="nl-NL" dirty="0"/>
              <a:t>)</a:t>
            </a:r>
          </a:p>
          <a:p>
            <a:r>
              <a:rPr lang="nl-NL" dirty="0" err="1"/>
              <a:t>E.g</a:t>
            </a:r>
            <a:r>
              <a:rPr lang="nl-NL" dirty="0"/>
              <a:t> interest </a:t>
            </a:r>
            <a:r>
              <a:rPr lang="nl-NL" dirty="0" err="1"/>
              <a:t>rate</a:t>
            </a:r>
            <a:r>
              <a:rPr lang="nl-NL" dirty="0"/>
              <a:t> (</a:t>
            </a:r>
            <a:r>
              <a:rPr lang="nl-NL" dirty="0" err="1"/>
              <a:t>leading</a:t>
            </a:r>
            <a:r>
              <a:rPr lang="nl-NL" dirty="0"/>
              <a:t> </a:t>
            </a:r>
            <a:r>
              <a:rPr lang="nl-NL" dirty="0" err="1"/>
              <a:t>wrt</a:t>
            </a:r>
            <a:r>
              <a:rPr lang="nl-NL" dirty="0"/>
              <a:t> </a:t>
            </a:r>
            <a:r>
              <a:rPr lang="nl-NL" dirty="0" err="1"/>
              <a:t>recession</a:t>
            </a:r>
            <a:r>
              <a:rPr lang="nl-NL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322525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041DE-CD8E-8448-C472-760E5A81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Temporal</a:t>
            </a:r>
            <a:r>
              <a:rPr lang="nl-NL" dirty="0"/>
              <a:t> relations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4E43E6B-6BE1-6B73-BF96-2E0F49447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55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nl-NL" u="sng" dirty="0"/>
                  <a:t>Cross-</a:t>
                </a:r>
                <a:r>
                  <a:rPr lang="nl-NL" u="sng" dirty="0" err="1"/>
                  <a:t>correlation</a:t>
                </a:r>
                <a:r>
                  <a:rPr lang="nl-NL" u="sng" dirty="0"/>
                  <a:t> </a:t>
                </a:r>
                <a:r>
                  <a:rPr lang="nl-NL" u="sng" dirty="0" err="1"/>
                  <a:t>function</a:t>
                </a:r>
                <a:r>
                  <a:rPr lang="nl-NL" u="sng" dirty="0"/>
                  <a:t> </a:t>
                </a:r>
                <a:r>
                  <a:rPr lang="nl-NL" dirty="0"/>
                  <a:t>(</a:t>
                </a:r>
                <a:r>
                  <a:rPr lang="nl-NL" dirty="0" err="1"/>
                  <a:t>ccf</a:t>
                </a:r>
                <a:r>
                  <a:rPr lang="nl-NL" dirty="0"/>
                  <a:t>) </a:t>
                </a:r>
              </a:p>
              <a:p>
                <a:pPr lvl="1"/>
                <a:r>
                  <a:rPr lang="nl-NL" dirty="0" err="1"/>
                  <a:t>Correlation</a:t>
                </a:r>
                <a:r>
                  <a:rPr lang="nl-NL" dirty="0"/>
                  <a:t> </a:t>
                </a:r>
                <a:r>
                  <a:rPr lang="nl-NL" dirty="0" err="1"/>
                  <a:t>between</a:t>
                </a:r>
                <a:r>
                  <a:rPr lang="nl-NL" dirty="0"/>
                  <a:t> </a:t>
                </a:r>
                <a:r>
                  <a:rPr lang="nl-NL" dirty="0" err="1"/>
                  <a:t>two</a:t>
                </a:r>
                <a:r>
                  <a:rPr lang="nl-NL" dirty="0"/>
                  <a:t> (</a:t>
                </a:r>
                <a:r>
                  <a:rPr lang="nl-NL" dirty="0" err="1"/>
                  <a:t>weakly</a:t>
                </a:r>
                <a:r>
                  <a:rPr lang="nl-NL" dirty="0"/>
                  <a:t>) </a:t>
                </a:r>
                <a:r>
                  <a:rPr lang="nl-NL" dirty="0" err="1"/>
                  <a:t>stationary</a:t>
                </a:r>
                <a:r>
                  <a:rPr lang="nl-NL" dirty="0"/>
                  <a:t> time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dirty="0"/>
                  <a:t> at lag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l-NL" dirty="0"/>
                  <a:t> is: </a:t>
                </a:r>
              </a:p>
              <a:p>
                <a:endParaRPr lang="nl-NL" dirty="0"/>
              </a:p>
              <a:p>
                <a:endParaRPr lang="nl-NL" dirty="0"/>
              </a:p>
              <a:p>
                <a:pPr lvl="1"/>
                <a:r>
                  <a:rPr lang="nl-NL" dirty="0" err="1"/>
                  <a:t>Again</a:t>
                </a:r>
                <a:r>
                  <a:rPr lang="nl-NL" dirty="0"/>
                  <a:t>: beware of </a:t>
                </a:r>
                <a:r>
                  <a:rPr lang="nl-NL" dirty="0" err="1"/>
                  <a:t>spurious</a:t>
                </a:r>
                <a:r>
                  <a:rPr lang="nl-NL" dirty="0"/>
                  <a:t> </a:t>
                </a:r>
                <a:r>
                  <a:rPr lang="nl-NL" dirty="0" err="1"/>
                  <a:t>correlations</a:t>
                </a:r>
                <a:r>
                  <a:rPr lang="nl-NL" dirty="0"/>
                  <a:t>, </a:t>
                </a:r>
                <a:r>
                  <a:rPr lang="nl-NL" dirty="0" err="1"/>
                  <a:t>so</a:t>
                </a:r>
                <a:r>
                  <a:rPr lang="nl-NL" dirty="0"/>
                  <a:t> test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stationarity</a:t>
                </a:r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take e.g. </a:t>
                </a:r>
                <a:r>
                  <a:rPr lang="nl-NL" dirty="0" err="1"/>
                  <a:t>differenced</a:t>
                </a:r>
                <a:r>
                  <a:rPr lang="nl-NL" dirty="0"/>
                  <a:t> series</a:t>
                </a:r>
              </a:p>
              <a:p>
                <a:pPr lvl="1"/>
                <a:r>
                  <a:rPr lang="nl-NL" dirty="0"/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dirty="0"/>
                  <a:t> leads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dirty="0"/>
                  <a:t>: </a:t>
                </a:r>
              </a:p>
              <a:p>
                <a:endParaRPr lang="nl-NL" dirty="0"/>
              </a:p>
              <a:p>
                <a:endParaRPr lang="nl-NL" dirty="0"/>
              </a:p>
              <a:p>
                <a:endParaRPr lang="nl-NL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B32DB68D-D437-6F8B-DE29-98E9BEBE6744}"/>
                  </a:ext>
                </a:extLst>
              </p:cNvPr>
              <p:cNvSpPr txBox="1"/>
              <p:nvPr/>
            </p:nvSpPr>
            <p:spPr>
              <a:xfrm>
                <a:off x="2501331" y="2720665"/>
                <a:ext cx="5578143" cy="8097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nl-NL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NL" sz="1600" b="0" i="1" smtClean="0">
                              <a:latin typeface="Cambria Math" panose="02040503050406030204" pitchFamily="18" charset="0"/>
                            </a:rPr>
                            <m:t>𝑐𝑐𝑓</m:t>
                          </m:r>
                          <m:r>
                            <a:rPr lang="nl-NL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nl-NL" sz="16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nl-NL" sz="1600" b="0" i="1" smtClean="0">
                              <a:latin typeface="Cambria Math" panose="02040503050406030204" pitchFamily="18" charset="0"/>
                            </a:rPr>
                            <m:t>𝑥𝑦</m:t>
                          </m:r>
                        </m:sub>
                      </m:sSub>
                      <m:r>
                        <a:rPr lang="nl-NL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nl-NL" sz="1600" b="0" i="1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nl-NL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  <m:e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nl-NL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nl-NL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nl-NL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nl-NL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NL" sz="16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nl-NL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nl-NL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nl-NL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nl-NL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nl-NL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nl-NL" sz="16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nl-NL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nl-NL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nl-NL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nl-NL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NL" sz="16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nl-NL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nl-NL" sz="16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nl-NL" sz="1600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nl-NL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nl-NL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nl-NL" sz="16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nl-NL" sz="16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nl-NL" sz="16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nl-NL" sz="1600" dirty="0"/>
              </a:p>
            </p:txBody>
          </p:sp>
        </mc:Choice>
        <mc:Fallback xmlns="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B32DB68D-D437-6F8B-DE29-98E9BEBE6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31" y="2720665"/>
                <a:ext cx="5578143" cy="8097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Afbeelding 5">
            <a:extLst>
              <a:ext uri="{FF2B5EF4-FFF2-40B4-BE49-F238E27FC236}">
                <a16:creationId xmlns:a16="http://schemas.microsoft.com/office/drawing/2014/main" id="{59A1AAFC-46EF-7A83-2801-E516D62DFF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2074" y="3999039"/>
            <a:ext cx="6096000" cy="270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3125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041DE-CD8E-8448-C472-760E5A81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Temporal</a:t>
            </a:r>
            <a:r>
              <a:rPr lang="nl-NL" dirty="0"/>
              <a:t> relations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4E43E6B-6BE1-6B73-BF96-2E0F49447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nl-NL" u="sng" dirty="0"/>
                  <a:t>Granger-causality test</a:t>
                </a:r>
                <a:r>
                  <a:rPr lang="nl-NL" dirty="0"/>
                  <a:t>: </a:t>
                </a:r>
              </a:p>
              <a:p>
                <a:pPr lvl="1"/>
                <a:r>
                  <a:rPr lang="nl-NL" dirty="0"/>
                  <a:t>Test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determine</a:t>
                </a:r>
                <a:r>
                  <a:rPr lang="nl-NL" dirty="0"/>
                  <a:t> </a:t>
                </a:r>
                <a:r>
                  <a:rPr lang="nl-NL" dirty="0" err="1"/>
                  <a:t>if</a:t>
                </a:r>
                <a:r>
                  <a:rPr lang="nl-NL" dirty="0"/>
                  <a:t> past </a:t>
                </a:r>
                <a:r>
                  <a:rPr lang="nl-NL" dirty="0" err="1"/>
                  <a:t>values</a:t>
                </a:r>
                <a:r>
                  <a:rPr lang="nl-NL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dirty="0"/>
                  <a:t> help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predict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nl-NL" dirty="0"/>
                  <a:t> (</a:t>
                </a:r>
                <a:r>
                  <a:rPr lang="nl-NL" dirty="0" err="1"/>
                  <a:t>additional</a:t>
                </a:r>
                <a:r>
                  <a:rPr lang="nl-NL" dirty="0"/>
                  <a:t>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predictive</a:t>
                </a:r>
                <a:r>
                  <a:rPr lang="nl-NL" dirty="0"/>
                  <a:t> power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dirty="0"/>
                  <a:t>’s </a:t>
                </a:r>
                <a:r>
                  <a:rPr lang="nl-NL" dirty="0" err="1"/>
                  <a:t>own</a:t>
                </a:r>
                <a:r>
                  <a:rPr lang="nl-NL" dirty="0"/>
                  <a:t> </a:t>
                </a:r>
                <a:r>
                  <a:rPr lang="nl-NL" dirty="0" err="1"/>
                  <a:t>history</a:t>
                </a:r>
                <a:r>
                  <a:rPr lang="nl-NL" dirty="0"/>
                  <a:t>)</a:t>
                </a:r>
              </a:p>
              <a:p>
                <a:pPr lvl="1"/>
                <a:r>
                  <a:rPr lang="nl-NL" dirty="0"/>
                  <a:t>Statistical </a:t>
                </a:r>
                <a:r>
                  <a:rPr lang="nl-NL" dirty="0" err="1"/>
                  <a:t>causality</a:t>
                </a:r>
                <a:r>
                  <a:rPr lang="nl-NL" dirty="0"/>
                  <a:t>, </a:t>
                </a:r>
                <a:r>
                  <a:rPr lang="nl-NL" dirty="0" err="1"/>
                  <a:t>not</a:t>
                </a:r>
                <a:r>
                  <a:rPr lang="nl-NL" dirty="0"/>
                  <a:t> real </a:t>
                </a:r>
                <a:r>
                  <a:rPr lang="nl-NL" dirty="0" err="1"/>
                  <a:t>causality</a:t>
                </a:r>
                <a:r>
                  <a:rPr lang="nl-NL" dirty="0"/>
                  <a:t>.</a:t>
                </a:r>
              </a:p>
              <a:p>
                <a:pPr lvl="1"/>
                <a:r>
                  <a:rPr lang="nl-NL" dirty="0"/>
                  <a:t>Test is </a:t>
                </a:r>
                <a:r>
                  <a:rPr lang="nl-NL" dirty="0" err="1"/>
                  <a:t>based</a:t>
                </a:r>
                <a:r>
                  <a:rPr lang="nl-NL" dirty="0"/>
                  <a:t> on a Vector-</a:t>
                </a:r>
                <a:r>
                  <a:rPr lang="nl-NL" dirty="0" err="1"/>
                  <a:t>autoregressive</a:t>
                </a:r>
                <a:r>
                  <a:rPr lang="nl-NL" dirty="0"/>
                  <a:t> model (VAR) model</a:t>
                </a:r>
              </a:p>
              <a:p>
                <a:pPr lvl="1"/>
                <a:r>
                  <a:rPr lang="nl-NL" dirty="0" err="1"/>
                  <a:t>With</a:t>
                </a:r>
                <a:r>
                  <a:rPr lang="nl-NL" dirty="0"/>
                  <a:t> non-</a:t>
                </a:r>
                <a:r>
                  <a:rPr lang="nl-NL" dirty="0" err="1"/>
                  <a:t>stationary</a:t>
                </a:r>
                <a:r>
                  <a:rPr lang="nl-NL" dirty="0"/>
                  <a:t> series, standard </a:t>
                </a:r>
                <a:r>
                  <a:rPr lang="nl-NL" dirty="0" err="1"/>
                  <a:t>errors</a:t>
                </a:r>
                <a:r>
                  <a:rPr lang="nl-NL" dirty="0"/>
                  <a:t> </a:t>
                </a:r>
                <a:r>
                  <a:rPr lang="nl-NL" dirty="0" err="1"/>
                  <a:t>and</a:t>
                </a:r>
                <a:r>
                  <a:rPr lang="nl-NL" dirty="0"/>
                  <a:t> p-</a:t>
                </a:r>
                <a:r>
                  <a:rPr lang="nl-NL" dirty="0" err="1"/>
                  <a:t>values</a:t>
                </a:r>
                <a:r>
                  <a:rPr lang="nl-NL" dirty="0"/>
                  <a:t> are </a:t>
                </a:r>
                <a:r>
                  <a:rPr lang="nl-NL" dirty="0" err="1"/>
                  <a:t>not</a:t>
                </a:r>
                <a:r>
                  <a:rPr lang="nl-NL" dirty="0"/>
                  <a:t> </a:t>
                </a:r>
                <a:r>
                  <a:rPr lang="nl-NL" dirty="0" err="1"/>
                  <a:t>valid</a:t>
                </a:r>
                <a:r>
                  <a:rPr lang="nl-NL" dirty="0"/>
                  <a:t> -&gt; first test </a:t>
                </a:r>
                <a:r>
                  <a:rPr lang="nl-NL" dirty="0" err="1"/>
                  <a:t>for</a:t>
                </a:r>
                <a:r>
                  <a:rPr lang="nl-NL" dirty="0"/>
                  <a:t> </a:t>
                </a:r>
                <a:r>
                  <a:rPr lang="nl-NL" dirty="0" err="1"/>
                  <a:t>stationarity</a:t>
                </a:r>
                <a:endParaRPr lang="nl-NL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 r="-522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16430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041DE-CD8E-8448-C472-760E5A81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Granger</a:t>
            </a:r>
            <a:r>
              <a:rPr lang="nl-NL" dirty="0"/>
              <a:t> </a:t>
            </a:r>
            <a:r>
              <a:rPr lang="nl-NL" dirty="0" err="1"/>
              <a:t>Causality</a:t>
            </a:r>
            <a:br>
              <a:rPr lang="nl-NL" dirty="0"/>
            </a:b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4E43E6B-6BE1-6B73-BF96-2E0F49447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57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nl-NL" dirty="0"/>
                  <a:t>Step 1: </a:t>
                </a:r>
                <a:r>
                  <a:rPr lang="nl-NL" dirty="0" err="1"/>
                  <a:t>restricted</a:t>
                </a:r>
                <a:r>
                  <a:rPr lang="nl-NL" dirty="0"/>
                  <a:t> model - </a:t>
                </a:r>
                <a:r>
                  <a:rPr lang="nl-NL" dirty="0" err="1"/>
                  <a:t>predict</a:t>
                </a:r>
                <a:r>
                  <a:rPr lang="nl-NL" dirty="0"/>
                  <a:t> y </a:t>
                </a:r>
                <a:r>
                  <a:rPr lang="nl-NL" dirty="0" err="1"/>
                  <a:t>only</a:t>
                </a:r>
                <a:r>
                  <a:rPr lang="nl-NL" dirty="0"/>
                  <a:t> </a:t>
                </a:r>
                <a:r>
                  <a:rPr lang="nl-NL" dirty="0" err="1"/>
                  <a:t>from</a:t>
                </a:r>
                <a:r>
                  <a:rPr lang="nl-NL" dirty="0"/>
                  <a:t> </a:t>
                </a:r>
                <a:r>
                  <a:rPr lang="nl-NL" dirty="0" err="1"/>
                  <a:t>its</a:t>
                </a:r>
                <a:r>
                  <a:rPr lang="nl-NL" dirty="0"/>
                  <a:t> </a:t>
                </a:r>
                <a:r>
                  <a:rPr lang="nl-NL" dirty="0" err="1"/>
                  <a:t>own</a:t>
                </a:r>
                <a:r>
                  <a:rPr lang="nl-NL" dirty="0"/>
                  <a:t> </a:t>
                </a:r>
                <a:r>
                  <a:rPr lang="nl-NL" dirty="0" err="1"/>
                  <a:t>lags</a:t>
                </a:r>
                <a:endParaRPr lang="nl-NL" dirty="0"/>
              </a:p>
              <a:p>
                <a:pPr marL="342000" lvl="1" indent="0">
                  <a:buNone/>
                </a:pPr>
                <a:r>
                  <a:rPr lang="nl-NL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nl-NL" dirty="0"/>
              </a:p>
              <a:p>
                <a:r>
                  <a:rPr lang="nl-NL" dirty="0"/>
                  <a:t>Step 2: </a:t>
                </a:r>
                <a:r>
                  <a:rPr lang="nl-NL" dirty="0" err="1"/>
                  <a:t>unrestricted</a:t>
                </a:r>
                <a:r>
                  <a:rPr lang="nl-NL" dirty="0"/>
                  <a:t> model - </a:t>
                </a:r>
                <a:r>
                  <a:rPr lang="nl-NL" dirty="0" err="1"/>
                  <a:t>add</a:t>
                </a:r>
                <a:r>
                  <a:rPr lang="nl-NL" dirty="0"/>
                  <a:t> </a:t>
                </a:r>
                <a:r>
                  <a:rPr lang="nl-NL" dirty="0" err="1"/>
                  <a:t>lagged</a:t>
                </a:r>
                <a:r>
                  <a:rPr lang="nl-NL" dirty="0"/>
                  <a:t> </a:t>
                </a:r>
                <a:r>
                  <a:rPr lang="nl-NL" dirty="0" err="1"/>
                  <a:t>values</a:t>
                </a:r>
                <a:r>
                  <a:rPr lang="nl-NL" dirty="0"/>
                  <a:t> of x:</a:t>
                </a:r>
              </a:p>
              <a:p>
                <a:pPr marL="342000" lvl="1" indent="0">
                  <a:buNone/>
                </a:pPr>
                <a:r>
                  <a:rPr lang="nl-NL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nl-N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nl-NL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nl-NL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nl-NL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nl-NL" dirty="0"/>
              </a:p>
              <a:p>
                <a:r>
                  <a:rPr lang="nl-NL" dirty="0"/>
                  <a:t>Step 3: F-test</a:t>
                </a:r>
              </a:p>
              <a:p>
                <a:pPr lvl="1"/>
                <a:r>
                  <a:rPr lang="nl-NL" dirty="0" err="1"/>
                  <a:t>Compare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residual</a:t>
                </a:r>
                <a:r>
                  <a:rPr lang="nl-NL" dirty="0"/>
                  <a:t> </a:t>
                </a:r>
                <a:r>
                  <a:rPr lang="nl-NL" dirty="0" err="1"/>
                  <a:t>sum</a:t>
                </a:r>
                <a:r>
                  <a:rPr lang="nl-NL" dirty="0"/>
                  <a:t> of squares (RSS) of </a:t>
                </a:r>
                <a:r>
                  <a:rPr lang="nl-NL" dirty="0" err="1"/>
                  <a:t>both</a:t>
                </a:r>
                <a:r>
                  <a:rPr lang="nl-NL" dirty="0"/>
                  <a:t> </a:t>
                </a:r>
                <a:r>
                  <a:rPr lang="nl-NL" dirty="0" err="1"/>
                  <a:t>models</a:t>
                </a:r>
                <a:r>
                  <a:rPr lang="nl-NL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nl-NL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nl-NL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=…=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nl-NL" dirty="0"/>
                  <a:t>, i.e.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l-NL" dirty="0"/>
                  <a:t>-</a:t>
                </a:r>
                <a:r>
                  <a:rPr lang="nl-NL" dirty="0" err="1"/>
                  <a:t>terms</a:t>
                </a:r>
                <a:r>
                  <a:rPr lang="nl-NL" dirty="0"/>
                  <a:t> do </a:t>
                </a:r>
                <a:r>
                  <a:rPr lang="nl-NL" dirty="0" err="1"/>
                  <a:t>not</a:t>
                </a:r>
                <a:r>
                  <a:rPr lang="nl-NL" dirty="0"/>
                  <a:t> </a:t>
                </a:r>
                <a:r>
                  <a:rPr lang="nl-NL" dirty="0" err="1"/>
                  <a:t>contribute</a:t>
                </a:r>
                <a:r>
                  <a:rPr lang="nl-NL" dirty="0"/>
                  <a:t> </a:t>
                </a:r>
                <a:r>
                  <a:rPr lang="nl-NL" dirty="0" err="1"/>
                  <a:t>anything</a:t>
                </a:r>
                <a:endParaRPr lang="nl-NL" dirty="0"/>
              </a:p>
              <a:p>
                <a:pPr lvl="1"/>
                <a:r>
                  <a:rPr lang="nl-NL" dirty="0" err="1"/>
                  <a:t>If</a:t>
                </a:r>
                <a:r>
                  <a:rPr lang="nl-NL" dirty="0"/>
                  <a:t> </a:t>
                </a:r>
                <a:r>
                  <a:rPr lang="nl-NL" dirty="0" err="1"/>
                  <a:t>addin</a:t>
                </a:r>
                <a:r>
                  <a:rPr lang="nl-NL" dirty="0">
                    <a:solidFill>
                      <a:srgbClr val="101010"/>
                    </a:solidFill>
                  </a:rPr>
                  <a:t>g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rgbClr val="10101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l-NL" dirty="0">
                    <a:solidFill>
                      <a:srgbClr val="101010"/>
                    </a:solidFill>
                  </a:rPr>
                  <a:t>-</a:t>
                </a:r>
                <a:r>
                  <a:rPr lang="nl-NL" dirty="0" err="1">
                    <a:solidFill>
                      <a:srgbClr val="101010"/>
                    </a:solidFill>
                  </a:rPr>
                  <a:t>terms</a:t>
                </a:r>
                <a:r>
                  <a:rPr lang="nl-NL" dirty="0">
                    <a:solidFill>
                      <a:srgbClr val="101010"/>
                    </a:solidFill>
                  </a:rPr>
                  <a:t> </a:t>
                </a:r>
                <a:r>
                  <a:rPr lang="nl-NL" dirty="0" err="1">
                    <a:solidFill>
                      <a:srgbClr val="101010"/>
                    </a:solidFill>
                  </a:rPr>
                  <a:t>significantly</a:t>
                </a:r>
                <a:r>
                  <a:rPr lang="nl-NL" dirty="0">
                    <a:solidFill>
                      <a:srgbClr val="101010"/>
                    </a:solidFill>
                  </a:rPr>
                  <a:t> </a:t>
                </a:r>
                <a:r>
                  <a:rPr lang="nl-NL" dirty="0" err="1">
                    <a:solidFill>
                      <a:srgbClr val="101010"/>
                    </a:solidFill>
                  </a:rPr>
                  <a:t>lowers</a:t>
                </a:r>
                <a:r>
                  <a:rPr lang="nl-NL" dirty="0">
                    <a:solidFill>
                      <a:srgbClr val="101010"/>
                    </a:solidFill>
                  </a:rPr>
                  <a:t> </a:t>
                </a:r>
                <a:r>
                  <a:rPr lang="nl-NL" dirty="0" err="1">
                    <a:solidFill>
                      <a:srgbClr val="101010"/>
                    </a:solidFill>
                  </a:rPr>
                  <a:t>the</a:t>
                </a:r>
                <a:r>
                  <a:rPr lang="nl-NL" dirty="0">
                    <a:solidFill>
                      <a:srgbClr val="101010"/>
                    </a:solidFill>
                  </a:rPr>
                  <a:t> RSS (F-test large </a:t>
                </a:r>
                <a:r>
                  <a:rPr lang="nl-NL" dirty="0" err="1">
                    <a:solidFill>
                      <a:srgbClr val="101010"/>
                    </a:solidFill>
                  </a:rPr>
                  <a:t>enough</a:t>
                </a:r>
                <a:r>
                  <a:rPr lang="nl-NL" dirty="0">
                    <a:solidFill>
                      <a:srgbClr val="101010"/>
                    </a:solidFill>
                  </a:rPr>
                  <a:t>, p-</a:t>
                </a:r>
                <a:r>
                  <a:rPr lang="nl-NL" dirty="0" err="1">
                    <a:solidFill>
                      <a:srgbClr val="101010"/>
                    </a:solidFill>
                  </a:rPr>
                  <a:t>value</a:t>
                </a:r>
                <a:r>
                  <a:rPr lang="nl-NL" dirty="0">
                    <a:solidFill>
                      <a:srgbClr val="101010"/>
                    </a:solidFill>
                  </a:rPr>
                  <a:t> small), we </a:t>
                </a:r>
                <a:r>
                  <a:rPr lang="nl-NL" dirty="0" err="1">
                    <a:solidFill>
                      <a:srgbClr val="101010"/>
                    </a:solidFill>
                  </a:rPr>
                  <a:t>reject</a:t>
                </a:r>
                <a:r>
                  <a:rPr lang="nl-NL" dirty="0">
                    <a:solidFill>
                      <a:srgbClr val="10101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nl-NL" dirty="0">
                    <a:solidFill>
                      <a:srgbClr val="101010"/>
                    </a:solidFill>
                  </a:rPr>
                  <a:t> </a:t>
                </a:r>
                <a:r>
                  <a:rPr lang="nl-NL" dirty="0" err="1">
                    <a:solidFill>
                      <a:srgbClr val="101010"/>
                    </a:solidFill>
                  </a:rPr>
                  <a:t>and</a:t>
                </a:r>
                <a:r>
                  <a:rPr lang="nl-NL" dirty="0">
                    <a:solidFill>
                      <a:srgbClr val="101010"/>
                    </a:solidFill>
                  </a:rPr>
                  <a:t> say </a:t>
                </a:r>
                <a14:m>
                  <m:oMath xmlns:m="http://schemas.openxmlformats.org/officeDocument/2006/math">
                    <m:r>
                      <a:rPr lang="nl-NL" i="1">
                        <a:solidFill>
                          <a:srgbClr val="10101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nl-NL" dirty="0">
                    <a:solidFill>
                      <a:srgbClr val="101010"/>
                    </a:solidFill>
                  </a:rPr>
                  <a:t> </a:t>
                </a:r>
                <a:r>
                  <a:rPr lang="nl-NL" dirty="0" err="1">
                    <a:solidFill>
                      <a:srgbClr val="101010"/>
                    </a:solidFill>
                  </a:rPr>
                  <a:t>Granger-causes</a:t>
                </a:r>
                <a:r>
                  <a:rPr lang="nl-NL" dirty="0">
                    <a:solidFill>
                      <a:srgbClr val="10101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solidFill>
                          <a:srgbClr val="10101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nl-NL" dirty="0"/>
                  <a:t>.</a:t>
                </a:r>
              </a:p>
            </p:txBody>
          </p:sp>
        </mc:Choice>
        <mc:Fallback xmlns="">
          <p:sp>
            <p:nvSpPr>
              <p:cNvPr id="4" name="Tijdelijke aanduiding voor inhoud 3">
                <a:extLst>
                  <a:ext uri="{FF2B5EF4-FFF2-40B4-BE49-F238E27FC236}">
                    <a16:creationId xmlns:a16="http://schemas.microsoft.com/office/drawing/2014/main" id="{A5803561-4A39-8440-A2F0-6539C1E3B6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754" t="-2326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7609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041DE-CD8E-8448-C472-760E5A81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Summary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4E43E6B-6BE1-6B73-BF96-2E0F49447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58</a:t>
            </a:fld>
            <a:endParaRPr lang="en-GB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5803561-4A39-8440-A2F0-6539C1E3B6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Do they move together simultaneously? -&gt; correlation </a:t>
            </a:r>
          </a:p>
          <a:p>
            <a:pPr lvl="1"/>
            <a:r>
              <a:rPr lang="en-US" dirty="0"/>
              <a:t>Their </a:t>
            </a:r>
            <a:r>
              <a:rPr lang="en-US" i="1" dirty="0"/>
              <a:t>changes</a:t>
            </a:r>
            <a:r>
              <a:rPr lang="en-US" dirty="0"/>
              <a:t> are related </a:t>
            </a:r>
          </a:p>
          <a:p>
            <a:pPr lvl="1"/>
            <a:r>
              <a:rPr lang="en-US" dirty="0"/>
              <a:t>Does not say anything about long term relation between their </a:t>
            </a:r>
            <a:r>
              <a:rPr lang="en-US" i="1" dirty="0"/>
              <a:t>levels</a:t>
            </a:r>
          </a:p>
          <a:p>
            <a:r>
              <a:rPr lang="en-US" dirty="0"/>
              <a:t>Do they share a common trend? -&gt; cointegration</a:t>
            </a:r>
          </a:p>
          <a:p>
            <a:pPr lvl="1"/>
            <a:r>
              <a:rPr lang="en-US" dirty="0"/>
              <a:t>Series may move randomly but they do not drift apart </a:t>
            </a:r>
          </a:p>
          <a:p>
            <a:pPr lvl="1"/>
            <a:r>
              <a:rPr lang="en-US" dirty="0"/>
              <a:t>Individual series are non-stationary, there is a </a:t>
            </a:r>
            <a:r>
              <a:rPr lang="en-US" i="1" dirty="0"/>
              <a:t>linear combination</a:t>
            </a:r>
            <a:r>
              <a:rPr lang="en-US" dirty="0"/>
              <a:t> that is stationary</a:t>
            </a:r>
          </a:p>
          <a:p>
            <a:r>
              <a:rPr lang="en-US" dirty="0"/>
              <a:t>Does one influence the other with a delay? -&gt; CCF / Granger causality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13665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39CC45C-6ECF-1414-149F-897E6C174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CA729C-10AD-F90E-DB78-5A4E0B79E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54865-23C6-396F-8BC1-7B48F2EAE3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88438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3.3511"/>
  <p:tag name="SLIDO_PRESENTATION_ID" val="00000000-0000-0000-0000-000000000000"/>
  <p:tag name="SLIDO_EVENT_UUID" val="d5f05ec8-edda-47a7-a42e-90bbfcebfc5f"/>
  <p:tag name="SLIDO_EVENT_SECTION_UUID" val="71a6711e-5d0b-4e9f-9223-093e31161b77"/>
</p:tagLst>
</file>

<file path=ppt/theme/theme1.xml><?xml version="1.0" encoding="utf-8"?>
<a:theme xmlns:a="http://schemas.openxmlformats.org/drawingml/2006/main" name="ESTAT Theme">
  <a:themeElements>
    <a:clrScheme name="EC colour scheme">
      <a:dk1>
        <a:srgbClr val="4D4D4D"/>
      </a:dk1>
      <a:lt1>
        <a:srgbClr val="FFFFFF"/>
      </a:lt1>
      <a:dk2>
        <a:srgbClr val="034EA2"/>
      </a:dk2>
      <a:lt2>
        <a:srgbClr val="D3E8F9"/>
      </a:lt2>
      <a:accent1>
        <a:srgbClr val="1E858B"/>
      </a:accent1>
      <a:accent2>
        <a:srgbClr val="4BC5DE"/>
      </a:accent2>
      <a:accent3>
        <a:srgbClr val="1EC08A"/>
      </a:accent3>
      <a:accent4>
        <a:srgbClr val="ED8D2F"/>
      </a:accent4>
      <a:accent5>
        <a:srgbClr val="FFC000"/>
      </a:accent5>
      <a:accent6>
        <a:srgbClr val="E76C53"/>
      </a:accent6>
      <a:hlink>
        <a:srgbClr val="0563C1"/>
      </a:hlink>
      <a:folHlink>
        <a:srgbClr val="243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AT PPT Template.potx" id="{44100892-7769-4A20-A750-3553371E0F2E}" vid="{905E760A-09FE-4DBA-89B6-DF3A5D6D09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422b70-e85d-4377-8ee0-b6227433d381">
      <Terms xmlns="http://schemas.microsoft.com/office/infopath/2007/PartnerControls"/>
    </lcf76f155ced4ddcb4097134ff3c332f>
    <TaxCatchAll xmlns="199f642e-5af9-486c-ac06-f366742ef41a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AA5C57F8EADE4E9CD6BB064C0C3195" ma:contentTypeVersion="16" ma:contentTypeDescription="Create a new document." ma:contentTypeScope="" ma:versionID="bb51c19a58f458ddcddd050a07659236">
  <xsd:schema xmlns:xsd="http://www.w3.org/2001/XMLSchema" xmlns:xs="http://www.w3.org/2001/XMLSchema" xmlns:p="http://schemas.microsoft.com/office/2006/metadata/properties" xmlns:ns2="0e422b70-e85d-4377-8ee0-b6227433d381" xmlns:ns3="199f642e-5af9-486c-ac06-f366742ef41a" targetNamespace="http://schemas.microsoft.com/office/2006/metadata/properties" ma:root="true" ma:fieldsID="0ee7a3bac0352a48a43420936abd968a" ns2:_="" ns3:_="">
    <xsd:import namespace="0e422b70-e85d-4377-8ee0-b6227433d381"/>
    <xsd:import namespace="199f642e-5af9-486c-ac06-f366742ef41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2b70-e85d-4377-8ee0-b6227433d3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2b2fad6-9d2c-441c-a321-3f5f1e9bd9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9f642e-5af9-486c-ac06-f366742ef41a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2defd33-e0ca-4991-a4bb-5bf1ac0b491c}" ma:internalName="TaxCatchAll" ma:showField="CatchAllData" ma:web="199f642e-5af9-486c-ac06-f366742ef4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DD9E9F-9EEB-4105-B29B-819486C285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6C293B-B8B4-4284-A17E-9F9E4C32B25A}">
  <ds:schemaRefs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0e422b70-e85d-4377-8ee0-b6227433d381"/>
    <ds:schemaRef ds:uri="http://schemas.microsoft.com/office/infopath/2007/PartnerControls"/>
    <ds:schemaRef ds:uri="199f642e-5af9-486c-ac06-f366742ef41a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4B464EA-1576-49DD-9675-1E3399D4D1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422b70-e85d-4377-8ee0-b6227433d381"/>
    <ds:schemaRef ds:uri="199f642e-5af9-486c-ac06-f366742ef4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ESTAT PPT Template</Template>
  <TotalTime>1084</TotalTime>
  <Words>2377</Words>
  <Application>Microsoft Office PowerPoint</Application>
  <PresentationFormat>Breedbeeld</PresentationFormat>
  <Paragraphs>524</Paragraphs>
  <Slides>59</Slides>
  <Notes>0</Notes>
  <HiddenSlides>3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59</vt:i4>
      </vt:variant>
    </vt:vector>
  </HeadingPairs>
  <TitlesOfParts>
    <vt:vector size="64" baseType="lpstr">
      <vt:lpstr>Arial</vt:lpstr>
      <vt:lpstr>Calibri</vt:lpstr>
      <vt:lpstr>Cambria Math</vt:lpstr>
      <vt:lpstr>Courier New</vt:lpstr>
      <vt:lpstr>ESTAT Theme</vt:lpstr>
      <vt:lpstr>1.3 Time series data and applications</vt:lpstr>
      <vt:lpstr>Overview</vt:lpstr>
      <vt:lpstr>PowerPoint-presentatie</vt:lpstr>
      <vt:lpstr>Time series modelling</vt:lpstr>
      <vt:lpstr>Time series decomposition (example)</vt:lpstr>
      <vt:lpstr>Additive decomposition </vt:lpstr>
      <vt:lpstr>Multiplicative decomposition </vt:lpstr>
      <vt:lpstr>PowerPoint-presentatie</vt:lpstr>
      <vt:lpstr>Properties of time series models </vt:lpstr>
      <vt:lpstr>PowerPoint-presentatie</vt:lpstr>
      <vt:lpstr>What is a trend? </vt:lpstr>
      <vt:lpstr>Trends and margins</vt:lpstr>
      <vt:lpstr>PowerPoint-presentatie</vt:lpstr>
      <vt:lpstr>PowerPoint-presentatie</vt:lpstr>
      <vt:lpstr>PowerPoint-presentatie</vt:lpstr>
      <vt:lpstr>Outliers and breaks</vt:lpstr>
      <vt:lpstr>Outliers and breaks </vt:lpstr>
      <vt:lpstr>Additive outlier</vt:lpstr>
      <vt:lpstr>Example regressor creation</vt:lpstr>
      <vt:lpstr>Outliers</vt:lpstr>
      <vt:lpstr>How to identify outliers? </vt:lpstr>
      <vt:lpstr>PowerPoint-presentatie</vt:lpstr>
      <vt:lpstr>PowerPoint-presentatie</vt:lpstr>
      <vt:lpstr>Stationarity  </vt:lpstr>
      <vt:lpstr>Which series are stationary? </vt:lpstr>
      <vt:lpstr>Testing for stationarity</vt:lpstr>
      <vt:lpstr>Making a series stationary </vt:lpstr>
      <vt:lpstr>Making a series stationary</vt:lpstr>
      <vt:lpstr>Transformations </vt:lpstr>
      <vt:lpstr>PowerPoint-presentatie</vt:lpstr>
      <vt:lpstr>Autocorrelations</vt:lpstr>
      <vt:lpstr>PowerPoint-presentatie</vt:lpstr>
      <vt:lpstr>ACF and PACF </vt:lpstr>
      <vt:lpstr>Correlogram </vt:lpstr>
      <vt:lpstr>ARMA order selection using ACF and PACF  </vt:lpstr>
      <vt:lpstr>PowerPoint-presentatie</vt:lpstr>
      <vt:lpstr>ARIMA-models </vt:lpstr>
      <vt:lpstr>PowerPoint-presentatie</vt:lpstr>
      <vt:lpstr>PowerPoint-presentatie</vt:lpstr>
      <vt:lpstr>PowerPoint-presentatie</vt:lpstr>
      <vt:lpstr>PowerPoint-presentatie</vt:lpstr>
      <vt:lpstr>PowerPoint-presentatie</vt:lpstr>
      <vt:lpstr>Relations between time series</vt:lpstr>
      <vt:lpstr>Correlation</vt:lpstr>
      <vt:lpstr>Correlation</vt:lpstr>
      <vt:lpstr>Correlation</vt:lpstr>
      <vt:lpstr>Time series clustering</vt:lpstr>
      <vt:lpstr>PowerPoint-presentatie</vt:lpstr>
      <vt:lpstr>Cointegration</vt:lpstr>
      <vt:lpstr>Cointegration - example</vt:lpstr>
      <vt:lpstr>Identifying cointegrated series</vt:lpstr>
      <vt:lpstr>Correlation and/or cointegration</vt:lpstr>
      <vt:lpstr>PowerPoint-presentatie</vt:lpstr>
      <vt:lpstr>Temporal relations</vt:lpstr>
      <vt:lpstr>Temporal relations</vt:lpstr>
      <vt:lpstr>Temporal relations</vt:lpstr>
      <vt:lpstr>Granger Causality </vt:lpstr>
      <vt:lpstr>Summary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title title title title title title title title title title title title</dc:title>
  <dc:creator>HANZEVACKI Andrej (ESTAT)</dc:creator>
  <cp:lastModifiedBy>Ouwehand, P. (Pim)</cp:lastModifiedBy>
  <cp:revision>130</cp:revision>
  <dcterms:created xsi:type="dcterms:W3CDTF">2024-11-22T11:11:00Z</dcterms:created>
  <dcterms:modified xsi:type="dcterms:W3CDTF">2026-10-02T07:44:49Z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0x010100E6AA5C57F8EADE4E9CD6BB064C0C3195</vt:lpwstr>
  </property>
  <property fmtid="{D5CDD505-2E9C-101B-9397-08002B2CF9AE}" pid="3" name="MSIP_Label_6bd9ddd1-4d20-43f6-abfa-fc3c07406f94_Enabled">
    <vt:lpwstr>true</vt:lpwstr>
  </property>
  <property fmtid="{D5CDD505-2E9C-101B-9397-08002B2CF9AE}" pid="4" name="MSIP_Label_6bd9ddd1-4d20-43f6-abfa-fc3c07406f94_SetDate">
    <vt:lpwstr>2023-09-26T10:27:54Z</vt:lpwstr>
  </property>
  <property fmtid="{D5CDD505-2E9C-101B-9397-08002B2CF9AE}" pid="5" name="MSIP_Label_6bd9ddd1-4d20-43f6-abfa-fc3c07406f94_Method">
    <vt:lpwstr>Standard</vt:lpwstr>
  </property>
  <property fmtid="{D5CDD505-2E9C-101B-9397-08002B2CF9AE}" pid="6" name="MSIP_Label_6bd9ddd1-4d20-43f6-abfa-fc3c07406f94_Name">
    <vt:lpwstr>Commission Use</vt:lpwstr>
  </property>
  <property fmtid="{D5CDD505-2E9C-101B-9397-08002B2CF9AE}" pid="7" name="MSIP_Label_6bd9ddd1-4d20-43f6-abfa-fc3c07406f94_SiteId">
    <vt:lpwstr>b24c8b06-522c-46fe-9080-70926f8dddb1</vt:lpwstr>
  </property>
  <property fmtid="{D5CDD505-2E9C-101B-9397-08002B2CF9AE}" pid="8" name="MSIP_Label_6bd9ddd1-4d20-43f6-abfa-fc3c07406f94_ActionId">
    <vt:lpwstr>5f9041e0-26c3-439f-9557-91c751557f9e</vt:lpwstr>
  </property>
  <property fmtid="{D5CDD505-2E9C-101B-9397-08002B2CF9AE}" pid="9" name="MSIP_Label_6bd9ddd1-4d20-43f6-abfa-fc3c07406f94_ContentBits">
    <vt:lpwstr>0</vt:lpwstr>
  </property>
  <property fmtid="{D5CDD505-2E9C-101B-9397-08002B2CF9AE}" pid="10" name="SlidoAppVersion">
    <vt:lpwstr>1.5.3.3511</vt:lpwstr>
  </property>
  <property fmtid="{D5CDD505-2E9C-101B-9397-08002B2CF9AE}" pid="11" name="MediaServiceImageTags">
    <vt:lpwstr/>
  </property>
</Properties>
</file>