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34"/>
  </p:notesMasterIdLst>
  <p:handoutMasterIdLst>
    <p:handoutMasterId r:id="rId35"/>
  </p:handoutMasterIdLst>
  <p:sldIdLst>
    <p:sldId id="256" r:id="rId5"/>
    <p:sldId id="257" r:id="rId6"/>
    <p:sldId id="263" r:id="rId7"/>
    <p:sldId id="264" r:id="rId8"/>
    <p:sldId id="262" r:id="rId9"/>
    <p:sldId id="266" r:id="rId10"/>
    <p:sldId id="267" r:id="rId11"/>
    <p:sldId id="270" r:id="rId12"/>
    <p:sldId id="272" r:id="rId13"/>
    <p:sldId id="273" r:id="rId14"/>
    <p:sldId id="274" r:id="rId15"/>
    <p:sldId id="288" r:id="rId16"/>
    <p:sldId id="268" r:id="rId17"/>
    <p:sldId id="269" r:id="rId18"/>
    <p:sldId id="275" r:id="rId19"/>
    <p:sldId id="271" r:id="rId20"/>
    <p:sldId id="276" r:id="rId21"/>
    <p:sldId id="277" r:id="rId22"/>
    <p:sldId id="278" r:id="rId23"/>
    <p:sldId id="279" r:id="rId24"/>
    <p:sldId id="280" r:id="rId25"/>
    <p:sldId id="282" r:id="rId26"/>
    <p:sldId id="283" r:id="rId27"/>
    <p:sldId id="281" r:id="rId28"/>
    <p:sldId id="284" r:id="rId29"/>
    <p:sldId id="286" r:id="rId30"/>
    <p:sldId id="287" r:id="rId31"/>
    <p:sldId id="265" r:id="rId32"/>
    <p:sldId id="261" r:id="rId33"/>
  </p:sldIdLst>
  <p:sldSz cx="12192000" cy="6858000"/>
  <p:notesSz cx="6858000" cy="9144000"/>
  <p:custDataLst>
    <p:tags r:id="rId3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092">
          <p15:clr>
            <a:srgbClr val="A4A3A4"/>
          </p15:clr>
        </p15:guide>
        <p15:guide id="2" pos="3840">
          <p15:clr>
            <a:srgbClr val="A4A3A4"/>
          </p15:clr>
        </p15:guide>
      </p15:sldGuideLst>
    </p:ext>
    <p:ext uri="{2D200454-40CA-4A62-9FC3-DE9A4176ACB9}">
      <p15:notes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9" roundtripDataSignature="AMtx7mh3YP3xexYcFoahXa2ehi0H5V4Z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010"/>
    <a:srgbClr val="2644A7"/>
    <a:srgbClr val="F4F4F4"/>
    <a:srgbClr val="104F99"/>
    <a:srgbClr val="0E47CB"/>
    <a:srgbClr val="003180"/>
    <a:srgbClr val="0A2744"/>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45" autoAdjust="0"/>
    <p:restoredTop sz="81100" autoAdjust="0"/>
  </p:normalViewPr>
  <p:slideViewPr>
    <p:cSldViewPr snapToGrid="0">
      <p:cViewPr varScale="1">
        <p:scale>
          <a:sx n="69" d="100"/>
          <a:sy n="69" d="100"/>
        </p:scale>
        <p:origin x="1018" y="67"/>
      </p:cViewPr>
      <p:guideLst>
        <p:guide orient="horz" pos="2092"/>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5" d="100"/>
          <a:sy n="75" d="100"/>
        </p:scale>
        <p:origin x="293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59" Type="http://customschemas.google.com/relationships/presentationmetadata" Target="meta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6D6800-DB9C-EBAC-83AC-5F9D7E2C8B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BDED1430-DB1F-C50E-E2CC-369D36DF27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BFB8CE-488C-4A7E-87F2-3AF6127C51C1}" type="datetimeFigureOut">
              <a:rPr lang="en-IE" smtClean="0"/>
              <a:t>19/08/2026</a:t>
            </a:fld>
            <a:endParaRPr lang="en-IE"/>
          </a:p>
        </p:txBody>
      </p:sp>
      <p:sp>
        <p:nvSpPr>
          <p:cNvPr id="4" name="Footer Placeholder 3">
            <a:extLst>
              <a:ext uri="{FF2B5EF4-FFF2-40B4-BE49-F238E27FC236}">
                <a16:creationId xmlns:a16="http://schemas.microsoft.com/office/drawing/2014/main" id="{E41B46C1-E31F-1BE5-CF29-FC2D8EA3E2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24A38F49-91A1-E3F0-770A-4578CF8E58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9F2F4C-E206-483F-A4B8-E82471BA527C}" type="slidenum">
              <a:rPr lang="en-IE" smtClean="0"/>
              <a:t>‹#›</a:t>
            </a:fld>
            <a:endParaRPr lang="en-IE"/>
          </a:p>
        </p:txBody>
      </p:sp>
    </p:spTree>
    <p:extLst>
      <p:ext uri="{BB962C8B-B14F-4D97-AF65-F5344CB8AC3E}">
        <p14:creationId xmlns:p14="http://schemas.microsoft.com/office/powerpoint/2010/main" val="2619827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26152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explicit stochastic theory of how the data were generated, no likelihood function, no probability model for errors, no parameter estimation from sampling theory.</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6</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08707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second component is equal to the second derivative of g, thus the change of the change (smoothness) should be minimized</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7</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38568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10</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58780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528178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 Title Slide">
    <p:spTree>
      <p:nvGrpSpPr>
        <p:cNvPr id="1" name="Shape 14"/>
        <p:cNvGrpSpPr/>
        <p:nvPr/>
      </p:nvGrpSpPr>
      <p:grpSpPr>
        <a:xfrm>
          <a:off x="0" y="0"/>
          <a:ext cx="0" cy="0"/>
          <a:chOff x="0" y="0"/>
          <a:chExt cx="0" cy="0"/>
        </a:xfrm>
      </p:grpSpPr>
      <p:pic>
        <p:nvPicPr>
          <p:cNvPr id="3" name="Picture 2">
            <a:extLst>
              <a:ext uri="{FF2B5EF4-FFF2-40B4-BE49-F238E27FC236}">
                <a16:creationId xmlns:a16="http://schemas.microsoft.com/office/drawing/2014/main" id="{CD898605-EE7A-6AAE-447A-080B2C6D2258}"/>
              </a:ext>
            </a:extLst>
          </p:cNvPr>
          <p:cNvPicPr>
            <a:picLocks noGrp="1" noRot="1" noChangeAspect="1" noMove="1" noResize="1" noEditPoints="1" noAdjustHandles="1" noChangeArrowheads="1" noChangeShapeType="1" noCrop="1"/>
          </p:cNvPicPr>
          <p:nvPr userDrawn="1"/>
        </p:nvPicPr>
        <p:blipFill>
          <a:blip r:embed="rId2"/>
          <a:srcRect t="3042" b="3042"/>
          <a:stretch/>
        </p:blipFill>
        <p:spPr>
          <a:xfrm>
            <a:off x="-918" y="0"/>
            <a:ext cx="12192001" cy="6866879"/>
          </a:xfrm>
          <a:prstGeom prst="rect">
            <a:avLst/>
          </a:prstGeom>
        </p:spPr>
      </p:pic>
      <p:sp>
        <p:nvSpPr>
          <p:cNvPr id="19" name="Google Shape;19;p22"/>
          <p:cNvSpPr txBox="1">
            <a:spLocks noGrp="1"/>
          </p:cNvSpPr>
          <p:nvPr>
            <p:ph type="subTitle" idx="1"/>
          </p:nvPr>
        </p:nvSpPr>
        <p:spPr>
          <a:xfrm>
            <a:off x="1112521" y="3277775"/>
            <a:ext cx="3957106" cy="1745469"/>
          </a:xfrm>
          <a:prstGeom prst="rect">
            <a:avLst/>
          </a:prstGeom>
          <a:noFill/>
          <a:ln>
            <a:noFill/>
          </a:ln>
        </p:spPr>
        <p:txBody>
          <a:bodyPr spcFirstLastPara="1" wrap="square" lIns="91425" tIns="45700" rIns="91425" bIns="45700" anchor="t" anchorCtr="0">
            <a:noAutofit/>
          </a:bodyPr>
          <a:lstStyle>
            <a:lvl1pPr marL="0" lvl="0" algn="l">
              <a:lnSpc>
                <a:spcPct val="100000"/>
              </a:lnSpc>
              <a:spcBef>
                <a:spcPts val="0"/>
              </a:spcBef>
              <a:spcAft>
                <a:spcPts val="0"/>
              </a:spcAft>
              <a:buSzPts val="2800"/>
              <a:buNone/>
              <a:defRPr sz="2800" i="0">
                <a:solidFill>
                  <a:schemeClr val="bg1"/>
                </a:solidFill>
              </a:defRPr>
            </a:lvl1pPr>
            <a:lvl2pPr lvl="1" algn="ctr">
              <a:lnSpc>
                <a:spcPct val="100000"/>
              </a:lnSpc>
              <a:spcBef>
                <a:spcPts val="1800"/>
              </a:spcBef>
              <a:spcAft>
                <a:spcPts val="0"/>
              </a:spcAft>
              <a:buSzPts val="2000"/>
              <a:buNone/>
              <a:defRPr sz="2000"/>
            </a:lvl2pPr>
            <a:lvl3pPr lvl="2" algn="ctr">
              <a:lnSpc>
                <a:spcPct val="100000"/>
              </a:lnSpc>
              <a:spcBef>
                <a:spcPts val="1800"/>
              </a:spcBef>
              <a:spcAft>
                <a:spcPts val="0"/>
              </a:spcAft>
              <a:buSzPts val="1800"/>
              <a:buNone/>
              <a:defRPr sz="1800"/>
            </a:lvl3pPr>
            <a:lvl4pPr lvl="3" algn="ctr">
              <a:lnSpc>
                <a:spcPct val="100000"/>
              </a:lnSpc>
              <a:spcBef>
                <a:spcPts val="1800"/>
              </a:spcBef>
              <a:spcAft>
                <a:spcPts val="0"/>
              </a:spcAft>
              <a:buSzPts val="1600"/>
              <a:buNone/>
              <a:defRPr sz="1600"/>
            </a:lvl4pPr>
            <a:lvl5pPr lvl="4" algn="ctr">
              <a:lnSpc>
                <a:spcPct val="100000"/>
              </a:lnSpc>
              <a:spcBef>
                <a:spcPts val="1800"/>
              </a:spcBef>
              <a:spcAft>
                <a:spcPts val="0"/>
              </a:spcAft>
              <a:buSzPts val="1600"/>
              <a:buNone/>
              <a:defRPr sz="1600"/>
            </a:lvl5pPr>
            <a:lvl6pPr lvl="5" algn="ctr">
              <a:lnSpc>
                <a:spcPct val="90000"/>
              </a:lnSpc>
              <a:spcBef>
                <a:spcPts val="1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dirty="0"/>
              <a:t>Click to edit Master subtitle style</a:t>
            </a:r>
            <a:endParaRPr dirty="0"/>
          </a:p>
        </p:txBody>
      </p:sp>
      <p:pic>
        <p:nvPicPr>
          <p:cNvPr id="5" name="Picture 4">
            <a:extLst>
              <a:ext uri="{FF2B5EF4-FFF2-40B4-BE49-F238E27FC236}">
                <a16:creationId xmlns:a16="http://schemas.microsoft.com/office/drawing/2014/main" id="{0D09F257-77BC-80DD-CDE4-F5B22D79517B}"/>
              </a:ext>
            </a:extLst>
          </p:cNvPr>
          <p:cNvPicPr>
            <a:picLocks noChangeAspect="1"/>
          </p:cNvPicPr>
          <p:nvPr userDrawn="1"/>
        </p:nvPicPr>
        <p:blipFill>
          <a:blip r:embed="rId3"/>
          <a:srcRect/>
          <a:stretch/>
        </p:blipFill>
        <p:spPr>
          <a:xfrm>
            <a:off x="7381876" y="3596720"/>
            <a:ext cx="4224858" cy="1374485"/>
          </a:xfrm>
          <a:prstGeom prst="rect">
            <a:avLst/>
          </a:prstGeom>
        </p:spPr>
      </p:pic>
      <p:sp>
        <p:nvSpPr>
          <p:cNvPr id="16" name="Title 15">
            <a:extLst>
              <a:ext uri="{FF2B5EF4-FFF2-40B4-BE49-F238E27FC236}">
                <a16:creationId xmlns:a16="http://schemas.microsoft.com/office/drawing/2014/main" id="{784A076C-4C5D-810C-C205-F06C491692A3}"/>
              </a:ext>
            </a:extLst>
          </p:cNvPr>
          <p:cNvSpPr>
            <a:spLocks noGrp="1"/>
          </p:cNvSpPr>
          <p:nvPr>
            <p:ph type="title"/>
          </p:nvPr>
        </p:nvSpPr>
        <p:spPr>
          <a:xfrm>
            <a:off x="1112521" y="885018"/>
            <a:ext cx="9448800" cy="2037783"/>
          </a:xfrm>
        </p:spPr>
        <p:txBody>
          <a:bodyPr anchor="ctr"/>
          <a:lstStyle>
            <a:lvl1pPr>
              <a:defRPr sz="4800">
                <a:solidFill>
                  <a:schemeClr val="bg1"/>
                </a:solidFill>
              </a:defRPr>
            </a:lvl1pPr>
          </a:lstStyle>
          <a:p>
            <a:r>
              <a:rPr lang="en-US" dirty="0"/>
              <a:t>Click to edit Master title style</a:t>
            </a:r>
            <a:endParaRPr lang="en-IE" dirty="0"/>
          </a:p>
        </p:txBody>
      </p:sp>
      <p:sp>
        <p:nvSpPr>
          <p:cNvPr id="24" name="Text Placeholder 23">
            <a:extLst>
              <a:ext uri="{FF2B5EF4-FFF2-40B4-BE49-F238E27FC236}">
                <a16:creationId xmlns:a16="http://schemas.microsoft.com/office/drawing/2014/main" id="{E5F2B0E4-A35A-CFA1-4E98-55EAD82CE82B}"/>
              </a:ext>
            </a:extLst>
          </p:cNvPr>
          <p:cNvSpPr>
            <a:spLocks noGrp="1"/>
          </p:cNvSpPr>
          <p:nvPr>
            <p:ph type="body" sz="quarter" idx="10"/>
          </p:nvPr>
        </p:nvSpPr>
        <p:spPr>
          <a:xfrm>
            <a:off x="1307994" y="5771588"/>
            <a:ext cx="2509626" cy="777875"/>
          </a:xfrm>
        </p:spPr>
        <p:txBody>
          <a:bodyPr/>
          <a:lstStyle>
            <a:lvl1pPr marL="0" indent="0">
              <a:buNone/>
              <a:defRPr sz="20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1594073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1F3BA733-25B6-C4BB-1150-48850654F2C6}"/>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6" name="Picture 5">
            <a:extLst>
              <a:ext uri="{FF2B5EF4-FFF2-40B4-BE49-F238E27FC236}">
                <a16:creationId xmlns:a16="http://schemas.microsoft.com/office/drawing/2014/main" id="{3BD3E27D-21BB-B8BD-0101-611C3D7A991F}"/>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4" name="Content Placeholder 3">
            <a:extLst>
              <a:ext uri="{FF2B5EF4-FFF2-40B4-BE49-F238E27FC236}">
                <a16:creationId xmlns:a16="http://schemas.microsoft.com/office/drawing/2014/main" id="{B938CD64-6B9A-81A2-BDB2-55DA96C9E7A9}"/>
              </a:ext>
            </a:extLst>
          </p:cNvPr>
          <p:cNvSpPr>
            <a:spLocks noGrp="1"/>
          </p:cNvSpPr>
          <p:nvPr>
            <p:ph sz="half" idx="2"/>
          </p:nvPr>
        </p:nvSpPr>
        <p:spPr>
          <a:xfrm>
            <a:off x="970722" y="1901951"/>
            <a:ext cx="10515597" cy="4194176"/>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333503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2">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a:t>
            </a:fld>
            <a:endParaRPr lang="en-GB"/>
          </a:p>
        </p:txBody>
      </p:sp>
      <p:pic>
        <p:nvPicPr>
          <p:cNvPr id="6" name="Picture 5">
            <a:extLst>
              <a:ext uri="{FF2B5EF4-FFF2-40B4-BE49-F238E27FC236}">
                <a16:creationId xmlns:a16="http://schemas.microsoft.com/office/drawing/2014/main" id="{B0491114-E7C3-4716-7109-6FDE72E853DE}"/>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7" name="Picture 6">
            <a:extLst>
              <a:ext uri="{FF2B5EF4-FFF2-40B4-BE49-F238E27FC236}">
                <a16:creationId xmlns:a16="http://schemas.microsoft.com/office/drawing/2014/main" id="{95C1ABAA-9559-8C24-1A56-0668CC664359}"/>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8" name="Content Placeholder 3">
            <a:extLst>
              <a:ext uri="{FF2B5EF4-FFF2-40B4-BE49-F238E27FC236}">
                <a16:creationId xmlns:a16="http://schemas.microsoft.com/office/drawing/2014/main" id="{EBC1E451-4262-316A-7418-6EF16E04908E}"/>
              </a:ext>
            </a:extLst>
          </p:cNvPr>
          <p:cNvSpPr>
            <a:spLocks noGrp="1"/>
          </p:cNvSpPr>
          <p:nvPr>
            <p:ph sz="half" idx="2"/>
          </p:nvPr>
        </p:nvSpPr>
        <p:spPr>
          <a:xfrm>
            <a:off x="970723" y="1910188"/>
            <a:ext cx="5327092" cy="4240591"/>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3">
            <a:extLst>
              <a:ext uri="{FF2B5EF4-FFF2-40B4-BE49-F238E27FC236}">
                <a16:creationId xmlns:a16="http://schemas.microsoft.com/office/drawing/2014/main" id="{A0B9F341-14FC-51F5-105A-E4BFB54BFEDD}"/>
              </a:ext>
            </a:extLst>
          </p:cNvPr>
          <p:cNvSpPr>
            <a:spLocks noGrp="1"/>
          </p:cNvSpPr>
          <p:nvPr>
            <p:ph sz="half" idx="16"/>
          </p:nvPr>
        </p:nvSpPr>
        <p:spPr>
          <a:xfrm>
            <a:off x="6533867" y="1910188"/>
            <a:ext cx="5327092" cy="4240591"/>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928248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3">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a:t>
            </a:fld>
            <a:endParaRPr lang="en-GB"/>
          </a:p>
        </p:txBody>
      </p:sp>
      <p:sp>
        <p:nvSpPr>
          <p:cNvPr id="4" name="Text Placeholder 2">
            <a:extLst>
              <a:ext uri="{FF2B5EF4-FFF2-40B4-BE49-F238E27FC236}">
                <a16:creationId xmlns:a16="http://schemas.microsoft.com/office/drawing/2014/main" id="{949220B6-B4CB-BA59-8F58-4304C8D422BD}"/>
              </a:ext>
            </a:extLst>
          </p:cNvPr>
          <p:cNvSpPr>
            <a:spLocks noGrp="1"/>
          </p:cNvSpPr>
          <p:nvPr>
            <p:ph type="body" idx="1"/>
          </p:nvPr>
        </p:nvSpPr>
        <p:spPr>
          <a:xfrm>
            <a:off x="970723" y="1894895"/>
            <a:ext cx="5157787" cy="823912"/>
          </a:xfrm>
        </p:spPr>
        <p:txBody>
          <a:bodyPr wrap="square" anchor="t">
            <a:noAutofit/>
          </a:bodyPr>
          <a:lstStyle>
            <a:lvl1pPr marL="0" indent="0">
              <a:buNone/>
              <a:defRPr sz="2400" b="0" baseline="0">
                <a:solidFill>
                  <a:srgbClr val="2644A7"/>
                </a:solidFill>
              </a:defRPr>
            </a:lvl1pPr>
            <a:lvl2pPr marL="338383" indent="0">
              <a:buNone/>
              <a:defRPr sz="1480" b="1"/>
            </a:lvl2pPr>
            <a:lvl3pPr marL="676765" indent="0">
              <a:buNone/>
              <a:defRPr sz="1332" b="1"/>
            </a:lvl3pPr>
            <a:lvl4pPr marL="1015148" indent="0">
              <a:buNone/>
              <a:defRPr sz="1184" b="1"/>
            </a:lvl4pPr>
            <a:lvl5pPr marL="1353530" indent="0">
              <a:buNone/>
              <a:defRPr sz="1184" b="1"/>
            </a:lvl5pPr>
            <a:lvl6pPr marL="1691913" indent="0">
              <a:buNone/>
              <a:defRPr sz="1184" b="1"/>
            </a:lvl6pPr>
            <a:lvl7pPr marL="2030295" indent="0">
              <a:buNone/>
              <a:defRPr sz="1184" b="1"/>
            </a:lvl7pPr>
            <a:lvl8pPr marL="2368678" indent="0">
              <a:buNone/>
              <a:defRPr sz="1184" b="1"/>
            </a:lvl8pPr>
            <a:lvl9pPr marL="2707061" indent="0">
              <a:buNone/>
              <a:defRPr sz="1184"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BDB0ABC1-873A-F2DD-170F-E80FE4830D28}"/>
              </a:ext>
            </a:extLst>
          </p:cNvPr>
          <p:cNvSpPr>
            <a:spLocks noGrp="1"/>
          </p:cNvSpPr>
          <p:nvPr>
            <p:ph sz="half" idx="2"/>
          </p:nvPr>
        </p:nvSpPr>
        <p:spPr>
          <a:xfrm>
            <a:off x="970723" y="2725735"/>
            <a:ext cx="5157787" cy="3384119"/>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4">
            <a:extLst>
              <a:ext uri="{FF2B5EF4-FFF2-40B4-BE49-F238E27FC236}">
                <a16:creationId xmlns:a16="http://schemas.microsoft.com/office/drawing/2014/main" id="{0057B6DC-82B6-DC47-2B36-FBA16BFA54D7}"/>
              </a:ext>
            </a:extLst>
          </p:cNvPr>
          <p:cNvSpPr>
            <a:spLocks noGrp="1"/>
          </p:cNvSpPr>
          <p:nvPr>
            <p:ph type="body" sz="quarter" idx="3"/>
          </p:nvPr>
        </p:nvSpPr>
        <p:spPr>
          <a:xfrm>
            <a:off x="6303134" y="1894895"/>
            <a:ext cx="5183188" cy="823912"/>
          </a:xfrm>
          <a:noFill/>
        </p:spPr>
        <p:txBody>
          <a:bodyPr wrap="square" anchor="t">
            <a:noAutofit/>
          </a:bodyPr>
          <a:lstStyle>
            <a:lvl1pPr marL="0" indent="0">
              <a:buNone/>
              <a:defRPr sz="2400" b="0">
                <a:solidFill>
                  <a:srgbClr val="2644A7"/>
                </a:solidFill>
              </a:defRPr>
            </a:lvl1pPr>
            <a:lvl2pPr marL="338383" indent="0">
              <a:buNone/>
              <a:defRPr sz="1480" b="1"/>
            </a:lvl2pPr>
            <a:lvl3pPr marL="676765" indent="0">
              <a:buNone/>
              <a:defRPr sz="1332" b="1"/>
            </a:lvl3pPr>
            <a:lvl4pPr marL="1015148" indent="0">
              <a:buNone/>
              <a:defRPr sz="1184" b="1"/>
            </a:lvl4pPr>
            <a:lvl5pPr marL="1353530" indent="0">
              <a:buNone/>
              <a:defRPr sz="1184" b="1"/>
            </a:lvl5pPr>
            <a:lvl6pPr marL="1691913" indent="0">
              <a:buNone/>
              <a:defRPr sz="1184" b="1"/>
            </a:lvl6pPr>
            <a:lvl7pPr marL="2030295" indent="0">
              <a:buNone/>
              <a:defRPr sz="1184" b="1"/>
            </a:lvl7pPr>
            <a:lvl8pPr marL="2368678" indent="0">
              <a:buNone/>
              <a:defRPr sz="1184" b="1"/>
            </a:lvl8pPr>
            <a:lvl9pPr marL="2707061" indent="0">
              <a:buNone/>
              <a:defRPr sz="1184" b="1"/>
            </a:lvl9pPr>
          </a:lstStyle>
          <a:p>
            <a:pPr lvl="0"/>
            <a:r>
              <a:rPr lang="en-US" dirty="0"/>
              <a:t>Click to edit Master text styles</a:t>
            </a:r>
          </a:p>
        </p:txBody>
      </p:sp>
      <p:pic>
        <p:nvPicPr>
          <p:cNvPr id="9" name="Picture 8">
            <a:extLst>
              <a:ext uri="{FF2B5EF4-FFF2-40B4-BE49-F238E27FC236}">
                <a16:creationId xmlns:a16="http://schemas.microsoft.com/office/drawing/2014/main" id="{6495916A-C750-070D-C528-9F655246DF58}"/>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10" name="Picture 9">
            <a:extLst>
              <a:ext uri="{FF2B5EF4-FFF2-40B4-BE49-F238E27FC236}">
                <a16:creationId xmlns:a16="http://schemas.microsoft.com/office/drawing/2014/main" id="{457D36BD-C483-ED07-0866-A0A591A01707}"/>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2" name="Content Placeholder 3">
            <a:extLst>
              <a:ext uri="{FF2B5EF4-FFF2-40B4-BE49-F238E27FC236}">
                <a16:creationId xmlns:a16="http://schemas.microsoft.com/office/drawing/2014/main" id="{A623D267-A36F-1DAC-4912-F35877117825}"/>
              </a:ext>
            </a:extLst>
          </p:cNvPr>
          <p:cNvSpPr>
            <a:spLocks noGrp="1"/>
          </p:cNvSpPr>
          <p:nvPr>
            <p:ph sz="half" idx="13"/>
          </p:nvPr>
        </p:nvSpPr>
        <p:spPr>
          <a:xfrm>
            <a:off x="6309559" y="2725735"/>
            <a:ext cx="5183188" cy="3384119"/>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4734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option 1)" preserve="1" userDrawn="1">
  <p:cSld name="Last slide (option 1)">
    <p:spTree>
      <p:nvGrpSpPr>
        <p:cNvPr id="1" name="Shape 140"/>
        <p:cNvGrpSpPr/>
        <p:nvPr/>
      </p:nvGrpSpPr>
      <p:grpSpPr>
        <a:xfrm>
          <a:off x="0" y="0"/>
          <a:ext cx="0" cy="0"/>
          <a:chOff x="0" y="0"/>
          <a:chExt cx="0" cy="0"/>
        </a:xfrm>
      </p:grpSpPr>
      <p:sp>
        <p:nvSpPr>
          <p:cNvPr id="3" name="Google Shape;141;p37">
            <a:extLst>
              <a:ext uri="{FF2B5EF4-FFF2-40B4-BE49-F238E27FC236}">
                <a16:creationId xmlns:a16="http://schemas.microsoft.com/office/drawing/2014/main" id="{ACED6512-1BD5-58D6-D635-D62C0A34BF8C}"/>
              </a:ext>
            </a:extLst>
          </p:cNvPr>
          <p:cNvSpPr>
            <a:spLocks/>
          </p:cNvSpPr>
          <p:nvPr userDrawn="1"/>
        </p:nvSpPr>
        <p:spPr>
          <a:xfrm>
            <a:off x="0" y="3328560"/>
            <a:ext cx="12192000" cy="2913720"/>
          </a:xfrm>
          <a:prstGeom prst="rect">
            <a:avLst/>
          </a:prstGeom>
          <a:solidFill>
            <a:srgbClr val="2644A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44" name="Google Shape;144;p37"/>
          <p:cNvSpPr txBox="1">
            <a:spLocks noGrp="1"/>
          </p:cNvSpPr>
          <p:nvPr>
            <p:ph type="body" idx="1"/>
          </p:nvPr>
        </p:nvSpPr>
        <p:spPr>
          <a:xfrm>
            <a:off x="970723" y="3777422"/>
            <a:ext cx="6865686" cy="2174332"/>
          </a:xfrm>
          <a:prstGeom prst="rect">
            <a:avLst/>
          </a:prstGeom>
          <a:noFill/>
          <a:ln>
            <a:noFill/>
          </a:ln>
        </p:spPr>
        <p:txBody>
          <a:bodyPr spcFirstLastPara="1" wrap="square" lIns="91425" tIns="45700" rIns="91425" bIns="45700" anchor="t" anchorCtr="0">
            <a:noAutofit/>
          </a:bodyPr>
          <a:lstStyle>
            <a:lvl1pPr marL="0" lvl="0" indent="0" algn="l">
              <a:lnSpc>
                <a:spcPct val="100000"/>
              </a:lnSpc>
              <a:spcBef>
                <a:spcPts val="0"/>
              </a:spcBef>
              <a:spcAft>
                <a:spcPts val="0"/>
              </a:spcAft>
              <a:buSzPts val="1400"/>
              <a:buFont typeface="Arial"/>
              <a:buNone/>
              <a:defRPr sz="2400">
                <a:solidFill>
                  <a:srgbClr val="F4F4F4"/>
                </a:solidFill>
              </a:defRPr>
            </a:lvl1pPr>
            <a:lvl2pPr marL="914400" lvl="1" indent="-228600" algn="l">
              <a:lnSpc>
                <a:spcPct val="100000"/>
              </a:lnSpc>
              <a:spcBef>
                <a:spcPts val="1800"/>
              </a:spcBef>
              <a:spcAft>
                <a:spcPts val="0"/>
              </a:spcAft>
              <a:buSzPts val="2000"/>
              <a:buNone/>
              <a:defRPr/>
            </a:lvl2pPr>
            <a:lvl3pPr marL="1371600" lvl="2" indent="-342900" algn="l">
              <a:lnSpc>
                <a:spcPct val="100000"/>
              </a:lnSpc>
              <a:spcBef>
                <a:spcPts val="1800"/>
              </a:spcBef>
              <a:spcAft>
                <a:spcPts val="0"/>
              </a:spcAft>
              <a:buSzPts val="1800"/>
              <a:buChar char="•"/>
              <a:defRPr/>
            </a:lvl3pPr>
            <a:lvl4pPr marL="1828800" lvl="3" indent="-342900" algn="l">
              <a:lnSpc>
                <a:spcPct val="100000"/>
              </a:lnSpc>
              <a:spcBef>
                <a:spcPts val="1800"/>
              </a:spcBef>
              <a:spcAft>
                <a:spcPts val="0"/>
              </a:spcAft>
              <a:buSzPts val="1800"/>
              <a:buChar char="•"/>
              <a:defRPr/>
            </a:lvl4pPr>
            <a:lvl5pPr marL="2286000" lvl="4" indent="-342900" algn="l">
              <a:lnSpc>
                <a:spcPct val="100000"/>
              </a:lnSpc>
              <a:spcBef>
                <a:spcPts val="1800"/>
              </a:spcBef>
              <a:spcAft>
                <a:spcPts val="0"/>
              </a:spcAft>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pic>
        <p:nvPicPr>
          <p:cNvPr id="5" name="Picture 4">
            <a:extLst>
              <a:ext uri="{FF2B5EF4-FFF2-40B4-BE49-F238E27FC236}">
                <a16:creationId xmlns:a16="http://schemas.microsoft.com/office/drawing/2014/main" id="{3488A19F-A201-3EB2-A71E-1E51EF3E1B23}"/>
              </a:ext>
            </a:extLst>
          </p:cNvPr>
          <p:cNvPicPr>
            <a:picLocks noChangeAspect="1"/>
          </p:cNvPicPr>
          <p:nvPr userDrawn="1"/>
        </p:nvPicPr>
        <p:blipFill>
          <a:blip r:embed="rId2"/>
          <a:srcRect/>
          <a:stretch/>
        </p:blipFill>
        <p:spPr>
          <a:xfrm>
            <a:off x="8107569" y="3538903"/>
            <a:ext cx="2931525" cy="2412704"/>
          </a:xfrm>
          <a:prstGeom prst="rect">
            <a:avLst/>
          </a:prstGeom>
        </p:spPr>
      </p:pic>
      <p:sp>
        <p:nvSpPr>
          <p:cNvPr id="7" name="Title Placeholder 1">
            <a:extLst>
              <a:ext uri="{FF2B5EF4-FFF2-40B4-BE49-F238E27FC236}">
                <a16:creationId xmlns:a16="http://schemas.microsoft.com/office/drawing/2014/main" id="{9CD49B01-566F-CA34-C636-83E50BFD40E0}"/>
              </a:ext>
            </a:extLst>
          </p:cNvPr>
          <p:cNvSpPr>
            <a:spLocks noGrp="1"/>
          </p:cNvSpPr>
          <p:nvPr>
            <p:ph type="title"/>
          </p:nvPr>
        </p:nvSpPr>
        <p:spPr>
          <a:xfrm>
            <a:off x="970722" y="414281"/>
            <a:ext cx="10515600" cy="2937139"/>
          </a:xfrm>
          <a:prstGeom prst="rect">
            <a:avLst/>
          </a:prstGeom>
        </p:spPr>
        <p:txBody>
          <a:bodyPr vert="horz" lIns="91440" tIns="45720" rIns="91440" bIns="0" rtlCol="0" anchor="ctr" anchorCtr="0">
            <a:noAutofit/>
          </a:bodyPr>
          <a:lstStyle>
            <a:lvl1pPr algn="ctr">
              <a:defRPr sz="4800">
                <a:solidFill>
                  <a:srgbClr val="101010"/>
                </a:solidFill>
              </a:defRPr>
            </a:lvl1pPr>
          </a:lstStyle>
          <a:p>
            <a:r>
              <a:rPr lang="en-US" dirty="0"/>
              <a:t>Click to edit Master title style</a:t>
            </a:r>
            <a:endParaRPr lang="en-GB" dirty="0"/>
          </a:p>
        </p:txBody>
      </p:sp>
      <p:sp>
        <p:nvSpPr>
          <p:cNvPr id="8" name="Google Shape;10;p21">
            <a:extLst>
              <a:ext uri="{FF2B5EF4-FFF2-40B4-BE49-F238E27FC236}">
                <a16:creationId xmlns:a16="http://schemas.microsoft.com/office/drawing/2014/main" id="{C209E83E-F338-C8C6-D016-6C5FE194EA8B}"/>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a:t>
            </a:fld>
            <a:endParaRPr lang="en-GB"/>
          </a:p>
        </p:txBody>
      </p:sp>
      <p:pic>
        <p:nvPicPr>
          <p:cNvPr id="2" name="Picture 1">
            <a:extLst>
              <a:ext uri="{FF2B5EF4-FFF2-40B4-BE49-F238E27FC236}">
                <a16:creationId xmlns:a16="http://schemas.microsoft.com/office/drawing/2014/main" id="{736B8EBF-8A1C-818A-CBBC-1DC51D94C547}"/>
              </a:ext>
            </a:extLst>
          </p:cNvPr>
          <p:cNvPicPr>
            <a:picLocks noChangeAspect="1"/>
          </p:cNvPicPr>
          <p:nvPr userDrawn="1"/>
        </p:nvPicPr>
        <p:blipFill>
          <a:blip r:embed="rId3"/>
          <a:srcRect/>
          <a:stretch/>
        </p:blipFill>
        <p:spPr>
          <a:xfrm>
            <a:off x="10326539" y="5728720"/>
            <a:ext cx="1865461" cy="1130560"/>
          </a:xfrm>
          <a:prstGeom prst="rect">
            <a:avLst/>
          </a:prstGeom>
        </p:spPr>
      </p:pic>
      <p:pic>
        <p:nvPicPr>
          <p:cNvPr id="10" name="Picture 9">
            <a:extLst>
              <a:ext uri="{FF2B5EF4-FFF2-40B4-BE49-F238E27FC236}">
                <a16:creationId xmlns:a16="http://schemas.microsoft.com/office/drawing/2014/main" id="{A8541C9F-06FD-4BC7-C438-D852985D159B}"/>
              </a:ext>
            </a:extLst>
          </p:cNvPr>
          <p:cNvPicPr>
            <a:picLocks noChangeAspect="1"/>
          </p:cNvPicPr>
          <p:nvPr userDrawn="1"/>
        </p:nvPicPr>
        <p:blipFill>
          <a:blip r:embed="rId4"/>
          <a:srcRect/>
          <a:stretch/>
        </p:blipFill>
        <p:spPr>
          <a:xfrm>
            <a:off x="424731" y="6499013"/>
            <a:ext cx="1332000" cy="181429"/>
          </a:xfrm>
          <a:prstGeom prst="rect">
            <a:avLst/>
          </a:prstGeom>
        </p:spPr>
      </p:pic>
    </p:spTree>
    <p:extLst>
      <p:ext uri="{BB962C8B-B14F-4D97-AF65-F5344CB8AC3E}">
        <p14:creationId xmlns:p14="http://schemas.microsoft.com/office/powerpoint/2010/main" val="7271498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1" name="Google Shape;11;p21"/>
          <p:cNvSpPr txBox="1">
            <a:spLocks noGrp="1"/>
          </p:cNvSpPr>
          <p:nvPr>
            <p:ph type="title"/>
          </p:nvPr>
        </p:nvSpPr>
        <p:spPr>
          <a:xfrm>
            <a:off x="838200" y="763064"/>
            <a:ext cx="10515600"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4000"/>
              <a:buFont typeface="Arial"/>
              <a:buNone/>
              <a:defRPr sz="40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2" name="Google Shape;12;p21"/>
          <p:cNvSpPr txBox="1">
            <a:spLocks noGrp="1"/>
          </p:cNvSpPr>
          <p:nvPr>
            <p:ph type="body" idx="1"/>
          </p:nvPr>
        </p:nvSpPr>
        <p:spPr>
          <a:xfrm>
            <a:off x="838200" y="1825625"/>
            <a:ext cx="10515600" cy="3881904"/>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dk2"/>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sldLayoutIdLst>
    <p:sldLayoutId id="2147483727" r:id="rId1"/>
    <p:sldLayoutId id="2147483717" r:id="rId2"/>
    <p:sldLayoutId id="2147483724" r:id="rId3"/>
    <p:sldLayoutId id="2147483725" r:id="rId4"/>
    <p:sldLayoutId id="2147483723" r:id="rId5"/>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2644A7"/>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cbs.nl/en-gb/visualisations/economy-dashboard/business-cycle"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86E511-2A8E-CD8D-FA1D-6DDA5388CE10}"/>
              </a:ext>
            </a:extLst>
          </p:cNvPr>
          <p:cNvSpPr>
            <a:spLocks noGrp="1"/>
          </p:cNvSpPr>
          <p:nvPr>
            <p:ph type="subTitle" idx="1"/>
          </p:nvPr>
        </p:nvSpPr>
        <p:spPr>
          <a:xfrm>
            <a:off x="476017" y="2922801"/>
            <a:ext cx="9908088" cy="1745469"/>
          </a:xfrm>
        </p:spPr>
        <p:txBody>
          <a:bodyPr/>
          <a:lstStyle/>
          <a:p>
            <a:r>
              <a:rPr lang="en-IE" dirty="0"/>
              <a:t>	From statistical filters to the “business cycle tracer”</a:t>
            </a:r>
          </a:p>
          <a:p>
            <a:endParaRPr lang="en-IE" dirty="0"/>
          </a:p>
          <a:p>
            <a:r>
              <a:rPr lang="en-IE" dirty="0" err="1"/>
              <a:t>Dr.</a:t>
            </a:r>
            <a:r>
              <a:rPr lang="en-IE" dirty="0"/>
              <a:t> Sebastiaan Tieleman </a:t>
            </a:r>
          </a:p>
          <a:p>
            <a:r>
              <a:rPr lang="en-IE" dirty="0"/>
              <a:t>( </a:t>
            </a:r>
            <a:r>
              <a:rPr lang="en-IE" dirty="0" err="1"/>
              <a:t>StatNL</a:t>
            </a:r>
            <a:r>
              <a:rPr lang="en-IE" dirty="0"/>
              <a:t>, sb.tieleman@cbs.nl) </a:t>
            </a:r>
          </a:p>
        </p:txBody>
      </p:sp>
      <p:sp>
        <p:nvSpPr>
          <p:cNvPr id="3" name="Title 2">
            <a:extLst>
              <a:ext uri="{FF2B5EF4-FFF2-40B4-BE49-F238E27FC236}">
                <a16:creationId xmlns:a16="http://schemas.microsoft.com/office/drawing/2014/main" id="{E2518E6D-618C-DDB2-DF84-26EB66F0C2A9}"/>
              </a:ext>
            </a:extLst>
          </p:cNvPr>
          <p:cNvSpPr>
            <a:spLocks noGrp="1"/>
          </p:cNvSpPr>
          <p:nvPr>
            <p:ph type="title"/>
          </p:nvPr>
        </p:nvSpPr>
        <p:spPr/>
        <p:txBody>
          <a:bodyPr/>
          <a:lstStyle/>
          <a:p>
            <a:r>
              <a:rPr lang="en-GB" sz="4800" dirty="0"/>
              <a:t>Time series and forecasting:</a:t>
            </a:r>
            <a:br>
              <a:rPr lang="en-GB" sz="4800" dirty="0"/>
            </a:br>
            <a:r>
              <a:rPr lang="en-US" dirty="0"/>
              <a:t>Methods for Trend–Cycle Decomposition</a:t>
            </a:r>
            <a:endParaRPr lang="en-IE" dirty="0"/>
          </a:p>
        </p:txBody>
      </p:sp>
      <p:sp>
        <p:nvSpPr>
          <p:cNvPr id="4" name="Text Placeholder 3">
            <a:extLst>
              <a:ext uri="{FF2B5EF4-FFF2-40B4-BE49-F238E27FC236}">
                <a16:creationId xmlns:a16="http://schemas.microsoft.com/office/drawing/2014/main" id="{F3FA50BB-3958-DA6F-CD7B-74B9FFF5C40A}"/>
              </a:ext>
            </a:extLst>
          </p:cNvPr>
          <p:cNvSpPr>
            <a:spLocks noGrp="1"/>
          </p:cNvSpPr>
          <p:nvPr>
            <p:ph type="body" sz="quarter" idx="10"/>
          </p:nvPr>
        </p:nvSpPr>
        <p:spPr>
          <a:xfrm>
            <a:off x="1307993" y="5771588"/>
            <a:ext cx="3212051" cy="777875"/>
          </a:xfrm>
        </p:spPr>
        <p:txBody>
          <a:bodyPr/>
          <a:lstStyle/>
          <a:p>
            <a:r>
              <a:rPr lang="en-IE" dirty="0"/>
              <a:t>October 2026</a:t>
            </a:r>
          </a:p>
        </p:txBody>
      </p:sp>
    </p:spTree>
    <p:extLst>
      <p:ext uri="{BB962C8B-B14F-4D97-AF65-F5344CB8AC3E}">
        <p14:creationId xmlns:p14="http://schemas.microsoft.com/office/powerpoint/2010/main" val="3481153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en-IE" dirty="0"/>
              <a:t>Table of contents</a:t>
            </a:r>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2</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457200" indent="-457200">
              <a:buFont typeface="+mj-lt"/>
              <a:buAutoNum type="arabicPeriod"/>
            </a:pPr>
            <a:r>
              <a:rPr lang="en-IE" dirty="0"/>
              <a:t>Introduction</a:t>
            </a:r>
          </a:p>
          <a:p>
            <a:pPr marL="457200" indent="-457200">
              <a:buFont typeface="+mj-lt"/>
              <a:buAutoNum type="arabicPeriod"/>
            </a:pPr>
            <a:r>
              <a:rPr lang="en-IE" dirty="0"/>
              <a:t>Decomposition model</a:t>
            </a:r>
          </a:p>
          <a:p>
            <a:pPr marL="457200" indent="-457200">
              <a:buFont typeface="+mj-lt"/>
              <a:buAutoNum type="arabicPeriod"/>
            </a:pPr>
            <a:r>
              <a:rPr lang="en-IE" dirty="0"/>
              <a:t>What is a business cycle?</a:t>
            </a:r>
          </a:p>
          <a:p>
            <a:pPr marL="457200" indent="-457200">
              <a:buFont typeface="+mj-lt"/>
              <a:buAutoNum type="arabicPeriod"/>
            </a:pPr>
            <a:r>
              <a:rPr lang="en-IE" dirty="0"/>
              <a:t>HP-filter</a:t>
            </a:r>
          </a:p>
          <a:p>
            <a:pPr marL="457200" indent="-457200">
              <a:buFont typeface="+mj-lt"/>
              <a:buAutoNum type="arabicPeriod"/>
            </a:pPr>
            <a:r>
              <a:rPr lang="en-IE" dirty="0"/>
              <a:t>H-filter</a:t>
            </a:r>
          </a:p>
          <a:p>
            <a:pPr marL="457200" indent="-457200">
              <a:buFont typeface="+mj-lt"/>
              <a:buAutoNum type="arabicPeriod"/>
            </a:pPr>
            <a:r>
              <a:rPr lang="en-IE" dirty="0"/>
              <a:t>Structural Time Series Model (STM)</a:t>
            </a:r>
          </a:p>
          <a:p>
            <a:pPr marL="457200" indent="-457200">
              <a:buFont typeface="+mj-lt"/>
              <a:buAutoNum type="arabicPeriod"/>
            </a:pPr>
            <a:r>
              <a:rPr lang="en-IE" dirty="0"/>
              <a:t>Business cycle tracer</a:t>
            </a:r>
          </a:p>
          <a:p>
            <a:pPr marL="799200" lvl="1" indent="-457200">
              <a:buFont typeface="+mj-lt"/>
              <a:buAutoNum type="arabicPeriod"/>
            </a:pPr>
            <a:r>
              <a:rPr lang="en-IE" dirty="0"/>
              <a:t>Example</a:t>
            </a:r>
          </a:p>
          <a:p>
            <a:pPr marL="799200" lvl="1" indent="-457200">
              <a:buFont typeface="+mj-lt"/>
              <a:buAutoNum type="arabicPeriod"/>
            </a:pPr>
            <a:r>
              <a:rPr lang="en-IE" dirty="0"/>
              <a:t>Construction</a:t>
            </a:r>
          </a:p>
          <a:p>
            <a:pPr marL="799200" lvl="1" indent="-457200">
              <a:buFont typeface="+mj-lt"/>
              <a:buAutoNum type="arabicPeriod"/>
            </a:pPr>
            <a:endParaRPr lang="en-IE" dirty="0"/>
          </a:p>
          <a:p>
            <a:pPr marL="799200" lvl="1" indent="-457200">
              <a:buFont typeface="+mj-lt"/>
              <a:buAutoNum type="arabicPeriod"/>
            </a:pPr>
            <a:endParaRPr lang="en-IE" dirty="0"/>
          </a:p>
          <a:p>
            <a:pPr marL="457200" indent="-457200">
              <a:buFont typeface="+mj-lt"/>
              <a:buAutoNum type="arabicPeriod"/>
            </a:pPr>
            <a:endParaRPr lang="en-IE" dirty="0"/>
          </a:p>
        </p:txBody>
      </p:sp>
    </p:spTree>
    <p:extLst>
      <p:ext uri="{BB962C8B-B14F-4D97-AF65-F5344CB8AC3E}">
        <p14:creationId xmlns:p14="http://schemas.microsoft.com/office/powerpoint/2010/main" val="4093939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C153-62A6-A067-EF6E-7AF5D36227AE}"/>
              </a:ext>
            </a:extLst>
          </p:cNvPr>
          <p:cNvSpPr>
            <a:spLocks noGrp="1"/>
          </p:cNvSpPr>
          <p:nvPr>
            <p:ph type="title"/>
          </p:nvPr>
        </p:nvSpPr>
        <p:spPr/>
        <p:txBody>
          <a:bodyPr/>
          <a:lstStyle/>
          <a:p>
            <a:r>
              <a:rPr lang="en-US" dirty="0"/>
              <a:t>Introduction</a:t>
            </a:r>
          </a:p>
        </p:txBody>
      </p:sp>
      <p:sp>
        <p:nvSpPr>
          <p:cNvPr id="3" name="Slide Number Placeholder 2">
            <a:extLst>
              <a:ext uri="{FF2B5EF4-FFF2-40B4-BE49-F238E27FC236}">
                <a16:creationId xmlns:a16="http://schemas.microsoft.com/office/drawing/2014/main" id="{2743E297-5EB6-8F5A-5641-3FF5AE8C432E}"/>
              </a:ext>
            </a:extLst>
          </p:cNvPr>
          <p:cNvSpPr>
            <a:spLocks noGrp="1"/>
          </p:cNvSpPr>
          <p:nvPr>
            <p:ph type="sldNum" idx="12"/>
          </p:nvPr>
        </p:nvSpPr>
        <p:spPr/>
        <p:txBody>
          <a:bodyPr/>
          <a:lstStyle/>
          <a:p>
            <a:fld id="{00000000-1234-1234-1234-123412341234}" type="slidenum">
              <a:rPr lang="en-GB" smtClean="0"/>
              <a:pPr/>
              <a:t>3</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51ED581-EA34-4320-B04E-3281468B58A0}"/>
                  </a:ext>
                </a:extLst>
              </p:cNvPr>
              <p:cNvSpPr>
                <a:spLocks noGrp="1"/>
              </p:cNvSpPr>
              <p:nvPr>
                <p:ph sz="half" idx="2"/>
              </p:nvPr>
            </p:nvSpPr>
            <p:spPr/>
            <p:txBody>
              <a:bodyPr/>
              <a:lstStyle/>
              <a:p>
                <a:r>
                  <a:rPr lang="en-US" dirty="0"/>
                  <a:t>Macroeconomic time series </a:t>
                </a:r>
                <a14:m>
                  <m:oMath xmlns:m="http://schemas.openxmlformats.org/officeDocument/2006/math">
                    <m:r>
                      <a:rPr lang="nl-NL" b="0" i="1" smtClean="0">
                        <a:latin typeface="Cambria Math" panose="02040503050406030204" pitchFamily="18" charset="0"/>
                      </a:rPr>
                      <m:t>𝑦</m:t>
                    </m:r>
                  </m:oMath>
                </a14:m>
                <a:r>
                  <a:rPr lang="en-US" dirty="0"/>
                  <a:t> (such as GDP) are assumed to be constituted of several underlying components</a:t>
                </a:r>
              </a:p>
              <a:p>
                <a:endParaRPr lang="en-US" dirty="0"/>
              </a:p>
              <a:p>
                <a:r>
                  <a:rPr lang="en-US" dirty="0"/>
                  <a:t>In particular macro-economic dynamics can be categorized in terms of the temporal structure of their behavior</a:t>
                </a:r>
              </a:p>
              <a:p>
                <a:pPr lvl="1"/>
                <a:r>
                  <a:rPr lang="en-US" dirty="0"/>
                  <a:t>Long term trend </a:t>
                </a:r>
                <a:r>
                  <a:rPr lang="en-US" dirty="0">
                    <a:sym typeface="Wingdings" panose="05000000000000000000" pitchFamily="2" charset="2"/>
                  </a:rPr>
                  <a:t> years to decades</a:t>
                </a:r>
              </a:p>
              <a:p>
                <a:pPr lvl="1"/>
                <a:r>
                  <a:rPr lang="en-US" dirty="0">
                    <a:sym typeface="Wingdings" panose="05000000000000000000" pitchFamily="2" charset="2"/>
                  </a:rPr>
                  <a:t>Business cycle  several years</a:t>
                </a:r>
              </a:p>
              <a:p>
                <a:pPr lvl="1"/>
                <a:r>
                  <a:rPr lang="en-US" dirty="0">
                    <a:sym typeface="Wingdings" panose="05000000000000000000" pitchFamily="2" charset="2"/>
                  </a:rPr>
                  <a:t>Seasonal components  within one year</a:t>
                </a:r>
              </a:p>
              <a:p>
                <a:pPr lvl="1"/>
                <a:r>
                  <a:rPr lang="en-US" dirty="0">
                    <a:sym typeface="Wingdings" panose="05000000000000000000" pitchFamily="2" charset="2"/>
                  </a:rPr>
                  <a:t>Noise  small high frequency dynamics or larger level shifts with no clearly defined temporal structure</a:t>
                </a:r>
                <a:endParaRPr lang="en-US" dirty="0"/>
              </a:p>
            </p:txBody>
          </p:sp>
        </mc:Choice>
        <mc:Fallback xmlns="">
          <p:sp>
            <p:nvSpPr>
              <p:cNvPr id="4" name="Content Placeholder 3">
                <a:extLst>
                  <a:ext uri="{FF2B5EF4-FFF2-40B4-BE49-F238E27FC236}">
                    <a16:creationId xmlns:a16="http://schemas.microsoft.com/office/drawing/2014/main" id="{D51ED581-EA34-4320-B04E-3281468B58A0}"/>
                  </a:ext>
                </a:extLst>
              </p:cNvPr>
              <p:cNvSpPr>
                <a:spLocks noGrp="1" noRot="1" noChangeAspect="1" noMove="1" noResize="1" noEditPoints="1" noAdjustHandles="1" noChangeArrowheads="1" noChangeShapeType="1" noTextEdit="1"/>
              </p:cNvSpPr>
              <p:nvPr>
                <p:ph sz="half" idx="2"/>
              </p:nvPr>
            </p:nvSpPr>
            <p:spPr>
              <a:blipFill>
                <a:blip r:embed="rId2"/>
                <a:stretch>
                  <a:fillRect l="-754" t="-2326"/>
                </a:stretch>
              </a:blipFill>
            </p:spPr>
            <p:txBody>
              <a:bodyPr/>
              <a:lstStyle/>
              <a:p>
                <a:r>
                  <a:rPr lang="en-US">
                    <a:noFill/>
                  </a:rPr>
                  <a:t> </a:t>
                </a:r>
              </a:p>
            </p:txBody>
          </p:sp>
        </mc:Fallback>
      </mc:AlternateContent>
    </p:spTree>
    <p:extLst>
      <p:ext uri="{BB962C8B-B14F-4D97-AF65-F5344CB8AC3E}">
        <p14:creationId xmlns:p14="http://schemas.microsoft.com/office/powerpoint/2010/main" val="1300214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2E54A-8024-FC19-A288-B0EA9E05F9A0}"/>
              </a:ext>
            </a:extLst>
          </p:cNvPr>
          <p:cNvSpPr>
            <a:spLocks noGrp="1"/>
          </p:cNvSpPr>
          <p:nvPr>
            <p:ph type="title"/>
          </p:nvPr>
        </p:nvSpPr>
        <p:spPr/>
        <p:txBody>
          <a:bodyPr/>
          <a:lstStyle/>
          <a:p>
            <a:r>
              <a:rPr lang="en-US" dirty="0"/>
              <a:t>Decomposition model</a:t>
            </a:r>
          </a:p>
        </p:txBody>
      </p:sp>
      <p:sp>
        <p:nvSpPr>
          <p:cNvPr id="3" name="Slide Number Placeholder 2">
            <a:extLst>
              <a:ext uri="{FF2B5EF4-FFF2-40B4-BE49-F238E27FC236}">
                <a16:creationId xmlns:a16="http://schemas.microsoft.com/office/drawing/2014/main" id="{7E4E48F0-D458-E1D5-7ACF-508D8E8A3678}"/>
              </a:ext>
            </a:extLst>
          </p:cNvPr>
          <p:cNvSpPr>
            <a:spLocks noGrp="1"/>
          </p:cNvSpPr>
          <p:nvPr>
            <p:ph type="sldNum" idx="12"/>
          </p:nvPr>
        </p:nvSpPr>
        <p:spPr/>
        <p:txBody>
          <a:bodyPr/>
          <a:lstStyle/>
          <a:p>
            <a:fld id="{00000000-1234-1234-1234-123412341234}" type="slidenum">
              <a:rPr lang="en-GB" smtClean="0"/>
              <a:pPr/>
              <a:t>4</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D9382C5-72F4-5AA3-9960-1814D362B6A4}"/>
                  </a:ext>
                </a:extLst>
              </p:cNvPr>
              <p:cNvSpPr>
                <a:spLocks noGrp="1"/>
              </p:cNvSpPr>
              <p:nvPr>
                <p:ph sz="half" idx="2"/>
              </p:nvPr>
            </p:nvSpPr>
            <p:spPr/>
            <p:txBody>
              <a:bodyPr/>
              <a:lstStyle/>
              <a:p>
                <a:r>
                  <a:rPr lang="en-US" dirty="0"/>
                  <a:t>A time series </a:t>
                </a:r>
                <a14:m>
                  <m:oMath xmlns:m="http://schemas.openxmlformats.org/officeDocument/2006/math">
                    <m:r>
                      <a:rPr lang="nl-NL" b="0" i="1" smtClean="0">
                        <a:latin typeface="Cambria Math" panose="02040503050406030204" pitchFamily="18" charset="0"/>
                      </a:rPr>
                      <m:t>𝑦</m:t>
                    </m:r>
                  </m:oMath>
                </a14:m>
                <a:r>
                  <a:rPr lang="en-US" dirty="0"/>
                  <a:t> can de decomposed according to the following model (Harvey, 1989):</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r>
                            <a:rPr lang="nl-NL" b="0" i="1" smtClean="0">
                              <a:latin typeface="Cambria Math" panose="02040503050406030204" pitchFamily="18" charset="0"/>
                            </a:rPr>
                            <m:t>+</m:t>
                          </m:r>
                          <m:r>
                            <a:rPr lang="nl-NL" b="0" i="1" smtClean="0">
                              <a:latin typeface="Cambria Math" panose="02040503050406030204" pitchFamily="18" charset="0"/>
                            </a:rPr>
                            <m:t>𝑐</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𝑠</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𝜀</m:t>
                          </m:r>
                        </m:e>
                        <m:sub>
                          <m:r>
                            <a:rPr lang="nl-NL" b="0" i="1" smtClean="0">
                              <a:latin typeface="Cambria Math" panose="02040503050406030204" pitchFamily="18" charset="0"/>
                            </a:rPr>
                            <m:t>𝑡</m:t>
                          </m:r>
                        </m:sub>
                      </m:sSub>
                    </m:oMath>
                  </m:oMathPara>
                </a14:m>
                <a:endParaRPr lang="en-US" dirty="0"/>
              </a:p>
              <a:p>
                <a:pPr marL="0" indent="0">
                  <a:buNone/>
                </a:pPr>
                <a:endParaRPr lang="en-US" dirty="0"/>
              </a:p>
              <a:p>
                <a:r>
                  <a:rPr lang="en-US" dirty="0"/>
                  <a:t>Where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oMath>
                </a14:m>
                <a:r>
                  <a:rPr lang="en-US" dirty="0"/>
                  <a:t> is the trend,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sub>
                    </m:sSub>
                  </m:oMath>
                </a14:m>
                <a:r>
                  <a:rPr lang="en-US" dirty="0"/>
                  <a:t> the cyclical component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𝑠</m:t>
                        </m:r>
                      </m:e>
                      <m:sub>
                        <m:r>
                          <a:rPr lang="nl-NL" b="0" i="1" smtClean="0">
                            <a:latin typeface="Cambria Math" panose="02040503050406030204" pitchFamily="18" charset="0"/>
                          </a:rPr>
                          <m:t>𝑡</m:t>
                        </m:r>
                      </m:sub>
                    </m:sSub>
                  </m:oMath>
                </a14:m>
                <a:r>
                  <a:rPr lang="en-US" dirty="0"/>
                  <a:t> the seasonal component and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𝜀</m:t>
                        </m:r>
                      </m:e>
                      <m:sub>
                        <m:r>
                          <a:rPr lang="nl-NL" b="0" i="1" smtClean="0">
                            <a:latin typeface="Cambria Math" panose="02040503050406030204" pitchFamily="18" charset="0"/>
                          </a:rPr>
                          <m:t>𝑡</m:t>
                        </m:r>
                      </m:sub>
                    </m:sSub>
                  </m:oMath>
                </a14:m>
                <a:r>
                  <a:rPr lang="en-US" dirty="0"/>
                  <a:t> the noise at time </a:t>
                </a:r>
                <a14:m>
                  <m:oMath xmlns:m="http://schemas.openxmlformats.org/officeDocument/2006/math">
                    <m:r>
                      <a:rPr lang="nl-NL" b="0" i="1" smtClean="0">
                        <a:latin typeface="Cambria Math" panose="02040503050406030204" pitchFamily="18" charset="0"/>
                      </a:rPr>
                      <m:t>𝑡</m:t>
                    </m:r>
                  </m:oMath>
                </a14:m>
                <a:endParaRPr lang="en-US" dirty="0"/>
              </a:p>
              <a:p>
                <a:pPr marL="0" indent="0">
                  <a:buNone/>
                </a:pPr>
                <a:endParaRPr lang="en-US" dirty="0"/>
              </a:p>
              <a:p>
                <a:r>
                  <a:rPr lang="en-US" dirty="0"/>
                  <a:t>At Statistics Netherlands </a:t>
                </a:r>
                <a14:m>
                  <m:oMath xmlns:m="http://schemas.openxmlformats.org/officeDocument/2006/math">
                    <m:r>
                      <a:rPr lang="nl-NL" b="0" i="1" smtClean="0">
                        <a:latin typeface="Cambria Math" panose="02040503050406030204" pitchFamily="18" charset="0"/>
                      </a:rPr>
                      <m:t>𝑠</m:t>
                    </m:r>
                  </m:oMath>
                </a14:m>
                <a:r>
                  <a:rPr lang="en-US" dirty="0"/>
                  <a:t> and </a:t>
                </a:r>
                <a14:m>
                  <m:oMath xmlns:m="http://schemas.openxmlformats.org/officeDocument/2006/math">
                    <m:r>
                      <a:rPr lang="nl-NL" b="0" i="1" smtClean="0">
                        <a:latin typeface="Cambria Math" panose="02040503050406030204" pitchFamily="18" charset="0"/>
                      </a:rPr>
                      <m:t>𝜀</m:t>
                    </m:r>
                  </m:oMath>
                </a14:m>
                <a:r>
                  <a:rPr lang="en-US" dirty="0"/>
                  <a:t> are removed from </a:t>
                </a:r>
                <a14:m>
                  <m:oMath xmlns:m="http://schemas.openxmlformats.org/officeDocument/2006/math">
                    <m:r>
                      <a:rPr lang="nl-NL" b="0" i="1" smtClean="0">
                        <a:latin typeface="Cambria Math" panose="02040503050406030204" pitchFamily="18" charset="0"/>
                      </a:rPr>
                      <m:t>𝑦</m:t>
                    </m:r>
                  </m:oMath>
                </a14:m>
                <a:r>
                  <a:rPr lang="en-US" dirty="0"/>
                  <a:t> in the SA process (Demetra)</a:t>
                </a:r>
              </a:p>
              <a:p>
                <a:endParaRPr lang="en-US" dirty="0"/>
              </a:p>
              <a:p>
                <a:r>
                  <a:rPr lang="en-US" dirty="0"/>
                  <a:t>The focus in this course is on the identification of </a:t>
                </a:r>
                <a14:m>
                  <m:oMath xmlns:m="http://schemas.openxmlformats.org/officeDocument/2006/math">
                    <m:r>
                      <a:rPr lang="nl-NL" b="0" i="1" smtClean="0">
                        <a:latin typeface="Cambria Math" panose="02040503050406030204" pitchFamily="18" charset="0"/>
                      </a:rPr>
                      <m:t>𝑔</m:t>
                    </m:r>
                  </m:oMath>
                </a14:m>
                <a:r>
                  <a:rPr lang="en-US" dirty="0"/>
                  <a:t> and </a:t>
                </a:r>
                <a14:m>
                  <m:oMath xmlns:m="http://schemas.openxmlformats.org/officeDocument/2006/math">
                    <m:r>
                      <a:rPr lang="nl-NL" b="0" i="1" smtClean="0">
                        <a:latin typeface="Cambria Math" panose="02040503050406030204" pitchFamily="18" charset="0"/>
                      </a:rPr>
                      <m:t>𝑐</m:t>
                    </m:r>
                  </m:oMath>
                </a14:m>
                <a:r>
                  <a:rPr lang="en-US" dirty="0"/>
                  <a:t> from SA series</a:t>
                </a:r>
              </a:p>
              <a:p>
                <a:pPr marL="0" indent="0">
                  <a:buNone/>
                </a:pPr>
                <a:endParaRPr lang="en-US" dirty="0"/>
              </a:p>
            </p:txBody>
          </p:sp>
        </mc:Choice>
        <mc:Fallback xmlns="">
          <p:sp>
            <p:nvSpPr>
              <p:cNvPr id="4" name="Content Placeholder 3">
                <a:extLst>
                  <a:ext uri="{FF2B5EF4-FFF2-40B4-BE49-F238E27FC236}">
                    <a16:creationId xmlns:a16="http://schemas.microsoft.com/office/drawing/2014/main" id="{DD9382C5-72F4-5AA3-9960-1814D362B6A4}"/>
                  </a:ext>
                </a:extLst>
              </p:cNvPr>
              <p:cNvSpPr>
                <a:spLocks noGrp="1" noRot="1" noChangeAspect="1" noMove="1" noResize="1" noEditPoints="1" noAdjustHandles="1" noChangeArrowheads="1" noChangeShapeType="1" noTextEdit="1"/>
              </p:cNvSpPr>
              <p:nvPr>
                <p:ph sz="half" idx="2"/>
              </p:nvPr>
            </p:nvSpPr>
            <p:spPr>
              <a:blipFill>
                <a:blip r:embed="rId2"/>
                <a:stretch>
                  <a:fillRect l="-754" t="-2326"/>
                </a:stretch>
              </a:blipFill>
            </p:spPr>
            <p:txBody>
              <a:bodyPr/>
              <a:lstStyle/>
              <a:p>
                <a:r>
                  <a:rPr lang="en-US">
                    <a:noFill/>
                  </a:rPr>
                  <a:t> </a:t>
                </a:r>
              </a:p>
            </p:txBody>
          </p:sp>
        </mc:Fallback>
      </mc:AlternateContent>
    </p:spTree>
    <p:extLst>
      <p:ext uri="{BB962C8B-B14F-4D97-AF65-F5344CB8AC3E}">
        <p14:creationId xmlns:p14="http://schemas.microsoft.com/office/powerpoint/2010/main" val="4026404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5CB0C-47CB-CA49-5B84-76195FDE93CB}"/>
              </a:ext>
            </a:extLst>
          </p:cNvPr>
          <p:cNvSpPr>
            <a:spLocks noGrp="1"/>
          </p:cNvSpPr>
          <p:nvPr>
            <p:ph type="title"/>
          </p:nvPr>
        </p:nvSpPr>
        <p:spPr/>
        <p:txBody>
          <a:bodyPr/>
          <a:lstStyle/>
          <a:p>
            <a:r>
              <a:rPr lang="en-US" dirty="0"/>
              <a:t>What is a business cycle?</a:t>
            </a:r>
          </a:p>
        </p:txBody>
      </p:sp>
      <p:sp>
        <p:nvSpPr>
          <p:cNvPr id="3" name="Slide Number Placeholder 2">
            <a:extLst>
              <a:ext uri="{FF2B5EF4-FFF2-40B4-BE49-F238E27FC236}">
                <a16:creationId xmlns:a16="http://schemas.microsoft.com/office/drawing/2014/main" id="{DD19FD2B-D2F3-8F53-285D-22A4482025EE}"/>
              </a:ext>
            </a:extLst>
          </p:cNvPr>
          <p:cNvSpPr>
            <a:spLocks noGrp="1"/>
          </p:cNvSpPr>
          <p:nvPr>
            <p:ph type="sldNum" idx="12"/>
          </p:nvPr>
        </p:nvSpPr>
        <p:spPr/>
        <p:txBody>
          <a:bodyPr/>
          <a:lstStyle/>
          <a:p>
            <a:fld id="{00000000-1234-1234-1234-123412341234}" type="slidenum">
              <a:rPr lang="en-GB" smtClean="0"/>
              <a:pPr/>
              <a:t>5</a:t>
            </a:fld>
            <a:endParaRPr lang="en-GB"/>
          </a:p>
        </p:txBody>
      </p:sp>
      <p:sp>
        <p:nvSpPr>
          <p:cNvPr id="4" name="Content Placeholder 3">
            <a:extLst>
              <a:ext uri="{FF2B5EF4-FFF2-40B4-BE49-F238E27FC236}">
                <a16:creationId xmlns:a16="http://schemas.microsoft.com/office/drawing/2014/main" id="{FDFB1190-71BF-C27F-513D-28751FEB00AD}"/>
              </a:ext>
            </a:extLst>
          </p:cNvPr>
          <p:cNvSpPr>
            <a:spLocks noGrp="1"/>
          </p:cNvSpPr>
          <p:nvPr>
            <p:ph sz="half" idx="2"/>
          </p:nvPr>
        </p:nvSpPr>
        <p:spPr/>
        <p:txBody>
          <a:bodyPr/>
          <a:lstStyle/>
          <a:p>
            <a:pPr marL="0" indent="0">
              <a:buNone/>
            </a:pPr>
            <a:r>
              <a:rPr lang="en-US" i="1" dirty="0"/>
              <a:t>“Business cycles are a type of fluctuation found in the aggregate economic activity of nations that organize their work mainly in business enterprises: a cycle consists of expansions occurring at about the same time in many economic activities, followed by similarly general recessions, contractions, and revivals which merge into the expansion phase of the next cycle; this sequence of changes is recurrent but not periodic; in duration business cycles vary from more than one year to ten or twelve years; they are not divisible into shorter cycles of similar character with amplitudes approximating their own.”</a:t>
            </a:r>
          </a:p>
          <a:p>
            <a:pPr marL="0" indent="0">
              <a:buNone/>
            </a:pPr>
            <a:r>
              <a:rPr lang="en-US" dirty="0"/>
              <a:t>Burns &amp; Mitchell (1946)</a:t>
            </a:r>
          </a:p>
          <a:p>
            <a:pPr marL="0" indent="0">
              <a:buNone/>
            </a:pPr>
            <a:endParaRPr lang="en-US" dirty="0"/>
          </a:p>
          <a:p>
            <a:r>
              <a:rPr lang="en-US" dirty="0"/>
              <a:t>Importantly, the decomposition model is an (empirically informed) theoretical assumption about underlying structure of macroeconomic data</a:t>
            </a:r>
          </a:p>
          <a:p>
            <a:endParaRPr lang="en-US" dirty="0"/>
          </a:p>
          <a:p>
            <a:r>
              <a:rPr lang="en-US" dirty="0"/>
              <a:t>Some filters are better than others at detecting whether a business cycle exists</a:t>
            </a:r>
          </a:p>
          <a:p>
            <a:pPr marL="0" indent="0">
              <a:buNone/>
            </a:pPr>
            <a:endParaRPr lang="en-US" i="1" dirty="0"/>
          </a:p>
          <a:p>
            <a:pPr marL="0" indent="0">
              <a:buNone/>
            </a:pPr>
            <a:endParaRPr lang="en-US" dirty="0"/>
          </a:p>
        </p:txBody>
      </p:sp>
    </p:spTree>
    <p:extLst>
      <p:ext uri="{BB962C8B-B14F-4D97-AF65-F5344CB8AC3E}">
        <p14:creationId xmlns:p14="http://schemas.microsoft.com/office/powerpoint/2010/main" val="1117118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4BC8F-A016-0813-73F4-85A01439BD0D}"/>
              </a:ext>
            </a:extLst>
          </p:cNvPr>
          <p:cNvSpPr>
            <a:spLocks noGrp="1"/>
          </p:cNvSpPr>
          <p:nvPr>
            <p:ph type="title"/>
          </p:nvPr>
        </p:nvSpPr>
        <p:spPr/>
        <p:txBody>
          <a:bodyPr/>
          <a:lstStyle/>
          <a:p>
            <a:r>
              <a:rPr lang="en-US" dirty="0"/>
              <a:t>HP-filter - Introduction</a:t>
            </a:r>
          </a:p>
        </p:txBody>
      </p:sp>
      <p:sp>
        <p:nvSpPr>
          <p:cNvPr id="3" name="Slide Number Placeholder 2">
            <a:extLst>
              <a:ext uri="{FF2B5EF4-FFF2-40B4-BE49-F238E27FC236}">
                <a16:creationId xmlns:a16="http://schemas.microsoft.com/office/drawing/2014/main" id="{21F1BEFD-3CA1-0E4E-72C0-696C69B8FFFE}"/>
              </a:ext>
            </a:extLst>
          </p:cNvPr>
          <p:cNvSpPr>
            <a:spLocks noGrp="1"/>
          </p:cNvSpPr>
          <p:nvPr>
            <p:ph type="sldNum" idx="12"/>
          </p:nvPr>
        </p:nvSpPr>
        <p:spPr/>
        <p:txBody>
          <a:bodyPr/>
          <a:lstStyle/>
          <a:p>
            <a:fld id="{00000000-1234-1234-1234-123412341234}" type="slidenum">
              <a:rPr lang="en-GB" smtClean="0"/>
              <a:pPr/>
              <a:t>6</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C8D2B68-456B-3A3E-A7AD-B189F0DA8DDA}"/>
                  </a:ext>
                </a:extLst>
              </p:cNvPr>
              <p:cNvSpPr>
                <a:spLocks noGrp="1"/>
              </p:cNvSpPr>
              <p:nvPr>
                <p:ph sz="half" idx="2"/>
              </p:nvPr>
            </p:nvSpPr>
            <p:spPr/>
            <p:txBody>
              <a:bodyPr/>
              <a:lstStyle/>
              <a:p>
                <a:r>
                  <a:rPr lang="en-US" dirty="0"/>
                  <a:t>Formulated in </a:t>
                </a:r>
                <a:r>
                  <a:rPr lang="en-US" dirty="0" err="1"/>
                  <a:t>Hodrick</a:t>
                </a:r>
                <a:r>
                  <a:rPr lang="en-US" dirty="0"/>
                  <a:t> &amp; Prescott (1997) </a:t>
                </a:r>
              </a:p>
              <a:p>
                <a:endParaRPr lang="en-US" dirty="0"/>
              </a:p>
              <a:p>
                <a:r>
                  <a:rPr lang="en-US" dirty="0"/>
                  <a:t>Mathematical model and not so much a statistical model</a:t>
                </a:r>
              </a:p>
              <a:p>
                <a:endParaRPr lang="en-US" dirty="0"/>
              </a:p>
              <a:p>
                <a:r>
                  <a:rPr lang="en-US" dirty="0"/>
                  <a:t>The HP-filter isolates a smooth trend based on exogenous parameter </a:t>
                </a:r>
                <a14:m>
                  <m:oMath xmlns:m="http://schemas.openxmlformats.org/officeDocument/2006/math">
                    <m:r>
                      <a:rPr lang="nl-NL" b="0" i="1" smtClean="0">
                        <a:latin typeface="Cambria Math" panose="02040503050406030204" pitchFamily="18" charset="0"/>
                      </a:rPr>
                      <m:t>𝜆</m:t>
                    </m:r>
                  </m:oMath>
                </a14:m>
                <a:endParaRPr lang="en-US" dirty="0"/>
              </a:p>
              <a:p>
                <a:endParaRPr lang="en-US" dirty="0"/>
              </a:p>
              <a:p>
                <a:r>
                  <a:rPr lang="en-US" dirty="0"/>
                  <a:t>The cycle is calculated as the difference between the data and the HP-trend</a:t>
                </a:r>
              </a:p>
              <a:p>
                <a:pPr marL="342000" lvl="1" indent="0">
                  <a:buNone/>
                </a:pPr>
                <a:endParaRPr lang="en-US" dirty="0"/>
              </a:p>
              <a:p>
                <a:endParaRPr lang="en-US" dirty="0"/>
              </a:p>
              <a:p>
                <a:endParaRPr lang="en-US" dirty="0"/>
              </a:p>
              <a:p>
                <a:endParaRPr lang="en-US" dirty="0"/>
              </a:p>
              <a:p>
                <a:endParaRPr lang="en-US" dirty="0"/>
              </a:p>
            </p:txBody>
          </p:sp>
        </mc:Choice>
        <mc:Fallback xmlns="">
          <p:sp>
            <p:nvSpPr>
              <p:cNvPr id="4" name="Content Placeholder 3">
                <a:extLst>
                  <a:ext uri="{FF2B5EF4-FFF2-40B4-BE49-F238E27FC236}">
                    <a16:creationId xmlns:a16="http://schemas.microsoft.com/office/drawing/2014/main" id="{EC8D2B68-456B-3A3E-A7AD-B189F0DA8DDA}"/>
                  </a:ext>
                </a:extLst>
              </p:cNvPr>
              <p:cNvSpPr>
                <a:spLocks noGrp="1" noRot="1" noChangeAspect="1" noMove="1" noResize="1" noEditPoints="1" noAdjustHandles="1" noChangeArrowheads="1" noChangeShapeType="1" noTextEdit="1"/>
              </p:cNvSpPr>
              <p:nvPr>
                <p:ph sz="half" idx="2"/>
              </p:nvPr>
            </p:nvSpPr>
            <p:spPr>
              <a:blipFill>
                <a:blip r:embed="rId3"/>
                <a:stretch>
                  <a:fillRect l="-754" t="-2326"/>
                </a:stretch>
              </a:blipFill>
            </p:spPr>
            <p:txBody>
              <a:bodyPr/>
              <a:lstStyle/>
              <a:p>
                <a:r>
                  <a:rPr lang="en-US">
                    <a:noFill/>
                  </a:rPr>
                  <a:t> </a:t>
                </a:r>
              </a:p>
            </p:txBody>
          </p:sp>
        </mc:Fallback>
      </mc:AlternateContent>
    </p:spTree>
    <p:extLst>
      <p:ext uri="{BB962C8B-B14F-4D97-AF65-F5344CB8AC3E}">
        <p14:creationId xmlns:p14="http://schemas.microsoft.com/office/powerpoint/2010/main" val="3397028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4BC8F-A016-0813-73F4-85A01439BD0D}"/>
              </a:ext>
            </a:extLst>
          </p:cNvPr>
          <p:cNvSpPr>
            <a:spLocks noGrp="1"/>
          </p:cNvSpPr>
          <p:nvPr>
            <p:ph type="title"/>
          </p:nvPr>
        </p:nvSpPr>
        <p:spPr/>
        <p:txBody>
          <a:bodyPr/>
          <a:lstStyle/>
          <a:p>
            <a:r>
              <a:rPr lang="en-US" dirty="0"/>
              <a:t>HP-filter – Optimization problem</a:t>
            </a:r>
          </a:p>
        </p:txBody>
      </p:sp>
      <p:sp>
        <p:nvSpPr>
          <p:cNvPr id="3" name="Slide Number Placeholder 2">
            <a:extLst>
              <a:ext uri="{FF2B5EF4-FFF2-40B4-BE49-F238E27FC236}">
                <a16:creationId xmlns:a16="http://schemas.microsoft.com/office/drawing/2014/main" id="{21F1BEFD-3CA1-0E4E-72C0-696C69B8FFFE}"/>
              </a:ext>
            </a:extLst>
          </p:cNvPr>
          <p:cNvSpPr>
            <a:spLocks noGrp="1"/>
          </p:cNvSpPr>
          <p:nvPr>
            <p:ph type="sldNum" idx="12"/>
          </p:nvPr>
        </p:nvSpPr>
        <p:spPr/>
        <p:txBody>
          <a:bodyPr/>
          <a:lstStyle/>
          <a:p>
            <a:fld id="{00000000-1234-1234-1234-123412341234}" type="slidenum">
              <a:rPr lang="en-GB" smtClean="0"/>
              <a:pPr/>
              <a:t>7</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C8D2B68-456B-3A3E-A7AD-B189F0DA8DDA}"/>
                  </a:ext>
                </a:extLst>
              </p:cNvPr>
              <p:cNvSpPr>
                <a:spLocks noGrp="1"/>
              </p:cNvSpPr>
              <p:nvPr>
                <p:ph sz="half" idx="2"/>
              </p:nvPr>
            </p:nvSpPr>
            <p:spPr/>
            <p:txBody>
              <a:bodyPr/>
              <a:lstStyle/>
              <a:p>
                <a:pPr marL="0" indent="0">
                  <a:buNone/>
                </a:pPr>
                <a:r>
                  <a:rPr lang="en-US" dirty="0"/>
                  <a:t>Starting from a time series </a:t>
                </a:r>
                <a14:m>
                  <m:oMath xmlns:m="http://schemas.openxmlformats.org/officeDocument/2006/math">
                    <m:r>
                      <a:rPr lang="nl-NL" b="0" i="1" smtClean="0">
                        <a:latin typeface="Cambria Math" panose="02040503050406030204" pitchFamily="18" charset="0"/>
                      </a:rPr>
                      <m:t>𝑌</m:t>
                    </m:r>
                    <m:r>
                      <a:rPr lang="nl-NL" b="0" i="1" smtClean="0">
                        <a:latin typeface="Cambria Math" panose="02040503050406030204" pitchFamily="18" charset="0"/>
                      </a:rPr>
                      <m:t>=</m:t>
                    </m:r>
                    <m:d>
                      <m:dPr>
                        <m:ctrlPr>
                          <a:rPr lang="nl-NL" b="0" i="1" smtClean="0">
                            <a:latin typeface="Cambria Math" panose="02040503050406030204" pitchFamily="18" charset="0"/>
                          </a:rPr>
                        </m:ctrlPr>
                      </m:d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1</m:t>
                            </m:r>
                          </m:sub>
                        </m:sSub>
                        <m:r>
                          <a:rPr lang="nl-NL" b="0" i="1" smtClean="0">
                            <a:latin typeface="Cambria Math" panose="02040503050406030204" pitchFamily="18" charset="0"/>
                          </a:rPr>
                          <m:t>, </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2</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𝑇</m:t>
                            </m:r>
                          </m:sub>
                        </m:sSub>
                      </m:e>
                    </m:d>
                  </m:oMath>
                </a14:m>
                <a:r>
                  <a:rPr lang="nl-NL" b="0" dirty="0"/>
                  <a:t> </a:t>
                </a:r>
                <a:r>
                  <a:rPr lang="en-US" dirty="0"/>
                  <a:t>the HP-trend is determined by solving the intertemporal optimalization problem: </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unc>
                        <m:funcPr>
                          <m:ctrlPr>
                            <a:rPr lang="nl-NL" b="0" i="1" smtClean="0">
                              <a:latin typeface="Cambria Math" panose="02040503050406030204" pitchFamily="18" charset="0"/>
                            </a:rPr>
                          </m:ctrlPr>
                        </m:funcPr>
                        <m:fName>
                          <m:limLow>
                            <m:limLowPr>
                              <m:ctrlPr>
                                <a:rPr lang="nl-NL" b="0" i="1" smtClean="0">
                                  <a:latin typeface="Cambria Math" panose="02040503050406030204" pitchFamily="18" charset="0"/>
                                </a:rPr>
                              </m:ctrlPr>
                            </m:limLowPr>
                            <m:e>
                              <m:r>
                                <m:rPr>
                                  <m:sty m:val="p"/>
                                </m:rPr>
                                <a:rPr lang="nl-NL" b="0" i="0" smtClean="0">
                                  <a:latin typeface="Cambria Math" panose="02040503050406030204" pitchFamily="18" charset="0"/>
                                </a:rPr>
                                <m:t>min</m:t>
                              </m:r>
                            </m:e>
                            <m:lim>
                              <m:r>
                                <a:rPr lang="nl-NL" b="0" i="1" smtClean="0">
                                  <a:latin typeface="Cambria Math" panose="02040503050406030204" pitchFamily="18" charset="0"/>
                                </a:rPr>
                                <m:t>𝑔</m:t>
                              </m:r>
                            </m:lim>
                          </m:limLow>
                        </m:fName>
                        <m:e>
                          <m:d>
                            <m:dPr>
                              <m:ctrlPr>
                                <a:rPr lang="nl-NL" b="0" i="1" smtClean="0">
                                  <a:latin typeface="Cambria Math" panose="02040503050406030204" pitchFamily="18" charset="0"/>
                                </a:rPr>
                              </m:ctrlPr>
                            </m:dPr>
                            <m:e>
                              <m:nary>
                                <m:naryPr>
                                  <m:chr m:val="∑"/>
                                  <m:ctrlPr>
                                    <a:rPr lang="nl-NL" b="0" i="1" smtClean="0">
                                      <a:latin typeface="Cambria Math" panose="02040503050406030204" pitchFamily="18" charset="0"/>
                                    </a:rPr>
                                  </m:ctrlPr>
                                </m:naryPr>
                                <m:sub>
                                  <m:r>
                                    <m:rPr>
                                      <m:brk m:alnAt="23"/>
                                    </m:rPr>
                                    <a:rPr lang="nl-NL" b="0" i="1" smtClean="0">
                                      <a:latin typeface="Cambria Math" panose="02040503050406030204" pitchFamily="18" charset="0"/>
                                    </a:rPr>
                                    <m:t>𝑡</m:t>
                                  </m:r>
                                  <m:r>
                                    <a:rPr lang="nl-NL" b="0" i="1" smtClean="0">
                                      <a:latin typeface="Cambria Math" panose="02040503050406030204" pitchFamily="18" charset="0"/>
                                    </a:rPr>
                                    <m:t>=1</m:t>
                                  </m:r>
                                </m:sub>
                                <m:sup>
                                  <m:r>
                                    <a:rPr lang="nl-NL" b="0" i="1" smtClean="0">
                                      <a:latin typeface="Cambria Math" panose="02040503050406030204" pitchFamily="18" charset="0"/>
                                    </a:rPr>
                                    <m:t>𝑇</m:t>
                                  </m:r>
                                </m:sup>
                                <m:e>
                                  <m:sSup>
                                    <m:sSupPr>
                                      <m:ctrlPr>
                                        <a:rPr lang="nl-NL" b="0" i="1" smtClean="0">
                                          <a:latin typeface="Cambria Math" panose="02040503050406030204" pitchFamily="18" charset="0"/>
                                        </a:rPr>
                                      </m:ctrlPr>
                                    </m:sSupPr>
                                    <m:e>
                                      <m:d>
                                        <m:dPr>
                                          <m:ctrlPr>
                                            <a:rPr lang="nl-NL" b="0" i="1" smtClean="0">
                                              <a:latin typeface="Cambria Math" panose="02040503050406030204" pitchFamily="18" charset="0"/>
                                            </a:rPr>
                                          </m:ctrlPr>
                                        </m:d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e>
                                      </m:d>
                                    </m:e>
                                    <m:sup>
                                      <m:r>
                                        <a:rPr lang="nl-NL" b="0" i="1" smtClean="0">
                                          <a:latin typeface="Cambria Math" panose="02040503050406030204" pitchFamily="18" charset="0"/>
                                        </a:rPr>
                                        <m:t>2</m:t>
                                      </m:r>
                                    </m:sup>
                                  </m:sSup>
                                  <m:r>
                                    <a:rPr lang="nl-NL" b="0" i="1" smtClean="0">
                                      <a:latin typeface="Cambria Math" panose="02040503050406030204" pitchFamily="18" charset="0"/>
                                    </a:rPr>
                                    <m:t>+</m:t>
                                  </m:r>
                                  <m:r>
                                    <a:rPr lang="nl-NL" b="0" i="1" smtClean="0">
                                      <a:latin typeface="Cambria Math" panose="02040503050406030204" pitchFamily="18" charset="0"/>
                                    </a:rPr>
                                    <m:t>𝜆</m:t>
                                  </m:r>
                                  <m:nary>
                                    <m:naryPr>
                                      <m:chr m:val="∑"/>
                                      <m:ctrlPr>
                                        <a:rPr lang="nl-NL" b="0" i="1" smtClean="0">
                                          <a:latin typeface="Cambria Math" panose="02040503050406030204" pitchFamily="18" charset="0"/>
                                        </a:rPr>
                                      </m:ctrlPr>
                                    </m:naryPr>
                                    <m:sub>
                                      <m:r>
                                        <m:rPr>
                                          <m:brk m:alnAt="23"/>
                                        </m:rPr>
                                        <a:rPr lang="nl-NL" b="0" i="1" smtClean="0">
                                          <a:latin typeface="Cambria Math" panose="02040503050406030204" pitchFamily="18" charset="0"/>
                                        </a:rPr>
                                        <m:t>𝑡</m:t>
                                      </m:r>
                                      <m:r>
                                        <a:rPr lang="nl-NL" b="0" i="1" smtClean="0">
                                          <a:latin typeface="Cambria Math" panose="02040503050406030204" pitchFamily="18" charset="0"/>
                                        </a:rPr>
                                        <m:t>=2</m:t>
                                      </m:r>
                                    </m:sub>
                                    <m:sup>
                                      <m:r>
                                        <a:rPr lang="nl-NL" b="0" i="1" smtClean="0">
                                          <a:latin typeface="Cambria Math" panose="02040503050406030204" pitchFamily="18" charset="0"/>
                                        </a:rPr>
                                        <m:t>𝑇</m:t>
                                      </m:r>
                                      <m:r>
                                        <a:rPr lang="nl-NL" b="0" i="1" smtClean="0">
                                          <a:latin typeface="Cambria Math" panose="02040503050406030204" pitchFamily="18" charset="0"/>
                                        </a:rPr>
                                        <m:t>−1</m:t>
                                      </m:r>
                                    </m:sup>
                                    <m:e>
                                      <m:sSup>
                                        <m:sSupPr>
                                          <m:ctrlPr>
                                            <a:rPr lang="nl-NL" b="0" i="1" smtClean="0">
                                              <a:latin typeface="Cambria Math" panose="02040503050406030204" pitchFamily="18" charset="0"/>
                                            </a:rPr>
                                          </m:ctrlPr>
                                        </m:sSupPr>
                                        <m:e>
                                          <m:d>
                                            <m:dPr>
                                              <m:begChr m:val="["/>
                                              <m:endChr m:val="]"/>
                                              <m:ctrlPr>
                                                <a:rPr lang="nl-NL" b="0" i="1" smtClean="0">
                                                  <a:latin typeface="Cambria Math" panose="02040503050406030204" pitchFamily="18" charset="0"/>
                                                </a:rPr>
                                              </m:ctrlPr>
                                            </m:dPr>
                                            <m:e>
                                              <m:d>
                                                <m:dPr>
                                                  <m:ctrlPr>
                                                    <a:rPr lang="nl-NL" b="0" i="1" smtClean="0">
                                                      <a:latin typeface="Cambria Math" panose="02040503050406030204" pitchFamily="18" charset="0"/>
                                                    </a:rPr>
                                                  </m:ctrlPr>
                                                </m:d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r>
                                                        <a:rPr lang="nl-NL" b="0" i="1" smtClean="0">
                                                          <a:latin typeface="Cambria Math" panose="02040503050406030204" pitchFamily="18" charset="0"/>
                                                        </a:rPr>
                                                        <m:t>+1</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e>
                                              </m:d>
                                              <m:r>
                                                <a:rPr lang="nl-NL" b="0" i="1" smtClean="0">
                                                  <a:latin typeface="Cambria Math" panose="02040503050406030204" pitchFamily="18" charset="0"/>
                                                </a:rPr>
                                                <m:t>−</m:t>
                                              </m:r>
                                              <m:d>
                                                <m:dPr>
                                                  <m:ctrlPr>
                                                    <a:rPr lang="nl-NL" b="0" i="1" smtClean="0">
                                                      <a:latin typeface="Cambria Math" panose="02040503050406030204" pitchFamily="18" charset="0"/>
                                                    </a:rPr>
                                                  </m:ctrlPr>
                                                </m:d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r>
                                                        <a:rPr lang="nl-NL" b="0" i="1" smtClean="0">
                                                          <a:latin typeface="Cambria Math" panose="02040503050406030204" pitchFamily="18" charset="0"/>
                                                        </a:rPr>
                                                        <m:t>−1</m:t>
                                                      </m:r>
                                                    </m:sub>
                                                  </m:sSub>
                                                </m:e>
                                              </m:d>
                                            </m:e>
                                          </m:d>
                                        </m:e>
                                        <m:sup>
                                          <m:r>
                                            <a:rPr lang="nl-NL" b="0" i="1" smtClean="0">
                                              <a:latin typeface="Cambria Math" panose="02040503050406030204" pitchFamily="18" charset="0"/>
                                            </a:rPr>
                                            <m:t>2</m:t>
                                          </m:r>
                                        </m:sup>
                                      </m:sSup>
                                    </m:e>
                                  </m:nary>
                                </m:e>
                              </m:nary>
                            </m:e>
                          </m:d>
                        </m:e>
                      </m:func>
                    </m:oMath>
                  </m:oMathPara>
                </a14:m>
                <a:endParaRPr lang="en-US" dirty="0"/>
              </a:p>
              <a:p>
                <a:pPr marL="0" indent="0">
                  <a:buNone/>
                </a:pPr>
                <a:endParaRPr lang="en-US" dirty="0"/>
              </a:p>
              <a:p>
                <a:pPr marL="0" indent="0">
                  <a:buNone/>
                </a:pPr>
                <a:r>
                  <a:rPr lang="en-US" dirty="0"/>
                  <a:t>The objective is find </a:t>
                </a:r>
                <a14:m>
                  <m:oMath xmlns:m="http://schemas.openxmlformats.org/officeDocument/2006/math">
                    <m:r>
                      <m:rPr>
                        <m:sty m:val="p"/>
                      </m:rPr>
                      <a:rPr lang="nl-NL" b="0" i="0" smtClean="0">
                        <a:latin typeface="Cambria Math" panose="02040503050406030204" pitchFamily="18" charset="0"/>
                      </a:rPr>
                      <m:t>G</m:t>
                    </m:r>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1</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2</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𝑇</m:t>
                        </m:r>
                      </m:sub>
                    </m:sSub>
                    <m:r>
                      <a:rPr lang="nl-NL" b="0" i="1" smtClean="0">
                        <a:latin typeface="Cambria Math" panose="02040503050406030204" pitchFamily="18" charset="0"/>
                      </a:rPr>
                      <m:t>)</m:t>
                    </m:r>
                  </m:oMath>
                </a14:m>
                <a:r>
                  <a:rPr lang="en-US" dirty="0"/>
                  <a:t> such that:</a:t>
                </a:r>
              </a:p>
              <a:p>
                <a:r>
                  <a:rPr lang="en-US" dirty="0"/>
                  <a:t>The distance to the original series </a:t>
                </a:r>
                <a14:m>
                  <m:oMath xmlns:m="http://schemas.openxmlformats.org/officeDocument/2006/math">
                    <m:r>
                      <a:rPr lang="nl-NL" b="0" i="1" smtClean="0">
                        <a:latin typeface="Cambria Math" panose="02040503050406030204" pitchFamily="18" charset="0"/>
                      </a:rPr>
                      <m:t>𝑌</m:t>
                    </m:r>
                  </m:oMath>
                </a14:m>
                <a:r>
                  <a:rPr lang="en-US" dirty="0"/>
                  <a:t> is minimized:  </a:t>
                </a:r>
                <a14:m>
                  <m:oMath xmlns:m="http://schemas.openxmlformats.org/officeDocument/2006/math">
                    <m:nary>
                      <m:naryPr>
                        <m:chr m:val="∑"/>
                        <m:ctrlPr>
                          <a:rPr lang="en-US" i="1" smtClean="0">
                            <a:latin typeface="Cambria Math" panose="02040503050406030204" pitchFamily="18" charset="0"/>
                          </a:rPr>
                        </m:ctrlPr>
                      </m:naryPr>
                      <m:sub>
                        <m:sSub>
                          <m:sSubPr>
                            <m:ctrlPr>
                              <a:rPr lang="nl-NL" b="0" i="1" smtClean="0">
                                <a:latin typeface="Cambria Math" panose="02040503050406030204" pitchFamily="18" charset="0"/>
                              </a:rPr>
                            </m:ctrlPr>
                          </m:sSubPr>
                          <m:e>
                            <m:r>
                              <m:rPr>
                                <m:brk m:alnAt="23"/>
                              </m:rPr>
                              <a:rPr lang="nl-NL" b="0" i="1" smtClean="0">
                                <a:latin typeface="Cambria Math" panose="02040503050406030204" pitchFamily="18" charset="0"/>
                              </a:rPr>
                              <m:t>𝑡</m:t>
                            </m:r>
                          </m:e>
                          <m:sub>
                            <m:r>
                              <a:rPr lang="nl-NL" b="0" i="1" smtClean="0">
                                <a:latin typeface="Cambria Math" panose="02040503050406030204" pitchFamily="18" charset="0"/>
                              </a:rPr>
                              <m:t>=</m:t>
                            </m:r>
                            <m:r>
                              <m:rPr>
                                <m:brk m:alnAt="23"/>
                              </m:rPr>
                              <a:rPr lang="nl-NL" b="0" i="1" smtClean="0">
                                <a:latin typeface="Cambria Math" panose="02040503050406030204" pitchFamily="18" charset="0"/>
                              </a:rPr>
                              <m:t>1</m:t>
                            </m:r>
                          </m:sub>
                        </m:sSub>
                      </m:sub>
                      <m:sup>
                        <m:r>
                          <a:rPr lang="nl-NL" b="0" i="1" smtClean="0">
                            <a:latin typeface="Cambria Math" panose="02040503050406030204" pitchFamily="18" charset="0"/>
                          </a:rPr>
                          <m:t>𝑇</m:t>
                        </m:r>
                      </m:sup>
                      <m:e>
                        <m:sSup>
                          <m:sSupPr>
                            <m:ctrlPr>
                              <a:rPr lang="nl-NL" b="0" i="1" smtClean="0">
                                <a:latin typeface="Cambria Math" panose="02040503050406030204" pitchFamily="18" charset="0"/>
                              </a:rPr>
                            </m:ctrlPr>
                          </m:sSupPr>
                          <m:e>
                            <m:d>
                              <m:dPr>
                                <m:ctrlPr>
                                  <a:rPr lang="en-US" i="1" smtClean="0">
                                    <a:latin typeface="Cambria Math" panose="02040503050406030204" pitchFamily="18" charset="0"/>
                                  </a:rPr>
                                </m:ctrlPr>
                              </m:d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e>
                            </m:d>
                          </m:e>
                          <m:sup>
                            <m:r>
                              <a:rPr lang="nl-NL" b="0" i="1" smtClean="0">
                                <a:latin typeface="Cambria Math" panose="02040503050406030204" pitchFamily="18" charset="0"/>
                              </a:rPr>
                              <m:t>2</m:t>
                            </m:r>
                          </m:sup>
                        </m:sSup>
                      </m:e>
                    </m:nary>
                  </m:oMath>
                </a14:m>
                <a:endParaRPr lang="nl-NL" dirty="0"/>
              </a:p>
              <a:p>
                <a:r>
                  <a:rPr lang="en-US" dirty="0"/>
                  <a:t>The trend is smooth: </a:t>
                </a:r>
                <a14:m>
                  <m:oMath xmlns:m="http://schemas.openxmlformats.org/officeDocument/2006/math">
                    <m:nary>
                      <m:naryPr>
                        <m:chr m:val="∑"/>
                        <m:ctrlPr>
                          <a:rPr lang="nl-NL" i="1">
                            <a:latin typeface="Cambria Math" panose="02040503050406030204" pitchFamily="18" charset="0"/>
                          </a:rPr>
                        </m:ctrlPr>
                      </m:naryPr>
                      <m:sub>
                        <m:r>
                          <m:rPr>
                            <m:brk m:alnAt="23"/>
                          </m:rPr>
                          <a:rPr lang="nl-NL" i="1">
                            <a:latin typeface="Cambria Math" panose="02040503050406030204" pitchFamily="18" charset="0"/>
                          </a:rPr>
                          <m:t>𝑡</m:t>
                        </m:r>
                        <m:r>
                          <a:rPr lang="nl-NL" i="1">
                            <a:latin typeface="Cambria Math" panose="02040503050406030204" pitchFamily="18" charset="0"/>
                          </a:rPr>
                          <m:t>=2</m:t>
                        </m:r>
                      </m:sub>
                      <m:sup>
                        <m:r>
                          <a:rPr lang="nl-NL" i="1">
                            <a:latin typeface="Cambria Math" panose="02040503050406030204" pitchFamily="18" charset="0"/>
                          </a:rPr>
                          <m:t>𝑇</m:t>
                        </m:r>
                        <m:r>
                          <a:rPr lang="nl-NL" i="1">
                            <a:latin typeface="Cambria Math" panose="02040503050406030204" pitchFamily="18" charset="0"/>
                          </a:rPr>
                          <m:t>−1</m:t>
                        </m:r>
                      </m:sup>
                      <m:e>
                        <m:sSup>
                          <m:sSupPr>
                            <m:ctrlPr>
                              <a:rPr lang="nl-NL" i="1">
                                <a:latin typeface="Cambria Math" panose="02040503050406030204" pitchFamily="18" charset="0"/>
                              </a:rPr>
                            </m:ctrlPr>
                          </m:sSupPr>
                          <m:e>
                            <m:d>
                              <m:dPr>
                                <m:begChr m:val="["/>
                                <m:endChr m:val="]"/>
                                <m:ctrlPr>
                                  <a:rPr lang="nl-NL" i="1">
                                    <a:latin typeface="Cambria Math" panose="02040503050406030204" pitchFamily="18" charset="0"/>
                                  </a:rPr>
                                </m:ctrlPr>
                              </m:dPr>
                              <m:e>
                                <m:d>
                                  <m:dPr>
                                    <m:ctrlPr>
                                      <a:rPr lang="nl-NL" i="1">
                                        <a:latin typeface="Cambria Math" panose="02040503050406030204" pitchFamily="18" charset="0"/>
                                      </a:rPr>
                                    </m:ctrlPr>
                                  </m:dPr>
                                  <m:e>
                                    <m:sSub>
                                      <m:sSubPr>
                                        <m:ctrlPr>
                                          <a:rPr lang="nl-NL" i="1">
                                            <a:latin typeface="Cambria Math" panose="02040503050406030204" pitchFamily="18" charset="0"/>
                                          </a:rPr>
                                        </m:ctrlPr>
                                      </m:sSubPr>
                                      <m:e>
                                        <m:r>
                                          <a:rPr lang="nl-NL" i="1">
                                            <a:latin typeface="Cambria Math" panose="02040503050406030204" pitchFamily="18" charset="0"/>
                                          </a:rPr>
                                          <m:t>𝑔</m:t>
                                        </m:r>
                                      </m:e>
                                      <m:sub>
                                        <m:r>
                                          <a:rPr lang="nl-NL" i="1">
                                            <a:latin typeface="Cambria Math" panose="02040503050406030204" pitchFamily="18" charset="0"/>
                                          </a:rPr>
                                          <m:t>𝑡</m:t>
                                        </m:r>
                                        <m:r>
                                          <a:rPr lang="nl-NL" i="1">
                                            <a:latin typeface="Cambria Math" panose="02040503050406030204" pitchFamily="18" charset="0"/>
                                          </a:rPr>
                                          <m:t>+1</m:t>
                                        </m:r>
                                      </m:sub>
                                    </m:sSub>
                                    <m:r>
                                      <a:rPr lang="nl-NL" i="1">
                                        <a:latin typeface="Cambria Math" panose="02040503050406030204" pitchFamily="18" charset="0"/>
                                      </a:rPr>
                                      <m:t>−</m:t>
                                    </m:r>
                                    <m:sSub>
                                      <m:sSubPr>
                                        <m:ctrlPr>
                                          <a:rPr lang="nl-NL" i="1">
                                            <a:latin typeface="Cambria Math" panose="02040503050406030204" pitchFamily="18" charset="0"/>
                                          </a:rPr>
                                        </m:ctrlPr>
                                      </m:sSubPr>
                                      <m:e>
                                        <m:r>
                                          <a:rPr lang="nl-NL" i="1">
                                            <a:latin typeface="Cambria Math" panose="02040503050406030204" pitchFamily="18" charset="0"/>
                                          </a:rPr>
                                          <m:t>𝑔</m:t>
                                        </m:r>
                                      </m:e>
                                      <m:sub>
                                        <m:r>
                                          <a:rPr lang="nl-NL" i="1">
                                            <a:latin typeface="Cambria Math" panose="02040503050406030204" pitchFamily="18" charset="0"/>
                                          </a:rPr>
                                          <m:t>𝑡</m:t>
                                        </m:r>
                                      </m:sub>
                                    </m:sSub>
                                  </m:e>
                                </m:d>
                                <m:r>
                                  <a:rPr lang="nl-NL" i="1">
                                    <a:latin typeface="Cambria Math" panose="02040503050406030204" pitchFamily="18" charset="0"/>
                                  </a:rPr>
                                  <m:t>−</m:t>
                                </m:r>
                                <m:d>
                                  <m:dPr>
                                    <m:ctrlPr>
                                      <a:rPr lang="nl-NL" i="1">
                                        <a:latin typeface="Cambria Math" panose="02040503050406030204" pitchFamily="18" charset="0"/>
                                      </a:rPr>
                                    </m:ctrlPr>
                                  </m:dPr>
                                  <m:e>
                                    <m:sSub>
                                      <m:sSubPr>
                                        <m:ctrlPr>
                                          <a:rPr lang="nl-NL" i="1">
                                            <a:latin typeface="Cambria Math" panose="02040503050406030204" pitchFamily="18" charset="0"/>
                                          </a:rPr>
                                        </m:ctrlPr>
                                      </m:sSubPr>
                                      <m:e>
                                        <m:r>
                                          <a:rPr lang="nl-NL" i="1">
                                            <a:latin typeface="Cambria Math" panose="02040503050406030204" pitchFamily="18" charset="0"/>
                                          </a:rPr>
                                          <m:t>𝑔</m:t>
                                        </m:r>
                                      </m:e>
                                      <m:sub>
                                        <m:r>
                                          <a:rPr lang="nl-NL" i="1">
                                            <a:latin typeface="Cambria Math" panose="02040503050406030204" pitchFamily="18" charset="0"/>
                                          </a:rPr>
                                          <m:t>𝑡</m:t>
                                        </m:r>
                                      </m:sub>
                                    </m:sSub>
                                    <m:r>
                                      <a:rPr lang="nl-NL" i="1">
                                        <a:latin typeface="Cambria Math" panose="02040503050406030204" pitchFamily="18" charset="0"/>
                                      </a:rPr>
                                      <m:t>−</m:t>
                                    </m:r>
                                    <m:sSub>
                                      <m:sSubPr>
                                        <m:ctrlPr>
                                          <a:rPr lang="nl-NL" i="1">
                                            <a:latin typeface="Cambria Math" panose="02040503050406030204" pitchFamily="18" charset="0"/>
                                          </a:rPr>
                                        </m:ctrlPr>
                                      </m:sSubPr>
                                      <m:e>
                                        <m:r>
                                          <a:rPr lang="nl-NL" i="1">
                                            <a:latin typeface="Cambria Math" panose="02040503050406030204" pitchFamily="18" charset="0"/>
                                          </a:rPr>
                                          <m:t>𝑔</m:t>
                                        </m:r>
                                      </m:e>
                                      <m:sub>
                                        <m:r>
                                          <a:rPr lang="nl-NL" i="1">
                                            <a:latin typeface="Cambria Math" panose="02040503050406030204" pitchFamily="18" charset="0"/>
                                          </a:rPr>
                                          <m:t>𝑡</m:t>
                                        </m:r>
                                        <m:r>
                                          <a:rPr lang="nl-NL" i="1">
                                            <a:latin typeface="Cambria Math" panose="02040503050406030204" pitchFamily="18" charset="0"/>
                                          </a:rPr>
                                          <m:t>−1</m:t>
                                        </m:r>
                                      </m:sub>
                                    </m:sSub>
                                  </m:e>
                                </m:d>
                              </m:e>
                            </m:d>
                          </m:e>
                          <m:sup>
                            <m:r>
                              <a:rPr lang="nl-NL" i="1">
                                <a:latin typeface="Cambria Math" panose="02040503050406030204" pitchFamily="18" charset="0"/>
                              </a:rPr>
                              <m:t>2</m:t>
                            </m:r>
                          </m:sup>
                        </m:sSup>
                      </m:e>
                    </m:nary>
                  </m:oMath>
                </a14:m>
                <a:endParaRPr lang="en-US" dirty="0"/>
              </a:p>
              <a:p>
                <a:endParaRPr lang="en-US" dirty="0"/>
              </a:p>
              <a:p>
                <a:endParaRPr lang="en-US" dirty="0"/>
              </a:p>
              <a:p>
                <a:pPr marL="0" indent="0">
                  <a:buNone/>
                </a:pPr>
                <a:endParaRPr lang="en-US" dirty="0"/>
              </a:p>
              <a:p>
                <a:pPr marL="0" indent="0">
                  <a:buNone/>
                </a:pPr>
                <a:endParaRPr lang="en-US" dirty="0"/>
              </a:p>
              <a:p>
                <a:pPr marL="0" indent="0">
                  <a:buNone/>
                </a:pPr>
                <a:endParaRPr lang="nl-NL" b="0" dirty="0"/>
              </a:p>
              <a:p>
                <a:pPr marL="0" indent="0">
                  <a:buNone/>
                </a:pPr>
                <a:endParaRPr lang="en-US" b="1" dirty="0"/>
              </a:p>
              <a:p>
                <a:endParaRPr lang="en-US" dirty="0"/>
              </a:p>
              <a:p>
                <a:endParaRPr lang="en-US" dirty="0"/>
              </a:p>
              <a:p>
                <a:endParaRPr lang="en-US" dirty="0"/>
              </a:p>
              <a:p>
                <a:endParaRPr lang="en-US" dirty="0"/>
              </a:p>
            </p:txBody>
          </p:sp>
        </mc:Choice>
        <mc:Fallback xmlns="">
          <p:sp>
            <p:nvSpPr>
              <p:cNvPr id="4" name="Content Placeholder 3">
                <a:extLst>
                  <a:ext uri="{FF2B5EF4-FFF2-40B4-BE49-F238E27FC236}">
                    <a16:creationId xmlns:a16="http://schemas.microsoft.com/office/drawing/2014/main" id="{EC8D2B68-456B-3A3E-A7AD-B189F0DA8DDA}"/>
                  </a:ext>
                </a:extLst>
              </p:cNvPr>
              <p:cNvSpPr>
                <a:spLocks noGrp="1" noRot="1" noChangeAspect="1" noMove="1" noResize="1" noEditPoints="1" noAdjustHandles="1" noChangeArrowheads="1" noChangeShapeType="1" noTextEdit="1"/>
              </p:cNvSpPr>
              <p:nvPr>
                <p:ph sz="half" idx="2"/>
              </p:nvPr>
            </p:nvSpPr>
            <p:spPr>
              <a:blipFill>
                <a:blip r:embed="rId3"/>
                <a:stretch>
                  <a:fillRect l="-754" t="-1453" b="-5959"/>
                </a:stretch>
              </a:blipFill>
            </p:spPr>
            <p:txBody>
              <a:bodyPr/>
              <a:lstStyle/>
              <a:p>
                <a:r>
                  <a:rPr lang="en-US">
                    <a:noFill/>
                  </a:rPr>
                  <a:t> </a:t>
                </a:r>
              </a:p>
            </p:txBody>
          </p:sp>
        </mc:Fallback>
      </mc:AlternateContent>
    </p:spTree>
    <p:extLst>
      <p:ext uri="{BB962C8B-B14F-4D97-AF65-F5344CB8AC3E}">
        <p14:creationId xmlns:p14="http://schemas.microsoft.com/office/powerpoint/2010/main" val="3714560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61C91-A8CB-B790-2DCE-19D02A415D76}"/>
              </a:ext>
            </a:extLst>
          </p:cNvPr>
          <p:cNvSpPr>
            <a:spLocks noGrp="1"/>
          </p:cNvSpPr>
          <p:nvPr>
            <p:ph type="title"/>
          </p:nvPr>
        </p:nvSpPr>
        <p:spPr/>
        <p:txBody>
          <a:bodyPr/>
          <a:lstStyle/>
          <a:p>
            <a:r>
              <a:rPr lang="en-US" dirty="0"/>
              <a:t>HP-filter - Cycle</a:t>
            </a:r>
          </a:p>
        </p:txBody>
      </p:sp>
      <p:sp>
        <p:nvSpPr>
          <p:cNvPr id="3" name="Slide Number Placeholder 2">
            <a:extLst>
              <a:ext uri="{FF2B5EF4-FFF2-40B4-BE49-F238E27FC236}">
                <a16:creationId xmlns:a16="http://schemas.microsoft.com/office/drawing/2014/main" id="{2B4BD8A7-BCF5-14BB-B6C6-A69939197E4C}"/>
              </a:ext>
            </a:extLst>
          </p:cNvPr>
          <p:cNvSpPr>
            <a:spLocks noGrp="1"/>
          </p:cNvSpPr>
          <p:nvPr>
            <p:ph type="sldNum" idx="12"/>
          </p:nvPr>
        </p:nvSpPr>
        <p:spPr/>
        <p:txBody>
          <a:bodyPr/>
          <a:lstStyle/>
          <a:p>
            <a:fld id="{00000000-1234-1234-1234-123412341234}" type="slidenum">
              <a:rPr lang="en-GB" smtClean="0"/>
              <a:pPr/>
              <a:t>8</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B52495A-59EB-EC21-F5C4-FE99C337DDF5}"/>
                  </a:ext>
                </a:extLst>
              </p:cNvPr>
              <p:cNvSpPr>
                <a:spLocks noGrp="1"/>
              </p:cNvSpPr>
              <p:nvPr>
                <p:ph sz="half" idx="2"/>
              </p:nvPr>
            </p:nvSpPr>
            <p:spPr/>
            <p:txBody>
              <a:bodyPr/>
              <a:lstStyle/>
              <a:p>
                <a:r>
                  <a:rPr lang="en-US" dirty="0"/>
                  <a:t>The HP-cycle is calculated in a second step:</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oMath>
                  </m:oMathPara>
                </a14:m>
                <a:endParaRPr lang="en-US" dirty="0"/>
              </a:p>
              <a:p>
                <a:pPr marL="0" indent="0">
                  <a:buNone/>
                </a:pPr>
                <a:endParaRPr lang="en-US" dirty="0"/>
              </a:p>
              <a:p>
                <a:r>
                  <a:rPr lang="en-US" dirty="0"/>
                  <a:t>Note that this assumes that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oMath>
                </a14:m>
                <a:r>
                  <a:rPr lang="en-US" dirty="0"/>
                  <a:t> and not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𝑠</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𝜀</m:t>
                        </m:r>
                      </m:e>
                      <m:sub>
                        <m:r>
                          <a:rPr lang="nl-NL" b="0" i="1" smtClean="0">
                            <a:latin typeface="Cambria Math" panose="02040503050406030204" pitchFamily="18" charset="0"/>
                          </a:rPr>
                          <m:t>𝑡</m:t>
                        </m:r>
                      </m:sub>
                    </m:sSub>
                  </m:oMath>
                </a14:m>
                <a:endParaRPr lang="en-US" dirty="0"/>
              </a:p>
              <a:p>
                <a:endParaRPr lang="en-US" dirty="0"/>
              </a:p>
              <a:p>
                <a:r>
                  <a:rPr lang="en-US" dirty="0"/>
                  <a:t>In order to apply the HP-filter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𝑠</m:t>
                        </m:r>
                      </m:e>
                      <m:sub>
                        <m:r>
                          <a:rPr lang="nl-NL" b="0" i="1" smtClean="0">
                            <a:latin typeface="Cambria Math" panose="02040503050406030204" pitchFamily="18" charset="0"/>
                          </a:rPr>
                          <m:t>𝑡</m:t>
                        </m:r>
                      </m:sub>
                    </m:sSub>
                  </m:oMath>
                </a14:m>
                <a:r>
                  <a:rPr lang="en-US" dirty="0"/>
                  <a:t> and </a:t>
                </a:r>
                <a14:m>
                  <m:oMath xmlns:m="http://schemas.openxmlformats.org/officeDocument/2006/math">
                    <m:r>
                      <a:rPr lang="nl-NL" b="0" i="1" smtClean="0">
                        <a:latin typeface="Cambria Math" panose="02040503050406030204" pitchFamily="18" charset="0"/>
                      </a:rPr>
                      <m:t>𝜀</m:t>
                    </m:r>
                  </m:oMath>
                </a14:m>
                <a:r>
                  <a:rPr lang="en-US" dirty="0"/>
                  <a:t> have to be removed from the data, otherwise they become part of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sub>
                    </m:sSub>
                  </m:oMath>
                </a14:m>
                <a:endParaRPr lang="en-US" dirty="0"/>
              </a:p>
              <a:p>
                <a:pPr marL="0" indent="0">
                  <a:buNone/>
                </a:pPr>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AB52495A-59EB-EC21-F5C4-FE99C337DDF5}"/>
                  </a:ext>
                </a:extLst>
              </p:cNvPr>
              <p:cNvSpPr>
                <a:spLocks noGrp="1" noRot="1" noChangeAspect="1" noMove="1" noResize="1" noEditPoints="1" noAdjustHandles="1" noChangeArrowheads="1" noChangeShapeType="1" noTextEdit="1"/>
              </p:cNvSpPr>
              <p:nvPr>
                <p:ph sz="half" idx="2"/>
              </p:nvPr>
            </p:nvSpPr>
            <p:spPr>
              <a:blipFill>
                <a:blip r:embed="rId2"/>
                <a:stretch>
                  <a:fillRect l="-754" t="-2326"/>
                </a:stretch>
              </a:blipFill>
            </p:spPr>
            <p:txBody>
              <a:bodyPr/>
              <a:lstStyle/>
              <a:p>
                <a:r>
                  <a:rPr lang="en-US">
                    <a:noFill/>
                  </a:rPr>
                  <a:t> </a:t>
                </a:r>
              </a:p>
            </p:txBody>
          </p:sp>
        </mc:Fallback>
      </mc:AlternateContent>
    </p:spTree>
    <p:extLst>
      <p:ext uri="{BB962C8B-B14F-4D97-AF65-F5344CB8AC3E}">
        <p14:creationId xmlns:p14="http://schemas.microsoft.com/office/powerpoint/2010/main" val="2620659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A3A22-0481-B047-67BA-C2FA6AB4F5A8}"/>
              </a:ext>
            </a:extLst>
          </p:cNvPr>
          <p:cNvSpPr>
            <a:spLocks noGrp="1"/>
          </p:cNvSpPr>
          <p:nvPr>
            <p:ph type="title"/>
          </p:nvPr>
        </p:nvSpPr>
        <p:spPr/>
        <p:txBody>
          <a:bodyPr/>
          <a:lstStyle/>
          <a:p>
            <a:r>
              <a:rPr lang="en-US" dirty="0"/>
              <a:t>HP-filter - example</a:t>
            </a:r>
          </a:p>
        </p:txBody>
      </p:sp>
      <p:sp>
        <p:nvSpPr>
          <p:cNvPr id="3" name="Slide Number Placeholder 2">
            <a:extLst>
              <a:ext uri="{FF2B5EF4-FFF2-40B4-BE49-F238E27FC236}">
                <a16:creationId xmlns:a16="http://schemas.microsoft.com/office/drawing/2014/main" id="{52F42F73-6DFD-81D2-909D-561AD29946C6}"/>
              </a:ext>
            </a:extLst>
          </p:cNvPr>
          <p:cNvSpPr>
            <a:spLocks noGrp="1"/>
          </p:cNvSpPr>
          <p:nvPr>
            <p:ph type="sldNum" idx="12"/>
          </p:nvPr>
        </p:nvSpPr>
        <p:spPr/>
        <p:txBody>
          <a:bodyPr/>
          <a:lstStyle/>
          <a:p>
            <a:fld id="{00000000-1234-1234-1234-123412341234}" type="slidenum">
              <a:rPr lang="en-GB" smtClean="0"/>
              <a:pPr/>
              <a:t>9</a:t>
            </a:fld>
            <a:endParaRPr lang="en-GB"/>
          </a:p>
        </p:txBody>
      </p:sp>
      <p:pic>
        <p:nvPicPr>
          <p:cNvPr id="8" name="Content Placeholder 7">
            <a:extLst>
              <a:ext uri="{FF2B5EF4-FFF2-40B4-BE49-F238E27FC236}">
                <a16:creationId xmlns:a16="http://schemas.microsoft.com/office/drawing/2014/main" id="{68376F62-7B1E-D396-92B4-70E047463524}"/>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tretch>
            <a:fillRect/>
          </a:stretch>
        </p:blipFill>
        <p:spPr>
          <a:xfrm>
            <a:off x="2500366" y="1933723"/>
            <a:ext cx="7456311" cy="4194175"/>
          </a:xfrm>
        </p:spPr>
      </p:pic>
    </p:spTree>
    <p:extLst>
      <p:ext uri="{BB962C8B-B14F-4D97-AF65-F5344CB8AC3E}">
        <p14:creationId xmlns:p14="http://schemas.microsoft.com/office/powerpoint/2010/main" val="3724131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A3A22-0481-B047-67BA-C2FA6AB4F5A8}"/>
              </a:ext>
            </a:extLst>
          </p:cNvPr>
          <p:cNvSpPr>
            <a:spLocks noGrp="1"/>
          </p:cNvSpPr>
          <p:nvPr>
            <p:ph type="title"/>
          </p:nvPr>
        </p:nvSpPr>
        <p:spPr/>
        <p:txBody>
          <a:bodyPr/>
          <a:lstStyle/>
          <a:p>
            <a:r>
              <a:rPr lang="en-US" dirty="0"/>
              <a:t>HP-filter - example</a:t>
            </a:r>
          </a:p>
        </p:txBody>
      </p:sp>
      <p:sp>
        <p:nvSpPr>
          <p:cNvPr id="3" name="Slide Number Placeholder 2">
            <a:extLst>
              <a:ext uri="{FF2B5EF4-FFF2-40B4-BE49-F238E27FC236}">
                <a16:creationId xmlns:a16="http://schemas.microsoft.com/office/drawing/2014/main" id="{52F42F73-6DFD-81D2-909D-561AD29946C6}"/>
              </a:ext>
            </a:extLst>
          </p:cNvPr>
          <p:cNvSpPr>
            <a:spLocks noGrp="1"/>
          </p:cNvSpPr>
          <p:nvPr>
            <p:ph type="sldNum" idx="12"/>
          </p:nvPr>
        </p:nvSpPr>
        <p:spPr/>
        <p:txBody>
          <a:bodyPr/>
          <a:lstStyle/>
          <a:p>
            <a:fld id="{00000000-1234-1234-1234-123412341234}" type="slidenum">
              <a:rPr lang="en-GB" smtClean="0"/>
              <a:pPr/>
              <a:t>10</a:t>
            </a:fld>
            <a:endParaRPr lang="en-GB"/>
          </a:p>
        </p:txBody>
      </p:sp>
      <p:pic>
        <p:nvPicPr>
          <p:cNvPr id="7" name="Content Placeholder 6">
            <a:extLst>
              <a:ext uri="{FF2B5EF4-FFF2-40B4-BE49-F238E27FC236}">
                <a16:creationId xmlns:a16="http://schemas.microsoft.com/office/drawing/2014/main" id="{6A191B39-DBC0-58AF-C000-A9D2EDC64567}"/>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2499607" y="1901825"/>
            <a:ext cx="7456311" cy="4194175"/>
          </a:xfrm>
        </p:spPr>
      </p:pic>
    </p:spTree>
    <p:extLst>
      <p:ext uri="{BB962C8B-B14F-4D97-AF65-F5344CB8AC3E}">
        <p14:creationId xmlns:p14="http://schemas.microsoft.com/office/powerpoint/2010/main" val="3999663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A3A22-0481-B047-67BA-C2FA6AB4F5A8}"/>
              </a:ext>
            </a:extLst>
          </p:cNvPr>
          <p:cNvSpPr>
            <a:spLocks noGrp="1"/>
          </p:cNvSpPr>
          <p:nvPr>
            <p:ph type="title"/>
          </p:nvPr>
        </p:nvSpPr>
        <p:spPr/>
        <p:txBody>
          <a:bodyPr/>
          <a:lstStyle/>
          <a:p>
            <a:r>
              <a:rPr lang="en-US" dirty="0"/>
              <a:t>HP-filter - example</a:t>
            </a:r>
          </a:p>
        </p:txBody>
      </p:sp>
      <p:sp>
        <p:nvSpPr>
          <p:cNvPr id="3" name="Slide Number Placeholder 2">
            <a:extLst>
              <a:ext uri="{FF2B5EF4-FFF2-40B4-BE49-F238E27FC236}">
                <a16:creationId xmlns:a16="http://schemas.microsoft.com/office/drawing/2014/main" id="{52F42F73-6DFD-81D2-909D-561AD29946C6}"/>
              </a:ext>
            </a:extLst>
          </p:cNvPr>
          <p:cNvSpPr>
            <a:spLocks noGrp="1"/>
          </p:cNvSpPr>
          <p:nvPr>
            <p:ph type="sldNum" idx="12"/>
          </p:nvPr>
        </p:nvSpPr>
        <p:spPr/>
        <p:txBody>
          <a:bodyPr/>
          <a:lstStyle/>
          <a:p>
            <a:fld id="{00000000-1234-1234-1234-123412341234}" type="slidenum">
              <a:rPr lang="en-GB" smtClean="0"/>
              <a:pPr/>
              <a:t>11</a:t>
            </a:fld>
            <a:endParaRPr lang="en-GB"/>
          </a:p>
        </p:txBody>
      </p:sp>
      <p:pic>
        <p:nvPicPr>
          <p:cNvPr id="8" name="Content Placeholder 7">
            <a:extLst>
              <a:ext uri="{FF2B5EF4-FFF2-40B4-BE49-F238E27FC236}">
                <a16:creationId xmlns:a16="http://schemas.microsoft.com/office/drawing/2014/main" id="{32ABAE5E-3EDC-739C-2D6F-16F3645D602A}"/>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2499607" y="1901825"/>
            <a:ext cx="7456311" cy="4194175"/>
          </a:xfrm>
        </p:spPr>
      </p:pic>
    </p:spTree>
    <p:extLst>
      <p:ext uri="{BB962C8B-B14F-4D97-AF65-F5344CB8AC3E}">
        <p14:creationId xmlns:p14="http://schemas.microsoft.com/office/powerpoint/2010/main" val="1162335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9C80-C232-0734-E6BF-926E0D26B5F1}"/>
              </a:ext>
            </a:extLst>
          </p:cNvPr>
          <p:cNvSpPr>
            <a:spLocks noGrp="1"/>
          </p:cNvSpPr>
          <p:nvPr>
            <p:ph type="title"/>
          </p:nvPr>
        </p:nvSpPr>
        <p:spPr/>
        <p:txBody>
          <a:bodyPr/>
          <a:lstStyle/>
          <a:p>
            <a:r>
              <a:rPr lang="en-US" dirty="0"/>
              <a:t>HP-filter -- exercise</a:t>
            </a:r>
          </a:p>
        </p:txBody>
      </p:sp>
      <p:sp>
        <p:nvSpPr>
          <p:cNvPr id="3" name="Slide Number Placeholder 2">
            <a:extLst>
              <a:ext uri="{FF2B5EF4-FFF2-40B4-BE49-F238E27FC236}">
                <a16:creationId xmlns:a16="http://schemas.microsoft.com/office/drawing/2014/main" id="{4E201ABA-CF3B-478B-4327-5FBD343407B0}"/>
              </a:ext>
            </a:extLst>
          </p:cNvPr>
          <p:cNvSpPr>
            <a:spLocks noGrp="1"/>
          </p:cNvSpPr>
          <p:nvPr>
            <p:ph type="sldNum" idx="12"/>
          </p:nvPr>
        </p:nvSpPr>
        <p:spPr/>
        <p:txBody>
          <a:bodyPr/>
          <a:lstStyle/>
          <a:p>
            <a:fld id="{00000000-1234-1234-1234-123412341234}" type="slidenum">
              <a:rPr lang="en-GB" smtClean="0"/>
              <a:pPr/>
              <a:t>12</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744879E-5DA2-FADA-B6D2-F2972AE2743B}"/>
                  </a:ext>
                </a:extLst>
              </p:cNvPr>
              <p:cNvSpPr>
                <a:spLocks noGrp="1"/>
              </p:cNvSpPr>
              <p:nvPr>
                <p:ph sz="half" idx="2"/>
              </p:nvPr>
            </p:nvSpPr>
            <p:spPr/>
            <p:txBody>
              <a:bodyPr/>
              <a:lstStyle/>
              <a:p>
                <a:pPr marL="457200" indent="-457200">
                  <a:buFont typeface="+mj-lt"/>
                  <a:buAutoNum type="arabicPeriod"/>
                </a:pPr>
                <a:r>
                  <a:rPr lang="en-US" dirty="0"/>
                  <a:t>Open the HP-</a:t>
                </a:r>
                <a:r>
                  <a:rPr lang="en-US" dirty="0" err="1"/>
                  <a:t>ex.R</a:t>
                </a:r>
                <a:r>
                  <a:rPr lang="en-US" dirty="0"/>
                  <a:t> script</a:t>
                </a:r>
              </a:p>
              <a:p>
                <a:pPr marL="457200" indent="-457200">
                  <a:buFont typeface="+mj-lt"/>
                  <a:buAutoNum type="arabicPeriod"/>
                </a:pPr>
                <a:endParaRPr lang="en-US" dirty="0"/>
              </a:p>
              <a:p>
                <a:pPr marL="457200" indent="-457200">
                  <a:buFont typeface="+mj-lt"/>
                  <a:buAutoNum type="arabicPeriod"/>
                </a:pPr>
                <a:r>
                  <a:rPr lang="en-US" dirty="0"/>
                  <a:t>Walk through the script and plot the trend and cycle</a:t>
                </a:r>
              </a:p>
              <a:p>
                <a:pPr marL="457200" indent="-457200">
                  <a:buFont typeface="+mj-lt"/>
                  <a:buAutoNum type="arabicPeriod"/>
                </a:pPr>
                <a:endParaRPr lang="en-US" dirty="0"/>
              </a:p>
              <a:p>
                <a:pPr marL="457200" indent="-457200">
                  <a:buFont typeface="+mj-lt"/>
                  <a:buAutoNum type="arabicPeriod"/>
                </a:pPr>
                <a:r>
                  <a:rPr lang="en-US" dirty="0"/>
                  <a:t>Analyze the trend and cycle, what do you notice?</a:t>
                </a:r>
              </a:p>
              <a:p>
                <a:pPr marL="457200" indent="-457200">
                  <a:buFont typeface="+mj-lt"/>
                  <a:buAutoNum type="arabicPeriod"/>
                </a:pPr>
                <a:endParaRPr lang="en-US" dirty="0"/>
              </a:p>
              <a:p>
                <a:pPr marL="457200" indent="-457200">
                  <a:buFont typeface="+mj-lt"/>
                  <a:buAutoNum type="arabicPeriod"/>
                </a:pPr>
                <a:r>
                  <a:rPr lang="en-US" dirty="0"/>
                  <a:t>Test different values for </a:t>
                </a:r>
                <a14:m>
                  <m:oMath xmlns:m="http://schemas.openxmlformats.org/officeDocument/2006/math">
                    <m:r>
                      <a:rPr lang="nl-NL" b="0" i="1" smtClean="0">
                        <a:latin typeface="Cambria Math" panose="02040503050406030204" pitchFamily="18" charset="0"/>
                      </a:rPr>
                      <m:t>𝜆</m:t>
                    </m:r>
                  </m:oMath>
                </a14:m>
                <a:r>
                  <a:rPr lang="en-US" dirty="0"/>
                  <a:t> and analyze how the cycle and trend change</a:t>
                </a:r>
              </a:p>
            </p:txBody>
          </p:sp>
        </mc:Choice>
        <mc:Fallback xmlns="">
          <p:sp>
            <p:nvSpPr>
              <p:cNvPr id="4" name="Content Placeholder 3">
                <a:extLst>
                  <a:ext uri="{FF2B5EF4-FFF2-40B4-BE49-F238E27FC236}">
                    <a16:creationId xmlns:a16="http://schemas.microsoft.com/office/drawing/2014/main" id="{B744879E-5DA2-FADA-B6D2-F2972AE2743B}"/>
                  </a:ext>
                </a:extLst>
              </p:cNvPr>
              <p:cNvSpPr>
                <a:spLocks noGrp="1" noRot="1" noChangeAspect="1" noMove="1" noResize="1" noEditPoints="1" noAdjustHandles="1" noChangeArrowheads="1" noChangeShapeType="1" noTextEdit="1"/>
              </p:cNvSpPr>
              <p:nvPr>
                <p:ph sz="half" idx="2"/>
              </p:nvPr>
            </p:nvSpPr>
            <p:spPr>
              <a:blipFill>
                <a:blip r:embed="rId2"/>
                <a:stretch>
                  <a:fillRect l="-754" t="-2326"/>
                </a:stretch>
              </a:blipFill>
            </p:spPr>
            <p:txBody>
              <a:bodyPr/>
              <a:lstStyle/>
              <a:p>
                <a:r>
                  <a:rPr lang="en-US">
                    <a:noFill/>
                  </a:rPr>
                  <a:t> </a:t>
                </a:r>
              </a:p>
            </p:txBody>
          </p:sp>
        </mc:Fallback>
      </mc:AlternateContent>
    </p:spTree>
    <p:extLst>
      <p:ext uri="{BB962C8B-B14F-4D97-AF65-F5344CB8AC3E}">
        <p14:creationId xmlns:p14="http://schemas.microsoft.com/office/powerpoint/2010/main" val="491466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45C9B30-47F8-D39C-A792-05AD58970461}"/>
                  </a:ext>
                </a:extLst>
              </p:cNvPr>
              <p:cNvSpPr>
                <a:spLocks noGrp="1"/>
              </p:cNvSpPr>
              <p:nvPr>
                <p:ph type="title"/>
              </p:nvPr>
            </p:nvSpPr>
            <p:spPr/>
            <p:txBody>
              <a:bodyPr/>
              <a:lstStyle/>
              <a:p>
                <a:r>
                  <a:rPr lang="en-US" dirty="0"/>
                  <a:t>HP-filter - Parameter </a:t>
                </a:r>
                <a14:m>
                  <m:oMath xmlns:m="http://schemas.openxmlformats.org/officeDocument/2006/math">
                    <m:r>
                      <a:rPr lang="nl-NL" b="0" i="1" smtClean="0">
                        <a:latin typeface="Cambria Math" panose="02040503050406030204" pitchFamily="18" charset="0"/>
                      </a:rPr>
                      <m:t>𝜆</m:t>
                    </m:r>
                  </m:oMath>
                </a14:m>
                <a:endParaRPr lang="en-US" dirty="0"/>
              </a:p>
            </p:txBody>
          </p:sp>
        </mc:Choice>
        <mc:Fallback xmlns="">
          <p:sp>
            <p:nvSpPr>
              <p:cNvPr id="2" name="Title 1">
                <a:extLst>
                  <a:ext uri="{FF2B5EF4-FFF2-40B4-BE49-F238E27FC236}">
                    <a16:creationId xmlns:a16="http://schemas.microsoft.com/office/drawing/2014/main" id="{C45C9B30-47F8-D39C-A792-05AD58970461}"/>
                  </a:ext>
                </a:extLst>
              </p:cNvPr>
              <p:cNvSpPr>
                <a:spLocks noGrp="1" noRot="1" noChangeAspect="1" noMove="1" noResize="1" noEditPoints="1" noAdjustHandles="1" noChangeArrowheads="1" noChangeShapeType="1" noTextEdit="1"/>
              </p:cNvSpPr>
              <p:nvPr>
                <p:ph type="title"/>
              </p:nvPr>
            </p:nvSpPr>
            <p:spPr>
              <a:blipFill>
                <a:blip r:embed="rId2"/>
                <a:stretch>
                  <a:fillRect l="-2029" t="-21875" b="-1562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FB4F6B6-8F1F-CA17-C17C-8CBB08E189CF}"/>
              </a:ext>
            </a:extLst>
          </p:cNvPr>
          <p:cNvSpPr>
            <a:spLocks noGrp="1"/>
          </p:cNvSpPr>
          <p:nvPr>
            <p:ph type="sldNum" idx="12"/>
          </p:nvPr>
        </p:nvSpPr>
        <p:spPr/>
        <p:txBody>
          <a:bodyPr/>
          <a:lstStyle/>
          <a:p>
            <a:fld id="{00000000-1234-1234-1234-123412341234}" type="slidenum">
              <a:rPr lang="en-GB" smtClean="0"/>
              <a:pPr/>
              <a:t>13</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6BDE004-EDEA-03AC-863B-DD945229832C}"/>
                  </a:ext>
                </a:extLst>
              </p:cNvPr>
              <p:cNvSpPr>
                <a:spLocks noGrp="1"/>
              </p:cNvSpPr>
              <p:nvPr>
                <p:ph sz="half" idx="2"/>
              </p:nvPr>
            </p:nvSpPr>
            <p:spPr/>
            <p:txBody>
              <a:bodyPr/>
              <a:lstStyle/>
              <a:p>
                <a:r>
                  <a:rPr lang="en-US" dirty="0"/>
                  <a:t>Parameter </a:t>
                </a:r>
                <a14:m>
                  <m:oMath xmlns:m="http://schemas.openxmlformats.org/officeDocument/2006/math">
                    <m:r>
                      <a:rPr lang="nl-NL" b="0" i="1" smtClean="0">
                        <a:latin typeface="Cambria Math" panose="02040503050406030204" pitchFamily="18" charset="0"/>
                      </a:rPr>
                      <m:t>𝜆</m:t>
                    </m:r>
                  </m:oMath>
                </a14:m>
                <a:r>
                  <a:rPr lang="en-US" dirty="0"/>
                  <a:t> is often labelled as the weight of the smoothness penalty </a:t>
                </a:r>
              </a:p>
              <a:p>
                <a:endParaRPr lang="en-US" dirty="0"/>
              </a:p>
              <a:p>
                <a:r>
                  <a:rPr lang="en-US" dirty="0"/>
                  <a:t>For larger values of </a:t>
                </a:r>
                <a14:m>
                  <m:oMath xmlns:m="http://schemas.openxmlformats.org/officeDocument/2006/math">
                    <m:r>
                      <a:rPr lang="nl-NL" b="0" i="1" smtClean="0">
                        <a:latin typeface="Cambria Math" panose="02040503050406030204" pitchFamily="18" charset="0"/>
                      </a:rPr>
                      <m:t>𝜆</m:t>
                    </m:r>
                  </m:oMath>
                </a14:m>
                <a:r>
                  <a:rPr lang="en-US" dirty="0"/>
                  <a:t> the smoothness of the trend becomes relatively more important than the distance to the original series</a:t>
                </a:r>
              </a:p>
              <a:p>
                <a:endParaRPr lang="en-US" dirty="0"/>
              </a:p>
              <a:p>
                <a:pPr marL="0" indent="0">
                  <a:buNone/>
                </a:pPr>
                <a:r>
                  <a:rPr lang="en-US" dirty="0">
                    <a:solidFill>
                      <a:srgbClr val="101010"/>
                    </a:solidFill>
                  </a:rPr>
                  <a:t>Question: </a:t>
                </a:r>
              </a:p>
              <a:p>
                <a:pPr marL="0" indent="0">
                  <a:buNone/>
                </a:pPr>
                <a:endParaRPr lang="en-US" dirty="0">
                  <a:solidFill>
                    <a:srgbClr val="101010"/>
                  </a:solidFill>
                </a:endParaRPr>
              </a:p>
              <a:p>
                <a:pPr marL="0" indent="0">
                  <a:buNone/>
                </a:pPr>
                <a:r>
                  <a:rPr lang="en-US" dirty="0">
                    <a:solidFill>
                      <a:srgbClr val="101010"/>
                    </a:solidFill>
                  </a:rPr>
                  <a:t>What happens to the optimalization problem if </a:t>
                </a:r>
                <a14:m>
                  <m:oMath xmlns:m="http://schemas.openxmlformats.org/officeDocument/2006/math">
                    <m:r>
                      <m:rPr>
                        <m:lit/>
                      </m:rPr>
                      <a:rPr lang="nl-NL" b="0" i="0" smtClean="0">
                        <a:solidFill>
                          <a:srgbClr val="101010"/>
                        </a:solidFill>
                        <a:latin typeface="Cambria Math" panose="02040503050406030204" pitchFamily="18" charset="0"/>
                      </a:rPr>
                      <m:t> </m:t>
                    </m:r>
                    <m:r>
                      <a:rPr lang="nl-NL" b="0" i="1" smtClean="0">
                        <a:solidFill>
                          <a:srgbClr val="101010"/>
                        </a:solidFill>
                        <a:latin typeface="Cambria Math" panose="02040503050406030204" pitchFamily="18" charset="0"/>
                      </a:rPr>
                      <m:t>𝜆</m:t>
                    </m:r>
                    <m:r>
                      <a:rPr lang="nl-NL" b="0" i="1" smtClean="0">
                        <a:solidFill>
                          <a:srgbClr val="101010"/>
                        </a:solidFill>
                        <a:latin typeface="Cambria Math" panose="02040503050406030204" pitchFamily="18" charset="0"/>
                      </a:rPr>
                      <m:t>=0</m:t>
                    </m:r>
                  </m:oMath>
                </a14:m>
                <a:r>
                  <a:rPr lang="en-US" dirty="0">
                    <a:solidFill>
                      <a:srgbClr val="101010"/>
                    </a:solidFill>
                  </a:rPr>
                  <a:t> and what if </a:t>
                </a:r>
                <a14:m>
                  <m:oMath xmlns:m="http://schemas.openxmlformats.org/officeDocument/2006/math">
                    <m:r>
                      <a:rPr lang="nl-NL" b="0" i="1" smtClean="0">
                        <a:solidFill>
                          <a:srgbClr val="101010"/>
                        </a:solidFill>
                        <a:latin typeface="Cambria Math" panose="02040503050406030204" pitchFamily="18" charset="0"/>
                      </a:rPr>
                      <m:t>𝜆</m:t>
                    </m:r>
                    <m:r>
                      <a:rPr lang="nl-NL" b="0" i="1" smtClean="0">
                        <a:solidFill>
                          <a:srgbClr val="101010"/>
                        </a:solidFill>
                        <a:latin typeface="Cambria Math" panose="02040503050406030204" pitchFamily="18" charset="0"/>
                      </a:rPr>
                      <m:t>→∞</m:t>
                    </m:r>
                  </m:oMath>
                </a14:m>
                <a:r>
                  <a:rPr lang="en-US" dirty="0">
                    <a:solidFill>
                      <a:srgbClr val="101010"/>
                    </a:solidFill>
                  </a:rPr>
                  <a:t>? Why?</a:t>
                </a:r>
              </a:p>
              <a:p>
                <a:pPr marL="0" indent="0">
                  <a:buNone/>
                </a:pPr>
                <a:endParaRPr lang="en-US" dirty="0">
                  <a:solidFill>
                    <a:srgbClr val="FF0000"/>
                  </a:solidFill>
                </a:endParaRPr>
              </a:p>
            </p:txBody>
          </p:sp>
        </mc:Choice>
        <mc:Fallback xmlns="">
          <p:sp>
            <p:nvSpPr>
              <p:cNvPr id="4" name="Content Placeholder 3">
                <a:extLst>
                  <a:ext uri="{FF2B5EF4-FFF2-40B4-BE49-F238E27FC236}">
                    <a16:creationId xmlns:a16="http://schemas.microsoft.com/office/drawing/2014/main" id="{76BDE004-EDEA-03AC-863B-DD945229832C}"/>
                  </a:ext>
                </a:extLst>
              </p:cNvPr>
              <p:cNvSpPr>
                <a:spLocks noGrp="1" noRot="1" noChangeAspect="1" noMove="1" noResize="1" noEditPoints="1" noAdjustHandles="1" noChangeArrowheads="1" noChangeShapeType="1" noTextEdit="1"/>
              </p:cNvSpPr>
              <p:nvPr>
                <p:ph sz="half" idx="2"/>
              </p:nvPr>
            </p:nvSpPr>
            <p:spPr>
              <a:blipFill>
                <a:blip r:embed="rId3"/>
                <a:stretch>
                  <a:fillRect l="-754" t="-2326"/>
                </a:stretch>
              </a:blipFill>
            </p:spPr>
            <p:txBody>
              <a:bodyPr/>
              <a:lstStyle/>
              <a:p>
                <a:r>
                  <a:rPr lang="en-US">
                    <a:noFill/>
                  </a:rPr>
                  <a:t> </a:t>
                </a:r>
              </a:p>
            </p:txBody>
          </p:sp>
        </mc:Fallback>
      </mc:AlternateContent>
    </p:spTree>
    <p:extLst>
      <p:ext uri="{BB962C8B-B14F-4D97-AF65-F5344CB8AC3E}">
        <p14:creationId xmlns:p14="http://schemas.microsoft.com/office/powerpoint/2010/main" val="995982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87B1C4F-D01E-6919-BF76-450F1DFE7421}"/>
                  </a:ext>
                </a:extLst>
              </p:cNvPr>
              <p:cNvSpPr>
                <a:spLocks noGrp="1"/>
              </p:cNvSpPr>
              <p:nvPr>
                <p:ph type="title"/>
              </p:nvPr>
            </p:nvSpPr>
            <p:spPr/>
            <p:txBody>
              <a:bodyPr/>
              <a:lstStyle/>
              <a:p>
                <a:r>
                  <a:rPr lang="en-US" dirty="0"/>
                  <a:t>HP-filter – Parameter </a:t>
                </a:r>
                <a14:m>
                  <m:oMath xmlns:m="http://schemas.openxmlformats.org/officeDocument/2006/math">
                    <m:r>
                      <a:rPr lang="nl-NL" b="0" i="1" smtClean="0">
                        <a:latin typeface="Cambria Math" panose="02040503050406030204" pitchFamily="18" charset="0"/>
                      </a:rPr>
                      <m:t>𝜆</m:t>
                    </m:r>
                  </m:oMath>
                </a14:m>
                <a:endParaRPr lang="en-US" dirty="0"/>
              </a:p>
            </p:txBody>
          </p:sp>
        </mc:Choice>
        <mc:Fallback xmlns="">
          <p:sp>
            <p:nvSpPr>
              <p:cNvPr id="2" name="Title 1">
                <a:extLst>
                  <a:ext uri="{FF2B5EF4-FFF2-40B4-BE49-F238E27FC236}">
                    <a16:creationId xmlns:a16="http://schemas.microsoft.com/office/drawing/2014/main" id="{287B1C4F-D01E-6919-BF76-450F1DFE7421}"/>
                  </a:ext>
                </a:extLst>
              </p:cNvPr>
              <p:cNvSpPr>
                <a:spLocks noGrp="1" noRot="1" noChangeAspect="1" noMove="1" noResize="1" noEditPoints="1" noAdjustHandles="1" noChangeArrowheads="1" noChangeShapeType="1" noTextEdit="1"/>
              </p:cNvSpPr>
              <p:nvPr>
                <p:ph type="title"/>
              </p:nvPr>
            </p:nvSpPr>
            <p:spPr>
              <a:blipFill>
                <a:blip r:embed="rId2"/>
                <a:stretch>
                  <a:fillRect l="-2029" t="-21875" b="-1562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C2660CAD-3D52-A4ED-2AEF-F74564C565D0}"/>
              </a:ext>
            </a:extLst>
          </p:cNvPr>
          <p:cNvSpPr>
            <a:spLocks noGrp="1"/>
          </p:cNvSpPr>
          <p:nvPr>
            <p:ph type="sldNum" idx="12"/>
          </p:nvPr>
        </p:nvSpPr>
        <p:spPr/>
        <p:txBody>
          <a:bodyPr/>
          <a:lstStyle/>
          <a:p>
            <a:fld id="{00000000-1234-1234-1234-123412341234}" type="slidenum">
              <a:rPr lang="en-GB" smtClean="0"/>
              <a:pPr/>
              <a:t>14</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B00AA7C-407F-837A-AA0F-DF0615FFC3FC}"/>
                  </a:ext>
                </a:extLst>
              </p:cNvPr>
              <p:cNvSpPr>
                <a:spLocks noGrp="1"/>
              </p:cNvSpPr>
              <p:nvPr>
                <p:ph sz="half" idx="2"/>
              </p:nvPr>
            </p:nvSpPr>
            <p:spPr/>
            <p:txBody>
              <a:bodyPr/>
              <a:lstStyle/>
              <a:p>
                <a:pPr marL="0" indent="0">
                  <a:buNone/>
                </a:pPr>
                <a:r>
                  <a:rPr lang="en-US" dirty="0"/>
                  <a:t>Case </a:t>
                </a:r>
                <a14:m>
                  <m:oMath xmlns:m="http://schemas.openxmlformats.org/officeDocument/2006/math">
                    <m:r>
                      <a:rPr lang="nl-NL" b="0" i="1" smtClean="0">
                        <a:latin typeface="Cambria Math" panose="02040503050406030204" pitchFamily="18" charset="0"/>
                      </a:rPr>
                      <m:t>𝜆</m:t>
                    </m:r>
                    <m:r>
                      <a:rPr lang="nl-NL" b="0" i="1" smtClean="0">
                        <a:latin typeface="Cambria Math" panose="02040503050406030204" pitchFamily="18" charset="0"/>
                      </a:rPr>
                      <m:t>=0</m:t>
                    </m:r>
                  </m:oMath>
                </a14:m>
                <a:endParaRPr lang="nl-NL" b="0" dirty="0"/>
              </a:p>
              <a:p>
                <a:pPr marL="0" indent="0">
                  <a:buNone/>
                </a:pPr>
                <a:endParaRPr lang="en-US" dirty="0"/>
              </a:p>
              <a:p>
                <a:r>
                  <a:rPr lang="en-US" dirty="0"/>
                  <a:t>The optimization problem becomes: </a:t>
                </a:r>
                <a14:m>
                  <m:oMath xmlns:m="http://schemas.openxmlformats.org/officeDocument/2006/math">
                    <m:limLow>
                      <m:limLowPr>
                        <m:ctrlPr>
                          <a:rPr lang="nl-NL" b="0" i="1" smtClean="0">
                            <a:latin typeface="Cambria Math" panose="02040503050406030204" pitchFamily="18" charset="0"/>
                          </a:rPr>
                        </m:ctrlPr>
                      </m:limLowPr>
                      <m:e>
                        <m:r>
                          <m:rPr>
                            <m:sty m:val="p"/>
                          </m:rPr>
                          <a:rPr lang="nl-NL" b="0" i="0" smtClean="0">
                            <a:latin typeface="Cambria Math" panose="02040503050406030204" pitchFamily="18" charset="0"/>
                          </a:rPr>
                          <m:t>min</m:t>
                        </m:r>
                      </m:e>
                      <m:lim>
                        <m:r>
                          <m:rPr>
                            <m:sty m:val="p"/>
                          </m:rPr>
                          <a:rPr lang="nl-NL" b="0" i="0" smtClean="0">
                            <a:latin typeface="Cambria Math" panose="02040503050406030204" pitchFamily="18" charset="0"/>
                          </a:rPr>
                          <m:t>g</m:t>
                        </m:r>
                      </m:lim>
                    </m:limLow>
                    <m:nary>
                      <m:naryPr>
                        <m:chr m:val="∑"/>
                        <m:ctrlPr>
                          <a:rPr lang="en-US" i="1" smtClean="0">
                            <a:latin typeface="Cambria Math" panose="02040503050406030204" pitchFamily="18" charset="0"/>
                          </a:rPr>
                        </m:ctrlPr>
                      </m:naryPr>
                      <m:sub>
                        <m:sSub>
                          <m:sSubPr>
                            <m:ctrlPr>
                              <a:rPr lang="nl-NL" b="0" i="1" smtClean="0">
                                <a:latin typeface="Cambria Math" panose="02040503050406030204" pitchFamily="18" charset="0"/>
                              </a:rPr>
                            </m:ctrlPr>
                          </m:sSubPr>
                          <m:e>
                            <m:r>
                              <m:rPr>
                                <m:brk m:alnAt="23"/>
                              </m:rPr>
                              <a:rPr lang="nl-NL" b="0" i="1" smtClean="0">
                                <a:latin typeface="Cambria Math" panose="02040503050406030204" pitchFamily="18" charset="0"/>
                              </a:rPr>
                              <m:t>𝑡</m:t>
                            </m:r>
                          </m:e>
                          <m:sub>
                            <m:r>
                              <a:rPr lang="nl-NL" b="0" i="1" smtClean="0">
                                <a:latin typeface="Cambria Math" panose="02040503050406030204" pitchFamily="18" charset="0"/>
                              </a:rPr>
                              <m:t>=</m:t>
                            </m:r>
                            <m:r>
                              <m:rPr>
                                <m:brk m:alnAt="23"/>
                              </m:rPr>
                              <a:rPr lang="nl-NL" b="0" i="1" smtClean="0">
                                <a:latin typeface="Cambria Math" panose="02040503050406030204" pitchFamily="18" charset="0"/>
                              </a:rPr>
                              <m:t>1</m:t>
                            </m:r>
                          </m:sub>
                        </m:sSub>
                      </m:sub>
                      <m:sup>
                        <m:r>
                          <a:rPr lang="nl-NL" b="0" i="1" smtClean="0">
                            <a:latin typeface="Cambria Math" panose="02040503050406030204" pitchFamily="18" charset="0"/>
                          </a:rPr>
                          <m:t>𝑇</m:t>
                        </m:r>
                      </m:sup>
                      <m:e>
                        <m:sSup>
                          <m:sSupPr>
                            <m:ctrlPr>
                              <a:rPr lang="nl-NL" b="0" i="1" smtClean="0">
                                <a:latin typeface="Cambria Math" panose="02040503050406030204" pitchFamily="18" charset="0"/>
                              </a:rPr>
                            </m:ctrlPr>
                          </m:sSupPr>
                          <m:e>
                            <m:d>
                              <m:dPr>
                                <m:ctrlPr>
                                  <a:rPr lang="en-US" i="1" smtClean="0">
                                    <a:latin typeface="Cambria Math" panose="02040503050406030204" pitchFamily="18" charset="0"/>
                                  </a:rPr>
                                </m:ctrlPr>
                              </m:d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e>
                            </m:d>
                          </m:e>
                          <m:sup>
                            <m:r>
                              <a:rPr lang="nl-NL" b="0" i="1" smtClean="0">
                                <a:latin typeface="Cambria Math" panose="02040503050406030204" pitchFamily="18" charset="0"/>
                              </a:rPr>
                              <m:t>2</m:t>
                            </m:r>
                          </m:sup>
                        </m:sSup>
                      </m:e>
                    </m:nary>
                  </m:oMath>
                </a14:m>
                <a:endParaRPr lang="en-US" dirty="0"/>
              </a:p>
              <a:p>
                <a:r>
                  <a:rPr lang="en-US" dirty="0"/>
                  <a:t>The result of which is the same as the original series</a:t>
                </a:r>
              </a:p>
              <a:p>
                <a:endParaRPr lang="en-US" dirty="0"/>
              </a:p>
              <a:p>
                <a:pPr marL="0" indent="0">
                  <a:buNone/>
                </a:pPr>
                <a:r>
                  <a:rPr lang="en-US" dirty="0"/>
                  <a:t>Case </a:t>
                </a:r>
                <a14:m>
                  <m:oMath xmlns:m="http://schemas.openxmlformats.org/officeDocument/2006/math">
                    <m:r>
                      <a:rPr lang="nl-NL" b="0" i="1" smtClean="0">
                        <a:latin typeface="Cambria Math" panose="02040503050406030204" pitchFamily="18" charset="0"/>
                      </a:rPr>
                      <m:t>𝜆</m:t>
                    </m:r>
                    <m:r>
                      <a:rPr lang="nl-NL" b="0" i="1" smtClean="0">
                        <a:latin typeface="Cambria Math" panose="02040503050406030204" pitchFamily="18" charset="0"/>
                      </a:rPr>
                      <m:t>→∞</m:t>
                    </m:r>
                  </m:oMath>
                </a14:m>
                <a:endParaRPr lang="en-US" dirty="0"/>
              </a:p>
              <a:p>
                <a:pPr marL="0" indent="0">
                  <a:buNone/>
                </a:pPr>
                <a:endParaRPr lang="en-US" dirty="0"/>
              </a:p>
              <a:p>
                <a:r>
                  <a:rPr lang="en-US" dirty="0"/>
                  <a:t>Infinity penalty unless </a:t>
                </a:r>
                <a14:m>
                  <m:oMath xmlns:m="http://schemas.openxmlformats.org/officeDocument/2006/math">
                    <m:d>
                      <m:dPr>
                        <m:ctrlPr>
                          <a:rPr lang="nl-NL" b="0" i="1" smtClean="0">
                            <a:latin typeface="Cambria Math" panose="02040503050406030204" pitchFamily="18" charset="0"/>
                          </a:rPr>
                        </m:ctrlPr>
                      </m:d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r>
                              <a:rPr lang="nl-NL" b="0" i="1" smtClean="0">
                                <a:latin typeface="Cambria Math" panose="02040503050406030204" pitchFamily="18" charset="0"/>
                              </a:rPr>
                              <m:t>+1</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e>
                    </m:d>
                    <m:r>
                      <a:rPr lang="nl-NL" b="0" i="1" smtClean="0">
                        <a:latin typeface="Cambria Math" panose="02040503050406030204" pitchFamily="18" charset="0"/>
                      </a:rPr>
                      <m:t>−</m:t>
                    </m:r>
                    <m:d>
                      <m:dPr>
                        <m:ctrlPr>
                          <a:rPr lang="nl-NL" b="0" i="1" smtClean="0">
                            <a:latin typeface="Cambria Math" panose="02040503050406030204" pitchFamily="18" charset="0"/>
                          </a:rPr>
                        </m:ctrlPr>
                      </m:dPr>
                      <m:e>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r>
                              <a:rPr lang="nl-NL" b="0" i="1" smtClean="0">
                                <a:latin typeface="Cambria Math" panose="02040503050406030204" pitchFamily="18" charset="0"/>
                              </a:rPr>
                              <m:t>−1</m:t>
                            </m:r>
                          </m:sub>
                        </m:sSub>
                      </m:e>
                    </m:d>
                    <m:r>
                      <a:rPr lang="nl-NL" b="0" i="1" smtClean="0">
                        <a:latin typeface="Cambria Math" panose="02040503050406030204" pitchFamily="18" charset="0"/>
                      </a:rPr>
                      <m:t>=0</m:t>
                    </m:r>
                  </m:oMath>
                </a14:m>
                <a:endParaRPr lang="nl-NL" b="0" dirty="0"/>
              </a:p>
              <a:p>
                <a:r>
                  <a:rPr lang="en-US" b="0" dirty="0"/>
                  <a:t>Rewriting yields </a:t>
                </a:r>
                <a14:m>
                  <m:oMath xmlns:m="http://schemas.openxmlformats.org/officeDocument/2006/math">
                    <m:r>
                      <m:rPr>
                        <m:sty m:val="p"/>
                      </m:rPr>
                      <a:rPr lang="nl-NL" b="0" i="0" smtClean="0">
                        <a:latin typeface="Cambria Math" panose="02040503050406030204" pitchFamily="18" charset="0"/>
                      </a:rPr>
                      <m:t>Δ</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r>
                          <a:rPr lang="nl-NL" b="0" i="1" smtClean="0">
                            <a:latin typeface="Cambria Math" panose="02040503050406030204" pitchFamily="18" charset="0"/>
                          </a:rPr>
                          <m:t>+1</m:t>
                        </m:r>
                      </m:sub>
                    </m:sSub>
                    <m:r>
                      <a:rPr lang="nl-NL" b="0" i="1" smtClean="0">
                        <a:latin typeface="Cambria Math" panose="02040503050406030204" pitchFamily="18" charset="0"/>
                      </a:rPr>
                      <m:t>=</m:t>
                    </m:r>
                    <m:r>
                      <m:rPr>
                        <m:sty m:val="p"/>
                      </m:rPr>
                      <a:rPr lang="nl-NL" b="0" i="0" smtClean="0">
                        <a:latin typeface="Cambria Math" panose="02040503050406030204" pitchFamily="18" charset="0"/>
                      </a:rPr>
                      <m:t>Δ</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oMath>
                </a14:m>
                <a:r>
                  <a:rPr lang="en-US" dirty="0"/>
                  <a:t>  </a:t>
                </a:r>
                <a:r>
                  <a:rPr lang="en-US" dirty="0">
                    <a:sym typeface="Wingdings" panose="05000000000000000000" pitchFamily="2" charset="2"/>
                  </a:rPr>
                  <a:t> the slope is constant  linear model</a:t>
                </a:r>
                <a:endParaRPr lang="en-US" dirty="0"/>
              </a:p>
              <a:p>
                <a:pPr marL="0" indent="0">
                  <a:buNone/>
                </a:pPr>
                <a:r>
                  <a:rPr lang="en-US" dirty="0"/>
                  <a:t>	</a:t>
                </a:r>
              </a:p>
              <a:p>
                <a:pPr lvl="1"/>
                <a:endParaRPr lang="en-US" dirty="0"/>
              </a:p>
            </p:txBody>
          </p:sp>
        </mc:Choice>
        <mc:Fallback xmlns="">
          <p:sp>
            <p:nvSpPr>
              <p:cNvPr id="4" name="Content Placeholder 3">
                <a:extLst>
                  <a:ext uri="{FF2B5EF4-FFF2-40B4-BE49-F238E27FC236}">
                    <a16:creationId xmlns:a16="http://schemas.microsoft.com/office/drawing/2014/main" id="{2B00AA7C-407F-837A-AA0F-DF0615FFC3FC}"/>
                  </a:ext>
                </a:extLst>
              </p:cNvPr>
              <p:cNvSpPr>
                <a:spLocks noGrp="1" noRot="1" noChangeAspect="1" noMove="1" noResize="1" noEditPoints="1" noAdjustHandles="1" noChangeArrowheads="1" noChangeShapeType="1" noTextEdit="1"/>
              </p:cNvSpPr>
              <p:nvPr>
                <p:ph sz="half" idx="2"/>
              </p:nvPr>
            </p:nvSpPr>
            <p:spPr>
              <a:blipFill>
                <a:blip r:embed="rId3"/>
                <a:stretch>
                  <a:fillRect l="-754" t="-1453"/>
                </a:stretch>
              </a:blipFill>
            </p:spPr>
            <p:txBody>
              <a:bodyPr/>
              <a:lstStyle/>
              <a:p>
                <a:r>
                  <a:rPr lang="en-US">
                    <a:noFill/>
                  </a:rPr>
                  <a:t> </a:t>
                </a:r>
              </a:p>
            </p:txBody>
          </p:sp>
        </mc:Fallback>
      </mc:AlternateContent>
    </p:spTree>
    <p:extLst>
      <p:ext uri="{BB962C8B-B14F-4D97-AF65-F5344CB8AC3E}">
        <p14:creationId xmlns:p14="http://schemas.microsoft.com/office/powerpoint/2010/main" val="1726824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E8A7E31-74BF-D3D5-43D1-C71CA962B7DF}"/>
                  </a:ext>
                </a:extLst>
              </p:cNvPr>
              <p:cNvSpPr>
                <a:spLocks noGrp="1"/>
              </p:cNvSpPr>
              <p:nvPr>
                <p:ph type="title"/>
              </p:nvPr>
            </p:nvSpPr>
            <p:spPr/>
            <p:txBody>
              <a:bodyPr/>
              <a:lstStyle/>
              <a:p>
                <a:r>
                  <a:rPr lang="en-US" dirty="0"/>
                  <a:t>HP-filter – Parameter </a:t>
                </a:r>
                <a14:m>
                  <m:oMath xmlns:m="http://schemas.openxmlformats.org/officeDocument/2006/math">
                    <m:r>
                      <a:rPr lang="nl-NL" b="0" i="1" smtClean="0">
                        <a:latin typeface="Cambria Math" panose="02040503050406030204" pitchFamily="18" charset="0"/>
                      </a:rPr>
                      <m:t>𝜆</m:t>
                    </m:r>
                  </m:oMath>
                </a14:m>
                <a:endParaRPr lang="en-US" dirty="0"/>
              </a:p>
            </p:txBody>
          </p:sp>
        </mc:Choice>
        <mc:Fallback xmlns="">
          <p:sp>
            <p:nvSpPr>
              <p:cNvPr id="2" name="Title 1">
                <a:extLst>
                  <a:ext uri="{FF2B5EF4-FFF2-40B4-BE49-F238E27FC236}">
                    <a16:creationId xmlns:a16="http://schemas.microsoft.com/office/drawing/2014/main" id="{2E8A7E31-74BF-D3D5-43D1-C71CA962B7DF}"/>
                  </a:ext>
                </a:extLst>
              </p:cNvPr>
              <p:cNvSpPr>
                <a:spLocks noGrp="1" noRot="1" noChangeAspect="1" noMove="1" noResize="1" noEditPoints="1" noAdjustHandles="1" noChangeArrowheads="1" noChangeShapeType="1" noTextEdit="1"/>
              </p:cNvSpPr>
              <p:nvPr>
                <p:ph type="title"/>
              </p:nvPr>
            </p:nvSpPr>
            <p:spPr>
              <a:blipFill>
                <a:blip r:embed="rId2"/>
                <a:stretch>
                  <a:fillRect l="-2029" t="-21875" b="-1562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D8EA438-634B-58CE-7EF1-754015857796}"/>
              </a:ext>
            </a:extLst>
          </p:cNvPr>
          <p:cNvSpPr>
            <a:spLocks noGrp="1"/>
          </p:cNvSpPr>
          <p:nvPr>
            <p:ph type="sldNum" idx="12"/>
          </p:nvPr>
        </p:nvSpPr>
        <p:spPr/>
        <p:txBody>
          <a:bodyPr/>
          <a:lstStyle/>
          <a:p>
            <a:fld id="{00000000-1234-1234-1234-123412341234}" type="slidenum">
              <a:rPr lang="en-GB" smtClean="0"/>
              <a:pPr/>
              <a:t>15</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8ABA834-7B95-7B5B-1FB1-5F47A6453E6E}"/>
                  </a:ext>
                </a:extLst>
              </p:cNvPr>
              <p:cNvSpPr>
                <a:spLocks noGrp="1"/>
              </p:cNvSpPr>
              <p:nvPr>
                <p:ph sz="half" idx="2"/>
              </p:nvPr>
            </p:nvSpPr>
            <p:spPr/>
            <p:txBody>
              <a:bodyPr/>
              <a:lstStyle/>
              <a:p>
                <a:r>
                  <a:rPr lang="en-US" dirty="0"/>
                  <a:t>Note that the parameter is not estimated</a:t>
                </a:r>
              </a:p>
              <a:p>
                <a:endParaRPr lang="en-US" dirty="0"/>
              </a:p>
              <a:p>
                <a:r>
                  <a:rPr lang="en-US" dirty="0"/>
                  <a:t>The literature provides various suggestions for </a:t>
                </a:r>
                <a14:m>
                  <m:oMath xmlns:m="http://schemas.openxmlformats.org/officeDocument/2006/math">
                    <m:r>
                      <a:rPr lang="nl-NL" b="0" i="1" smtClean="0">
                        <a:latin typeface="Cambria Math" panose="02040503050406030204" pitchFamily="18" charset="0"/>
                      </a:rPr>
                      <m:t>𝜆</m:t>
                    </m:r>
                  </m:oMath>
                </a14:m>
                <a:r>
                  <a:rPr lang="en-US" dirty="0"/>
                  <a:t>, commonly </a:t>
                </a:r>
                <a14:m>
                  <m:oMath xmlns:m="http://schemas.openxmlformats.org/officeDocument/2006/math">
                    <m:r>
                      <a:rPr lang="nl-NL" b="0" i="1" smtClean="0">
                        <a:latin typeface="Cambria Math" panose="02040503050406030204" pitchFamily="18" charset="0"/>
                      </a:rPr>
                      <m:t>𝜆</m:t>
                    </m:r>
                    <m:r>
                      <a:rPr lang="nl-NL" b="0" i="1" smtClean="0">
                        <a:latin typeface="Cambria Math" panose="02040503050406030204" pitchFamily="18" charset="0"/>
                      </a:rPr>
                      <m:t>=1600</m:t>
                    </m:r>
                  </m:oMath>
                </a14:m>
                <a:r>
                  <a:rPr lang="en-US" dirty="0"/>
                  <a:t> for quarterly data </a:t>
                </a:r>
                <a:r>
                  <a:rPr lang="en-US" dirty="0" err="1"/>
                  <a:t>Hodrick</a:t>
                </a:r>
                <a:r>
                  <a:rPr lang="en-US" dirty="0"/>
                  <a:t> &amp; Prescott (1997) </a:t>
                </a:r>
              </a:p>
              <a:p>
                <a:endParaRPr lang="en-US" dirty="0"/>
              </a:p>
              <a:p>
                <a:r>
                  <a:rPr lang="en-US" dirty="0"/>
                  <a:t>In practice: </a:t>
                </a:r>
                <a14:m>
                  <m:oMath xmlns:m="http://schemas.openxmlformats.org/officeDocument/2006/math">
                    <m:r>
                      <a:rPr lang="nl-NL" b="0" i="1" smtClean="0">
                        <a:latin typeface="Cambria Math" panose="02040503050406030204" pitchFamily="18" charset="0"/>
                      </a:rPr>
                      <m:t>𝜆</m:t>
                    </m:r>
                  </m:oMath>
                </a14:m>
                <a:r>
                  <a:rPr lang="en-US" dirty="0"/>
                  <a:t> may vary from time series to time series based on which results </a:t>
                </a:r>
                <a:r>
                  <a:rPr lang="en-US" i="1" dirty="0"/>
                  <a:t>looks</a:t>
                </a:r>
                <a:r>
                  <a:rPr lang="en-US" dirty="0"/>
                  <a:t> best</a:t>
                </a:r>
              </a:p>
              <a:p>
                <a:endParaRPr lang="en-US" dirty="0"/>
              </a:p>
              <a:p>
                <a:r>
                  <a:rPr lang="en-US" dirty="0"/>
                  <a:t>The ambiguity of </a:t>
                </a:r>
                <a14:m>
                  <m:oMath xmlns:m="http://schemas.openxmlformats.org/officeDocument/2006/math">
                    <m:r>
                      <a:rPr lang="nl-NL" b="0" i="1" smtClean="0">
                        <a:latin typeface="Cambria Math" panose="02040503050406030204" pitchFamily="18" charset="0"/>
                      </a:rPr>
                      <m:t>𝜆</m:t>
                    </m:r>
                  </m:oMath>
                </a14:m>
                <a:r>
                  <a:rPr lang="en-US" dirty="0"/>
                  <a:t> is often seen as a downside of the HP-filter (Hamilton, 2018)</a:t>
                </a:r>
              </a:p>
            </p:txBody>
          </p:sp>
        </mc:Choice>
        <mc:Fallback xmlns="">
          <p:sp>
            <p:nvSpPr>
              <p:cNvPr id="4" name="Content Placeholder 3">
                <a:extLst>
                  <a:ext uri="{FF2B5EF4-FFF2-40B4-BE49-F238E27FC236}">
                    <a16:creationId xmlns:a16="http://schemas.microsoft.com/office/drawing/2014/main" id="{E8ABA834-7B95-7B5B-1FB1-5F47A6453E6E}"/>
                  </a:ext>
                </a:extLst>
              </p:cNvPr>
              <p:cNvSpPr>
                <a:spLocks noGrp="1" noRot="1" noChangeAspect="1" noMove="1" noResize="1" noEditPoints="1" noAdjustHandles="1" noChangeArrowheads="1" noChangeShapeType="1" noTextEdit="1"/>
              </p:cNvSpPr>
              <p:nvPr>
                <p:ph sz="half" idx="2"/>
              </p:nvPr>
            </p:nvSpPr>
            <p:spPr>
              <a:blipFill>
                <a:blip r:embed="rId3"/>
                <a:stretch>
                  <a:fillRect l="-754" t="-2326"/>
                </a:stretch>
              </a:blipFill>
            </p:spPr>
            <p:txBody>
              <a:bodyPr/>
              <a:lstStyle/>
              <a:p>
                <a:r>
                  <a:rPr lang="en-US">
                    <a:noFill/>
                  </a:rPr>
                  <a:t> </a:t>
                </a:r>
              </a:p>
            </p:txBody>
          </p:sp>
        </mc:Fallback>
      </mc:AlternateContent>
    </p:spTree>
    <p:extLst>
      <p:ext uri="{BB962C8B-B14F-4D97-AF65-F5344CB8AC3E}">
        <p14:creationId xmlns:p14="http://schemas.microsoft.com/office/powerpoint/2010/main" val="425764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75C708F-8E17-14BC-5904-D6B5314339F3}"/>
                  </a:ext>
                </a:extLst>
              </p:cNvPr>
              <p:cNvSpPr>
                <a:spLocks noGrp="1"/>
              </p:cNvSpPr>
              <p:nvPr>
                <p:ph type="title"/>
              </p:nvPr>
            </p:nvSpPr>
            <p:spPr/>
            <p:txBody>
              <a:bodyPr/>
              <a:lstStyle/>
              <a:p>
                <a:r>
                  <a:rPr lang="en-US" dirty="0"/>
                  <a:t>HP-filter – Parameter </a:t>
                </a:r>
                <a14:m>
                  <m:oMath xmlns:m="http://schemas.openxmlformats.org/officeDocument/2006/math">
                    <m:r>
                      <a:rPr lang="nl-NL" b="0" i="1" smtClean="0">
                        <a:latin typeface="Cambria Math" panose="02040503050406030204" pitchFamily="18" charset="0"/>
                      </a:rPr>
                      <m:t>𝜆</m:t>
                    </m:r>
                  </m:oMath>
                </a14:m>
                <a:endParaRPr lang="en-US" dirty="0"/>
              </a:p>
            </p:txBody>
          </p:sp>
        </mc:Choice>
        <mc:Fallback xmlns="">
          <p:sp>
            <p:nvSpPr>
              <p:cNvPr id="2" name="Title 1">
                <a:extLst>
                  <a:ext uri="{FF2B5EF4-FFF2-40B4-BE49-F238E27FC236}">
                    <a16:creationId xmlns:a16="http://schemas.microsoft.com/office/drawing/2014/main" id="{475C708F-8E17-14BC-5904-D6B5314339F3}"/>
                  </a:ext>
                </a:extLst>
              </p:cNvPr>
              <p:cNvSpPr>
                <a:spLocks noGrp="1" noRot="1" noChangeAspect="1" noMove="1" noResize="1" noEditPoints="1" noAdjustHandles="1" noChangeArrowheads="1" noChangeShapeType="1" noTextEdit="1"/>
              </p:cNvSpPr>
              <p:nvPr>
                <p:ph type="title"/>
              </p:nvPr>
            </p:nvSpPr>
            <p:spPr>
              <a:blipFill>
                <a:blip r:embed="rId2"/>
                <a:stretch>
                  <a:fillRect l="-2029" t="-21875" b="-1562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BFD16AF4-86D8-8BFB-EEC5-67F23DCFE6C5}"/>
              </a:ext>
            </a:extLst>
          </p:cNvPr>
          <p:cNvSpPr>
            <a:spLocks noGrp="1"/>
          </p:cNvSpPr>
          <p:nvPr>
            <p:ph type="sldNum" idx="12"/>
          </p:nvPr>
        </p:nvSpPr>
        <p:spPr/>
        <p:txBody>
          <a:bodyPr/>
          <a:lstStyle/>
          <a:p>
            <a:fld id="{00000000-1234-1234-1234-123412341234}" type="slidenum">
              <a:rPr lang="en-GB" smtClean="0"/>
              <a:pPr/>
              <a:t>16</a:t>
            </a:fld>
            <a:endParaRPr lang="en-GB"/>
          </a:p>
        </p:txBody>
      </p:sp>
      <p:pic>
        <p:nvPicPr>
          <p:cNvPr id="6" name="Content Placeholder 5">
            <a:extLst>
              <a:ext uri="{FF2B5EF4-FFF2-40B4-BE49-F238E27FC236}">
                <a16:creationId xmlns:a16="http://schemas.microsoft.com/office/drawing/2014/main" id="{A339CDFF-28A2-20F7-F22F-8DCC971D65B9}"/>
              </a:ext>
            </a:extLst>
          </p:cNvPr>
          <p:cNvPicPr>
            <a:picLocks noGrp="1" noChangeAspect="1"/>
          </p:cNvPicPr>
          <p:nvPr>
            <p:ph sz="half" idx="2"/>
          </p:nvPr>
        </p:nvPicPr>
        <p:blipFill>
          <a:blip r:embed="rId3"/>
          <a:stretch>
            <a:fillRect/>
          </a:stretch>
        </p:blipFill>
        <p:spPr>
          <a:xfrm>
            <a:off x="2923955" y="1594340"/>
            <a:ext cx="5124892" cy="4444597"/>
          </a:xfrm>
        </p:spPr>
      </p:pic>
    </p:spTree>
    <p:extLst>
      <p:ext uri="{BB962C8B-B14F-4D97-AF65-F5344CB8AC3E}">
        <p14:creationId xmlns:p14="http://schemas.microsoft.com/office/powerpoint/2010/main" val="3007693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BEB5F-5F3B-14F7-5E8C-0A0444648806}"/>
              </a:ext>
            </a:extLst>
          </p:cNvPr>
          <p:cNvSpPr>
            <a:spLocks noGrp="1"/>
          </p:cNvSpPr>
          <p:nvPr>
            <p:ph type="title"/>
          </p:nvPr>
        </p:nvSpPr>
        <p:spPr/>
        <p:txBody>
          <a:bodyPr/>
          <a:lstStyle/>
          <a:p>
            <a:r>
              <a:rPr lang="en-US" dirty="0"/>
              <a:t>H-filter - Introduction</a:t>
            </a:r>
          </a:p>
        </p:txBody>
      </p:sp>
      <p:sp>
        <p:nvSpPr>
          <p:cNvPr id="3" name="Slide Number Placeholder 2">
            <a:extLst>
              <a:ext uri="{FF2B5EF4-FFF2-40B4-BE49-F238E27FC236}">
                <a16:creationId xmlns:a16="http://schemas.microsoft.com/office/drawing/2014/main" id="{78F53BBC-3A8A-7DD7-F296-EDADDA5B711B}"/>
              </a:ext>
            </a:extLst>
          </p:cNvPr>
          <p:cNvSpPr>
            <a:spLocks noGrp="1"/>
          </p:cNvSpPr>
          <p:nvPr>
            <p:ph type="sldNum" idx="12"/>
          </p:nvPr>
        </p:nvSpPr>
        <p:spPr/>
        <p:txBody>
          <a:bodyPr/>
          <a:lstStyle/>
          <a:p>
            <a:fld id="{00000000-1234-1234-1234-123412341234}" type="slidenum">
              <a:rPr lang="en-GB" smtClean="0"/>
              <a:pPr/>
              <a:t>17</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4A3CC4A-AEFB-5780-183C-EA4ABA01BE6F}"/>
                  </a:ext>
                </a:extLst>
              </p:cNvPr>
              <p:cNvSpPr>
                <a:spLocks noGrp="1"/>
              </p:cNvSpPr>
              <p:nvPr>
                <p:ph sz="half" idx="2"/>
              </p:nvPr>
            </p:nvSpPr>
            <p:spPr/>
            <p:txBody>
              <a:bodyPr/>
              <a:lstStyle/>
              <a:p>
                <a:pPr marL="0" indent="0">
                  <a:buNone/>
                </a:pPr>
                <a:r>
                  <a:rPr lang="en-US" dirty="0"/>
                  <a:t>The HP-filter was heavily criticized in Hamilton (2018) for:</a:t>
                </a:r>
              </a:p>
              <a:p>
                <a:pPr marL="457200" indent="-457200">
                  <a:buFont typeface="+mj-lt"/>
                  <a:buAutoNum type="arabicPeriod"/>
                </a:pPr>
                <a:r>
                  <a:rPr lang="en-US" dirty="0"/>
                  <a:t> The ambiguity of </a:t>
                </a:r>
                <a14:m>
                  <m:oMath xmlns:m="http://schemas.openxmlformats.org/officeDocument/2006/math">
                    <m:r>
                      <a:rPr lang="nl-NL" b="0" i="1" smtClean="0">
                        <a:latin typeface="Cambria Math" panose="02040503050406030204" pitchFamily="18" charset="0"/>
                      </a:rPr>
                      <m:t>𝜆</m:t>
                    </m:r>
                  </m:oMath>
                </a14:m>
                <a:endParaRPr lang="en-US" dirty="0"/>
              </a:p>
              <a:p>
                <a:pPr marL="457200" indent="-457200">
                  <a:buFont typeface="+mj-lt"/>
                  <a:buAutoNum type="arabicPeriod"/>
                </a:pPr>
                <a:r>
                  <a:rPr lang="en-US" dirty="0"/>
                  <a:t>Spurious cycles:</a:t>
                </a:r>
                <a:r>
                  <a:rPr lang="en-US" dirty="0">
                    <a:sym typeface="Wingdings" panose="05000000000000000000" pitchFamily="2" charset="2"/>
                  </a:rPr>
                  <a:t> generating business cycles where non exist</a:t>
                </a:r>
              </a:p>
              <a:p>
                <a:pPr marL="457200" indent="-457200">
                  <a:buFont typeface="+mj-lt"/>
                  <a:buAutoNum type="arabicPeriod"/>
                </a:pPr>
                <a:r>
                  <a:rPr lang="en-US" dirty="0">
                    <a:sym typeface="Wingdings" panose="05000000000000000000" pitchFamily="2" charset="2"/>
                  </a:rPr>
                  <a:t>Violation of stationary requirements of the cycle</a:t>
                </a:r>
              </a:p>
              <a:p>
                <a:pPr marL="457200" indent="-457200">
                  <a:buFont typeface="+mj-lt"/>
                  <a:buAutoNum type="arabicPeriod"/>
                </a:pPr>
                <a:r>
                  <a:rPr lang="en-US" dirty="0">
                    <a:sym typeface="Wingdings" panose="05000000000000000000" pitchFamily="2" charset="2"/>
                  </a:rPr>
                  <a:t>End-point problems: trend estimated near sample boundaries depend heavily on future observations</a:t>
                </a:r>
              </a:p>
              <a:p>
                <a:pPr marL="457200" indent="-457200">
                  <a:buFont typeface="+mj-lt"/>
                  <a:buAutoNum type="arabicPeriod"/>
                </a:pPr>
                <a:endParaRPr lang="en-US" dirty="0">
                  <a:sym typeface="Wingdings" panose="05000000000000000000" pitchFamily="2" charset="2"/>
                </a:endParaRPr>
              </a:p>
              <a:p>
                <a:pPr marL="0" indent="0">
                  <a:buNone/>
                </a:pPr>
                <a:r>
                  <a:rPr lang="en-US" dirty="0">
                    <a:sym typeface="Wingdings" panose="05000000000000000000" pitchFamily="2" charset="2"/>
                  </a:rPr>
                  <a:t>The deal with these issues Hamilton introduces an alternative filter that has become known as the H-filter</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Similarly to the HP-filter the H-filter measures a trend and the cycle is calculated as the residual </a:t>
                </a:r>
              </a:p>
              <a:p>
                <a:pPr marL="457200" indent="-457200">
                  <a:buFont typeface="+mj-lt"/>
                  <a:buAutoNum type="arabicPeriod"/>
                </a:pPr>
                <a:endParaRPr lang="en-US" dirty="0">
                  <a:sym typeface="Wingdings" panose="05000000000000000000" pitchFamily="2" charset="2"/>
                </a:endParaRPr>
              </a:p>
              <a:p>
                <a:pPr marL="457200" indent="-457200">
                  <a:buFont typeface="+mj-lt"/>
                  <a:buAutoNum type="arabicPeriod"/>
                </a:pPr>
                <a:endParaRPr lang="en-US" dirty="0">
                  <a:sym typeface="Wingdings" panose="05000000000000000000" pitchFamily="2" charset="2"/>
                </a:endParaRPr>
              </a:p>
              <a:p>
                <a:pPr marL="0" indent="0">
                  <a:buNone/>
                </a:pPr>
                <a:endParaRPr lang="en-US" dirty="0">
                  <a:sym typeface="Wingdings" panose="05000000000000000000" pitchFamily="2" charset="2"/>
                </a:endParaRPr>
              </a:p>
              <a:p>
                <a:pPr marL="457200" indent="-457200">
                  <a:buFont typeface="+mj-lt"/>
                  <a:buAutoNum type="arabicPeriod"/>
                </a:pPr>
                <a:endParaRPr lang="en-US" dirty="0">
                  <a:sym typeface="Wingdings" panose="05000000000000000000" pitchFamily="2" charset="2"/>
                </a:endParaRPr>
              </a:p>
              <a:p>
                <a:pPr marL="457200" indent="-457200">
                  <a:buFont typeface="+mj-lt"/>
                  <a:buAutoNum type="arabicPeriod"/>
                </a:pPr>
                <a:endParaRPr lang="en-US" dirty="0"/>
              </a:p>
              <a:p>
                <a:pPr marL="457200" indent="-457200">
                  <a:buFont typeface="+mj-lt"/>
                  <a:buAutoNum type="arabicPeriod"/>
                </a:pPr>
                <a:endParaRPr lang="en-US" dirty="0"/>
              </a:p>
              <a:p>
                <a:endParaRPr lang="en-US" dirty="0"/>
              </a:p>
            </p:txBody>
          </p:sp>
        </mc:Choice>
        <mc:Fallback xmlns="">
          <p:sp>
            <p:nvSpPr>
              <p:cNvPr id="4" name="Content Placeholder 3">
                <a:extLst>
                  <a:ext uri="{FF2B5EF4-FFF2-40B4-BE49-F238E27FC236}">
                    <a16:creationId xmlns:a16="http://schemas.microsoft.com/office/drawing/2014/main" id="{94A3CC4A-AEFB-5780-183C-EA4ABA01BE6F}"/>
                  </a:ext>
                </a:extLst>
              </p:cNvPr>
              <p:cNvSpPr>
                <a:spLocks noGrp="1" noRot="1" noChangeAspect="1" noMove="1" noResize="1" noEditPoints="1" noAdjustHandles="1" noChangeArrowheads="1" noChangeShapeType="1" noTextEdit="1"/>
              </p:cNvSpPr>
              <p:nvPr>
                <p:ph sz="half" idx="2"/>
              </p:nvPr>
            </p:nvSpPr>
            <p:spPr>
              <a:blipFill>
                <a:blip r:embed="rId2"/>
                <a:stretch>
                  <a:fillRect l="-754" t="-1453" r="-58" b="-7558"/>
                </a:stretch>
              </a:blipFill>
            </p:spPr>
            <p:txBody>
              <a:bodyPr/>
              <a:lstStyle/>
              <a:p>
                <a:r>
                  <a:rPr lang="en-US">
                    <a:noFill/>
                  </a:rPr>
                  <a:t> </a:t>
                </a:r>
              </a:p>
            </p:txBody>
          </p:sp>
        </mc:Fallback>
      </mc:AlternateContent>
    </p:spTree>
    <p:extLst>
      <p:ext uri="{BB962C8B-B14F-4D97-AF65-F5344CB8AC3E}">
        <p14:creationId xmlns:p14="http://schemas.microsoft.com/office/powerpoint/2010/main" val="1019632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4AEA8-76FC-A87F-1E3F-A5FA00032411}"/>
              </a:ext>
            </a:extLst>
          </p:cNvPr>
          <p:cNvSpPr>
            <a:spLocks noGrp="1"/>
          </p:cNvSpPr>
          <p:nvPr>
            <p:ph type="title"/>
          </p:nvPr>
        </p:nvSpPr>
        <p:spPr/>
        <p:txBody>
          <a:bodyPr/>
          <a:lstStyle/>
          <a:p>
            <a:r>
              <a:rPr lang="en-US" dirty="0"/>
              <a:t>H-filter - Model</a:t>
            </a:r>
          </a:p>
        </p:txBody>
      </p:sp>
      <p:sp>
        <p:nvSpPr>
          <p:cNvPr id="3" name="Slide Number Placeholder 2">
            <a:extLst>
              <a:ext uri="{FF2B5EF4-FFF2-40B4-BE49-F238E27FC236}">
                <a16:creationId xmlns:a16="http://schemas.microsoft.com/office/drawing/2014/main" id="{AB59024B-F2EF-9692-34D2-D7EC9098317B}"/>
              </a:ext>
            </a:extLst>
          </p:cNvPr>
          <p:cNvSpPr>
            <a:spLocks noGrp="1"/>
          </p:cNvSpPr>
          <p:nvPr>
            <p:ph type="sldNum" idx="12"/>
          </p:nvPr>
        </p:nvSpPr>
        <p:spPr/>
        <p:txBody>
          <a:bodyPr/>
          <a:lstStyle/>
          <a:p>
            <a:fld id="{00000000-1234-1234-1234-123412341234}" type="slidenum">
              <a:rPr lang="en-GB" smtClean="0"/>
              <a:pPr/>
              <a:t>18</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425E7E1-4C66-B8E1-7AE4-25F873875868}"/>
                  </a:ext>
                </a:extLst>
              </p:cNvPr>
              <p:cNvSpPr>
                <a:spLocks noGrp="1"/>
              </p:cNvSpPr>
              <p:nvPr>
                <p:ph sz="half" idx="2"/>
              </p:nvPr>
            </p:nvSpPr>
            <p:spPr/>
            <p:txBody>
              <a:bodyPr/>
              <a:lstStyle/>
              <a:p>
                <a:r>
                  <a:rPr lang="en-US" dirty="0"/>
                  <a:t>The H-filter starts from the following regression model:</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r>
                            <a:rPr lang="nl-NL" b="0" i="1" smtClean="0">
                              <a:latin typeface="Cambria Math" panose="02040503050406030204" pitchFamily="18" charset="0"/>
                            </a:rPr>
                            <m:t>+</m:t>
                          </m:r>
                          <m:r>
                            <a:rPr lang="nl-NL" b="0" i="1" smtClean="0">
                              <a:latin typeface="Cambria Math" panose="02040503050406030204" pitchFamily="18" charset="0"/>
                            </a:rPr>
                            <m:t>h</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𝛽</m:t>
                          </m:r>
                        </m:e>
                        <m:sub>
                          <m:r>
                            <a:rPr lang="nl-NL" b="0" i="1" smtClean="0">
                              <a:latin typeface="Cambria Math" panose="02040503050406030204" pitchFamily="18" charset="0"/>
                            </a:rPr>
                            <m:t>0</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𝛽</m:t>
                          </m:r>
                        </m:e>
                        <m:sub>
                          <m:r>
                            <a:rPr lang="nl-NL" b="0" i="1" smtClean="0">
                              <a:latin typeface="Cambria Math" panose="02040503050406030204" pitchFamily="18" charset="0"/>
                            </a:rPr>
                            <m:t>1</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𝛽</m:t>
                          </m:r>
                        </m:e>
                        <m:sub>
                          <m:r>
                            <a:rPr lang="nl-NL" b="0" i="1" smtClean="0">
                              <a:latin typeface="Cambria Math" panose="02040503050406030204" pitchFamily="18" charset="0"/>
                            </a:rPr>
                            <m:t>𝑝</m:t>
                          </m:r>
                        </m:sub>
                      </m:sSub>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r>
                            <a:rPr lang="nl-NL" b="0" i="1" smtClean="0">
                              <a:latin typeface="Cambria Math" panose="02040503050406030204" pitchFamily="18" charset="0"/>
                            </a:rPr>
                            <m:t>−</m:t>
                          </m:r>
                          <m:r>
                            <a:rPr lang="nl-NL" b="0" i="1" smtClean="0">
                              <a:latin typeface="Cambria Math" panose="02040503050406030204" pitchFamily="18" charset="0"/>
                            </a:rPr>
                            <m:t>𝑝</m:t>
                          </m:r>
                          <m:r>
                            <a:rPr lang="nl-NL" b="0" i="1" smtClean="0">
                              <a:latin typeface="Cambria Math" panose="02040503050406030204" pitchFamily="18" charset="0"/>
                            </a:rPr>
                            <m:t>+1</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𝜀</m:t>
                          </m:r>
                        </m:e>
                        <m:sub>
                          <m:r>
                            <a:rPr lang="nl-NL" b="0" i="1" smtClean="0">
                              <a:latin typeface="Cambria Math" panose="02040503050406030204" pitchFamily="18" charset="0"/>
                            </a:rPr>
                            <m:t>𝑡</m:t>
                          </m:r>
                          <m:r>
                            <a:rPr lang="nl-NL" b="0" i="1" smtClean="0">
                              <a:latin typeface="Cambria Math" panose="02040503050406030204" pitchFamily="18" charset="0"/>
                            </a:rPr>
                            <m:t>+</m:t>
                          </m:r>
                          <m:r>
                            <a:rPr lang="nl-NL" b="0" i="1" smtClean="0">
                              <a:latin typeface="Cambria Math" panose="02040503050406030204" pitchFamily="18" charset="0"/>
                            </a:rPr>
                            <m:t>h</m:t>
                          </m:r>
                        </m:sub>
                      </m:sSub>
                    </m:oMath>
                  </m:oMathPara>
                </a14:m>
                <a:endParaRPr lang="en-US" dirty="0"/>
              </a:p>
              <a:p>
                <a:pPr marL="0" indent="0">
                  <a:buNone/>
                </a:pPr>
                <a:endParaRPr lang="en-US" dirty="0"/>
              </a:p>
              <a:p>
                <a:pPr marL="0" indent="0">
                  <a:buNone/>
                </a:pPr>
                <a:r>
                  <a:rPr lang="en-US" dirty="0"/>
                  <a:t>Where in Hamilton (2018) </a:t>
                </a:r>
                <a14:m>
                  <m:oMath xmlns:m="http://schemas.openxmlformats.org/officeDocument/2006/math">
                    <m:r>
                      <a:rPr lang="nl-NL" b="0" i="1" smtClean="0">
                        <a:latin typeface="Cambria Math" panose="02040503050406030204" pitchFamily="18" charset="0"/>
                      </a:rPr>
                      <m:t>h</m:t>
                    </m:r>
                    <m:r>
                      <a:rPr lang="nl-NL" b="0" i="1" smtClean="0">
                        <a:latin typeface="Cambria Math" panose="02040503050406030204" pitchFamily="18" charset="0"/>
                      </a:rPr>
                      <m:t>=8</m:t>
                    </m:r>
                  </m:oMath>
                </a14:m>
                <a:r>
                  <a:rPr lang="en-US" dirty="0"/>
                  <a:t> and </a:t>
                </a:r>
                <a14:m>
                  <m:oMath xmlns:m="http://schemas.openxmlformats.org/officeDocument/2006/math">
                    <m:r>
                      <a:rPr lang="nl-NL" b="0" i="1" smtClean="0">
                        <a:latin typeface="Cambria Math" panose="02040503050406030204" pitchFamily="18" charset="0"/>
                      </a:rPr>
                      <m:t>𝑝</m:t>
                    </m:r>
                    <m:r>
                      <a:rPr lang="nl-NL" b="0" i="1" smtClean="0">
                        <a:latin typeface="Cambria Math" panose="02040503050406030204" pitchFamily="18" charset="0"/>
                      </a:rPr>
                      <m:t>=4</m:t>
                    </m:r>
                  </m:oMath>
                </a14:m>
                <a:r>
                  <a:rPr lang="en-US" dirty="0"/>
                  <a:t> if the data is not seasonally adjusted and </a:t>
                </a:r>
                <a14:m>
                  <m:oMath xmlns:m="http://schemas.openxmlformats.org/officeDocument/2006/math">
                    <m:r>
                      <a:rPr lang="nl-NL" b="0" i="1" smtClean="0">
                        <a:latin typeface="Cambria Math" panose="02040503050406030204" pitchFamily="18" charset="0"/>
                      </a:rPr>
                      <m:t>𝑝</m:t>
                    </m:r>
                    <m:r>
                      <a:rPr lang="nl-NL" b="0" i="1" smtClean="0">
                        <a:latin typeface="Cambria Math" panose="02040503050406030204" pitchFamily="18" charset="0"/>
                      </a:rPr>
                      <m:t>=2</m:t>
                    </m:r>
                  </m:oMath>
                </a14:m>
                <a:r>
                  <a:rPr lang="en-US" dirty="0"/>
                  <a:t> if the data is seasonally adjusted</a:t>
                </a:r>
              </a:p>
              <a:p>
                <a:pPr marL="0" indent="0">
                  <a:buNone/>
                </a:pPr>
                <a:endParaRPr lang="en-US" dirty="0"/>
              </a:p>
              <a:p>
                <a:r>
                  <a:rPr lang="en-US" dirty="0"/>
                  <a:t>The trend is equal to the fitted values </a:t>
                </a:r>
                <a14:m>
                  <m:oMath xmlns:m="http://schemas.openxmlformats.org/officeDocument/2006/math">
                    <m:r>
                      <a:rPr lang="nl-NL" b="0" i="1" smtClean="0">
                        <a:latin typeface="Cambria Math" panose="02040503050406030204" pitchFamily="18" charset="0"/>
                      </a:rPr>
                      <m:t> </m:t>
                    </m:r>
                    <m:acc>
                      <m:accPr>
                        <m:chr m:val="̂"/>
                        <m:ctrlPr>
                          <a:rPr lang="nl-NL" b="0" i="1" smtClean="0">
                            <a:latin typeface="Cambria Math" panose="02040503050406030204" pitchFamily="18" charset="0"/>
                          </a:rPr>
                        </m:ctrlPr>
                      </m:accPr>
                      <m:e>
                        <m:r>
                          <a:rPr lang="nl-NL" b="0" i="1" smtClean="0">
                            <a:latin typeface="Cambria Math" panose="02040503050406030204" pitchFamily="18" charset="0"/>
                          </a:rPr>
                          <m:t>𝑦</m:t>
                        </m:r>
                      </m:e>
                    </m:acc>
                  </m:oMath>
                </a14:m>
                <a:r>
                  <a:rPr lang="en-US" dirty="0"/>
                  <a:t> of the regression</a:t>
                </a:r>
              </a:p>
              <a:p>
                <a:endParaRPr lang="en-US" dirty="0"/>
              </a:p>
              <a:p>
                <a:r>
                  <a:rPr lang="en-US" dirty="0"/>
                  <a:t>The cycle is equal to the residuals </a:t>
                </a:r>
                <a14:m>
                  <m:oMath xmlns:m="http://schemas.openxmlformats.org/officeDocument/2006/math">
                    <m:acc>
                      <m:accPr>
                        <m:chr m:val="̂"/>
                        <m:ctrlPr>
                          <a:rPr lang="en-US" i="1" smtClean="0">
                            <a:latin typeface="Cambria Math" panose="02040503050406030204" pitchFamily="18" charset="0"/>
                          </a:rPr>
                        </m:ctrlPr>
                      </m:accPr>
                      <m:e>
                        <m:r>
                          <a:rPr lang="nl-NL" b="0" i="1" smtClean="0">
                            <a:latin typeface="Cambria Math" panose="02040503050406030204" pitchFamily="18" charset="0"/>
                          </a:rPr>
                          <m:t>𝜀</m:t>
                        </m:r>
                      </m:e>
                    </m:acc>
                  </m:oMath>
                </a14:m>
                <a:r>
                  <a:rPr lang="en-US" dirty="0"/>
                  <a:t> of the regression</a:t>
                </a:r>
              </a:p>
              <a:p>
                <a:pPr marL="0" indent="0">
                  <a:buNone/>
                </a:pPr>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F425E7E1-4C66-B8E1-7AE4-25F873875868}"/>
                  </a:ext>
                </a:extLst>
              </p:cNvPr>
              <p:cNvSpPr>
                <a:spLocks noGrp="1" noRot="1" noChangeAspect="1" noMove="1" noResize="1" noEditPoints="1" noAdjustHandles="1" noChangeArrowheads="1" noChangeShapeType="1" noTextEdit="1"/>
              </p:cNvSpPr>
              <p:nvPr>
                <p:ph sz="half" idx="2"/>
              </p:nvPr>
            </p:nvSpPr>
            <p:spPr>
              <a:blipFill>
                <a:blip r:embed="rId2"/>
                <a:stretch>
                  <a:fillRect l="-754" t="-2326" r="-928"/>
                </a:stretch>
              </a:blipFill>
            </p:spPr>
            <p:txBody>
              <a:bodyPr/>
              <a:lstStyle/>
              <a:p>
                <a:r>
                  <a:rPr lang="en-US">
                    <a:noFill/>
                  </a:rPr>
                  <a:t> </a:t>
                </a:r>
              </a:p>
            </p:txBody>
          </p:sp>
        </mc:Fallback>
      </mc:AlternateContent>
    </p:spTree>
    <p:extLst>
      <p:ext uri="{BB962C8B-B14F-4D97-AF65-F5344CB8AC3E}">
        <p14:creationId xmlns:p14="http://schemas.microsoft.com/office/powerpoint/2010/main" val="1377498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77974-C1E9-47C2-801D-18D4C8D7B074}"/>
              </a:ext>
            </a:extLst>
          </p:cNvPr>
          <p:cNvSpPr>
            <a:spLocks noGrp="1"/>
          </p:cNvSpPr>
          <p:nvPr>
            <p:ph type="title"/>
          </p:nvPr>
        </p:nvSpPr>
        <p:spPr/>
        <p:txBody>
          <a:bodyPr/>
          <a:lstStyle/>
          <a:p>
            <a:r>
              <a:rPr lang="en-US" dirty="0"/>
              <a:t>H-filter - Explanation</a:t>
            </a:r>
          </a:p>
        </p:txBody>
      </p:sp>
      <p:sp>
        <p:nvSpPr>
          <p:cNvPr id="3" name="Slide Number Placeholder 2">
            <a:extLst>
              <a:ext uri="{FF2B5EF4-FFF2-40B4-BE49-F238E27FC236}">
                <a16:creationId xmlns:a16="http://schemas.microsoft.com/office/drawing/2014/main" id="{15B474A0-8205-9651-4B8F-CE8344645BB7}"/>
              </a:ext>
            </a:extLst>
          </p:cNvPr>
          <p:cNvSpPr>
            <a:spLocks noGrp="1"/>
          </p:cNvSpPr>
          <p:nvPr>
            <p:ph type="sldNum" idx="12"/>
          </p:nvPr>
        </p:nvSpPr>
        <p:spPr/>
        <p:txBody>
          <a:bodyPr/>
          <a:lstStyle/>
          <a:p>
            <a:fld id="{00000000-1234-1234-1234-123412341234}" type="slidenum">
              <a:rPr lang="en-GB" smtClean="0"/>
              <a:pPr/>
              <a:t>19</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B749AE7-A059-047F-A573-122958600189}"/>
                  </a:ext>
                </a:extLst>
              </p:cNvPr>
              <p:cNvSpPr>
                <a:spLocks noGrp="1"/>
              </p:cNvSpPr>
              <p:nvPr>
                <p:ph sz="half" idx="2"/>
              </p:nvPr>
            </p:nvSpPr>
            <p:spPr/>
            <p:txBody>
              <a:bodyPr/>
              <a:lstStyle/>
              <a:p>
                <a:r>
                  <a:rPr lang="en-US" dirty="0"/>
                  <a:t>Intuitively, the H-filter determines the trend by estimating the medium-term relationship between quarters, by doing so shorter term dynamics become part of the residuals</a:t>
                </a:r>
              </a:p>
              <a:p>
                <a:endParaRPr lang="en-US" dirty="0"/>
              </a:p>
              <a:p>
                <a:r>
                  <a:rPr lang="en-US" dirty="0"/>
                  <a:t>An important claim in Hamilton (2018) is that the residuals are stationary if the integration order is smaller or equal than </a:t>
                </a:r>
                <a14:m>
                  <m:oMath xmlns:m="http://schemas.openxmlformats.org/officeDocument/2006/math">
                    <m:r>
                      <a:rPr lang="nl-NL" b="0" i="1" smtClean="0">
                        <a:latin typeface="Cambria Math" panose="02040503050406030204" pitchFamily="18" charset="0"/>
                      </a:rPr>
                      <m:t>𝑝</m:t>
                    </m:r>
                  </m:oMath>
                </a14:m>
                <a:endParaRPr lang="en-US" dirty="0"/>
              </a:p>
              <a:p>
                <a:pPr marL="0" indent="0">
                  <a:buNone/>
                </a:pPr>
                <a:endParaRPr lang="en-US" dirty="0"/>
              </a:p>
              <a:p>
                <a:r>
                  <a:rPr lang="en-US" dirty="0"/>
                  <a:t>We could say the H-filter trend/cycle separation is based on whether the variation in the data is non-stationarity/stationarity </a:t>
                </a:r>
              </a:p>
              <a:p>
                <a:endParaRPr lang="en-US" dirty="0"/>
              </a:p>
              <a:p>
                <a:r>
                  <a:rPr lang="en-US" dirty="0"/>
                  <a:t>Does not work well on Dutch GDP data </a:t>
                </a:r>
                <a:r>
                  <a:rPr lang="en-US" dirty="0">
                    <a:sym typeface="Wingdings" panose="05000000000000000000" pitchFamily="2" charset="2"/>
                  </a:rPr>
                  <a:t> lack of a stationary cyclical pattern</a:t>
                </a:r>
                <a:r>
                  <a:rPr lang="en-US" dirty="0"/>
                  <a:t> (time series of this data is quite short)</a:t>
                </a:r>
              </a:p>
              <a:p>
                <a:endParaRPr lang="en-US" dirty="0"/>
              </a:p>
              <a:p>
                <a:endParaRPr lang="en-US" dirty="0"/>
              </a:p>
            </p:txBody>
          </p:sp>
        </mc:Choice>
        <mc:Fallback xmlns="">
          <p:sp>
            <p:nvSpPr>
              <p:cNvPr id="4" name="Content Placeholder 3">
                <a:extLst>
                  <a:ext uri="{FF2B5EF4-FFF2-40B4-BE49-F238E27FC236}">
                    <a16:creationId xmlns:a16="http://schemas.microsoft.com/office/drawing/2014/main" id="{FB749AE7-A059-047F-A573-122958600189}"/>
                  </a:ext>
                </a:extLst>
              </p:cNvPr>
              <p:cNvSpPr>
                <a:spLocks noGrp="1" noRot="1" noChangeAspect="1" noMove="1" noResize="1" noEditPoints="1" noAdjustHandles="1" noChangeArrowheads="1" noChangeShapeType="1" noTextEdit="1"/>
              </p:cNvSpPr>
              <p:nvPr>
                <p:ph sz="half" idx="2"/>
              </p:nvPr>
            </p:nvSpPr>
            <p:spPr>
              <a:blipFill>
                <a:blip r:embed="rId2"/>
                <a:stretch>
                  <a:fillRect l="-754" t="-2326" r="-1217"/>
                </a:stretch>
              </a:blipFill>
            </p:spPr>
            <p:txBody>
              <a:bodyPr/>
              <a:lstStyle/>
              <a:p>
                <a:r>
                  <a:rPr lang="en-US">
                    <a:noFill/>
                  </a:rPr>
                  <a:t> </a:t>
                </a:r>
              </a:p>
            </p:txBody>
          </p:sp>
        </mc:Fallback>
      </mc:AlternateContent>
    </p:spTree>
    <p:extLst>
      <p:ext uri="{BB962C8B-B14F-4D97-AF65-F5344CB8AC3E}">
        <p14:creationId xmlns:p14="http://schemas.microsoft.com/office/powerpoint/2010/main" val="228755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2071A-7EE9-8863-7AF4-B0AC3AD5D1D3}"/>
              </a:ext>
            </a:extLst>
          </p:cNvPr>
          <p:cNvSpPr>
            <a:spLocks noGrp="1"/>
          </p:cNvSpPr>
          <p:nvPr>
            <p:ph type="title"/>
          </p:nvPr>
        </p:nvSpPr>
        <p:spPr/>
        <p:txBody>
          <a:bodyPr/>
          <a:lstStyle/>
          <a:p>
            <a:r>
              <a:rPr lang="en-US" dirty="0"/>
              <a:t>H-filter - example</a:t>
            </a:r>
          </a:p>
        </p:txBody>
      </p:sp>
      <p:sp>
        <p:nvSpPr>
          <p:cNvPr id="3" name="Slide Number Placeholder 2">
            <a:extLst>
              <a:ext uri="{FF2B5EF4-FFF2-40B4-BE49-F238E27FC236}">
                <a16:creationId xmlns:a16="http://schemas.microsoft.com/office/drawing/2014/main" id="{AAC3B2A5-E4B5-F510-A76E-9E4B76CF07B3}"/>
              </a:ext>
            </a:extLst>
          </p:cNvPr>
          <p:cNvSpPr>
            <a:spLocks noGrp="1"/>
          </p:cNvSpPr>
          <p:nvPr>
            <p:ph type="sldNum" idx="12"/>
          </p:nvPr>
        </p:nvSpPr>
        <p:spPr/>
        <p:txBody>
          <a:bodyPr/>
          <a:lstStyle/>
          <a:p>
            <a:fld id="{00000000-1234-1234-1234-123412341234}" type="slidenum">
              <a:rPr lang="en-GB" smtClean="0"/>
              <a:pPr/>
              <a:t>20</a:t>
            </a:fld>
            <a:endParaRPr lang="en-GB"/>
          </a:p>
        </p:txBody>
      </p:sp>
      <p:pic>
        <p:nvPicPr>
          <p:cNvPr id="6" name="Content Placeholder 5">
            <a:extLst>
              <a:ext uri="{FF2B5EF4-FFF2-40B4-BE49-F238E27FC236}">
                <a16:creationId xmlns:a16="http://schemas.microsoft.com/office/drawing/2014/main" id="{744C7463-4A2D-D118-88C0-BA11FAF07739}"/>
              </a:ext>
            </a:extLst>
          </p:cNvPr>
          <p:cNvPicPr>
            <a:picLocks noGrp="1" noChangeAspect="1"/>
          </p:cNvPicPr>
          <p:nvPr>
            <p:ph sz="half" idx="2"/>
          </p:nvPr>
        </p:nvPicPr>
        <p:blipFill>
          <a:blip r:embed="rId2"/>
          <a:stretch>
            <a:fillRect/>
          </a:stretch>
        </p:blipFill>
        <p:spPr>
          <a:xfrm>
            <a:off x="3718159" y="1169366"/>
            <a:ext cx="3830957" cy="4937524"/>
          </a:xfrm>
        </p:spPr>
      </p:pic>
    </p:spTree>
    <p:extLst>
      <p:ext uri="{BB962C8B-B14F-4D97-AF65-F5344CB8AC3E}">
        <p14:creationId xmlns:p14="http://schemas.microsoft.com/office/powerpoint/2010/main" val="230798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89F21-DBD5-495C-87AD-A92BC05B4047}"/>
              </a:ext>
            </a:extLst>
          </p:cNvPr>
          <p:cNvSpPr>
            <a:spLocks noGrp="1"/>
          </p:cNvSpPr>
          <p:nvPr>
            <p:ph type="title"/>
          </p:nvPr>
        </p:nvSpPr>
        <p:spPr/>
        <p:txBody>
          <a:bodyPr/>
          <a:lstStyle/>
          <a:p>
            <a:r>
              <a:rPr lang="en-US" dirty="0"/>
              <a:t>STM - Introduction</a:t>
            </a:r>
          </a:p>
        </p:txBody>
      </p:sp>
      <p:sp>
        <p:nvSpPr>
          <p:cNvPr id="3" name="Slide Number Placeholder 2">
            <a:extLst>
              <a:ext uri="{FF2B5EF4-FFF2-40B4-BE49-F238E27FC236}">
                <a16:creationId xmlns:a16="http://schemas.microsoft.com/office/drawing/2014/main" id="{5CAB1823-087F-9164-07E9-C177BEDF633F}"/>
              </a:ext>
            </a:extLst>
          </p:cNvPr>
          <p:cNvSpPr>
            <a:spLocks noGrp="1"/>
          </p:cNvSpPr>
          <p:nvPr>
            <p:ph type="sldNum" idx="12"/>
          </p:nvPr>
        </p:nvSpPr>
        <p:spPr/>
        <p:txBody>
          <a:bodyPr/>
          <a:lstStyle/>
          <a:p>
            <a:fld id="{00000000-1234-1234-1234-123412341234}" type="slidenum">
              <a:rPr lang="en-GB" smtClean="0"/>
              <a:pPr/>
              <a:t>21</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F92AC8C-93E3-6187-2A21-2A1411EF9380}"/>
                  </a:ext>
                </a:extLst>
              </p:cNvPr>
              <p:cNvSpPr>
                <a:spLocks noGrp="1"/>
              </p:cNvSpPr>
              <p:nvPr>
                <p:ph sz="half" idx="2"/>
              </p:nvPr>
            </p:nvSpPr>
            <p:spPr/>
            <p:txBody>
              <a:bodyPr/>
              <a:lstStyle/>
              <a:p>
                <a:r>
                  <a:rPr lang="en-US" dirty="0"/>
                  <a:t>The cycle and trend can also be identified using a structural time-series model (STM)</a:t>
                </a:r>
              </a:p>
              <a:p>
                <a:endParaRPr lang="en-US" dirty="0"/>
              </a:p>
              <a:p>
                <a:r>
                  <a:rPr lang="en-US" dirty="0"/>
                  <a:t>STM is a subclass of unobserved component models (UCM) which model a time series as a the joint result of various unobserved components</a:t>
                </a:r>
              </a:p>
              <a:p>
                <a:endParaRPr lang="en-US" dirty="0"/>
              </a:p>
              <a:p>
                <a:r>
                  <a:rPr lang="en-US" dirty="0"/>
                  <a:t>Recall the decomposition </a:t>
                </a:r>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𝑠</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𝜀</m:t>
                        </m:r>
                      </m:e>
                      <m:sub>
                        <m:r>
                          <a:rPr lang="nl-NL" b="0" i="1" smtClean="0">
                            <a:latin typeface="Cambria Math" panose="02040503050406030204" pitchFamily="18" charset="0"/>
                          </a:rPr>
                          <m:t>𝑡</m:t>
                        </m:r>
                      </m:sub>
                    </m:sSub>
                  </m:oMath>
                </a14:m>
                <a:endParaRPr lang="nl-NL" b="0" dirty="0"/>
              </a:p>
              <a:p>
                <a:endParaRPr lang="en-US" dirty="0"/>
              </a:p>
              <a:p>
                <a:r>
                  <a:rPr lang="en-US" dirty="0"/>
                  <a:t>An STM allows for entering specific models for each of these components and then jointly estimating them</a:t>
                </a:r>
              </a:p>
              <a:p>
                <a:endParaRPr lang="en-US" dirty="0"/>
              </a:p>
              <a:p>
                <a:r>
                  <a:rPr lang="en-US" dirty="0"/>
                  <a:t>For this reason there are many different choices that one can make when constructing an STM</a:t>
                </a:r>
              </a:p>
              <a:p>
                <a:endParaRPr lang="en-US" dirty="0"/>
              </a:p>
              <a:p>
                <a:endParaRPr lang="en-US" dirty="0"/>
              </a:p>
            </p:txBody>
          </p:sp>
        </mc:Choice>
        <mc:Fallback xmlns="">
          <p:sp>
            <p:nvSpPr>
              <p:cNvPr id="4" name="Content Placeholder 3">
                <a:extLst>
                  <a:ext uri="{FF2B5EF4-FFF2-40B4-BE49-F238E27FC236}">
                    <a16:creationId xmlns:a16="http://schemas.microsoft.com/office/drawing/2014/main" id="{DF92AC8C-93E3-6187-2A21-2A1411EF9380}"/>
                  </a:ext>
                </a:extLst>
              </p:cNvPr>
              <p:cNvSpPr>
                <a:spLocks noGrp="1" noRot="1" noChangeAspect="1" noMove="1" noResize="1" noEditPoints="1" noAdjustHandles="1" noChangeArrowheads="1" noChangeShapeType="1" noTextEdit="1"/>
              </p:cNvSpPr>
              <p:nvPr>
                <p:ph sz="half" idx="2"/>
              </p:nvPr>
            </p:nvSpPr>
            <p:spPr>
              <a:blipFill>
                <a:blip r:embed="rId2"/>
                <a:stretch>
                  <a:fillRect l="-754" t="-2326" b="-7558"/>
                </a:stretch>
              </a:blipFill>
            </p:spPr>
            <p:txBody>
              <a:bodyPr/>
              <a:lstStyle/>
              <a:p>
                <a:r>
                  <a:rPr lang="en-US">
                    <a:noFill/>
                  </a:rPr>
                  <a:t> </a:t>
                </a:r>
              </a:p>
            </p:txBody>
          </p:sp>
        </mc:Fallback>
      </mc:AlternateContent>
    </p:spTree>
    <p:extLst>
      <p:ext uri="{BB962C8B-B14F-4D97-AF65-F5344CB8AC3E}">
        <p14:creationId xmlns:p14="http://schemas.microsoft.com/office/powerpoint/2010/main" val="2746750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89F21-DBD5-495C-87AD-A92BC05B4047}"/>
              </a:ext>
            </a:extLst>
          </p:cNvPr>
          <p:cNvSpPr>
            <a:spLocks noGrp="1"/>
          </p:cNvSpPr>
          <p:nvPr>
            <p:ph type="title"/>
          </p:nvPr>
        </p:nvSpPr>
        <p:spPr/>
        <p:txBody>
          <a:bodyPr/>
          <a:lstStyle/>
          <a:p>
            <a:r>
              <a:rPr lang="en-US" dirty="0"/>
              <a:t>STM – General model</a:t>
            </a:r>
          </a:p>
        </p:txBody>
      </p:sp>
      <p:sp>
        <p:nvSpPr>
          <p:cNvPr id="3" name="Slide Number Placeholder 2">
            <a:extLst>
              <a:ext uri="{FF2B5EF4-FFF2-40B4-BE49-F238E27FC236}">
                <a16:creationId xmlns:a16="http://schemas.microsoft.com/office/drawing/2014/main" id="{5CAB1823-087F-9164-07E9-C177BEDF633F}"/>
              </a:ext>
            </a:extLst>
          </p:cNvPr>
          <p:cNvSpPr>
            <a:spLocks noGrp="1"/>
          </p:cNvSpPr>
          <p:nvPr>
            <p:ph type="sldNum" idx="12"/>
          </p:nvPr>
        </p:nvSpPr>
        <p:spPr/>
        <p:txBody>
          <a:bodyPr/>
          <a:lstStyle/>
          <a:p>
            <a:fld id="{00000000-1234-1234-1234-123412341234}" type="slidenum">
              <a:rPr lang="en-GB" smtClean="0"/>
              <a:pPr/>
              <a:t>22</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F92AC8C-93E3-6187-2A21-2A1411EF9380}"/>
                  </a:ext>
                </a:extLst>
              </p:cNvPr>
              <p:cNvSpPr>
                <a:spLocks noGrp="1"/>
              </p:cNvSpPr>
              <p:nvPr>
                <p:ph sz="half" idx="2"/>
              </p:nvPr>
            </p:nvSpPr>
            <p:spPr/>
            <p:txBody>
              <a:bodyPr/>
              <a:lstStyle/>
              <a:p>
                <a:r>
                  <a:rPr lang="en-US" dirty="0"/>
                  <a:t>The general model of an STM would like something like this: </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𝑦</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𝑠</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𝑦</m:t>
                          </m:r>
                        </m:sup>
                      </m:sSubSup>
                    </m:oMath>
                  </m:oMathPara>
                </a14:m>
                <a:endParaRPr lang="en-US" dirty="0"/>
              </a:p>
              <a:p>
                <a:pPr marL="0" indent="0">
                  <a:buNone/>
                </a:pPr>
                <a:r>
                  <a:rPr lang="en-US" dirty="0"/>
                  <a:t>Where </a:t>
                </a:r>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𝑓</m:t>
                          </m:r>
                        </m:e>
                        <m:sub>
                          <m:r>
                            <a:rPr lang="nl-NL" b="0" i="1" smtClean="0">
                              <a:latin typeface="Cambria Math" panose="02040503050406030204" pitchFamily="18" charset="0"/>
                            </a:rPr>
                            <m:t>𝑔</m:t>
                          </m:r>
                        </m:sub>
                      </m:sSub>
                      <m:r>
                        <a:rPr lang="nl-NL" b="0" i="1" smtClean="0">
                          <a:latin typeface="Cambria Math" panose="02040503050406030204" pitchFamily="18" charset="0"/>
                        </a:rPr>
                        <m:t>(</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𝑥</m:t>
                          </m:r>
                        </m:e>
                        <m:sub>
                          <m:r>
                            <a:rPr lang="nl-NL" b="0" i="1" smtClean="0">
                              <a:latin typeface="Cambria Math" panose="02040503050406030204" pitchFamily="18" charset="0"/>
                            </a:rPr>
                            <m:t>𝑡</m:t>
                          </m:r>
                        </m:sub>
                        <m:sup>
                          <m:r>
                            <a:rPr lang="nl-NL" b="0" i="1" smtClean="0">
                              <a:latin typeface="Cambria Math" panose="02040503050406030204" pitchFamily="18" charset="0"/>
                            </a:rPr>
                            <m:t>𝑔</m:t>
                          </m:r>
                        </m:sup>
                      </m:sSubSup>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𝜃</m:t>
                          </m:r>
                        </m:e>
                        <m:sub>
                          <m:r>
                            <a:rPr lang="nl-NL" b="0" i="1" smtClean="0">
                              <a:latin typeface="Cambria Math" panose="02040503050406030204" pitchFamily="18" charset="0"/>
                            </a:rPr>
                            <m:t>𝑔</m:t>
                          </m:r>
                        </m:sub>
                      </m:sSub>
                      <m:r>
                        <a:rPr lang="nl-NL" b="0" i="1" smtClean="0">
                          <a:latin typeface="Cambria Math" panose="02040503050406030204" pitchFamily="18" charset="0"/>
                        </a:rPr>
                        <m:t>,</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𝑔</m:t>
                          </m:r>
                        </m:sup>
                      </m:sSubSup>
                      <m:r>
                        <a:rPr lang="nl-NL" b="0" i="1" smtClean="0">
                          <a:latin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i="1">
                              <a:latin typeface="Cambria Math" panose="02040503050406030204" pitchFamily="18" charset="0"/>
                            </a:rPr>
                          </m:ctrlPr>
                        </m:sSubPr>
                        <m:e>
                          <m:r>
                            <a:rPr lang="nl-NL" i="1">
                              <a:latin typeface="Cambria Math" panose="02040503050406030204" pitchFamily="18" charset="0"/>
                            </a:rPr>
                            <m:t>𝑓</m:t>
                          </m:r>
                        </m:e>
                        <m:sub>
                          <m:r>
                            <a:rPr lang="nl-NL" b="0" i="1" smtClean="0">
                              <a:latin typeface="Cambria Math" panose="02040503050406030204" pitchFamily="18" charset="0"/>
                            </a:rPr>
                            <m:t>𝑐</m:t>
                          </m:r>
                        </m:sub>
                      </m:sSub>
                      <m:d>
                        <m:dPr>
                          <m:ctrlPr>
                            <a:rPr lang="nl-NL" i="1">
                              <a:latin typeface="Cambria Math" panose="02040503050406030204" pitchFamily="18" charset="0"/>
                            </a:rPr>
                          </m:ctrlPr>
                        </m:dPr>
                        <m:e>
                          <m:sSubSup>
                            <m:sSubSupPr>
                              <m:ctrlPr>
                                <a:rPr lang="nl-NL" b="0" i="1" smtClean="0">
                                  <a:latin typeface="Cambria Math" panose="02040503050406030204" pitchFamily="18" charset="0"/>
                                </a:rPr>
                              </m:ctrlPr>
                            </m:sSubSupPr>
                            <m:e>
                              <m:r>
                                <a:rPr lang="nl-NL" i="1">
                                  <a:latin typeface="Cambria Math" panose="02040503050406030204" pitchFamily="18" charset="0"/>
                                </a:rPr>
                                <m:t>𝑥</m:t>
                              </m:r>
                            </m:e>
                            <m:sub>
                              <m:r>
                                <a:rPr lang="nl-NL" i="1">
                                  <a:latin typeface="Cambria Math" panose="02040503050406030204" pitchFamily="18" charset="0"/>
                                </a:rPr>
                                <m:t>𝑡</m:t>
                              </m:r>
                            </m:sub>
                            <m:sup>
                              <m:r>
                                <a:rPr lang="nl-NL" b="0" i="1" smtClean="0">
                                  <a:latin typeface="Cambria Math" panose="02040503050406030204" pitchFamily="18" charset="0"/>
                                </a:rPr>
                                <m:t>𝑐</m:t>
                              </m:r>
                            </m:sup>
                          </m:sSubSup>
                          <m:r>
                            <a:rPr lang="nl-NL" b="0" i="1" smtClean="0">
                              <a:latin typeface="Cambria Math" panose="02040503050406030204" pitchFamily="18" charset="0"/>
                            </a:rPr>
                            <m:t>,</m:t>
                          </m:r>
                          <m:sSub>
                            <m:sSubPr>
                              <m:ctrlPr>
                                <a:rPr lang="nl-NL" i="1" smtClean="0">
                                  <a:latin typeface="Cambria Math" panose="02040503050406030204" pitchFamily="18" charset="0"/>
                                </a:rPr>
                              </m:ctrlPr>
                            </m:sSubPr>
                            <m:e>
                              <m:r>
                                <a:rPr lang="nl-NL" i="1">
                                  <a:latin typeface="Cambria Math" panose="02040503050406030204" pitchFamily="18" charset="0"/>
                                </a:rPr>
                                <m:t>𝜃</m:t>
                              </m:r>
                            </m:e>
                            <m:sub>
                              <m:r>
                                <a:rPr lang="nl-NL" b="0" i="1" smtClean="0">
                                  <a:latin typeface="Cambria Math" panose="02040503050406030204" pitchFamily="18" charset="0"/>
                                </a:rPr>
                                <m:t>𝑐</m:t>
                              </m:r>
                            </m:sub>
                          </m:sSub>
                          <m:r>
                            <a:rPr lang="nl-NL" b="0" i="1" smtClean="0">
                              <a:latin typeface="Cambria Math" panose="02040503050406030204" pitchFamily="18" charset="0"/>
                            </a:rPr>
                            <m:t>,</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𝑐</m:t>
                              </m:r>
                            </m:sup>
                          </m:sSubSup>
                        </m:e>
                      </m:d>
                    </m:oMath>
                  </m:oMathPara>
                </a14:m>
                <a:endParaRPr lang="nl-NL" dirty="0"/>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𝑠</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i="1">
                              <a:latin typeface="Cambria Math" panose="02040503050406030204" pitchFamily="18" charset="0"/>
                            </a:rPr>
                          </m:ctrlPr>
                        </m:sSubPr>
                        <m:e>
                          <m:r>
                            <a:rPr lang="nl-NL" i="1">
                              <a:latin typeface="Cambria Math" panose="02040503050406030204" pitchFamily="18" charset="0"/>
                            </a:rPr>
                            <m:t>𝑓</m:t>
                          </m:r>
                        </m:e>
                        <m:sub>
                          <m:r>
                            <a:rPr lang="nl-NL" i="1">
                              <a:latin typeface="Cambria Math" panose="02040503050406030204" pitchFamily="18" charset="0"/>
                            </a:rPr>
                            <m:t>𝑐</m:t>
                          </m:r>
                        </m:sub>
                      </m:sSub>
                      <m:d>
                        <m:dPr>
                          <m:ctrlPr>
                            <a:rPr lang="nl-NL" i="1">
                              <a:latin typeface="Cambria Math" panose="02040503050406030204" pitchFamily="18" charset="0"/>
                            </a:rPr>
                          </m:ctrlPr>
                        </m:dPr>
                        <m:e>
                          <m:sSubSup>
                            <m:sSubSupPr>
                              <m:ctrlPr>
                                <a:rPr lang="nl-NL" b="0" i="1" smtClean="0">
                                  <a:latin typeface="Cambria Math" panose="02040503050406030204" pitchFamily="18" charset="0"/>
                                </a:rPr>
                              </m:ctrlPr>
                            </m:sSubSupPr>
                            <m:e>
                              <m:r>
                                <a:rPr lang="nl-NL" i="1">
                                  <a:latin typeface="Cambria Math" panose="02040503050406030204" pitchFamily="18" charset="0"/>
                                </a:rPr>
                                <m:t>𝑥</m:t>
                              </m:r>
                            </m:e>
                            <m:sub>
                              <m:r>
                                <a:rPr lang="nl-NL" i="1">
                                  <a:latin typeface="Cambria Math" panose="02040503050406030204" pitchFamily="18" charset="0"/>
                                </a:rPr>
                                <m:t>𝑡</m:t>
                              </m:r>
                            </m:sub>
                            <m:sup>
                              <m:r>
                                <a:rPr lang="nl-NL" b="0" i="1" smtClean="0">
                                  <a:latin typeface="Cambria Math" panose="02040503050406030204" pitchFamily="18" charset="0"/>
                                </a:rPr>
                                <m:t>𝑠</m:t>
                              </m:r>
                            </m:sup>
                          </m:sSubSup>
                          <m:r>
                            <a:rPr lang="nl-NL" b="0" i="1" smtClean="0">
                              <a:latin typeface="Cambria Math" panose="02040503050406030204" pitchFamily="18" charset="0"/>
                            </a:rPr>
                            <m:t>,</m:t>
                          </m:r>
                          <m:sSub>
                            <m:sSubPr>
                              <m:ctrlPr>
                                <a:rPr lang="nl-NL" i="1">
                                  <a:latin typeface="Cambria Math" panose="02040503050406030204" pitchFamily="18" charset="0"/>
                                </a:rPr>
                              </m:ctrlPr>
                            </m:sSubPr>
                            <m:e>
                              <m:r>
                                <a:rPr lang="nl-NL" i="1">
                                  <a:latin typeface="Cambria Math" panose="02040503050406030204" pitchFamily="18" charset="0"/>
                                </a:rPr>
                                <m:t>𝜃</m:t>
                              </m:r>
                            </m:e>
                            <m:sub>
                              <m:r>
                                <a:rPr lang="nl-NL" i="1">
                                  <a:latin typeface="Cambria Math" panose="02040503050406030204" pitchFamily="18" charset="0"/>
                                </a:rPr>
                                <m:t>𝑐</m:t>
                              </m:r>
                            </m:sub>
                          </m:sSub>
                          <m:r>
                            <a:rPr lang="nl-NL" b="0" i="1" smtClean="0">
                              <a:latin typeface="Cambria Math" panose="02040503050406030204" pitchFamily="18" charset="0"/>
                            </a:rPr>
                            <m:t>,</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𝑠</m:t>
                              </m:r>
                            </m:sup>
                          </m:sSubSup>
                        </m:e>
                      </m:d>
                    </m:oMath>
                  </m:oMathPara>
                </a14:m>
                <a:endParaRPr lang="nl-NL" dirty="0"/>
              </a:p>
              <a:p>
                <a:pPr marL="0" indent="0">
                  <a:buNone/>
                </a:pPr>
                <a:endParaRPr lang="nl-NL" dirty="0"/>
              </a:p>
              <a:p>
                <a:pPr marL="0" indent="0">
                  <a:buNone/>
                </a:pPr>
                <a:r>
                  <a:rPr lang="en-US" dirty="0"/>
                  <a:t>Where </a:t>
                </a:r>
                <a14:m>
                  <m:oMath xmlns:m="http://schemas.openxmlformats.org/officeDocument/2006/math">
                    <m:r>
                      <a:rPr lang="en-US" b="0" i="1" smtClean="0">
                        <a:latin typeface="Cambria Math" panose="02040503050406030204" pitchFamily="18" charset="0"/>
                      </a:rPr>
                      <m:t>𝑥</m:t>
                    </m:r>
                  </m:oMath>
                </a14:m>
                <a:r>
                  <a:rPr lang="en-US" dirty="0"/>
                  <a:t> is a vector of latent variables, </a:t>
                </a:r>
                <a14:m>
                  <m:oMath xmlns:m="http://schemas.openxmlformats.org/officeDocument/2006/math">
                    <m:r>
                      <a:rPr lang="en-US" b="0" i="1" smtClean="0">
                        <a:latin typeface="Cambria Math" panose="02040503050406030204" pitchFamily="18" charset="0"/>
                      </a:rPr>
                      <m:t>𝜃</m:t>
                    </m:r>
                  </m:oMath>
                </a14:m>
                <a:r>
                  <a:rPr lang="en-US" dirty="0"/>
                  <a:t> is a parameter vector and </a:t>
                </a:r>
                <a14:m>
                  <m:oMath xmlns:m="http://schemas.openxmlformats.org/officeDocument/2006/math">
                    <m:r>
                      <a:rPr lang="en-US" b="0" i="1" smtClean="0">
                        <a:latin typeface="Cambria Math" panose="02040503050406030204" pitchFamily="18" charset="0"/>
                      </a:rPr>
                      <m:t>𝜀</m:t>
                    </m:r>
                  </m:oMath>
                </a14:m>
                <a:r>
                  <a:rPr lang="en-US" dirty="0"/>
                  <a:t> is a stochastic component </a:t>
                </a:r>
              </a:p>
              <a:p>
                <a:pPr marL="0" indent="0">
                  <a:buNone/>
                </a:pPr>
                <a:endParaRPr lang="nl-NL" dirty="0"/>
              </a:p>
              <a:p>
                <a:pPr marL="0" indent="0">
                  <a:buNone/>
                </a:pPr>
                <a:endParaRPr lang="en-US" dirty="0"/>
              </a:p>
              <a:p>
                <a:pPr marL="0" indent="0">
                  <a:buNone/>
                </a:pPr>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DF92AC8C-93E3-6187-2A21-2A1411EF9380}"/>
                  </a:ext>
                </a:extLst>
              </p:cNvPr>
              <p:cNvSpPr>
                <a:spLocks noGrp="1" noRot="1" noChangeAspect="1" noMove="1" noResize="1" noEditPoints="1" noAdjustHandles="1" noChangeArrowheads="1" noChangeShapeType="1" noTextEdit="1"/>
              </p:cNvSpPr>
              <p:nvPr>
                <p:ph sz="half" idx="2"/>
              </p:nvPr>
            </p:nvSpPr>
            <p:spPr>
              <a:blipFill>
                <a:blip r:embed="rId2"/>
                <a:stretch>
                  <a:fillRect l="-754" t="-2326"/>
                </a:stretch>
              </a:blipFill>
            </p:spPr>
            <p:txBody>
              <a:bodyPr/>
              <a:lstStyle/>
              <a:p>
                <a:r>
                  <a:rPr lang="en-US">
                    <a:noFill/>
                  </a:rPr>
                  <a:t> </a:t>
                </a:r>
              </a:p>
            </p:txBody>
          </p:sp>
        </mc:Fallback>
      </mc:AlternateContent>
    </p:spTree>
    <p:extLst>
      <p:ext uri="{BB962C8B-B14F-4D97-AF65-F5344CB8AC3E}">
        <p14:creationId xmlns:p14="http://schemas.microsoft.com/office/powerpoint/2010/main" val="3879764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89F21-DBD5-495C-87AD-A92BC05B4047}"/>
              </a:ext>
            </a:extLst>
          </p:cNvPr>
          <p:cNvSpPr>
            <a:spLocks noGrp="1"/>
          </p:cNvSpPr>
          <p:nvPr>
            <p:ph type="title"/>
          </p:nvPr>
        </p:nvSpPr>
        <p:spPr/>
        <p:txBody>
          <a:bodyPr/>
          <a:lstStyle/>
          <a:p>
            <a:r>
              <a:rPr lang="en-US" dirty="0"/>
              <a:t>STM – Estimation</a:t>
            </a:r>
          </a:p>
        </p:txBody>
      </p:sp>
      <p:sp>
        <p:nvSpPr>
          <p:cNvPr id="3" name="Slide Number Placeholder 2">
            <a:extLst>
              <a:ext uri="{FF2B5EF4-FFF2-40B4-BE49-F238E27FC236}">
                <a16:creationId xmlns:a16="http://schemas.microsoft.com/office/drawing/2014/main" id="{5CAB1823-087F-9164-07E9-C177BEDF633F}"/>
              </a:ext>
            </a:extLst>
          </p:cNvPr>
          <p:cNvSpPr>
            <a:spLocks noGrp="1"/>
          </p:cNvSpPr>
          <p:nvPr>
            <p:ph type="sldNum" idx="12"/>
          </p:nvPr>
        </p:nvSpPr>
        <p:spPr/>
        <p:txBody>
          <a:bodyPr/>
          <a:lstStyle/>
          <a:p>
            <a:fld id="{00000000-1234-1234-1234-123412341234}" type="slidenum">
              <a:rPr lang="en-GB" smtClean="0"/>
              <a:pPr/>
              <a:t>23</a:t>
            </a:fld>
            <a:endParaRPr lang="en-GB"/>
          </a:p>
        </p:txBody>
      </p:sp>
      <p:sp>
        <p:nvSpPr>
          <p:cNvPr id="4" name="Content Placeholder 3">
            <a:extLst>
              <a:ext uri="{FF2B5EF4-FFF2-40B4-BE49-F238E27FC236}">
                <a16:creationId xmlns:a16="http://schemas.microsoft.com/office/drawing/2014/main" id="{DF92AC8C-93E3-6187-2A21-2A1411EF9380}"/>
              </a:ext>
            </a:extLst>
          </p:cNvPr>
          <p:cNvSpPr>
            <a:spLocks noGrp="1"/>
          </p:cNvSpPr>
          <p:nvPr>
            <p:ph sz="half" idx="2"/>
          </p:nvPr>
        </p:nvSpPr>
        <p:spPr/>
        <p:txBody>
          <a:bodyPr/>
          <a:lstStyle/>
          <a:p>
            <a:pPr marL="0" indent="0">
              <a:buNone/>
            </a:pPr>
            <a:r>
              <a:rPr lang="en-US" dirty="0"/>
              <a:t>STMs are estimated by moving through the following steps:</a:t>
            </a:r>
          </a:p>
          <a:p>
            <a:pPr marL="0" indent="0">
              <a:buNone/>
            </a:pPr>
            <a:endParaRPr lang="en-US" dirty="0"/>
          </a:p>
          <a:p>
            <a:pPr marL="457200" indent="-457200">
              <a:buFont typeface="+mj-lt"/>
              <a:buAutoNum type="arabicPeriod"/>
            </a:pPr>
            <a:r>
              <a:rPr lang="en-US" dirty="0"/>
              <a:t>Specify state space model</a:t>
            </a:r>
          </a:p>
          <a:p>
            <a:pPr marL="457200" indent="-457200">
              <a:buFont typeface="+mj-lt"/>
              <a:buAutoNum type="arabicPeriod"/>
            </a:pPr>
            <a:r>
              <a:rPr lang="en-US" dirty="0"/>
              <a:t>Initialize states</a:t>
            </a:r>
          </a:p>
          <a:p>
            <a:pPr marL="457200" indent="-457200">
              <a:buFont typeface="+mj-lt"/>
              <a:buAutoNum type="arabicPeriod"/>
            </a:pPr>
            <a:r>
              <a:rPr lang="en-US" dirty="0"/>
              <a:t>Run Kalman filter</a:t>
            </a:r>
          </a:p>
          <a:p>
            <a:pPr marL="457200" indent="-457200">
              <a:buFont typeface="+mj-lt"/>
              <a:buAutoNum type="arabicPeriod"/>
            </a:pPr>
            <a:r>
              <a:rPr lang="en-US" dirty="0"/>
              <a:t>Build likelihood for forecast errors</a:t>
            </a:r>
          </a:p>
          <a:p>
            <a:pPr marL="457200" indent="-457200">
              <a:buFont typeface="+mj-lt"/>
              <a:buAutoNum type="arabicPeriod"/>
            </a:pPr>
            <a:r>
              <a:rPr lang="en-US" dirty="0"/>
              <a:t>Maximum likelihood estimation of parameters</a:t>
            </a:r>
          </a:p>
          <a:p>
            <a:pPr marL="457200" indent="-457200">
              <a:buFont typeface="+mj-lt"/>
              <a:buAutoNum type="arabicPeriod"/>
            </a:pPr>
            <a:r>
              <a:rPr lang="en-US" dirty="0"/>
              <a:t>Run Kalman smoother</a:t>
            </a:r>
          </a:p>
          <a:p>
            <a:pPr marL="457200" indent="-457200">
              <a:buFont typeface="+mj-lt"/>
              <a:buAutoNum type="arabicPeriod"/>
            </a:pPr>
            <a:endParaRPr lang="en-US" dirty="0"/>
          </a:p>
          <a:p>
            <a:pPr marL="0" indent="0">
              <a:buNone/>
            </a:pPr>
            <a:endParaRPr lang="en-US" dirty="0"/>
          </a:p>
          <a:p>
            <a:pPr marL="457200" indent="-457200">
              <a:buFont typeface="+mj-lt"/>
              <a:buAutoNum type="arabicPeriod"/>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279246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3D930-5971-EB55-3B25-23013CE706D3}"/>
              </a:ext>
            </a:extLst>
          </p:cNvPr>
          <p:cNvSpPr>
            <a:spLocks noGrp="1"/>
          </p:cNvSpPr>
          <p:nvPr>
            <p:ph type="title"/>
          </p:nvPr>
        </p:nvSpPr>
        <p:spPr/>
        <p:txBody>
          <a:bodyPr/>
          <a:lstStyle/>
          <a:p>
            <a:r>
              <a:rPr lang="en-US" dirty="0"/>
              <a:t>STM – Example model trend</a:t>
            </a:r>
          </a:p>
        </p:txBody>
      </p:sp>
      <p:sp>
        <p:nvSpPr>
          <p:cNvPr id="3" name="Slide Number Placeholder 2">
            <a:extLst>
              <a:ext uri="{FF2B5EF4-FFF2-40B4-BE49-F238E27FC236}">
                <a16:creationId xmlns:a16="http://schemas.microsoft.com/office/drawing/2014/main" id="{36EEC286-83CB-ECCF-A14C-A99897440310}"/>
              </a:ext>
            </a:extLst>
          </p:cNvPr>
          <p:cNvSpPr>
            <a:spLocks noGrp="1"/>
          </p:cNvSpPr>
          <p:nvPr>
            <p:ph type="sldNum" idx="12"/>
          </p:nvPr>
        </p:nvSpPr>
        <p:spPr/>
        <p:txBody>
          <a:bodyPr/>
          <a:lstStyle/>
          <a:p>
            <a:fld id="{00000000-1234-1234-1234-123412341234}" type="slidenum">
              <a:rPr lang="en-GB" smtClean="0"/>
              <a:pPr/>
              <a:t>24</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1965E9D-CBFF-1796-6CFD-8B3883D6F8D8}"/>
                  </a:ext>
                </a:extLst>
              </p:cNvPr>
              <p:cNvSpPr>
                <a:spLocks noGrp="1"/>
              </p:cNvSpPr>
              <p:nvPr>
                <p:ph sz="half" idx="2"/>
              </p:nvPr>
            </p:nvSpPr>
            <p:spPr/>
            <p:txBody>
              <a:bodyPr/>
              <a:lstStyle/>
              <a:p>
                <a:r>
                  <a:rPr lang="en-US" dirty="0"/>
                  <a:t>Examples from </a:t>
                </a:r>
                <a:r>
                  <a:rPr lang="en-US" dirty="0" err="1"/>
                  <a:t>Hubbart</a:t>
                </a:r>
                <a:r>
                  <a:rPr lang="en-US" dirty="0"/>
                  <a:t> (2024)</a:t>
                </a:r>
              </a:p>
              <a:p>
                <a:endParaRPr lang="en-US" dirty="0"/>
              </a:p>
              <a:p>
                <a:r>
                  <a:rPr lang="en-US" dirty="0"/>
                  <a:t>Several options for the trend component </a:t>
                </a:r>
                <a14:m>
                  <m:oMath xmlns:m="http://schemas.openxmlformats.org/officeDocument/2006/math">
                    <m:r>
                      <a:rPr lang="nl-NL" b="0" i="1" smtClean="0">
                        <a:latin typeface="Cambria Math" panose="02040503050406030204" pitchFamily="18" charset="0"/>
                      </a:rPr>
                      <m:t>𝑔</m:t>
                    </m:r>
                  </m:oMath>
                </a14:m>
                <a:r>
                  <a:rPr lang="en-US" dirty="0"/>
                  <a:t> like for instance</a:t>
                </a:r>
              </a:p>
              <a:p>
                <a:endParaRPr lang="en-US" dirty="0"/>
              </a:p>
              <a:p>
                <a:pPr marL="0" indent="0">
                  <a:buNone/>
                </a:pPr>
                <a:r>
                  <a:rPr lang="en-US" dirty="0"/>
                  <a:t>Random walk:</a:t>
                </a:r>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r>
                            <a:rPr lang="nl-NL" b="0" i="1" smtClean="0">
                              <a:latin typeface="Cambria Math" panose="02040503050406030204" pitchFamily="18" charset="0"/>
                            </a:rPr>
                            <m:t>−1</m:t>
                          </m:r>
                        </m:sub>
                      </m:sSub>
                      <m:r>
                        <a:rPr lang="nl-NL" b="0" i="1" smtClean="0">
                          <a:latin typeface="Cambria Math" panose="02040503050406030204" pitchFamily="18" charset="0"/>
                        </a:rPr>
                        <m:t>+</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𝑔</m:t>
                          </m:r>
                        </m:sup>
                      </m:sSubSup>
                      <m:r>
                        <a:rPr lang="nl-NL" b="0" i="1" smtClean="0">
                          <a:latin typeface="Cambria Math" panose="02040503050406030204" pitchFamily="18" charset="0"/>
                        </a:rPr>
                        <m:t>,    </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𝑔</m:t>
                          </m:r>
                        </m:sup>
                      </m:sSubSup>
                      <m:r>
                        <a:rPr lang="nl-NL" b="0" i="1" smtClean="0">
                          <a:latin typeface="Cambria Math" panose="02040503050406030204" pitchFamily="18" charset="0"/>
                        </a:rPr>
                        <m:t>~</m:t>
                      </m:r>
                      <m:r>
                        <a:rPr lang="nl-NL" b="0" i="1" smtClean="0">
                          <a:latin typeface="Cambria Math" panose="02040503050406030204" pitchFamily="18" charset="0"/>
                        </a:rPr>
                        <m:t>𝑁</m:t>
                      </m:r>
                      <m:r>
                        <a:rPr lang="nl-NL" b="0" i="1" smtClean="0">
                          <a:latin typeface="Cambria Math" panose="02040503050406030204" pitchFamily="18" charset="0"/>
                        </a:rPr>
                        <m:t>(0,</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𝜎</m:t>
                          </m:r>
                        </m:e>
                        <m:sub>
                          <m:r>
                            <a:rPr lang="nl-NL" b="0" i="1" smtClean="0">
                              <a:latin typeface="Cambria Math" panose="02040503050406030204" pitchFamily="18" charset="0"/>
                            </a:rPr>
                            <m:t>𝑔</m:t>
                          </m:r>
                        </m:sub>
                        <m:sup>
                          <m:r>
                            <a:rPr lang="nl-NL" b="0" i="1" smtClean="0">
                              <a:latin typeface="Cambria Math" panose="02040503050406030204" pitchFamily="18" charset="0"/>
                            </a:rPr>
                            <m:t>2</m:t>
                          </m:r>
                        </m:sup>
                      </m:sSubSup>
                      <m:r>
                        <a:rPr lang="nl-NL" b="0" i="1" smtClean="0">
                          <a:latin typeface="Cambria Math" panose="02040503050406030204" pitchFamily="18" charset="0"/>
                        </a:rPr>
                        <m:t>)  </m:t>
                      </m:r>
                    </m:oMath>
                  </m:oMathPara>
                </a14:m>
                <a:endParaRPr lang="en-US" dirty="0"/>
              </a:p>
              <a:p>
                <a:pPr marL="0" indent="0">
                  <a:buNone/>
                </a:pPr>
                <a:r>
                  <a:rPr lang="en-US" dirty="0"/>
                  <a:t>Random walk drift:</a:t>
                </a:r>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𝑔</m:t>
                          </m:r>
                        </m:e>
                        <m:sub>
                          <m:r>
                            <a:rPr lang="nl-NL" b="0" i="1" smtClean="0">
                              <a:latin typeface="Cambria Math" panose="02040503050406030204" pitchFamily="18" charset="0"/>
                            </a:rPr>
                            <m:t>𝑡</m:t>
                          </m:r>
                          <m:r>
                            <a:rPr lang="nl-NL" b="0" i="1" smtClean="0">
                              <a:latin typeface="Cambria Math" panose="02040503050406030204" pitchFamily="18" charset="0"/>
                            </a:rPr>
                            <m:t>−1</m:t>
                          </m:r>
                        </m:sub>
                      </m:sSub>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𝑑</m:t>
                          </m:r>
                        </m:e>
                        <m:sub>
                          <m:r>
                            <a:rPr lang="nl-NL" b="0" i="1" smtClean="0">
                              <a:latin typeface="Cambria Math" panose="02040503050406030204" pitchFamily="18" charset="0"/>
                            </a:rPr>
                            <m:t>𝑡</m:t>
                          </m:r>
                          <m:r>
                            <a:rPr lang="nl-NL" b="0" i="1" smtClean="0">
                              <a:latin typeface="Cambria Math" panose="02040503050406030204" pitchFamily="18" charset="0"/>
                            </a:rPr>
                            <m:t>−1</m:t>
                          </m:r>
                        </m:sub>
                      </m:sSub>
                      <m:r>
                        <a:rPr lang="nl-NL" b="0" i="1" smtClean="0">
                          <a:latin typeface="Cambria Math" panose="02040503050406030204" pitchFamily="18" charset="0"/>
                        </a:rPr>
                        <m:t>+</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𝑔</m:t>
                          </m:r>
                        </m:sup>
                      </m:sSubSup>
                      <m:r>
                        <a:rPr lang="nl-NL" i="1">
                          <a:latin typeface="Cambria Math" panose="02040503050406030204" pitchFamily="18" charset="0"/>
                        </a:rPr>
                        <m:t>,    </m:t>
                      </m:r>
                      <m:sSubSup>
                        <m:sSubSupPr>
                          <m:ctrlPr>
                            <a:rPr lang="nl-NL" i="1">
                              <a:latin typeface="Cambria Math" panose="02040503050406030204" pitchFamily="18" charset="0"/>
                            </a:rPr>
                          </m:ctrlPr>
                        </m:sSubSupPr>
                        <m:e>
                          <m:r>
                            <a:rPr lang="nl-NL" i="1">
                              <a:latin typeface="Cambria Math" panose="02040503050406030204" pitchFamily="18" charset="0"/>
                            </a:rPr>
                            <m:t>𝜀</m:t>
                          </m:r>
                        </m:e>
                        <m:sub>
                          <m:r>
                            <a:rPr lang="nl-NL" i="1">
                              <a:latin typeface="Cambria Math" panose="02040503050406030204" pitchFamily="18" charset="0"/>
                            </a:rPr>
                            <m:t>𝑡</m:t>
                          </m:r>
                        </m:sub>
                        <m:sup>
                          <m:r>
                            <a:rPr lang="nl-NL" i="1">
                              <a:latin typeface="Cambria Math" panose="02040503050406030204" pitchFamily="18" charset="0"/>
                            </a:rPr>
                            <m:t>𝑔</m:t>
                          </m:r>
                        </m:sup>
                      </m:sSubSup>
                      <m:r>
                        <a:rPr lang="nl-NL" i="1">
                          <a:latin typeface="Cambria Math" panose="02040503050406030204" pitchFamily="18" charset="0"/>
                        </a:rPr>
                        <m:t>~</m:t>
                      </m:r>
                      <m:r>
                        <a:rPr lang="nl-NL" i="1">
                          <a:latin typeface="Cambria Math" panose="02040503050406030204" pitchFamily="18" charset="0"/>
                        </a:rPr>
                        <m:t>𝑁</m:t>
                      </m:r>
                      <m:r>
                        <a:rPr lang="nl-NL" i="1">
                          <a:latin typeface="Cambria Math" panose="02040503050406030204" pitchFamily="18" charset="0"/>
                        </a:rPr>
                        <m:t>(0,</m:t>
                      </m:r>
                      <m:sSubSup>
                        <m:sSubSupPr>
                          <m:ctrlPr>
                            <a:rPr lang="nl-NL" i="1">
                              <a:latin typeface="Cambria Math" panose="02040503050406030204" pitchFamily="18" charset="0"/>
                            </a:rPr>
                          </m:ctrlPr>
                        </m:sSubSupPr>
                        <m:e>
                          <m:r>
                            <a:rPr lang="nl-NL" i="1">
                              <a:latin typeface="Cambria Math" panose="02040503050406030204" pitchFamily="18" charset="0"/>
                            </a:rPr>
                            <m:t>𝜎</m:t>
                          </m:r>
                        </m:e>
                        <m:sub>
                          <m:r>
                            <a:rPr lang="nl-NL" i="1">
                              <a:latin typeface="Cambria Math" panose="02040503050406030204" pitchFamily="18" charset="0"/>
                            </a:rPr>
                            <m:t>𝑔</m:t>
                          </m:r>
                        </m:sub>
                        <m:sup>
                          <m:r>
                            <a:rPr lang="nl-NL" i="1">
                              <a:latin typeface="Cambria Math" panose="02040503050406030204" pitchFamily="18" charset="0"/>
                            </a:rPr>
                            <m:t>2</m:t>
                          </m:r>
                        </m:sup>
                      </m:sSubSup>
                      <m:r>
                        <a:rPr lang="nl-NL" i="1">
                          <a:latin typeface="Cambria Math" panose="02040503050406030204" pitchFamily="18" charset="0"/>
                        </a:rPr>
                        <m:t>)  </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𝑑</m:t>
                          </m:r>
                        </m:e>
                        <m:sub>
                          <m:r>
                            <a:rPr lang="nl-NL" b="0" i="1" smtClean="0">
                              <a:latin typeface="Cambria Math" panose="02040503050406030204" pitchFamily="18" charset="0"/>
                            </a:rPr>
                            <m:t>𝑡</m:t>
                          </m:r>
                        </m:sub>
                      </m:sSub>
                      <m:r>
                        <a:rPr lang="nl-NL" b="0" i="1" smtClean="0">
                          <a:latin typeface="Cambria Math" panose="02040503050406030204" pitchFamily="18" charset="0"/>
                        </a:rPr>
                        <m:t>=</m:t>
                      </m:r>
                      <m:r>
                        <a:rPr lang="nl-NL" b="0" i="1" smtClean="0">
                          <a:latin typeface="Cambria Math" panose="02040503050406030204" pitchFamily="18" charset="0"/>
                        </a:rPr>
                        <m:t>𝑑</m:t>
                      </m:r>
                      <m:r>
                        <a:rPr lang="nl-NL" b="0" i="1" smtClean="0">
                          <a:latin typeface="Cambria Math" panose="02040503050406030204" pitchFamily="18" charset="0"/>
                        </a:rPr>
                        <m:t>+</m:t>
                      </m:r>
                      <m:sSub>
                        <m:sSubPr>
                          <m:ctrlPr>
                            <a:rPr lang="nl-NL" b="0" i="1" smtClean="0">
                              <a:latin typeface="Cambria Math" panose="02040503050406030204" pitchFamily="18" charset="0"/>
                            </a:rPr>
                          </m:ctrlPr>
                        </m:sSubPr>
                        <m:e>
                          <m:r>
                            <a:rPr lang="nl-NL" b="0" i="1" smtClean="0">
                              <a:latin typeface="Cambria Math" panose="02040503050406030204" pitchFamily="18" charset="0"/>
                            </a:rPr>
                            <m:t>𝜙</m:t>
                          </m:r>
                        </m:e>
                        <m:sub>
                          <m:r>
                            <a:rPr lang="nl-NL" b="0" i="1" smtClean="0">
                              <a:latin typeface="Cambria Math" panose="02040503050406030204" pitchFamily="18" charset="0"/>
                            </a:rPr>
                            <m:t>𝑑</m:t>
                          </m:r>
                        </m:sub>
                      </m:sSub>
                      <m:sSub>
                        <m:sSubPr>
                          <m:ctrlPr>
                            <a:rPr lang="nl-NL" b="0" i="1" smtClean="0">
                              <a:latin typeface="Cambria Math" panose="02040503050406030204" pitchFamily="18" charset="0"/>
                            </a:rPr>
                          </m:ctrlPr>
                        </m:sSubPr>
                        <m:e>
                          <m:r>
                            <a:rPr lang="nl-NL" b="0" i="1" smtClean="0">
                              <a:latin typeface="Cambria Math" panose="02040503050406030204" pitchFamily="18" charset="0"/>
                            </a:rPr>
                            <m:t>𝑑</m:t>
                          </m:r>
                        </m:e>
                        <m:sub>
                          <m:r>
                            <a:rPr lang="nl-NL" b="0" i="1" smtClean="0">
                              <a:latin typeface="Cambria Math" panose="02040503050406030204" pitchFamily="18" charset="0"/>
                            </a:rPr>
                            <m:t>𝑡</m:t>
                          </m:r>
                          <m:r>
                            <a:rPr lang="nl-NL" b="0" i="1" smtClean="0">
                              <a:latin typeface="Cambria Math" panose="02040503050406030204" pitchFamily="18" charset="0"/>
                            </a:rPr>
                            <m:t>−1</m:t>
                          </m:r>
                        </m:sub>
                      </m:sSub>
                      <m:r>
                        <a:rPr lang="nl-NL" b="0" i="1" smtClean="0">
                          <a:latin typeface="Cambria Math" panose="02040503050406030204" pitchFamily="18" charset="0"/>
                        </a:rPr>
                        <m:t>+</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𝑑</m:t>
                          </m:r>
                        </m:sup>
                      </m:sSubSup>
                      <m:r>
                        <a:rPr lang="nl-NL" b="0" i="1" smtClean="0">
                          <a:latin typeface="Cambria Math" panose="02040503050406030204" pitchFamily="18" charset="0"/>
                        </a:rPr>
                        <m:t>,  </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𝑑</m:t>
                          </m:r>
                        </m:sup>
                      </m:sSubSup>
                      <m:r>
                        <a:rPr lang="nl-NL" b="0" i="1" smtClean="0">
                          <a:latin typeface="Cambria Math" panose="02040503050406030204" pitchFamily="18" charset="0"/>
                        </a:rPr>
                        <m:t>~</m:t>
                      </m:r>
                      <m:r>
                        <a:rPr lang="nl-NL" b="0" i="1" smtClean="0">
                          <a:latin typeface="Cambria Math" panose="02040503050406030204" pitchFamily="18" charset="0"/>
                        </a:rPr>
                        <m:t>𝑁</m:t>
                      </m:r>
                      <m:r>
                        <a:rPr lang="nl-NL" b="0" i="1" smtClean="0">
                          <a:latin typeface="Cambria Math" panose="02040503050406030204" pitchFamily="18" charset="0"/>
                        </a:rPr>
                        <m:t>(0,</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𝜎</m:t>
                          </m:r>
                        </m:e>
                        <m:sub>
                          <m:r>
                            <a:rPr lang="nl-NL" b="0" i="1" smtClean="0">
                              <a:latin typeface="Cambria Math" panose="02040503050406030204" pitchFamily="18" charset="0"/>
                            </a:rPr>
                            <m:t>𝑑</m:t>
                          </m:r>
                        </m:sub>
                        <m:sup>
                          <m:r>
                            <a:rPr lang="nl-NL" b="0" i="1" smtClean="0">
                              <a:latin typeface="Cambria Math" panose="02040503050406030204" pitchFamily="18" charset="0"/>
                            </a:rPr>
                            <m:t>2</m:t>
                          </m:r>
                        </m:sup>
                      </m:sSubSup>
                      <m:r>
                        <a:rPr lang="nl-NL" b="0" i="1" smtClean="0">
                          <a:latin typeface="Cambria Math" panose="02040503050406030204" pitchFamily="18" charset="0"/>
                        </a:rPr>
                        <m:t>)</m:t>
                      </m:r>
                    </m:oMath>
                  </m:oMathPara>
                </a14:m>
                <a:endParaRPr lang="en-US" dirty="0"/>
              </a:p>
              <a:p>
                <a:pPr marL="0" indent="0">
                  <a:buNone/>
                </a:pPr>
                <a:endParaRPr lang="en-US" dirty="0"/>
              </a:p>
              <a:p>
                <a:pPr marL="457200" indent="-457200">
                  <a:buFont typeface="+mj-lt"/>
                  <a:buAutoNum type="arabicPeriod"/>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endParaRPr lang="en-US" dirty="0"/>
              </a:p>
              <a:p>
                <a:endParaRPr lang="en-US" dirty="0"/>
              </a:p>
              <a:p>
                <a:endParaRPr lang="en-US" dirty="0"/>
              </a:p>
            </p:txBody>
          </p:sp>
        </mc:Choice>
        <mc:Fallback xmlns="">
          <p:sp>
            <p:nvSpPr>
              <p:cNvPr id="4" name="Content Placeholder 3">
                <a:extLst>
                  <a:ext uri="{FF2B5EF4-FFF2-40B4-BE49-F238E27FC236}">
                    <a16:creationId xmlns:a16="http://schemas.microsoft.com/office/drawing/2014/main" id="{D1965E9D-CBFF-1796-6CFD-8B3883D6F8D8}"/>
                  </a:ext>
                </a:extLst>
              </p:cNvPr>
              <p:cNvSpPr>
                <a:spLocks noGrp="1" noRot="1" noChangeAspect="1" noMove="1" noResize="1" noEditPoints="1" noAdjustHandles="1" noChangeArrowheads="1" noChangeShapeType="1" noTextEdit="1"/>
              </p:cNvSpPr>
              <p:nvPr>
                <p:ph sz="half" idx="2"/>
              </p:nvPr>
            </p:nvSpPr>
            <p:spPr>
              <a:blipFill>
                <a:blip r:embed="rId2"/>
                <a:stretch>
                  <a:fillRect l="-754" t="-2326"/>
                </a:stretch>
              </a:blipFill>
            </p:spPr>
            <p:txBody>
              <a:bodyPr/>
              <a:lstStyle/>
              <a:p>
                <a:r>
                  <a:rPr lang="en-US">
                    <a:noFill/>
                  </a:rPr>
                  <a:t> </a:t>
                </a:r>
              </a:p>
            </p:txBody>
          </p:sp>
        </mc:Fallback>
      </mc:AlternateContent>
    </p:spTree>
    <p:extLst>
      <p:ext uri="{BB962C8B-B14F-4D97-AF65-F5344CB8AC3E}">
        <p14:creationId xmlns:p14="http://schemas.microsoft.com/office/powerpoint/2010/main" val="3143768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6EDFD-46DA-7A8E-4068-533212173B78}"/>
              </a:ext>
            </a:extLst>
          </p:cNvPr>
          <p:cNvSpPr>
            <a:spLocks noGrp="1"/>
          </p:cNvSpPr>
          <p:nvPr>
            <p:ph type="title"/>
          </p:nvPr>
        </p:nvSpPr>
        <p:spPr/>
        <p:txBody>
          <a:bodyPr/>
          <a:lstStyle/>
          <a:p>
            <a:r>
              <a:rPr lang="en-US" dirty="0"/>
              <a:t>STM – Example model cycle</a:t>
            </a:r>
          </a:p>
        </p:txBody>
      </p:sp>
      <p:sp>
        <p:nvSpPr>
          <p:cNvPr id="3" name="Slide Number Placeholder 2">
            <a:extLst>
              <a:ext uri="{FF2B5EF4-FFF2-40B4-BE49-F238E27FC236}">
                <a16:creationId xmlns:a16="http://schemas.microsoft.com/office/drawing/2014/main" id="{1EC6003D-D0A4-EFCF-60CA-37C87B416D7E}"/>
              </a:ext>
            </a:extLst>
          </p:cNvPr>
          <p:cNvSpPr>
            <a:spLocks noGrp="1"/>
          </p:cNvSpPr>
          <p:nvPr>
            <p:ph type="sldNum" idx="12"/>
          </p:nvPr>
        </p:nvSpPr>
        <p:spPr/>
        <p:txBody>
          <a:bodyPr/>
          <a:lstStyle/>
          <a:p>
            <a:fld id="{00000000-1234-1234-1234-123412341234}" type="slidenum">
              <a:rPr lang="en-GB" smtClean="0"/>
              <a:pPr/>
              <a:t>25</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94D3BB0-6093-BFBA-E7A2-3F608EFC34ED}"/>
                  </a:ext>
                </a:extLst>
              </p:cNvPr>
              <p:cNvSpPr>
                <a:spLocks noGrp="1"/>
              </p:cNvSpPr>
              <p:nvPr>
                <p:ph sz="half" idx="2"/>
              </p:nvPr>
            </p:nvSpPr>
            <p:spPr/>
            <p:txBody>
              <a:bodyPr/>
              <a:lstStyle/>
              <a:p>
                <a:pPr marL="0" indent="0">
                  <a:buNone/>
                </a:pPr>
                <a:r>
                  <a:rPr lang="en-US" dirty="0"/>
                  <a:t>Trigonometric process reduced form:</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sub>
                      </m:sSub>
                      <m:r>
                        <a:rPr lang="nl-NL" b="0" i="1" smtClean="0">
                          <a:latin typeface="Cambria Math" panose="02040503050406030204" pitchFamily="18" charset="0"/>
                        </a:rPr>
                        <m:t>=2</m:t>
                      </m:r>
                      <m:r>
                        <a:rPr lang="nl-NL" b="0" i="1" smtClean="0">
                          <a:latin typeface="Cambria Math" panose="02040503050406030204" pitchFamily="18" charset="0"/>
                        </a:rPr>
                        <m:t>𝜌</m:t>
                      </m:r>
                      <m:func>
                        <m:funcPr>
                          <m:ctrlPr>
                            <a:rPr lang="nl-NL" b="0" i="1" smtClean="0">
                              <a:latin typeface="Cambria Math" panose="02040503050406030204" pitchFamily="18" charset="0"/>
                            </a:rPr>
                          </m:ctrlPr>
                        </m:funcPr>
                        <m:fName>
                          <m:r>
                            <m:rPr>
                              <m:sty m:val="p"/>
                            </m:rPr>
                            <a:rPr lang="nl-NL" b="0" i="0" smtClean="0">
                              <a:latin typeface="Cambria Math" panose="02040503050406030204" pitchFamily="18" charset="0"/>
                            </a:rPr>
                            <m:t>cos</m:t>
                          </m:r>
                        </m:fName>
                        <m:e>
                          <m:d>
                            <m:dPr>
                              <m:ctrlPr>
                                <a:rPr lang="nl-NL" b="0" i="1" smtClean="0">
                                  <a:latin typeface="Cambria Math" panose="02040503050406030204" pitchFamily="18" charset="0"/>
                                </a:rPr>
                              </m:ctrlPr>
                            </m:dPr>
                            <m:e>
                              <m:r>
                                <a:rPr lang="nl-NL" b="0" i="1" smtClean="0">
                                  <a:latin typeface="Cambria Math" panose="02040503050406030204" pitchFamily="18" charset="0"/>
                                </a:rPr>
                                <m:t>𝜆</m:t>
                              </m:r>
                            </m:e>
                          </m:d>
                        </m:e>
                      </m:func>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r>
                            <a:rPr lang="nl-NL" b="0" i="1" smtClean="0">
                              <a:latin typeface="Cambria Math" panose="02040503050406030204" pitchFamily="18" charset="0"/>
                            </a:rPr>
                            <m:t>−1</m:t>
                          </m:r>
                        </m:sub>
                      </m:sSub>
                      <m:r>
                        <a:rPr lang="nl-NL" b="0" i="1" smtClean="0">
                          <a:latin typeface="Cambria Math" panose="02040503050406030204" pitchFamily="18" charset="0"/>
                        </a:rPr>
                        <m:t>−</m:t>
                      </m:r>
                      <m:sSup>
                        <m:sSupPr>
                          <m:ctrlPr>
                            <a:rPr lang="nl-NL" b="0" i="1" smtClean="0">
                              <a:latin typeface="Cambria Math" panose="02040503050406030204" pitchFamily="18" charset="0"/>
                            </a:rPr>
                          </m:ctrlPr>
                        </m:sSupPr>
                        <m:e>
                          <m:r>
                            <a:rPr lang="nl-NL" b="0" i="1" smtClean="0">
                              <a:latin typeface="Cambria Math" panose="02040503050406030204" pitchFamily="18" charset="0"/>
                            </a:rPr>
                            <m:t>𝜌</m:t>
                          </m:r>
                        </m:e>
                        <m:sup>
                          <m:r>
                            <a:rPr lang="nl-NL" b="0" i="1" smtClean="0">
                              <a:latin typeface="Cambria Math" panose="02040503050406030204" pitchFamily="18" charset="0"/>
                            </a:rPr>
                            <m:t>2</m:t>
                          </m:r>
                        </m:sup>
                      </m:sSup>
                      <m:sSub>
                        <m:sSubPr>
                          <m:ctrlPr>
                            <a:rPr lang="nl-NL" b="0" i="1" smtClean="0">
                              <a:latin typeface="Cambria Math" panose="02040503050406030204" pitchFamily="18" charset="0"/>
                            </a:rPr>
                          </m:ctrlPr>
                        </m:sSubPr>
                        <m:e>
                          <m:r>
                            <a:rPr lang="nl-NL" b="0" i="1" smtClean="0">
                              <a:latin typeface="Cambria Math" panose="02040503050406030204" pitchFamily="18" charset="0"/>
                            </a:rPr>
                            <m:t>𝑐</m:t>
                          </m:r>
                        </m:e>
                        <m:sub>
                          <m:r>
                            <a:rPr lang="nl-NL" b="0" i="1" smtClean="0">
                              <a:latin typeface="Cambria Math" panose="02040503050406030204" pitchFamily="18" charset="0"/>
                            </a:rPr>
                            <m:t>𝑡</m:t>
                          </m:r>
                          <m:r>
                            <a:rPr lang="nl-NL" b="0" i="1" smtClean="0">
                              <a:latin typeface="Cambria Math" panose="02040503050406030204" pitchFamily="18" charset="0"/>
                            </a:rPr>
                            <m:t>−2</m:t>
                          </m:r>
                        </m:sub>
                      </m:sSub>
                      <m:r>
                        <a:rPr lang="nl-NL" b="0" i="1" smtClean="0">
                          <a:latin typeface="Cambria Math" panose="02040503050406030204" pitchFamily="18" charset="0"/>
                        </a:rPr>
                        <m:t>+</m:t>
                      </m:r>
                      <m:sSubSup>
                        <m:sSubSupPr>
                          <m:ctrlPr>
                            <a:rPr lang="nl-NL" b="0" i="1" smtClean="0">
                              <a:latin typeface="Cambria Math" panose="02040503050406030204" pitchFamily="18" charset="0"/>
                            </a:rPr>
                          </m:ctrlPr>
                        </m:sSubSupPr>
                        <m:e>
                          <m:r>
                            <a:rPr lang="nl-NL" b="0" i="1" smtClean="0">
                              <a:latin typeface="Cambria Math" panose="02040503050406030204" pitchFamily="18" charset="0"/>
                            </a:rPr>
                            <m:t>𝜀</m:t>
                          </m:r>
                        </m:e>
                        <m:sub>
                          <m:r>
                            <a:rPr lang="nl-NL" b="0" i="1" smtClean="0">
                              <a:latin typeface="Cambria Math" panose="02040503050406030204" pitchFamily="18" charset="0"/>
                            </a:rPr>
                            <m:t>𝑡</m:t>
                          </m:r>
                        </m:sub>
                        <m:sup>
                          <m:r>
                            <a:rPr lang="nl-NL" b="0" i="1" smtClean="0">
                              <a:latin typeface="Cambria Math" panose="02040503050406030204" pitchFamily="18" charset="0"/>
                            </a:rPr>
                            <m:t>𝑐</m:t>
                          </m:r>
                        </m:sup>
                      </m:sSubSup>
                    </m:oMath>
                  </m:oMathPara>
                </a14:m>
                <a:endParaRPr lang="nl-NL" b="0" dirty="0"/>
              </a:p>
              <a:p>
                <a:pPr marL="0" indent="0">
                  <a:buNone/>
                </a:pPr>
                <a:endParaRPr lang="nl-NL" b="0" dirty="0"/>
              </a:p>
              <a:p>
                <a:pPr marL="0" indent="0">
                  <a:buNone/>
                </a:pPr>
                <a:r>
                  <a:rPr lang="en-US" dirty="0"/>
                  <a:t>Where </a:t>
                </a:r>
                <a14:m>
                  <m:oMath xmlns:m="http://schemas.openxmlformats.org/officeDocument/2006/math">
                    <m:r>
                      <a:rPr lang="nl-NL" b="0" i="1" smtClean="0">
                        <a:latin typeface="Cambria Math" panose="02040503050406030204" pitchFamily="18" charset="0"/>
                      </a:rPr>
                      <m:t>𝜌</m:t>
                    </m:r>
                  </m:oMath>
                </a14:m>
                <a:r>
                  <a:rPr lang="en-US" dirty="0"/>
                  <a:t> is a damping parameter between 0 and 1 that controls how persistent the cycle is over time </a:t>
                </a:r>
              </a:p>
              <a:p>
                <a:pPr marL="0" indent="0">
                  <a:buNone/>
                </a:pPr>
                <a:endParaRPr lang="en-US" dirty="0"/>
              </a:p>
              <a:p>
                <a:pPr marL="0" indent="0">
                  <a:buNone/>
                </a:pPr>
                <a14:m>
                  <m:oMath xmlns:m="http://schemas.openxmlformats.org/officeDocument/2006/math">
                    <m:r>
                      <a:rPr lang="nl-NL" b="0" i="1" smtClean="0">
                        <a:latin typeface="Cambria Math" panose="02040503050406030204" pitchFamily="18" charset="0"/>
                      </a:rPr>
                      <m:t>𝜆</m:t>
                    </m:r>
                  </m:oMath>
                </a14:m>
                <a:r>
                  <a:rPr lang="en-US" dirty="0"/>
                  <a:t> is a parameter between 0 and </a:t>
                </a:r>
                <a14:m>
                  <m:oMath xmlns:m="http://schemas.openxmlformats.org/officeDocument/2006/math">
                    <m:r>
                      <a:rPr lang="nl-NL" b="0" i="1" smtClean="0">
                        <a:latin typeface="Cambria Math" panose="02040503050406030204" pitchFamily="18" charset="0"/>
                      </a:rPr>
                      <m:t>𝜋</m:t>
                    </m:r>
                  </m:oMath>
                </a14:m>
                <a:r>
                  <a:rPr lang="en-US" dirty="0"/>
                  <a:t> that determines how fast the cycle oscillates</a:t>
                </a:r>
              </a:p>
              <a:p>
                <a:pPr marL="0" indent="0">
                  <a:buNone/>
                </a:pPr>
                <a:endParaRPr lang="en-US" dirty="0"/>
              </a:p>
              <a:p>
                <a:pPr marL="0" indent="0">
                  <a:buNone/>
                </a:pPr>
                <a:r>
                  <a:rPr lang="en-US" dirty="0"/>
                  <a:t>The relationship with the length </a:t>
                </a:r>
                <a14:m>
                  <m:oMath xmlns:m="http://schemas.openxmlformats.org/officeDocument/2006/math">
                    <m:r>
                      <a:rPr lang="nl-NL" b="0" i="1" smtClean="0">
                        <a:latin typeface="Cambria Math" panose="02040503050406030204" pitchFamily="18" charset="0"/>
                      </a:rPr>
                      <m:t>𝑃</m:t>
                    </m:r>
                  </m:oMath>
                </a14:m>
                <a:r>
                  <a:rPr lang="en-US" dirty="0"/>
                  <a:t> of a full cycle is given by:</a:t>
                </a:r>
              </a:p>
              <a:p>
                <a:pPr marL="0" indent="0">
                  <a:buNone/>
                </a:pPr>
                <a14:m>
                  <m:oMathPara xmlns:m="http://schemas.openxmlformats.org/officeDocument/2006/math">
                    <m:oMathParaPr>
                      <m:jc m:val="centerGroup"/>
                    </m:oMathParaPr>
                    <m:oMath xmlns:m="http://schemas.openxmlformats.org/officeDocument/2006/math">
                      <m:r>
                        <a:rPr lang="nl-NL" b="0" i="1" smtClean="0">
                          <a:latin typeface="Cambria Math" panose="02040503050406030204" pitchFamily="18" charset="0"/>
                        </a:rPr>
                        <m:t>𝜆</m:t>
                      </m:r>
                      <m:r>
                        <a:rPr lang="nl-NL" b="0" i="1" smtClean="0">
                          <a:latin typeface="Cambria Math" panose="02040503050406030204" pitchFamily="18" charset="0"/>
                        </a:rPr>
                        <m:t>=</m:t>
                      </m:r>
                      <m:f>
                        <m:fPr>
                          <m:ctrlPr>
                            <a:rPr lang="nl-NL" b="0" i="1" smtClean="0">
                              <a:latin typeface="Cambria Math" panose="02040503050406030204" pitchFamily="18" charset="0"/>
                            </a:rPr>
                          </m:ctrlPr>
                        </m:fPr>
                        <m:num>
                          <m:r>
                            <a:rPr lang="nl-NL" b="0" i="1" smtClean="0">
                              <a:latin typeface="Cambria Math" panose="02040503050406030204" pitchFamily="18" charset="0"/>
                            </a:rPr>
                            <m:t>2</m:t>
                          </m:r>
                          <m:r>
                            <a:rPr lang="nl-NL" b="0" i="1" smtClean="0">
                              <a:latin typeface="Cambria Math" panose="02040503050406030204" pitchFamily="18" charset="0"/>
                            </a:rPr>
                            <m:t>𝜋</m:t>
                          </m:r>
                        </m:num>
                        <m:den>
                          <m:r>
                            <a:rPr lang="nl-NL" b="0" i="1" smtClean="0">
                              <a:latin typeface="Cambria Math" panose="02040503050406030204" pitchFamily="18" charset="0"/>
                            </a:rPr>
                            <m:t>𝑃</m:t>
                          </m:r>
                        </m:den>
                      </m:f>
                    </m:oMath>
                  </m:oMathPara>
                </a14:m>
                <a:endParaRPr lang="en-US" dirty="0"/>
              </a:p>
              <a:p>
                <a:pPr marL="0" indent="0">
                  <a:buNone/>
                </a:pPr>
                <a:endParaRPr lang="en-US" dirty="0"/>
              </a:p>
              <a:p>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E94D3BB0-6093-BFBA-E7A2-3F608EFC34ED}"/>
                  </a:ext>
                </a:extLst>
              </p:cNvPr>
              <p:cNvSpPr>
                <a:spLocks noGrp="1" noRot="1" noChangeAspect="1" noMove="1" noResize="1" noEditPoints="1" noAdjustHandles="1" noChangeArrowheads="1" noChangeShapeType="1" noTextEdit="1"/>
              </p:cNvSpPr>
              <p:nvPr>
                <p:ph sz="half" idx="2"/>
              </p:nvPr>
            </p:nvSpPr>
            <p:spPr>
              <a:blipFill>
                <a:blip r:embed="rId2"/>
                <a:stretch>
                  <a:fillRect l="-580" t="-1453" b="-6395"/>
                </a:stretch>
              </a:blipFill>
            </p:spPr>
            <p:txBody>
              <a:bodyPr/>
              <a:lstStyle/>
              <a:p>
                <a:r>
                  <a:rPr lang="en-US">
                    <a:noFill/>
                  </a:rPr>
                  <a:t> </a:t>
                </a:r>
              </a:p>
            </p:txBody>
          </p:sp>
        </mc:Fallback>
      </mc:AlternateContent>
    </p:spTree>
    <p:extLst>
      <p:ext uri="{BB962C8B-B14F-4D97-AF65-F5344CB8AC3E}">
        <p14:creationId xmlns:p14="http://schemas.microsoft.com/office/powerpoint/2010/main" val="779241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0252B-49EE-7A9B-2DC9-30C0E70D7D01}"/>
              </a:ext>
            </a:extLst>
          </p:cNvPr>
          <p:cNvSpPr>
            <a:spLocks noGrp="1"/>
          </p:cNvSpPr>
          <p:nvPr>
            <p:ph type="title"/>
          </p:nvPr>
        </p:nvSpPr>
        <p:spPr/>
        <p:txBody>
          <a:bodyPr/>
          <a:lstStyle/>
          <a:p>
            <a:r>
              <a:rPr lang="en-US" dirty="0"/>
              <a:t>Business cycle tracer</a:t>
            </a:r>
          </a:p>
        </p:txBody>
      </p:sp>
      <p:sp>
        <p:nvSpPr>
          <p:cNvPr id="3" name="Slide Number Placeholder 2">
            <a:extLst>
              <a:ext uri="{FF2B5EF4-FFF2-40B4-BE49-F238E27FC236}">
                <a16:creationId xmlns:a16="http://schemas.microsoft.com/office/drawing/2014/main" id="{22CB381E-836D-B51C-480F-AA4F6D17D1A1}"/>
              </a:ext>
            </a:extLst>
          </p:cNvPr>
          <p:cNvSpPr>
            <a:spLocks noGrp="1"/>
          </p:cNvSpPr>
          <p:nvPr>
            <p:ph type="sldNum" idx="12"/>
          </p:nvPr>
        </p:nvSpPr>
        <p:spPr/>
        <p:txBody>
          <a:bodyPr/>
          <a:lstStyle/>
          <a:p>
            <a:fld id="{00000000-1234-1234-1234-123412341234}" type="slidenum">
              <a:rPr lang="en-GB" smtClean="0"/>
              <a:pPr/>
              <a:t>26</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1D5EA7D-6A00-CE3F-A1DB-800F7B82A46B}"/>
                  </a:ext>
                </a:extLst>
              </p:cNvPr>
              <p:cNvSpPr>
                <a:spLocks noGrp="1"/>
              </p:cNvSpPr>
              <p:nvPr>
                <p:ph sz="half" idx="2"/>
              </p:nvPr>
            </p:nvSpPr>
            <p:spPr/>
            <p:txBody>
              <a:bodyPr/>
              <a:lstStyle/>
              <a:p>
                <a:pPr marL="0" indent="0">
                  <a:buNone/>
                </a:pPr>
                <a:r>
                  <a:rPr lang="en-US" dirty="0">
                    <a:hlinkClick r:id="rId2"/>
                  </a:rPr>
                  <a:t>Business cycle | CBS</a:t>
                </a:r>
                <a:endParaRPr lang="en-US" dirty="0"/>
              </a:p>
              <a:p>
                <a:pPr marL="0" indent="0">
                  <a:buNone/>
                </a:pPr>
                <a:endParaRPr lang="en-US" dirty="0"/>
              </a:p>
              <a:p>
                <a:pPr marL="0" indent="0">
                  <a:buNone/>
                </a:pPr>
                <a:r>
                  <a:rPr lang="en-US" dirty="0"/>
                  <a:t>How is the business cycle trace made:</a:t>
                </a:r>
              </a:p>
              <a:p>
                <a:pPr marL="0" indent="0">
                  <a:buNone/>
                </a:pPr>
                <a:endParaRPr lang="en-US" dirty="0"/>
              </a:p>
              <a:p>
                <a:pPr marL="457200" indent="-457200">
                  <a:buFont typeface="+mj-lt"/>
                  <a:buAutoNum type="arabicPeriod"/>
                </a:pPr>
                <a:r>
                  <a:rPr lang="en-US" dirty="0"/>
                  <a:t>Seasonally adjusted and smoothed data of selected indicators is used as input</a:t>
                </a:r>
              </a:p>
              <a:p>
                <a:pPr marL="457200" indent="-457200">
                  <a:buFont typeface="+mj-lt"/>
                  <a:buAutoNum type="arabicPeriod"/>
                </a:pPr>
                <a:r>
                  <a:rPr lang="en-US" dirty="0"/>
                  <a:t>In extreme circumstances (such as covid) manual adjustments are made to account for large shocks</a:t>
                </a:r>
              </a:p>
              <a:p>
                <a:pPr marL="457200" indent="-457200">
                  <a:buFont typeface="+mj-lt"/>
                  <a:buAutoNum type="arabicPeriod"/>
                </a:pPr>
                <a:r>
                  <a:rPr lang="en-US" dirty="0"/>
                  <a:t>HP-filter is used to determine trend and cycle (</a:t>
                </a:r>
                <a14:m>
                  <m:oMath xmlns:m="http://schemas.openxmlformats.org/officeDocument/2006/math">
                    <m:r>
                      <a:rPr lang="nl-NL" b="0" i="1" smtClean="0">
                        <a:latin typeface="Cambria Math" panose="02040503050406030204" pitchFamily="18" charset="0"/>
                      </a:rPr>
                      <m:t>𝜆</m:t>
                    </m:r>
                  </m:oMath>
                </a14:m>
                <a:r>
                  <a:rPr lang="en-US" dirty="0"/>
                  <a:t> is specified per indicator)</a:t>
                </a:r>
              </a:p>
              <a:p>
                <a:pPr marL="457200" indent="-457200">
                  <a:buFont typeface="+mj-lt"/>
                  <a:buAutoNum type="arabicPeriod"/>
                </a:pPr>
                <a:r>
                  <a:rPr lang="en-US" dirty="0"/>
                  <a:t>The trend an cycle of the various indicators are normalized by subtracting mean and  dividing by the SD</a:t>
                </a:r>
              </a:p>
              <a:p>
                <a:pPr marL="457200" indent="-457200">
                  <a:buFont typeface="+mj-lt"/>
                  <a:buAutoNum type="arabicPeriod"/>
                </a:pPr>
                <a:r>
                  <a:rPr lang="en-US" dirty="0"/>
                  <a:t>Indicators area visualized and average of indicators is calculated</a:t>
                </a:r>
              </a:p>
              <a:p>
                <a:pPr marL="457200" indent="-457200">
                  <a:buFont typeface="+mj-lt"/>
                  <a:buAutoNum type="arabicPeriod"/>
                </a:pPr>
                <a:endParaRPr lang="en-US" dirty="0"/>
              </a:p>
              <a:p>
                <a:pPr marL="342000" lvl="1" indent="0">
                  <a:buNone/>
                </a:pPr>
                <a:endParaRPr lang="en-US" dirty="0"/>
              </a:p>
              <a:p>
                <a:pPr marL="0" indent="0">
                  <a:buNone/>
                </a:pPr>
                <a:endParaRPr lang="en-US"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D1D5EA7D-6A00-CE3F-A1DB-800F7B82A46B}"/>
                  </a:ext>
                </a:extLst>
              </p:cNvPr>
              <p:cNvSpPr>
                <a:spLocks noGrp="1" noRot="1" noChangeAspect="1" noMove="1" noResize="1" noEditPoints="1" noAdjustHandles="1" noChangeArrowheads="1" noChangeShapeType="1" noTextEdit="1"/>
              </p:cNvSpPr>
              <p:nvPr>
                <p:ph sz="half" idx="2"/>
              </p:nvPr>
            </p:nvSpPr>
            <p:spPr>
              <a:blipFill>
                <a:blip r:embed="rId3"/>
                <a:stretch>
                  <a:fillRect l="-754" t="-1453" r="-116" b="-1599"/>
                </a:stretch>
              </a:blipFill>
            </p:spPr>
            <p:txBody>
              <a:bodyPr/>
              <a:lstStyle/>
              <a:p>
                <a:r>
                  <a:rPr lang="en-US">
                    <a:noFill/>
                  </a:rPr>
                  <a:t> </a:t>
                </a:r>
              </a:p>
            </p:txBody>
          </p:sp>
        </mc:Fallback>
      </mc:AlternateContent>
    </p:spTree>
    <p:extLst>
      <p:ext uri="{BB962C8B-B14F-4D97-AF65-F5344CB8AC3E}">
        <p14:creationId xmlns:p14="http://schemas.microsoft.com/office/powerpoint/2010/main" val="2812523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0252B-49EE-7A9B-2DC9-30C0E70D7D01}"/>
              </a:ext>
            </a:extLst>
          </p:cNvPr>
          <p:cNvSpPr>
            <a:spLocks noGrp="1"/>
          </p:cNvSpPr>
          <p:nvPr>
            <p:ph type="title"/>
          </p:nvPr>
        </p:nvSpPr>
        <p:spPr/>
        <p:txBody>
          <a:bodyPr/>
          <a:lstStyle/>
          <a:p>
            <a:r>
              <a:rPr lang="en-US" dirty="0"/>
              <a:t>Business cycle tracer – Discussion </a:t>
            </a:r>
          </a:p>
        </p:txBody>
      </p:sp>
      <p:sp>
        <p:nvSpPr>
          <p:cNvPr id="3" name="Slide Number Placeholder 2">
            <a:extLst>
              <a:ext uri="{FF2B5EF4-FFF2-40B4-BE49-F238E27FC236}">
                <a16:creationId xmlns:a16="http://schemas.microsoft.com/office/drawing/2014/main" id="{22CB381E-836D-B51C-480F-AA4F6D17D1A1}"/>
              </a:ext>
            </a:extLst>
          </p:cNvPr>
          <p:cNvSpPr>
            <a:spLocks noGrp="1"/>
          </p:cNvSpPr>
          <p:nvPr>
            <p:ph type="sldNum" idx="12"/>
          </p:nvPr>
        </p:nvSpPr>
        <p:spPr/>
        <p:txBody>
          <a:bodyPr/>
          <a:lstStyle/>
          <a:p>
            <a:fld id="{00000000-1234-1234-1234-123412341234}" type="slidenum">
              <a:rPr lang="en-GB" smtClean="0"/>
              <a:pPr/>
              <a:t>27</a:t>
            </a:fld>
            <a:endParaRPr lang="en-GB"/>
          </a:p>
        </p:txBody>
      </p:sp>
      <p:sp>
        <p:nvSpPr>
          <p:cNvPr id="4" name="Content Placeholder 3">
            <a:extLst>
              <a:ext uri="{FF2B5EF4-FFF2-40B4-BE49-F238E27FC236}">
                <a16:creationId xmlns:a16="http://schemas.microsoft.com/office/drawing/2014/main" id="{D1D5EA7D-6A00-CE3F-A1DB-800F7B82A46B}"/>
              </a:ext>
            </a:extLst>
          </p:cNvPr>
          <p:cNvSpPr>
            <a:spLocks noGrp="1"/>
          </p:cNvSpPr>
          <p:nvPr>
            <p:ph sz="half" idx="2"/>
          </p:nvPr>
        </p:nvSpPr>
        <p:spPr/>
        <p:txBody>
          <a:bodyPr/>
          <a:lstStyle/>
          <a:p>
            <a:pPr marL="0" indent="0">
              <a:buNone/>
            </a:pPr>
            <a:r>
              <a:rPr lang="en-US" dirty="0"/>
              <a:t>Make group of 2 or 3 and discuss the following questions:</a:t>
            </a:r>
          </a:p>
          <a:p>
            <a:endParaRPr lang="en-US" dirty="0"/>
          </a:p>
          <a:p>
            <a:r>
              <a:rPr lang="en-US" i="1" dirty="0"/>
              <a:t>Do you think a business cycle tracer is a good tool to determine the state of the economy?</a:t>
            </a:r>
          </a:p>
          <a:p>
            <a:endParaRPr lang="en-US" i="1" dirty="0"/>
          </a:p>
          <a:p>
            <a:r>
              <a:rPr lang="en-US" i="1" dirty="0"/>
              <a:t>What are potential downsides from using the business cycle tracer?</a:t>
            </a:r>
          </a:p>
          <a:p>
            <a:endParaRPr lang="en-US" i="1" dirty="0"/>
          </a:p>
          <a:p>
            <a:r>
              <a:rPr lang="en-US" i="1" dirty="0"/>
              <a:t>What would be good criteria for indicator selection?</a:t>
            </a:r>
          </a:p>
          <a:p>
            <a:endParaRPr lang="en-US" i="1" dirty="0"/>
          </a:p>
          <a:p>
            <a:r>
              <a:rPr lang="en-US" i="1" dirty="0"/>
              <a:t>What do you think of the choice for the HP-filter?</a:t>
            </a:r>
          </a:p>
          <a:p>
            <a:pPr marL="342000" lvl="1"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847807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4BA4C-02F9-78EA-EE7B-AFCC6434C107}"/>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DA6E62D7-0E3E-1A7F-4240-77AA6032355D}"/>
              </a:ext>
            </a:extLst>
          </p:cNvPr>
          <p:cNvSpPr>
            <a:spLocks noGrp="1"/>
          </p:cNvSpPr>
          <p:nvPr>
            <p:ph type="sldNum" idx="12"/>
          </p:nvPr>
        </p:nvSpPr>
        <p:spPr/>
        <p:txBody>
          <a:bodyPr/>
          <a:lstStyle/>
          <a:p>
            <a:fld id="{00000000-1234-1234-1234-123412341234}" type="slidenum">
              <a:rPr lang="en-GB" smtClean="0"/>
              <a:pPr/>
              <a:t>28</a:t>
            </a:fld>
            <a:endParaRPr lang="en-GB"/>
          </a:p>
        </p:txBody>
      </p:sp>
      <p:sp>
        <p:nvSpPr>
          <p:cNvPr id="4" name="Content Placeholder 3">
            <a:extLst>
              <a:ext uri="{FF2B5EF4-FFF2-40B4-BE49-F238E27FC236}">
                <a16:creationId xmlns:a16="http://schemas.microsoft.com/office/drawing/2014/main" id="{C06A3FED-556F-3BC1-ACE7-B12FA757D307}"/>
              </a:ext>
            </a:extLst>
          </p:cNvPr>
          <p:cNvSpPr>
            <a:spLocks noGrp="1"/>
          </p:cNvSpPr>
          <p:nvPr>
            <p:ph sz="half" idx="2"/>
          </p:nvPr>
        </p:nvSpPr>
        <p:spPr/>
        <p:txBody>
          <a:bodyPr/>
          <a:lstStyle/>
          <a:p>
            <a:pPr marL="0" indent="0">
              <a:buNone/>
            </a:pPr>
            <a:r>
              <a:rPr lang="en-US" dirty="0"/>
              <a:t>Harvey, A. C. (1989). </a:t>
            </a:r>
            <a:r>
              <a:rPr lang="en-US" i="1" dirty="0"/>
              <a:t>Forecasting, structural time series models and the Kalman filter</a:t>
            </a:r>
            <a:r>
              <a:rPr lang="en-US" dirty="0"/>
              <a:t>. Cambridge University Press.</a:t>
            </a:r>
          </a:p>
          <a:p>
            <a:pPr marL="0" indent="0">
              <a:buNone/>
            </a:pPr>
            <a:r>
              <a:rPr lang="en-US" dirty="0"/>
              <a:t>Burns, A. F., &amp; Mitchell, W. C. (1946). </a:t>
            </a:r>
            <a:r>
              <a:rPr lang="en-US" i="1" dirty="0"/>
              <a:t>Measuring business cycles</a:t>
            </a:r>
            <a:r>
              <a:rPr lang="en-US" dirty="0"/>
              <a:t>. National Bureau of Economic Research.</a:t>
            </a:r>
          </a:p>
          <a:p>
            <a:pPr marL="0" indent="0">
              <a:buNone/>
            </a:pPr>
            <a:r>
              <a:rPr lang="en-US" dirty="0" err="1"/>
              <a:t>Hodrick</a:t>
            </a:r>
            <a:r>
              <a:rPr lang="en-US" dirty="0"/>
              <a:t>, R. J., &amp; Prescott, E. C. (1997). </a:t>
            </a:r>
            <a:r>
              <a:rPr lang="en-US" i="1" dirty="0"/>
              <a:t>Postwar U.S. business cycles: An empirical investigation</a:t>
            </a:r>
            <a:r>
              <a:rPr lang="en-US" dirty="0"/>
              <a:t>. Journal of Money, Credit and Banking, 29(1), 1–16.</a:t>
            </a:r>
          </a:p>
          <a:p>
            <a:pPr marL="0" indent="0">
              <a:buNone/>
            </a:pPr>
            <a:r>
              <a:rPr lang="en-US" dirty="0"/>
              <a:t>Hamilton, J. D. (2018). Why you should never use the </a:t>
            </a:r>
            <a:r>
              <a:rPr lang="en-US" dirty="0" err="1"/>
              <a:t>Hodrick</a:t>
            </a:r>
            <a:r>
              <a:rPr lang="en-US" dirty="0"/>
              <a:t>-Prescott filter. </a:t>
            </a:r>
            <a:r>
              <a:rPr lang="en-US" i="1" dirty="0"/>
              <a:t>The Review of Economics and Statistics, 100</a:t>
            </a:r>
            <a:r>
              <a:rPr lang="en-US" dirty="0"/>
              <a:t>(5), 831–843.</a:t>
            </a:r>
          </a:p>
          <a:p>
            <a:pPr marL="0" indent="0">
              <a:buNone/>
            </a:pPr>
            <a:r>
              <a:rPr lang="en-US" dirty="0"/>
              <a:t>Mohr, M. F. (2005). </a:t>
            </a:r>
            <a:r>
              <a:rPr lang="en-US" i="1" dirty="0"/>
              <a:t>A trend-cycle(-season) filter</a:t>
            </a:r>
            <a:r>
              <a:rPr lang="en-US" dirty="0"/>
              <a:t>. European Central Bank Working Paper Series No. 499.</a:t>
            </a:r>
          </a:p>
          <a:p>
            <a:pPr marL="0" indent="0">
              <a:buNone/>
            </a:pPr>
            <a:r>
              <a:rPr lang="en-US" dirty="0"/>
              <a:t>Hubbard, A. (2024). </a:t>
            </a:r>
            <a:r>
              <a:rPr lang="en-US" i="1" dirty="0" err="1"/>
              <a:t>AutoSTSM</a:t>
            </a:r>
            <a:r>
              <a:rPr lang="en-US" i="1" dirty="0"/>
              <a:t> vignette: Automatic structural time series modelling in R</a:t>
            </a:r>
            <a:r>
              <a:rPr lang="en-US" dirty="0"/>
              <a:t>. CRAN.</a:t>
            </a:r>
          </a:p>
        </p:txBody>
      </p:sp>
    </p:spTree>
    <p:extLst>
      <p:ext uri="{BB962C8B-B14F-4D97-AF65-F5344CB8AC3E}">
        <p14:creationId xmlns:p14="http://schemas.microsoft.com/office/powerpoint/2010/main" val="2349087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9CC45C-6ECF-1414-149F-897E6C17440A}"/>
              </a:ext>
            </a:extLst>
          </p:cNvPr>
          <p:cNvSpPr>
            <a:spLocks noGrp="1"/>
          </p:cNvSpPr>
          <p:nvPr>
            <p:ph type="body" idx="1"/>
          </p:nvPr>
        </p:nvSpPr>
        <p:spPr/>
        <p:txBody>
          <a:bodyPr/>
          <a:lstStyle/>
          <a:p>
            <a:endParaRPr lang="en-IE"/>
          </a:p>
        </p:txBody>
      </p:sp>
      <p:sp>
        <p:nvSpPr>
          <p:cNvPr id="3" name="Title 2">
            <a:extLst>
              <a:ext uri="{FF2B5EF4-FFF2-40B4-BE49-F238E27FC236}">
                <a16:creationId xmlns:a16="http://schemas.microsoft.com/office/drawing/2014/main" id="{B0CA729C-10AD-F90E-DB78-5A4E0B79E3B8}"/>
              </a:ext>
            </a:extLst>
          </p:cNvPr>
          <p:cNvSpPr>
            <a:spLocks noGrp="1"/>
          </p:cNvSpPr>
          <p:nvPr>
            <p:ph type="title"/>
          </p:nvPr>
        </p:nvSpPr>
        <p:spPr/>
        <p:txBody>
          <a:bodyPr/>
          <a:lstStyle/>
          <a:p>
            <a:endParaRPr lang="en-IE"/>
          </a:p>
        </p:txBody>
      </p:sp>
      <p:sp>
        <p:nvSpPr>
          <p:cNvPr id="4" name="Slide Number Placeholder 3">
            <a:extLst>
              <a:ext uri="{FF2B5EF4-FFF2-40B4-BE49-F238E27FC236}">
                <a16:creationId xmlns:a16="http://schemas.microsoft.com/office/drawing/2014/main" id="{66F54865-23C6-396F-8BC1-7B48F2EAE335}"/>
              </a:ext>
            </a:extLst>
          </p:cNvPr>
          <p:cNvSpPr>
            <a:spLocks noGrp="1"/>
          </p:cNvSpPr>
          <p:nvPr>
            <p:ph type="sldNum" idx="12"/>
          </p:nvPr>
        </p:nvSpPr>
        <p:spPr/>
        <p:txBody>
          <a:bodyPr/>
          <a:lstStyle/>
          <a:p>
            <a:fld id="{00000000-1234-1234-1234-123412341234}" type="slidenum">
              <a:rPr lang="en-GB" smtClean="0"/>
              <a:pPr/>
              <a:t>29</a:t>
            </a:fld>
            <a:endParaRPr lang="en-GB"/>
          </a:p>
        </p:txBody>
      </p:sp>
    </p:spTree>
    <p:extLst>
      <p:ext uri="{BB962C8B-B14F-4D97-AF65-F5344CB8AC3E}">
        <p14:creationId xmlns:p14="http://schemas.microsoft.com/office/powerpoint/2010/main" val="11788438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3.3511"/>
  <p:tag name="SLIDO_PRESENTATION_ID" val="00000000-0000-0000-0000-000000000000"/>
  <p:tag name="SLIDO_EVENT_UUID" val="d5f05ec8-edda-47a7-a42e-90bbfcebfc5f"/>
  <p:tag name="SLIDO_EVENT_SECTION_UUID" val="71a6711e-5d0b-4e9f-9223-093e31161b77"/>
</p:tagLst>
</file>

<file path=ppt/theme/theme1.xml><?xml version="1.0" encoding="utf-8"?>
<a:theme xmlns:a="http://schemas.openxmlformats.org/drawingml/2006/main" name="ESTAT Theme">
  <a:themeElements>
    <a:clrScheme name="EC colour scheme">
      <a:dk1>
        <a:srgbClr val="4D4D4D"/>
      </a:dk1>
      <a:lt1>
        <a:srgbClr val="FFFFFF"/>
      </a:lt1>
      <a:dk2>
        <a:srgbClr val="034EA2"/>
      </a:dk2>
      <a:lt2>
        <a:srgbClr val="D3E8F9"/>
      </a:lt2>
      <a:accent1>
        <a:srgbClr val="1E858B"/>
      </a:accent1>
      <a:accent2>
        <a:srgbClr val="4BC5DE"/>
      </a:accent2>
      <a:accent3>
        <a:srgbClr val="1EC08A"/>
      </a:accent3>
      <a:accent4>
        <a:srgbClr val="ED8D2F"/>
      </a:accent4>
      <a:accent5>
        <a:srgbClr val="FFC000"/>
      </a:accent5>
      <a:accent6>
        <a:srgbClr val="E76C53"/>
      </a:accent6>
      <a:hlink>
        <a:srgbClr val="0563C1"/>
      </a:hlink>
      <a:folHlink>
        <a:srgbClr val="243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STAT PPT Template.potx" id="{44100892-7769-4A20-A750-3553371E0F2E}" vid="{905E760A-09FE-4DBA-89B6-DF3A5D6D095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6AA5C57F8EADE4E9CD6BB064C0C3195" ma:contentTypeVersion="16" ma:contentTypeDescription="Create a new document." ma:contentTypeScope="" ma:versionID="bb51c19a58f458ddcddd050a07659236">
  <xsd:schema xmlns:xsd="http://www.w3.org/2001/XMLSchema" xmlns:xs="http://www.w3.org/2001/XMLSchema" xmlns:p="http://schemas.microsoft.com/office/2006/metadata/properties" xmlns:ns2="0e422b70-e85d-4377-8ee0-b6227433d381" xmlns:ns3="199f642e-5af9-486c-ac06-f366742ef41a" targetNamespace="http://schemas.microsoft.com/office/2006/metadata/properties" ma:root="true" ma:fieldsID="0ee7a3bac0352a48a43420936abd968a" ns2:_="" ns3:_="">
    <xsd:import namespace="0e422b70-e85d-4377-8ee0-b6227433d381"/>
    <xsd:import namespace="199f642e-5af9-486c-ac06-f366742ef41a"/>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DateTaken"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422b70-e85d-4377-8ee0-b6227433d38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22b2fad6-9d2c-441c-a321-3f5f1e9bd928"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9f642e-5af9-486c-ac06-f366742ef41a"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2defd33-e0ca-4991-a4bb-5bf1ac0b491c}" ma:internalName="TaxCatchAll" ma:showField="CatchAllData" ma:web="199f642e-5af9-486c-ac06-f366742ef41a">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e422b70-e85d-4377-8ee0-b6227433d381">
      <Terms xmlns="http://schemas.microsoft.com/office/infopath/2007/PartnerControls"/>
    </lcf76f155ced4ddcb4097134ff3c332f>
    <TaxCatchAll xmlns="199f642e-5af9-486c-ac06-f366742ef41a"/>
  </documentManagement>
</p:properties>
</file>

<file path=customXml/itemProps1.xml><?xml version="1.0" encoding="utf-8"?>
<ds:datastoreItem xmlns:ds="http://schemas.openxmlformats.org/officeDocument/2006/customXml" ds:itemID="{67DD9E9F-9EEB-4105-B29B-819486C2855A}">
  <ds:schemaRefs>
    <ds:schemaRef ds:uri="http://schemas.microsoft.com/sharepoint/v3/contenttype/forms"/>
  </ds:schemaRefs>
</ds:datastoreItem>
</file>

<file path=customXml/itemProps2.xml><?xml version="1.0" encoding="utf-8"?>
<ds:datastoreItem xmlns:ds="http://schemas.openxmlformats.org/officeDocument/2006/customXml" ds:itemID="{04B464EA-1576-49DD-9675-1E3399D4D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422b70-e85d-4377-8ee0-b6227433d381"/>
    <ds:schemaRef ds:uri="199f642e-5af9-486c-ac06-f366742ef4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D6C293B-B8B4-4284-A17E-9F9E4C32B25A}">
  <ds:schemaRefs>
    <ds:schemaRef ds:uri="http://schemas.microsoft.com/office/2006/documentManagement/types"/>
    <ds:schemaRef ds:uri="http://purl.org/dc/elements/1.1/"/>
    <ds:schemaRef ds:uri="http://purl.org/dc/terms/"/>
    <ds:schemaRef ds:uri="http://purl.org/dc/dcmitype/"/>
    <ds:schemaRef ds:uri="0e422b70-e85d-4377-8ee0-b6227433d381"/>
    <ds:schemaRef ds:uri="http://schemas.microsoft.com/office/infopath/2007/PartnerControls"/>
    <ds:schemaRef ds:uri="199f642e-5af9-486c-ac06-f366742ef41a"/>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ESTAT PPT Template</Template>
  <TotalTime>1062</TotalTime>
  <Words>1760</Words>
  <Application>Microsoft Office PowerPoint</Application>
  <PresentationFormat>Widescreen</PresentationFormat>
  <Paragraphs>279</Paragraphs>
  <Slides>29</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Cambria Math</vt:lpstr>
      <vt:lpstr>Wingdings</vt:lpstr>
      <vt:lpstr>ESTAT Theme</vt:lpstr>
      <vt:lpstr>Time series and forecasting: Methods for Trend–Cycle Decomposition</vt:lpstr>
      <vt:lpstr>Table of contents</vt:lpstr>
      <vt:lpstr>Introduction</vt:lpstr>
      <vt:lpstr>Decomposition model</vt:lpstr>
      <vt:lpstr>What is a business cycle?</vt:lpstr>
      <vt:lpstr>HP-filter - Introduction</vt:lpstr>
      <vt:lpstr>HP-filter – Optimization problem</vt:lpstr>
      <vt:lpstr>HP-filter - Cycle</vt:lpstr>
      <vt:lpstr>HP-filter - example</vt:lpstr>
      <vt:lpstr>HP-filter - example</vt:lpstr>
      <vt:lpstr>HP-filter - example</vt:lpstr>
      <vt:lpstr>HP-filter -- exercise</vt:lpstr>
      <vt:lpstr>HP-filter - Parameter λ</vt:lpstr>
      <vt:lpstr>HP-filter – Parameter λ</vt:lpstr>
      <vt:lpstr>HP-filter – Parameter λ</vt:lpstr>
      <vt:lpstr>HP-filter – Parameter λ</vt:lpstr>
      <vt:lpstr>H-filter - Introduction</vt:lpstr>
      <vt:lpstr>H-filter - Model</vt:lpstr>
      <vt:lpstr>H-filter - Explanation</vt:lpstr>
      <vt:lpstr>H-filter - example</vt:lpstr>
      <vt:lpstr>STM - Introduction</vt:lpstr>
      <vt:lpstr>STM – General model</vt:lpstr>
      <vt:lpstr>STM – Estimation</vt:lpstr>
      <vt:lpstr>STM – Example model trend</vt:lpstr>
      <vt:lpstr>STM – Example model cycle</vt:lpstr>
      <vt:lpstr>Business cycle tracer</vt:lpstr>
      <vt:lpstr>Business cycle tracer – Discussion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title title title title title title title title title title title title</dc:title>
  <dc:creator>HANZEVACKI Andrej (ESTAT)</dc:creator>
  <cp:lastModifiedBy>Tieleman, S.B. (Sebastiaan)</cp:lastModifiedBy>
  <cp:revision>103</cp:revision>
  <dcterms:created xsi:type="dcterms:W3CDTF">2024-11-22T11:11:00Z</dcterms:created>
  <dcterms:modified xsi:type="dcterms:W3CDTF">2026-08-19T07:30:41Z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0x010100E6AA5C57F8EADE4E9CD6BB064C0C3195</vt:lpwstr>
  </property>
  <property fmtid="{D5CDD505-2E9C-101B-9397-08002B2CF9AE}" pid="3" name="MSIP_Label_6bd9ddd1-4d20-43f6-abfa-fc3c07406f94_Enabled">
    <vt:lpwstr>true</vt:lpwstr>
  </property>
  <property fmtid="{D5CDD505-2E9C-101B-9397-08002B2CF9AE}" pid="4" name="MSIP_Label_6bd9ddd1-4d20-43f6-abfa-fc3c07406f94_SetDate">
    <vt:lpwstr>2023-09-26T10:27:54Z</vt:lpwstr>
  </property>
  <property fmtid="{D5CDD505-2E9C-101B-9397-08002B2CF9AE}" pid="5" name="MSIP_Label_6bd9ddd1-4d20-43f6-abfa-fc3c07406f94_Method">
    <vt:lpwstr>Standard</vt:lpwstr>
  </property>
  <property fmtid="{D5CDD505-2E9C-101B-9397-08002B2CF9AE}" pid="6" name="MSIP_Label_6bd9ddd1-4d20-43f6-abfa-fc3c07406f94_Name">
    <vt:lpwstr>Commission Use</vt:lpwstr>
  </property>
  <property fmtid="{D5CDD505-2E9C-101B-9397-08002B2CF9AE}" pid="7" name="MSIP_Label_6bd9ddd1-4d20-43f6-abfa-fc3c07406f94_SiteId">
    <vt:lpwstr>b24c8b06-522c-46fe-9080-70926f8dddb1</vt:lpwstr>
  </property>
  <property fmtid="{D5CDD505-2E9C-101B-9397-08002B2CF9AE}" pid="8" name="MSIP_Label_6bd9ddd1-4d20-43f6-abfa-fc3c07406f94_ActionId">
    <vt:lpwstr>5f9041e0-26c3-439f-9557-91c751557f9e</vt:lpwstr>
  </property>
  <property fmtid="{D5CDD505-2E9C-101B-9397-08002B2CF9AE}" pid="9" name="MSIP_Label_6bd9ddd1-4d20-43f6-abfa-fc3c07406f94_ContentBits">
    <vt:lpwstr>0</vt:lpwstr>
  </property>
  <property fmtid="{D5CDD505-2E9C-101B-9397-08002B2CF9AE}" pid="10" name="SlidoAppVersion">
    <vt:lpwstr>1.5.3.3511</vt:lpwstr>
  </property>
  <property fmtid="{D5CDD505-2E9C-101B-9397-08002B2CF9AE}" pid="11" name="MediaServiceImageTags">
    <vt:lpwstr/>
  </property>
</Properties>
</file>