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256" r:id="rId5"/>
    <p:sldId id="257" r:id="rId6"/>
    <p:sldId id="262" r:id="rId7"/>
    <p:sldId id="274" r:id="rId8"/>
    <p:sldId id="273" r:id="rId9"/>
    <p:sldId id="264" r:id="rId10"/>
    <p:sldId id="270" r:id="rId11"/>
    <p:sldId id="271" r:id="rId12"/>
    <p:sldId id="275" r:id="rId13"/>
    <p:sldId id="266" r:id="rId14"/>
    <p:sldId id="297" r:id="rId15"/>
    <p:sldId id="267" r:id="rId16"/>
    <p:sldId id="269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80" r:id="rId28"/>
    <p:sldId id="278" r:id="rId29"/>
    <p:sldId id="281" r:id="rId30"/>
    <p:sldId id="282" r:id="rId31"/>
    <p:sldId id="283" r:id="rId32"/>
    <p:sldId id="284" r:id="rId33"/>
    <p:sldId id="285" r:id="rId34"/>
    <p:sldId id="261" r:id="rId35"/>
  </p:sldIdLst>
  <p:sldSz cx="12192000" cy="6858000"/>
  <p:notesSz cx="6858000" cy="9144000"/>
  <p:custDataLst>
    <p:tags r:id="rId38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9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9" roundtripDataSignature="AMtx7mh3YP3xexYcFoahXa2ehi0H5V4Z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4A7"/>
    <a:srgbClr val="101010"/>
    <a:srgbClr val="F4F4F4"/>
    <a:srgbClr val="104F99"/>
    <a:srgbClr val="0E47CB"/>
    <a:srgbClr val="003180"/>
    <a:srgbClr val="0A2744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AA4A9A-08D4-41EC-A222-5D5926BFFED6}" v="2" dt="2025-07-04T13:46:36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5" autoAdjust="0"/>
    <p:restoredTop sz="81100" autoAdjust="0"/>
  </p:normalViewPr>
  <p:slideViewPr>
    <p:cSldViewPr snapToGrid="0">
      <p:cViewPr varScale="1">
        <p:scale>
          <a:sx n="75" d="100"/>
          <a:sy n="75" d="100"/>
        </p:scale>
        <p:origin x="54" y="60"/>
      </p:cViewPr>
      <p:guideLst>
        <p:guide orient="horz" pos="209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293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61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64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gs" Target="tags/tag1.xml"/><Relationship Id="rId59" Type="http://customschemas.google.com/relationships/presentationmetadata" Target="meta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6D6800-DB9C-EBAC-83AC-5F9D7E2C8B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D1430-DB1F-C50E-E2CC-369D36DF27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B8CE-488C-4A7E-87F2-3AF6127C51C1}" type="datetimeFigureOut">
              <a:rPr lang="en-IE" smtClean="0"/>
              <a:t>02/10/2026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B46C1-E31F-1BE5-CF29-FC2D8EA3E2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38F49-91A1-E3F0-770A-4578CF8E58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F2F4C-E206-483F-A4B8-E82471BA527C}" type="slidenum">
              <a:rPr lang="en-IE" smtClean="0"/>
              <a:t>‹nr.›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9827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3159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82148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 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98605-EE7A-6AAE-447A-080B2C6D22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t="3042" b="3042"/>
          <a:stretch/>
        </p:blipFill>
        <p:spPr>
          <a:xfrm>
            <a:off x="-918" y="0"/>
            <a:ext cx="12192001" cy="6866879"/>
          </a:xfrm>
          <a:prstGeom prst="rect">
            <a:avLst/>
          </a:prstGeom>
        </p:spPr>
      </p:pic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1112521" y="3277775"/>
            <a:ext cx="3957106" cy="174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>
                <a:solidFill>
                  <a:schemeClr val="bg1"/>
                </a:solidFill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9F257-77BC-80DD-CDE4-F5B22D7951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81876" y="3596720"/>
            <a:ext cx="4224858" cy="1374485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84A076C-4C5D-810C-C205-F06C4916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21" y="885018"/>
            <a:ext cx="9448800" cy="203778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5F2B0E4-A35A-CFA1-4E98-55EAD82CE8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07994" y="5771588"/>
            <a:ext cx="2509626" cy="77787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407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BA733-25B6-C4BB-1150-48850654F2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3E27D-21BB-B8BD-0101-611C3D7A9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8CD64-6B9A-81A2-BDB2-55DA96C9E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901951"/>
            <a:ext cx="10515597" cy="4194176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50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91114-E7C3-4716-7109-6FDE72E853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1ABAA-9559-8C24-1A56-0668CC664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BC1E451-4262-316A-7418-6EF16E049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B9F341-14FC-51F5-105A-E4BFB54BFE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533867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24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3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9220B6-B4CB-BA59-8F58-4304C8D42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723" y="1894895"/>
            <a:ext cx="5157787" cy="823912"/>
          </a:xfrm>
        </p:spPr>
        <p:txBody>
          <a:bodyPr wrap="square" anchor="t">
            <a:noAutofit/>
          </a:bodyPr>
          <a:lstStyle>
            <a:lvl1pPr marL="0" indent="0">
              <a:buNone/>
              <a:defRPr sz="2400" b="0" baseline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DB0ABC1-873A-F2DD-170F-E80FE483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2725735"/>
            <a:ext cx="5157787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57B6DC-82B6-DC47-2B36-FBA16BFA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3134" y="1894895"/>
            <a:ext cx="5183188" cy="823912"/>
          </a:xfrm>
          <a:noFill/>
        </p:spPr>
        <p:txBody>
          <a:bodyPr wrap="square" anchor="t">
            <a:noAutofit/>
          </a:bodyPr>
          <a:lstStyle>
            <a:lvl1pPr marL="0" indent="0">
              <a:buNone/>
              <a:defRPr sz="2400" b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5916A-C750-070D-C528-9F655246D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7D36BD-C483-ED07-0866-A0A591A017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623D267-A36F-1DAC-4912-F3587711782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9559" y="2725735"/>
            <a:ext cx="5183188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34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1)" preserve="1" userDrawn="1">
  <p:cSld name="Last slide (option 1)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1;p37">
            <a:extLst>
              <a:ext uri="{FF2B5EF4-FFF2-40B4-BE49-F238E27FC236}">
                <a16:creationId xmlns:a16="http://schemas.microsoft.com/office/drawing/2014/main" id="{ACED6512-1BD5-58D6-D635-D62C0A34BF8C}"/>
              </a:ext>
            </a:extLst>
          </p:cNvPr>
          <p:cNvSpPr>
            <a:spLocks/>
          </p:cNvSpPr>
          <p:nvPr userDrawn="1"/>
        </p:nvSpPr>
        <p:spPr>
          <a:xfrm>
            <a:off x="0" y="3328560"/>
            <a:ext cx="12192000" cy="2913720"/>
          </a:xfrm>
          <a:prstGeom prst="rect">
            <a:avLst/>
          </a:prstGeom>
          <a:solidFill>
            <a:srgbClr val="2644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7"/>
          <p:cNvSpPr txBox="1">
            <a:spLocks noGrp="1"/>
          </p:cNvSpPr>
          <p:nvPr>
            <p:ph type="body" idx="1"/>
          </p:nvPr>
        </p:nvSpPr>
        <p:spPr>
          <a:xfrm>
            <a:off x="970723" y="3777422"/>
            <a:ext cx="6865686" cy="217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>
                <a:solidFill>
                  <a:srgbClr val="F4F4F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CD49B01-566F-CA34-C636-83E50BFD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2" y="414281"/>
            <a:ext cx="10515600" cy="2937139"/>
          </a:xfrm>
          <a:prstGeom prst="rect">
            <a:avLst/>
          </a:prstGeom>
        </p:spPr>
        <p:txBody>
          <a:bodyPr vert="horz" lIns="91440" tIns="45720" rIns="91440" bIns="0" rtlCol="0" anchor="ctr" anchorCtr="0">
            <a:noAutofit/>
          </a:bodyPr>
          <a:lstStyle>
            <a:lvl1pPr algn="ctr">
              <a:defRPr sz="4800">
                <a:solidFill>
                  <a:srgbClr val="10101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Google Shape;10;p21">
            <a:extLst>
              <a:ext uri="{FF2B5EF4-FFF2-40B4-BE49-F238E27FC236}">
                <a16:creationId xmlns:a16="http://schemas.microsoft.com/office/drawing/2014/main" id="{C209E83E-F338-C8C6-D016-6C5FE194EA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6B8EBF-8A1C-818A-CBBC-1DC51D94C5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541C9F-06FD-4BC7-C438-D852985D15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4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838200" y="763064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17" r:id="rId2"/>
    <p:sldLayoutId id="2147483724" r:id="rId3"/>
    <p:sldLayoutId id="2147483725" r:id="rId4"/>
    <p:sldLayoutId id="214748372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2644A7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peter.knizat@statistics.sk" TargetMode="External"/><Relationship Id="rId2" Type="http://schemas.openxmlformats.org/officeDocument/2006/relationships/hyperlink" Target="mailto:p.ouwehand@cbs.n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sb.tieleman@cbs.nl" TargetMode="External"/><Relationship Id="rId4" Type="http://schemas.openxmlformats.org/officeDocument/2006/relationships/hyperlink" Target="mailto:f.pijpers@cbs.n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ec.europa.eu/eurostat/web/products-manuals-and-guidelines/-/KS-GQ-17-008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2.census.gov/software/x-13arima-seats/x13as/unix-linux/documentation/docx13as.pdf" TargetMode="External"/><Relationship Id="rId3" Type="http://schemas.openxmlformats.org/officeDocument/2006/relationships/hyperlink" Target="https://ec.europa.eu/eurostat/documents/3859598/19355229/KS-GQ-24-012-EN-N.pdf/be954db6-64f5-c1a2-a0b8-0b4de2a5c707?version=1.0&amp;t=1718182927069" TargetMode="External"/><Relationship Id="rId7" Type="http://schemas.openxmlformats.org/officeDocument/2006/relationships/hyperlink" Target="https://unece.org/statistics/publications/practical-guide-seasonal-adjustment-jdemetra" TargetMode="External"/><Relationship Id="rId2" Type="http://schemas.openxmlformats.org/officeDocument/2006/relationships/hyperlink" Target="https://ec.europa.eu/eurostat/documents/3859598/5910549/KS-RA-09-006-EN.PDF.pdf/0a9893a6-3e69-45c4-8328-6fc5a3497c13?t=141478156300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demetra-new-documentation.netlify.app/" TargetMode="External"/><Relationship Id="rId5" Type="http://schemas.openxmlformats.org/officeDocument/2006/relationships/hyperlink" Target="https://jdemetradocumentation.github.io/JDemetra-documentation/" TargetMode="External"/><Relationship Id="rId4" Type="http://schemas.openxmlformats.org/officeDocument/2006/relationships/hyperlink" Target="https://ec.europa.eu/eurostat/documents/3859598/8939616/KS-GQ-18-001-EN-N.pdf" TargetMode="External"/><Relationship Id="rId9" Type="http://schemas.openxmlformats.org/officeDocument/2006/relationships/hyperlink" Target="https://ec.europa.eu/eurostat/documents/10186/10693286/Time_series_treatment_guidance.pdf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otexts.com/fpp3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ciencedirect.com/science/article/pii/S0169207021001758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2139/ssrn.1717887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86E511-2A8E-CD8D-FA1D-6DDA5388C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2520" y="3277775"/>
            <a:ext cx="4185989" cy="1745469"/>
          </a:xfrm>
        </p:spPr>
        <p:txBody>
          <a:bodyPr/>
          <a:lstStyle/>
          <a:p>
            <a:r>
              <a:rPr lang="en-IE" dirty="0" err="1"/>
              <a:t>Dr.</a:t>
            </a:r>
            <a:r>
              <a:rPr lang="en-IE" dirty="0"/>
              <a:t> Pim Ouwehand</a:t>
            </a:r>
          </a:p>
          <a:p>
            <a:r>
              <a:rPr lang="en-IE" dirty="0" err="1"/>
              <a:t>Dr.</a:t>
            </a:r>
            <a:r>
              <a:rPr lang="en-IE" dirty="0"/>
              <a:t> Peter </a:t>
            </a:r>
            <a:r>
              <a:rPr lang="nl-NL" altLang="nl-NL" dirty="0" err="1"/>
              <a:t>Knížat</a:t>
            </a:r>
            <a:r>
              <a:rPr lang="en-IE" dirty="0"/>
              <a:t> </a:t>
            </a:r>
          </a:p>
          <a:p>
            <a:r>
              <a:rPr lang="en-IE" dirty="0"/>
              <a:t>Prof. </a:t>
            </a:r>
            <a:r>
              <a:rPr lang="en-IE" dirty="0" err="1"/>
              <a:t>dr.</a:t>
            </a:r>
            <a:r>
              <a:rPr lang="en-IE" dirty="0"/>
              <a:t> Frank </a:t>
            </a:r>
            <a:r>
              <a:rPr lang="en-IE" dirty="0" err="1"/>
              <a:t>Pijpers</a:t>
            </a:r>
            <a:endParaRPr lang="en-IE" dirty="0"/>
          </a:p>
          <a:p>
            <a:r>
              <a:rPr lang="en-IE" dirty="0" err="1"/>
              <a:t>Dr.</a:t>
            </a:r>
            <a:r>
              <a:rPr lang="en-IE" dirty="0"/>
              <a:t> Sebastiaan Tieleman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18E6D-618C-DDB2-DF84-26EB66F0C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21" y="885018"/>
            <a:ext cx="9448800" cy="2543982"/>
          </a:xfrm>
        </p:spPr>
        <p:txBody>
          <a:bodyPr/>
          <a:lstStyle/>
          <a:p>
            <a:r>
              <a:rPr lang="en-IE" sz="3600" dirty="0"/>
              <a:t>Welcome to the ESTP course</a:t>
            </a:r>
            <a:r>
              <a:rPr lang="en-IE" dirty="0"/>
              <a:t> </a:t>
            </a:r>
            <a:br>
              <a:rPr lang="en-IE" dirty="0"/>
            </a:br>
            <a:r>
              <a:rPr lang="en-IE" dirty="0"/>
              <a:t>Econometrics for macroeconomic statistics!</a:t>
            </a:r>
            <a:br>
              <a:rPr lang="en-IE" dirty="0"/>
            </a:br>
            <a:endParaRPr lang="en-I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50BB-3958-DA6F-CD7B-74B9FFF5C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4811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5ED9-AA9C-A1D5-DADA-30BC77A2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Course trainers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84FCE-5582-908D-CA54-E6A6C8121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E816B-5CEC-1C6D-582C-69AA81FB0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0800" y="1901951"/>
            <a:ext cx="10731500" cy="4194176"/>
          </a:xfrm>
        </p:spPr>
        <p:txBody>
          <a:bodyPr/>
          <a:lstStyle/>
          <a:p>
            <a:r>
              <a:rPr lang="en-IE" dirty="0" err="1"/>
              <a:t>Dr.</a:t>
            </a:r>
            <a:r>
              <a:rPr lang="en-IE" dirty="0"/>
              <a:t> Pim Ouwehand </a:t>
            </a:r>
            <a:r>
              <a:rPr lang="en-IE" sz="2000" dirty="0"/>
              <a:t>(dept. of methodology, CBS)</a:t>
            </a:r>
            <a:endParaRPr lang="en-IE" dirty="0"/>
          </a:p>
          <a:p>
            <a:pPr marL="0" indent="0">
              <a:buNone/>
            </a:pPr>
            <a:r>
              <a:rPr lang="en-IE" dirty="0"/>
              <a:t>	</a:t>
            </a:r>
            <a:r>
              <a:rPr lang="en-IE" dirty="0">
                <a:hlinkClick r:id="rId2"/>
              </a:rPr>
              <a:t>p.ouwehand@cbs.nl</a:t>
            </a:r>
            <a:endParaRPr lang="en-IE" dirty="0"/>
          </a:p>
          <a:p>
            <a:pPr marL="0" indent="0">
              <a:buNone/>
            </a:pPr>
            <a:endParaRPr lang="en-IE" dirty="0"/>
          </a:p>
          <a:p>
            <a:r>
              <a:rPr lang="en-IE" dirty="0" err="1"/>
              <a:t>Dr.</a:t>
            </a:r>
            <a:r>
              <a:rPr lang="en-IE" dirty="0"/>
              <a:t> Peter </a:t>
            </a:r>
            <a:r>
              <a:rPr lang="nl-NL" altLang="nl-NL" dirty="0"/>
              <a:t>Knížat</a:t>
            </a:r>
            <a:r>
              <a:rPr lang="en-IE" dirty="0"/>
              <a:t> (</a:t>
            </a:r>
            <a:r>
              <a:rPr lang="en-GB" noProof="0" dirty="0"/>
              <a:t>Statistical Office of the Slovak Republic, Comenius University Bratislava)</a:t>
            </a:r>
          </a:p>
          <a:p>
            <a:pPr marL="0" indent="0">
              <a:buNone/>
            </a:pPr>
            <a:r>
              <a:rPr lang="en-IE" dirty="0"/>
              <a:t>	</a:t>
            </a:r>
            <a:r>
              <a:rPr lang="en-IE" dirty="0">
                <a:hlinkClick r:id="rId3"/>
              </a:rPr>
              <a:t>peter.knizat@statistics.sk</a:t>
            </a:r>
            <a:endParaRPr lang="en-IE" dirty="0"/>
          </a:p>
          <a:p>
            <a:endParaRPr lang="en-IE" dirty="0"/>
          </a:p>
          <a:p>
            <a:r>
              <a:rPr lang="en-IE" dirty="0"/>
              <a:t>Prof. </a:t>
            </a:r>
            <a:r>
              <a:rPr lang="en-IE" dirty="0" err="1"/>
              <a:t>Dr.</a:t>
            </a:r>
            <a:r>
              <a:rPr lang="en-IE" dirty="0"/>
              <a:t> Frank Pijpers </a:t>
            </a:r>
            <a:r>
              <a:rPr lang="en-IE" sz="2000" dirty="0"/>
              <a:t>(dept. of methodology, CBS)</a:t>
            </a:r>
            <a:endParaRPr lang="en-IE" dirty="0"/>
          </a:p>
          <a:p>
            <a:pPr marL="0" indent="0">
              <a:buNone/>
            </a:pPr>
            <a:r>
              <a:rPr lang="en-IE" dirty="0"/>
              <a:t>	</a:t>
            </a:r>
            <a:r>
              <a:rPr lang="en-IE" dirty="0">
                <a:hlinkClick r:id="rId4"/>
              </a:rPr>
              <a:t>f.pijpers@cbs.nl</a:t>
            </a:r>
            <a:r>
              <a:rPr lang="en-IE" dirty="0"/>
              <a:t>	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 err="1"/>
              <a:t>Dr.</a:t>
            </a:r>
            <a:r>
              <a:rPr lang="en-IE" dirty="0"/>
              <a:t> Sebastiaan Tieleman </a:t>
            </a:r>
            <a:r>
              <a:rPr lang="en-IE" sz="2000" dirty="0"/>
              <a:t>(dept. of methodology, CBS)</a:t>
            </a:r>
            <a:endParaRPr lang="en-IE" dirty="0"/>
          </a:p>
          <a:p>
            <a:pPr marL="0" indent="0">
              <a:buNone/>
            </a:pPr>
            <a:r>
              <a:rPr lang="en-IE" dirty="0"/>
              <a:t>	</a:t>
            </a:r>
            <a:r>
              <a:rPr lang="en-IE" dirty="0">
                <a:hlinkClick r:id="rId5"/>
              </a:rPr>
              <a:t>sb.tieleman@cbs.nl</a:t>
            </a:r>
            <a:r>
              <a:rPr lang="en-I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3939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86E511-2A8E-CD8D-FA1D-6DDA5388C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2520" y="3277775"/>
            <a:ext cx="4185989" cy="1745469"/>
          </a:xfrm>
        </p:spPr>
        <p:txBody>
          <a:bodyPr/>
          <a:lstStyle/>
          <a:p>
            <a:r>
              <a:rPr lang="en-IE" dirty="0" err="1"/>
              <a:t>Dr.</a:t>
            </a:r>
            <a:r>
              <a:rPr lang="en-IE" dirty="0"/>
              <a:t> Pim Ouwehand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18E6D-618C-DDB2-DF84-26EB66F0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1.1 Welcome and overview of the course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50BB-3958-DA6F-CD7B-74B9FFF5C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E" dirty="0"/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2942376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554A46-777F-305D-F02D-89144D68A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C0904D2-E65C-DA1C-52D1-9DB4180AE9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3BC89E2-E41F-E6B2-9B37-CB15315A079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2400" dirty="0"/>
              <a:t>Quest for faster and more accurate economic indicators</a:t>
            </a:r>
          </a:p>
          <a:p>
            <a:r>
              <a:rPr lang="en-GB" sz="2400" dirty="0"/>
              <a:t>… enabling early identification of significant economic changes, and provide insight into economic activity with increased timeliness and granularity</a:t>
            </a:r>
          </a:p>
          <a:p>
            <a:pPr marL="342000" lvl="1" indent="0">
              <a:buNone/>
            </a:pPr>
            <a:r>
              <a:rPr lang="en-GB" dirty="0"/>
              <a:t>For example, COVID-19 pandemic in 2020 also resulted in a need for more timely data and this also led to many innovations in National Statistics Institutes to meet user and policy needs in a rapid way</a:t>
            </a:r>
          </a:p>
          <a:p>
            <a:r>
              <a:rPr lang="en-GB" sz="2400" dirty="0"/>
              <a:t>Understanding relations between economic phenomena</a:t>
            </a:r>
          </a:p>
          <a:p>
            <a:r>
              <a:rPr lang="en-GB" sz="2400" dirty="0"/>
              <a:t>Methods for cross sectional data and time series analysis are key to understand the signal within the data</a:t>
            </a:r>
          </a:p>
          <a:p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3617030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1A4303-6C4F-3B73-E6CF-02008C946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objectives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A052810-5EF0-9DAE-050F-9CBFEE6DAC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694C2B6-A1D0-4B7A-4F34-3B54FE7E5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708516"/>
            <a:ext cx="10515597" cy="4194176"/>
          </a:xfrm>
        </p:spPr>
        <p:txBody>
          <a:bodyPr/>
          <a:lstStyle/>
          <a:p>
            <a:r>
              <a:rPr lang="en-US" sz="2400" dirty="0"/>
              <a:t>After this course, you know about:</a:t>
            </a:r>
          </a:p>
          <a:p>
            <a:pPr lvl="1"/>
            <a:r>
              <a:rPr lang="nl-NL" sz="2400" dirty="0"/>
              <a:t>Common time series </a:t>
            </a:r>
            <a:r>
              <a:rPr lang="nl-NL" sz="2400" dirty="0" err="1"/>
              <a:t>models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methods</a:t>
            </a:r>
            <a:r>
              <a:rPr lang="nl-NL" sz="2400" dirty="0"/>
              <a:t>, in-sample </a:t>
            </a:r>
            <a:r>
              <a:rPr lang="nl-NL" sz="2400" dirty="0" err="1"/>
              <a:t>and</a:t>
            </a:r>
            <a:r>
              <a:rPr lang="nl-NL" sz="2400" dirty="0"/>
              <a:t> out-sample</a:t>
            </a:r>
          </a:p>
          <a:p>
            <a:pPr lvl="1"/>
            <a:r>
              <a:rPr lang="nl-NL" sz="2400" dirty="0" err="1"/>
              <a:t>Analysing</a:t>
            </a:r>
            <a:r>
              <a:rPr lang="nl-NL" sz="2400" dirty="0"/>
              <a:t> cross-</a:t>
            </a:r>
            <a:r>
              <a:rPr lang="nl-NL" sz="2400" dirty="0" err="1"/>
              <a:t>sectional</a:t>
            </a:r>
            <a:r>
              <a:rPr lang="nl-NL" sz="2400" dirty="0"/>
              <a:t> data. </a:t>
            </a:r>
          </a:p>
          <a:p>
            <a:pPr lvl="1"/>
            <a:r>
              <a:rPr lang="nl-NL" sz="2400" dirty="0"/>
              <a:t>Using modern data sources </a:t>
            </a:r>
            <a:r>
              <a:rPr lang="nl-NL" sz="2400" dirty="0" err="1"/>
              <a:t>for</a:t>
            </a:r>
            <a:r>
              <a:rPr lang="nl-NL" sz="2400" dirty="0"/>
              <a:t> making </a:t>
            </a:r>
            <a:r>
              <a:rPr lang="nl-NL" sz="2400" dirty="0" err="1"/>
              <a:t>nowcasts</a:t>
            </a:r>
            <a:endParaRPr lang="nl-NL" sz="2400" dirty="0"/>
          </a:p>
          <a:p>
            <a:pPr marL="0" indent="0">
              <a:buNone/>
            </a:pPr>
            <a:r>
              <a:rPr lang="nl-NL" sz="2400" dirty="0"/>
              <a:t>...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you</a:t>
            </a:r>
            <a:r>
              <a:rPr lang="nl-NL" sz="2400" dirty="0"/>
              <a:t> </a:t>
            </a:r>
            <a:r>
              <a:rPr lang="nl-NL" sz="2400" dirty="0" err="1"/>
              <a:t>will</a:t>
            </a:r>
            <a:r>
              <a:rPr lang="nl-NL" sz="2400" dirty="0"/>
              <a:t> have:</a:t>
            </a:r>
          </a:p>
          <a:p>
            <a:pPr lvl="1"/>
            <a:r>
              <a:rPr lang="nl-NL" sz="2400" dirty="0"/>
              <a:t>Practical </a:t>
            </a:r>
            <a:r>
              <a:rPr lang="nl-NL" sz="2400" dirty="0" err="1"/>
              <a:t>experience</a:t>
            </a:r>
            <a:r>
              <a:rPr lang="nl-NL" sz="2400" dirty="0"/>
              <a:t> in R </a:t>
            </a:r>
            <a:r>
              <a:rPr lang="nl-NL" sz="2400" dirty="0" err="1"/>
              <a:t>with</a:t>
            </a:r>
            <a:r>
              <a:rPr lang="nl-NL" sz="2400" dirty="0"/>
              <a:t> these </a:t>
            </a:r>
            <a:r>
              <a:rPr lang="nl-NL" sz="2400" dirty="0" err="1"/>
              <a:t>models</a:t>
            </a:r>
            <a:endParaRPr lang="nl-NL" sz="2400" dirty="0"/>
          </a:p>
          <a:p>
            <a:pPr marL="0" indent="0">
              <a:buNone/>
            </a:pPr>
            <a:r>
              <a:rPr lang="nl-NL" sz="2400" dirty="0"/>
              <a:t>... </a:t>
            </a:r>
          </a:p>
        </p:txBody>
      </p:sp>
    </p:spTree>
    <p:extLst>
      <p:ext uri="{BB962C8B-B14F-4D97-AF65-F5344CB8AC3E}">
        <p14:creationId xmlns:p14="http://schemas.microsoft.com/office/powerpoint/2010/main" val="4019586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47B82D-1991-13D2-5B62-76F0A40D0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Course </a:t>
            </a:r>
            <a:r>
              <a:rPr lang="nl-NL" dirty="0" err="1"/>
              <a:t>objectives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255789A-21E5-9C30-4F36-E583237EE0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852A06D-3075-A521-72CD-ECC35A6951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sz="2400" dirty="0" err="1"/>
              <a:t>Theory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practice</a:t>
            </a:r>
            <a:endParaRPr lang="nl-NL" sz="2400" dirty="0"/>
          </a:p>
          <a:p>
            <a:r>
              <a:rPr lang="nl-NL" sz="2400" dirty="0"/>
              <a:t>R / </a:t>
            </a:r>
            <a:r>
              <a:rPr lang="nl-NL" sz="2400" dirty="0" err="1"/>
              <a:t>Rstudio</a:t>
            </a:r>
            <a:endParaRPr lang="nl-NL" sz="2400" dirty="0"/>
          </a:p>
          <a:p>
            <a:endParaRPr lang="nl-NL" sz="2400" dirty="0"/>
          </a:p>
          <a:p>
            <a:r>
              <a:rPr lang="nl-NL" sz="2400" dirty="0"/>
              <a:t>Day 1: Fundamentals, in-sample </a:t>
            </a:r>
            <a:r>
              <a:rPr lang="nl-NL" sz="2400" dirty="0" err="1"/>
              <a:t>methods</a:t>
            </a:r>
            <a:endParaRPr lang="nl-NL" sz="2400" dirty="0"/>
          </a:p>
          <a:p>
            <a:r>
              <a:rPr lang="nl-NL" sz="2400" dirty="0"/>
              <a:t>Day 2: Advanced </a:t>
            </a:r>
            <a:r>
              <a:rPr lang="nl-NL" sz="2400" dirty="0" err="1"/>
              <a:t>and</a:t>
            </a:r>
            <a:r>
              <a:rPr lang="nl-NL" sz="2400" dirty="0"/>
              <a:t> modern </a:t>
            </a:r>
            <a:r>
              <a:rPr lang="nl-NL" sz="2400" dirty="0" err="1"/>
              <a:t>methods</a:t>
            </a:r>
            <a:r>
              <a:rPr lang="nl-NL" sz="2400" dirty="0"/>
              <a:t>, out-of-sample </a:t>
            </a:r>
            <a:r>
              <a:rPr lang="nl-NL" sz="2400" dirty="0" err="1"/>
              <a:t>methods</a:t>
            </a: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3042242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20C034-B068-ECD7-D7AE-9B60020D7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Course </a:t>
            </a:r>
            <a:r>
              <a:rPr lang="nl-NL" dirty="0" err="1"/>
              <a:t>programme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51D967C-2183-B41E-4F7D-FEA4130205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7</a:t>
            </a:fld>
            <a:endParaRPr lang="en-GB"/>
          </a:p>
        </p:txBody>
      </p:sp>
      <p:graphicFrame>
        <p:nvGraphicFramePr>
          <p:cNvPr id="5" name="Tijdelijke aanduiding voor inhoud 4">
            <a:extLst>
              <a:ext uri="{FF2B5EF4-FFF2-40B4-BE49-F238E27FC236}">
                <a16:creationId xmlns:a16="http://schemas.microsoft.com/office/drawing/2014/main" id="{1445608A-3D2D-4BEF-A7E2-EBF107B2AAA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01683661"/>
              </p:ext>
            </p:extLst>
          </p:nvPr>
        </p:nvGraphicFramePr>
        <p:xfrm>
          <a:off x="969963" y="1901825"/>
          <a:ext cx="1051559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337">
                  <a:extLst>
                    <a:ext uri="{9D8B030D-6E8A-4147-A177-3AD203B41FA5}">
                      <a16:colId xmlns:a16="http://schemas.microsoft.com/office/drawing/2014/main" val="3213763954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3425321639"/>
                    </a:ext>
                  </a:extLst>
                </a:gridCol>
                <a:gridCol w="4127500">
                  <a:extLst>
                    <a:ext uri="{9D8B030D-6E8A-4147-A177-3AD203B41FA5}">
                      <a16:colId xmlns:a16="http://schemas.microsoft.com/office/drawing/2014/main" val="100740008"/>
                    </a:ext>
                  </a:extLst>
                </a:gridCol>
                <a:gridCol w="3471859">
                  <a:extLst>
                    <a:ext uri="{9D8B030D-6E8A-4147-A177-3AD203B41FA5}">
                      <a16:colId xmlns:a16="http://schemas.microsoft.com/office/drawing/2014/main" val="20724311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Day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895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09:15 – 10:00</a:t>
                      </a:r>
                    </a:p>
                  </a:txBody>
                  <a:tcPr marL="19050" marR="190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1.1</a:t>
                      </a: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NL" sz="14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Welcome</a:t>
                      </a: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nl-NL" sz="14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and</a:t>
                      </a: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nl-NL" sz="14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overview</a:t>
                      </a: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of </a:t>
                      </a:r>
                      <a:r>
                        <a:rPr lang="nl-NL" sz="14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the</a:t>
                      </a: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course</a:t>
                      </a: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Pim Ouwehand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365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10:00 – 12:30</a:t>
                      </a:r>
                    </a:p>
                  </a:txBody>
                  <a:tcPr marL="19050" marR="190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1.2</a:t>
                      </a: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Cross-sectional data (including break)</a:t>
                      </a:r>
                      <a:endParaRPr lang="nl-NL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Peter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Knížat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540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184150" algn="r"/>
                          <a:tab pos="298450" algn="r"/>
                        </a:tabLs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12:30 – 13:30</a:t>
                      </a:r>
                    </a:p>
                  </a:txBody>
                  <a:tcPr marL="19050" marR="190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nl-NL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Lunch break </a:t>
                      </a:r>
                      <a:r>
                        <a:rPr lang="nl-NL" sz="1400" b="0" i="0" u="sng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(CBS restaurant or shopping center)</a:t>
                      </a: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749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184150" algn="r"/>
                          <a:tab pos="298450" algn="r"/>
                        </a:tabLs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13:30 – 14:45</a:t>
                      </a:r>
                    </a:p>
                  </a:txBody>
                  <a:tcPr marL="19050" marR="190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1.3</a:t>
                      </a: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Time series data and time series analysis</a:t>
                      </a:r>
                      <a:endParaRPr lang="nl-NL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Pim Ouwehand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172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14:45 – 15:00</a:t>
                      </a:r>
                    </a:p>
                  </a:txBody>
                  <a:tcPr marL="19050" marR="190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nl-NL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Coffee break</a:t>
                      </a: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999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184150" algn="r"/>
                          <a:tab pos="298450" algn="r"/>
                        </a:tabLs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15:00 – 16:30</a:t>
                      </a:r>
                    </a:p>
                  </a:txBody>
                  <a:tcPr marL="19050" marR="190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1.4</a:t>
                      </a: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Trendcycle</a:t>
                      </a:r>
                      <a:r>
                        <a:rPr lang="en-GB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filters and the business cycle tracer </a:t>
                      </a:r>
                      <a:endParaRPr lang="nl-NL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Sebastiaan Tieleman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272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9814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20C034-B068-ECD7-D7AE-9B60020D7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Course </a:t>
            </a:r>
            <a:r>
              <a:rPr lang="nl-NL" dirty="0" err="1"/>
              <a:t>programme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51D967C-2183-B41E-4F7D-FEA4130205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8</a:t>
            </a:fld>
            <a:endParaRPr lang="en-GB"/>
          </a:p>
        </p:txBody>
      </p:sp>
      <p:graphicFrame>
        <p:nvGraphicFramePr>
          <p:cNvPr id="5" name="Tijdelijke aanduiding voor inhoud 4">
            <a:extLst>
              <a:ext uri="{FF2B5EF4-FFF2-40B4-BE49-F238E27FC236}">
                <a16:creationId xmlns:a16="http://schemas.microsoft.com/office/drawing/2014/main" id="{1445608A-3D2D-4BEF-A7E2-EBF107B2AAA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83621977"/>
              </p:ext>
            </p:extLst>
          </p:nvPr>
        </p:nvGraphicFramePr>
        <p:xfrm>
          <a:off x="969963" y="1901825"/>
          <a:ext cx="1051559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337">
                  <a:extLst>
                    <a:ext uri="{9D8B030D-6E8A-4147-A177-3AD203B41FA5}">
                      <a16:colId xmlns:a16="http://schemas.microsoft.com/office/drawing/2014/main" val="3213763954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3425321639"/>
                    </a:ext>
                  </a:extLst>
                </a:gridCol>
                <a:gridCol w="4127500">
                  <a:extLst>
                    <a:ext uri="{9D8B030D-6E8A-4147-A177-3AD203B41FA5}">
                      <a16:colId xmlns:a16="http://schemas.microsoft.com/office/drawing/2014/main" val="100740008"/>
                    </a:ext>
                  </a:extLst>
                </a:gridCol>
                <a:gridCol w="3471859">
                  <a:extLst>
                    <a:ext uri="{9D8B030D-6E8A-4147-A177-3AD203B41FA5}">
                      <a16:colId xmlns:a16="http://schemas.microsoft.com/office/drawing/2014/main" val="20724311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Day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895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09:00 – 10:45</a:t>
                      </a: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2.1</a:t>
                      </a: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Rapid </a:t>
                      </a:r>
                      <a:r>
                        <a:rPr lang="nl-NL" sz="14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estimates</a:t>
                      </a:r>
                      <a:endParaRPr lang="nl-NL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Pim Ouwehand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365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184150" algn="r"/>
                          <a:tab pos="298450" algn="r"/>
                        </a:tabLs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10:45 – 11:00</a:t>
                      </a: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nl-NL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Coffee-break</a:t>
                      </a:r>
                      <a:endParaRPr lang="nl-NL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endParaRPr lang="nl-NL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540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11:00 – 12:30</a:t>
                      </a: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2.2</a:t>
                      </a: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Nowcasting with new data sources</a:t>
                      </a:r>
                      <a:endParaRPr lang="nl-NL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Peter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Knížat</a:t>
                      </a:r>
                      <a:endParaRPr lang="nl-NL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172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12:30 – 13:30</a:t>
                      </a: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nl-NL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Lunch break</a:t>
                      </a:r>
                      <a:endParaRPr lang="nl-NL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endParaRPr lang="nl-NL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999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13:30 – 15:30</a:t>
                      </a: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2.3</a:t>
                      </a: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Macroeconomic nowcasting (including break)</a:t>
                      </a:r>
                      <a:endParaRPr lang="nl-NL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Frank Pijpers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616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184150" algn="r"/>
                          <a:tab pos="298450" algn="r"/>
                        </a:tabLs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15:30 – 16:00</a:t>
                      </a: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2.4</a:t>
                      </a: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NL" sz="14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From</a:t>
                      </a: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nl-NL" sz="14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macroeconometrics</a:t>
                      </a: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nl-NL" sz="14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to</a:t>
                      </a: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nl-NL" sz="14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knowledge</a:t>
                      </a:r>
                      <a:endParaRPr lang="nl-NL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Sebastiaan Tieleman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785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16:00 – 16:30</a:t>
                      </a: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2.5</a:t>
                      </a: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Summary and evaluation of the course</a:t>
                      </a:r>
                      <a:endParaRPr lang="nl-NL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19050" marR="19050" marT="0" marB="0"/>
                </a:tc>
                <a:tc>
                  <a:txBody>
                    <a:bodyPr/>
                    <a:lstStyle/>
                    <a:p>
                      <a:r>
                        <a:rPr lang="nl-NL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Pim Ouwehand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272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213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8C2D9D-C662-3997-40F1-490AEEF34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are you?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DA6B41EB-72BA-DE03-06D4-1112B15EE6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459B0EC-7258-C580-ECBB-4DE90560FC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Affiliation / role?</a:t>
            </a:r>
          </a:p>
          <a:p>
            <a:r>
              <a:rPr lang="en-US" sz="2400" dirty="0"/>
              <a:t>Involved in what econometrics activities at your institution?</a:t>
            </a:r>
          </a:p>
          <a:p>
            <a:r>
              <a:rPr lang="en-US" sz="2400" dirty="0"/>
              <a:t>How well do you know R?</a:t>
            </a:r>
          </a:p>
          <a:p>
            <a:r>
              <a:rPr lang="en-US" sz="2400" dirty="0"/>
              <a:t>Expectations? What do you hope to learn?</a:t>
            </a: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2977501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147CF2-6362-D77C-DE37-E23F45E0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1121FB5-7EA3-21D0-AE46-9156313FF3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8A4D51-EA7E-19B5-7B8E-1145EA6321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nl-NL" dirty="0"/>
          </a:p>
          <a:p>
            <a:pPr marL="0" indent="0" algn="ctr">
              <a:buNone/>
            </a:pPr>
            <a:r>
              <a:rPr lang="nl-NL" sz="3200" dirty="0"/>
              <a:t>Cross </a:t>
            </a:r>
            <a:r>
              <a:rPr lang="nl-NL" sz="3200" dirty="0" err="1"/>
              <a:t>sectional</a:t>
            </a:r>
            <a:r>
              <a:rPr lang="nl-NL" sz="3200" dirty="0"/>
              <a:t> </a:t>
            </a:r>
            <a:r>
              <a:rPr lang="nl-NL" sz="3200" dirty="0" err="1"/>
              <a:t>vs</a:t>
            </a:r>
            <a:r>
              <a:rPr lang="nl-NL" sz="3200" dirty="0"/>
              <a:t> time series data</a:t>
            </a:r>
          </a:p>
        </p:txBody>
      </p:sp>
    </p:spTree>
    <p:extLst>
      <p:ext uri="{BB962C8B-B14F-4D97-AF65-F5344CB8AC3E}">
        <p14:creationId xmlns:p14="http://schemas.microsoft.com/office/powerpoint/2010/main" val="3398661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C6C223-45F4-DE90-F489-53557A097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cross sectional data?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DD0DEE0-32A1-25DA-5E7E-9925D86DA2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3BE3350-A6AC-ED25-B80D-D5866F4B64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nl-NL" sz="2400" dirty="0"/>
              <a:t>Data </a:t>
            </a:r>
            <a:r>
              <a:rPr lang="nl-NL" sz="2400" dirty="0" err="1"/>
              <a:t>collected</a:t>
            </a:r>
            <a:r>
              <a:rPr lang="nl-NL" sz="2400" dirty="0"/>
              <a:t> </a:t>
            </a:r>
            <a:r>
              <a:rPr lang="nl-NL" sz="2400" dirty="0" err="1"/>
              <a:t>from</a:t>
            </a:r>
            <a:r>
              <a:rPr lang="nl-NL" sz="2400" dirty="0"/>
              <a:t> multiple units (</a:t>
            </a:r>
            <a:r>
              <a:rPr lang="nl-NL" sz="2400" dirty="0" err="1"/>
              <a:t>individuals</a:t>
            </a:r>
            <a:r>
              <a:rPr lang="nl-NL" sz="2400" dirty="0"/>
              <a:t>, companies, </a:t>
            </a:r>
            <a:r>
              <a:rPr lang="nl-NL" sz="2400" dirty="0" err="1"/>
              <a:t>countries</a:t>
            </a:r>
            <a:r>
              <a:rPr lang="nl-NL" sz="2400" dirty="0"/>
              <a:t>) at a single point in time</a:t>
            </a:r>
          </a:p>
          <a:p>
            <a:pPr marL="342900" indent="-342900">
              <a:buFontTx/>
              <a:buChar char="-"/>
            </a:pPr>
            <a:r>
              <a:rPr lang="nl-NL" sz="2400" dirty="0" err="1"/>
              <a:t>Variation</a:t>
            </a:r>
            <a:r>
              <a:rPr lang="nl-NL" sz="2400" dirty="0"/>
              <a:t> </a:t>
            </a:r>
            <a:r>
              <a:rPr lang="nl-NL" sz="2400" dirty="0" err="1"/>
              <a:t>accross</a:t>
            </a:r>
            <a:r>
              <a:rPr lang="nl-NL" sz="2400" dirty="0"/>
              <a:t> units</a:t>
            </a:r>
          </a:p>
          <a:p>
            <a:pPr marL="342900" indent="-342900">
              <a:buFontTx/>
              <a:buChar char="-"/>
            </a:pPr>
            <a:r>
              <a:rPr lang="nl-NL" sz="2400" dirty="0"/>
              <a:t>Order of </a:t>
            </a:r>
            <a:r>
              <a:rPr lang="nl-NL" sz="2400" dirty="0" err="1"/>
              <a:t>observations</a:t>
            </a:r>
            <a:r>
              <a:rPr lang="nl-NL" sz="2400" dirty="0"/>
              <a:t> </a:t>
            </a:r>
            <a:r>
              <a:rPr lang="nl-NL" sz="2400" dirty="0" err="1"/>
              <a:t>doesn’t</a:t>
            </a:r>
            <a:r>
              <a:rPr lang="nl-NL" sz="2400" dirty="0"/>
              <a:t> matter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Observations typically assumed to be independent (e.g., from random sampling)</a:t>
            </a: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3561617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C6C223-45F4-DE90-F489-53557A097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time series?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DD0DEE0-32A1-25DA-5E7E-9925D86DA2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12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E3BE3350-A6AC-ED25-B80D-D5866F4B647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342900" indent="-342900">
                  <a:buFontTx/>
                  <a:buChar char="-"/>
                </a:pPr>
                <a:r>
                  <a:rPr lang="nl-NL" sz="2400" dirty="0"/>
                  <a:t>Sequence of </a:t>
                </a:r>
                <a:r>
                  <a:rPr lang="nl-NL" sz="2400" dirty="0" err="1"/>
                  <a:t>observations</a:t>
                </a:r>
                <a:r>
                  <a:rPr lang="nl-NL" sz="2400" dirty="0"/>
                  <a:t> at </a:t>
                </a:r>
                <a:r>
                  <a:rPr lang="nl-NL" sz="2400" dirty="0" err="1"/>
                  <a:t>equal</a:t>
                </a:r>
                <a:r>
                  <a:rPr lang="nl-NL" sz="2400" dirty="0"/>
                  <a:t> </a:t>
                </a:r>
                <a:r>
                  <a:rPr lang="nl-NL" sz="2400" dirty="0" err="1"/>
                  <a:t>intervals</a:t>
                </a:r>
                <a:r>
                  <a:rPr lang="nl-NL" sz="2400" dirty="0"/>
                  <a:t> </a:t>
                </a:r>
                <a:r>
                  <a:rPr lang="nl-NL" sz="2400" dirty="0" err="1"/>
                  <a:t>from</a:t>
                </a:r>
                <a:r>
                  <a:rPr lang="nl-NL" sz="2400" dirty="0"/>
                  <a:t> </a:t>
                </a:r>
                <a:r>
                  <a:rPr lang="nl-NL" sz="2400" dirty="0" err="1"/>
                  <a:t>one</a:t>
                </a:r>
                <a:r>
                  <a:rPr lang="nl-NL" sz="2400" dirty="0"/>
                  <a:t> </a:t>
                </a:r>
                <a:r>
                  <a:rPr lang="nl-NL" sz="2400" dirty="0" err="1"/>
                  <a:t>variable</a:t>
                </a:r>
                <a:endParaRPr lang="nl-NL" sz="2400" dirty="0"/>
              </a:p>
              <a:p>
                <a:pPr marL="342900" indent="-342900">
                  <a:buFontTx/>
                  <a:buChar char="-"/>
                </a:pPr>
                <a:r>
                  <a:rPr lang="nl-NL" sz="2400" dirty="0" err="1"/>
                  <a:t>Variation</a:t>
                </a:r>
                <a:r>
                  <a:rPr lang="nl-NL" sz="2400" dirty="0"/>
                  <a:t> over time</a:t>
                </a:r>
              </a:p>
              <a:p>
                <a:pPr marL="342900" indent="-342900">
                  <a:buFontTx/>
                  <a:buChar char="-"/>
                </a:pPr>
                <a:r>
                  <a:rPr lang="nl-NL" sz="2400" dirty="0" err="1"/>
                  <a:t>Frequency</a:t>
                </a:r>
                <a:r>
                  <a:rPr lang="nl-NL" sz="2400" dirty="0"/>
                  <a:t>: </a:t>
                </a:r>
                <a:r>
                  <a:rPr lang="nl-NL" sz="2400" dirty="0" err="1"/>
                  <a:t>daily</a:t>
                </a:r>
                <a:r>
                  <a:rPr lang="nl-NL" sz="2400" dirty="0"/>
                  <a:t>, (bi-)</a:t>
                </a:r>
                <a:r>
                  <a:rPr lang="nl-NL" sz="2400" dirty="0" err="1"/>
                  <a:t>weekly</a:t>
                </a:r>
                <a:r>
                  <a:rPr lang="nl-NL" sz="2400" dirty="0"/>
                  <a:t>, </a:t>
                </a:r>
                <a:r>
                  <a:rPr lang="nl-NL" sz="2400" dirty="0" err="1"/>
                  <a:t>monthly</a:t>
                </a:r>
                <a:r>
                  <a:rPr lang="nl-NL" sz="2400" dirty="0"/>
                  <a:t>, </a:t>
                </a:r>
                <a:r>
                  <a:rPr lang="nl-NL" sz="2400" dirty="0" err="1"/>
                  <a:t>quarterly</a:t>
                </a:r>
                <a:r>
                  <a:rPr lang="nl-NL" sz="2400" dirty="0"/>
                  <a:t>, </a:t>
                </a:r>
                <a:r>
                  <a:rPr lang="nl-NL" sz="2400" dirty="0" err="1"/>
                  <a:t>annually</a:t>
                </a:r>
                <a:r>
                  <a:rPr lang="nl-NL" sz="2400" dirty="0"/>
                  <a:t> </a:t>
                </a:r>
              </a:p>
              <a:p>
                <a:pPr marL="342900" indent="-342900">
                  <a:buFontTx/>
                  <a:buChar char="-"/>
                </a:pPr>
                <a:r>
                  <a:rPr lang="nl-NL" sz="2400" dirty="0"/>
                  <a:t>Data has a </a:t>
                </a:r>
                <a:r>
                  <a:rPr lang="nl-NL" sz="2400" dirty="0" err="1"/>
                  <a:t>certain</a:t>
                </a:r>
                <a:r>
                  <a:rPr lang="nl-NL" sz="2400" dirty="0"/>
                  <a:t> </a:t>
                </a:r>
                <a:r>
                  <a:rPr lang="nl-NL" sz="2400" dirty="0" err="1"/>
                  <a:t>sequence</a:t>
                </a:r>
                <a:r>
                  <a:rPr lang="nl-NL" sz="2400" dirty="0"/>
                  <a:t>, is </a:t>
                </a:r>
                <a:r>
                  <a:rPr lang="nl-NL" sz="2400" dirty="0" err="1"/>
                  <a:t>indexed</a:t>
                </a:r>
                <a:r>
                  <a:rPr lang="nl-NL" sz="2400" dirty="0"/>
                  <a:t> in time order : -&gt; no </a:t>
                </a:r>
                <a:r>
                  <a:rPr lang="nl-NL" sz="2400" dirty="0" err="1"/>
                  <a:t>independence</a:t>
                </a:r>
                <a:r>
                  <a:rPr lang="nl-NL" sz="2400" dirty="0"/>
                  <a:t> </a:t>
                </a:r>
                <a:r>
                  <a:rPr lang="nl-NL" sz="2400" dirty="0" err="1"/>
                  <a:t>between</a:t>
                </a:r>
                <a:r>
                  <a:rPr lang="nl-NL" sz="2400" dirty="0"/>
                  <a:t> </a:t>
                </a:r>
                <a:r>
                  <a:rPr lang="nl-NL" sz="2400" dirty="0" err="1"/>
                  <a:t>observations</a:t>
                </a:r>
                <a:r>
                  <a:rPr lang="nl-NL" sz="2400" dirty="0"/>
                  <a:t> -&gt; </a:t>
                </a:r>
                <a:r>
                  <a:rPr lang="nl-NL" sz="2400" dirty="0" err="1"/>
                  <a:t>patterns</a:t>
                </a:r>
                <a:r>
                  <a:rPr lang="nl-NL" sz="2400" dirty="0"/>
                  <a:t> in time</a:t>
                </a:r>
              </a:p>
              <a:p>
                <a:pPr marL="342900" indent="-342900">
                  <a:buFontTx/>
                  <a:buChar char="-"/>
                </a:pPr>
                <a:r>
                  <a:rPr lang="nl-NL" sz="2400" dirty="0" err="1"/>
                  <a:t>Notation</a:t>
                </a:r>
                <a:r>
                  <a:rPr lang="nl-NL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GB" sz="2400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nl-NL" sz="2400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nl-NL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nl-NL" sz="2400" i="1">
                        <a:latin typeface="Cambria Math" panose="02040503050406030204" pitchFamily="18" charset="0"/>
                      </a:rPr>
                      <m:t>=1,..,</m:t>
                    </m:r>
                    <m:r>
                      <a:rPr lang="nl-NL" sz="24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nl-NL" sz="2400" dirty="0"/>
              </a:p>
              <a:p>
                <a:endParaRPr lang="nl-NL" sz="2400" dirty="0"/>
              </a:p>
            </p:txBody>
          </p:sp>
        </mc:Choice>
        <mc:Fallback xmlns="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E3BE3350-A6AC-ED25-B80D-D5866F4B64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189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430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0F4BD3-3E93-DFBA-E186-6F468FFDB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      time series     vs.  cross-sectional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42726E5-497E-542A-B224-C3CB286A24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340F29C-0E35-E521-7AFA-0BDD7B000E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C0B5FC48-3CBE-1C6B-F353-8F3C4238B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720" y="3100692"/>
            <a:ext cx="4762500" cy="3124134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6A6438EF-1E11-9323-23CF-8423A8C00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75292"/>
            <a:ext cx="4762500" cy="3124134"/>
          </a:xfrm>
          <a:prstGeom prst="rect">
            <a:avLst/>
          </a:prstGeom>
        </p:spPr>
      </p:pic>
      <p:graphicFrame>
        <p:nvGraphicFramePr>
          <p:cNvPr id="7" name="Tijdelijke aanduiding voor inhoud 4">
            <a:extLst>
              <a:ext uri="{FF2B5EF4-FFF2-40B4-BE49-F238E27FC236}">
                <a16:creationId xmlns:a16="http://schemas.microsoft.com/office/drawing/2014/main" id="{D980E0AE-E88D-B87F-3294-653FE43EAE76}"/>
              </a:ext>
            </a:extLst>
          </p:cNvPr>
          <p:cNvGraphicFramePr>
            <a:graphicFrameLocks/>
          </p:cNvGraphicFramePr>
          <p:nvPr/>
        </p:nvGraphicFramePr>
        <p:xfrm>
          <a:off x="3154581" y="1093228"/>
          <a:ext cx="1780482" cy="2172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0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1583">
                <a:tc>
                  <a:txBody>
                    <a:bodyPr/>
                    <a:lstStyle/>
                    <a:p>
                      <a:pPr algn="r" fontAlgn="b"/>
                      <a:r>
                        <a:rPr lang="nl-NL" sz="1600" b="1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period</a:t>
                      </a:r>
                      <a:endParaRPr lang="nl-NL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600" b="1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value</a:t>
                      </a:r>
                      <a:endParaRPr lang="nl-NL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583">
                <a:tc>
                  <a:txBody>
                    <a:bodyPr/>
                    <a:lstStyle/>
                    <a:p>
                      <a:pPr algn="r" fontAlgn="b"/>
                      <a:r>
                        <a:rPr lang="nl-NL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1995 Q1</a:t>
                      </a:r>
                      <a:endParaRPr lang="nl-N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116638</a:t>
                      </a:r>
                      <a:endParaRPr lang="nl-N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583">
                <a:tc>
                  <a:txBody>
                    <a:bodyPr/>
                    <a:lstStyle/>
                    <a:p>
                      <a:pPr algn="r" fontAlgn="b"/>
                      <a:r>
                        <a:rPr lang="nl-NL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  <a:endParaRPr lang="nl-N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nl-N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583">
                <a:tc>
                  <a:txBody>
                    <a:bodyPr/>
                    <a:lstStyle/>
                    <a:p>
                      <a:pPr algn="r" fontAlgn="b"/>
                      <a:r>
                        <a:rPr lang="nl-N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nl-N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583">
                <a:tc>
                  <a:txBody>
                    <a:bodyPr/>
                    <a:lstStyle/>
                    <a:p>
                      <a:pPr algn="r" fontAlgn="b"/>
                      <a:r>
                        <a:rPr lang="nl-N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2021 Q2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194174</a:t>
                      </a:r>
                      <a:endParaRPr lang="nl-N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583">
                <a:tc>
                  <a:txBody>
                    <a:bodyPr/>
                    <a:lstStyle/>
                    <a:p>
                      <a:pPr algn="r" fontAlgn="b"/>
                      <a:r>
                        <a:rPr lang="nl-N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2021 Q3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190773</a:t>
                      </a:r>
                      <a:endParaRPr lang="nl-N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583">
                <a:tc>
                  <a:txBody>
                    <a:bodyPr/>
                    <a:lstStyle/>
                    <a:p>
                      <a:pPr algn="r" fontAlgn="b"/>
                      <a:r>
                        <a:rPr lang="nl-N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2021 Q4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199986</a:t>
                      </a:r>
                      <a:endParaRPr lang="nl-N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583">
                <a:tc>
                  <a:txBody>
                    <a:bodyPr/>
                    <a:lstStyle/>
                    <a:p>
                      <a:pPr algn="r" fontAlgn="b"/>
                      <a:r>
                        <a:rPr lang="nl-N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2022 Q1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192842</a:t>
                      </a:r>
                      <a:endParaRPr lang="nl-N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Tijdelijke aanduiding voor inhoud 4">
            <a:extLst>
              <a:ext uri="{FF2B5EF4-FFF2-40B4-BE49-F238E27FC236}">
                <a16:creationId xmlns:a16="http://schemas.microsoft.com/office/drawing/2014/main" id="{6681C031-5671-B579-48B0-BDAD08DCF3C1}"/>
              </a:ext>
            </a:extLst>
          </p:cNvPr>
          <p:cNvGraphicFramePr>
            <a:graphicFrameLocks/>
          </p:cNvGraphicFramePr>
          <p:nvPr/>
        </p:nvGraphicFramePr>
        <p:xfrm>
          <a:off x="7661654" y="1092401"/>
          <a:ext cx="1780482" cy="2172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0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1583">
                <a:tc>
                  <a:txBody>
                    <a:bodyPr/>
                    <a:lstStyle/>
                    <a:p>
                      <a:pPr algn="r" fontAlgn="b"/>
                      <a:r>
                        <a:rPr lang="nl-NL" sz="14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index</a:t>
                      </a:r>
                      <a:endParaRPr lang="nl-NL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400" b="1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value</a:t>
                      </a:r>
                      <a:endParaRPr lang="nl-NL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583">
                <a:tc>
                  <a:txBody>
                    <a:bodyPr/>
                    <a:lstStyle/>
                    <a:p>
                      <a:pPr algn="r" fontAlgn="b"/>
                      <a:r>
                        <a:rPr lang="nl-NL" sz="14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4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116638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583">
                <a:tc>
                  <a:txBody>
                    <a:bodyPr/>
                    <a:lstStyle/>
                    <a:p>
                      <a:pPr algn="r" fontAlgn="b"/>
                      <a:r>
                        <a:rPr lang="nl-NL" sz="14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583">
                <a:tc>
                  <a:txBody>
                    <a:bodyPr/>
                    <a:lstStyle/>
                    <a:p>
                      <a:pPr algn="r" fontAlgn="b"/>
                      <a:r>
                        <a:rPr lang="nl-N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583">
                <a:tc>
                  <a:txBody>
                    <a:bodyPr/>
                    <a:lstStyle/>
                    <a:p>
                      <a:pPr algn="r" fontAlgn="b"/>
                      <a:r>
                        <a:rPr lang="nl-N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4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194174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583">
                <a:tc>
                  <a:txBody>
                    <a:bodyPr/>
                    <a:lstStyle/>
                    <a:p>
                      <a:pPr algn="r" fontAlgn="b"/>
                      <a:r>
                        <a:rPr lang="nl-N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4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190773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583">
                <a:tc>
                  <a:txBody>
                    <a:bodyPr/>
                    <a:lstStyle/>
                    <a:p>
                      <a:pPr algn="r" fontAlgn="b"/>
                      <a:r>
                        <a:rPr lang="nl-N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4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199986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583">
                <a:tc>
                  <a:txBody>
                    <a:bodyPr/>
                    <a:lstStyle/>
                    <a:p>
                      <a:pPr algn="r" fontAlgn="b"/>
                      <a:r>
                        <a:rPr lang="nl-N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l-NL" sz="14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192842</a:t>
                      </a:r>
                      <a:endParaRPr lang="nl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0919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147CF2-6362-D77C-DE37-E23F45E0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1121FB5-7EA3-21D0-AE46-9156313FF3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8A4D51-EA7E-19B5-7B8E-1145EA6321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nl-NL" dirty="0"/>
          </a:p>
          <a:p>
            <a:pPr marL="0" indent="0" algn="ctr">
              <a:buNone/>
            </a:pPr>
            <a:r>
              <a:rPr lang="nl-NL" sz="3200" dirty="0"/>
              <a:t>Out-of-sample:</a:t>
            </a:r>
          </a:p>
          <a:p>
            <a:pPr marL="0" indent="0" algn="ctr">
              <a:buNone/>
            </a:pPr>
            <a:r>
              <a:rPr lang="nl-NL" sz="3200" dirty="0" err="1"/>
              <a:t>Forecasting</a:t>
            </a:r>
            <a:r>
              <a:rPr lang="nl-NL" sz="3200" dirty="0"/>
              <a:t>, </a:t>
            </a:r>
            <a:r>
              <a:rPr lang="nl-NL" sz="3200" dirty="0" err="1"/>
              <a:t>Nowcasting</a:t>
            </a:r>
            <a:r>
              <a:rPr lang="nl-NL" sz="3200" dirty="0"/>
              <a:t>, </a:t>
            </a:r>
            <a:r>
              <a:rPr lang="nl-NL" sz="3200" dirty="0" err="1"/>
              <a:t>rapid</a:t>
            </a:r>
            <a:r>
              <a:rPr lang="nl-NL" sz="3200" dirty="0"/>
              <a:t> </a:t>
            </a:r>
            <a:r>
              <a:rPr lang="nl-NL" sz="3200" dirty="0" err="1"/>
              <a:t>estimates</a:t>
            </a: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3096493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169AFE-5D64-CC56-7693-1EE4E0C1F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The </a:t>
            </a:r>
            <a:r>
              <a:rPr lang="nl-NL" dirty="0" err="1"/>
              <a:t>nowcasting</a:t>
            </a:r>
            <a:r>
              <a:rPr lang="nl-NL" dirty="0"/>
              <a:t> </a:t>
            </a:r>
            <a:r>
              <a:rPr lang="nl-NL" dirty="0" err="1"/>
              <a:t>problem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3226F77-7C12-1157-9B64-0B8F0F5E3D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99DE718-5DF5-A07B-D064-EC37058B61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Mixed </a:t>
            </a:r>
            <a:r>
              <a:rPr lang="nl-NL" dirty="0" err="1"/>
              <a:t>frequencies</a:t>
            </a:r>
            <a:endParaRPr lang="nl-NL" dirty="0"/>
          </a:p>
          <a:p>
            <a:r>
              <a:rPr lang="nl-NL" dirty="0" err="1"/>
              <a:t>Ragged</a:t>
            </a:r>
            <a:r>
              <a:rPr lang="nl-NL" dirty="0"/>
              <a:t> </a:t>
            </a:r>
            <a:r>
              <a:rPr lang="nl-NL" dirty="0" err="1"/>
              <a:t>edges</a:t>
            </a:r>
            <a:endParaRPr lang="nl-NL" dirty="0"/>
          </a:p>
        </p:txBody>
      </p: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68FAAE97-B91D-4322-264B-992EC6139BDE}"/>
              </a:ext>
            </a:extLst>
          </p:cNvPr>
          <p:cNvCxnSpPr/>
          <p:nvPr/>
        </p:nvCxnSpPr>
        <p:spPr>
          <a:xfrm>
            <a:off x="3554633" y="225484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echte verbindingslijn 6">
            <a:extLst>
              <a:ext uri="{FF2B5EF4-FFF2-40B4-BE49-F238E27FC236}">
                <a16:creationId xmlns:a16="http://schemas.microsoft.com/office/drawing/2014/main" id="{39BD7435-2E32-362D-6101-C5060FE8C7BE}"/>
              </a:ext>
            </a:extLst>
          </p:cNvPr>
          <p:cNvCxnSpPr/>
          <p:nvPr/>
        </p:nvCxnSpPr>
        <p:spPr>
          <a:xfrm>
            <a:off x="3554633" y="2398859"/>
            <a:ext cx="424847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0F569043-A002-FC61-C9F5-71268024EA83}"/>
              </a:ext>
            </a:extLst>
          </p:cNvPr>
          <p:cNvCxnSpPr/>
          <p:nvPr/>
        </p:nvCxnSpPr>
        <p:spPr>
          <a:xfrm flipV="1">
            <a:off x="3554633" y="3887795"/>
            <a:ext cx="4608512" cy="4192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6B115445-B8F1-11A1-796A-6C96B30AC69E}"/>
              </a:ext>
            </a:extLst>
          </p:cNvPr>
          <p:cNvCxnSpPr/>
          <p:nvPr/>
        </p:nvCxnSpPr>
        <p:spPr>
          <a:xfrm>
            <a:off x="3554633" y="3743779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320C86C6-67B5-F2EE-25C0-591969CB38EB}"/>
              </a:ext>
            </a:extLst>
          </p:cNvPr>
          <p:cNvCxnSpPr/>
          <p:nvPr/>
        </p:nvCxnSpPr>
        <p:spPr>
          <a:xfrm>
            <a:off x="8163145" y="3743779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DCB30F56-3F8F-71B4-959E-E3955F218AB2}"/>
              </a:ext>
            </a:extLst>
          </p:cNvPr>
          <p:cNvCxnSpPr/>
          <p:nvPr/>
        </p:nvCxnSpPr>
        <p:spPr>
          <a:xfrm>
            <a:off x="7803105" y="2398859"/>
            <a:ext cx="108012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9A860365-9ABC-34DD-8CA5-A19719DE427F}"/>
              </a:ext>
            </a:extLst>
          </p:cNvPr>
          <p:cNvCxnSpPr/>
          <p:nvPr/>
        </p:nvCxnSpPr>
        <p:spPr>
          <a:xfrm>
            <a:off x="8883225" y="225484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935C5B6E-447B-8989-E671-E7F35E98C3ED}"/>
              </a:ext>
            </a:extLst>
          </p:cNvPr>
          <p:cNvCxnSpPr/>
          <p:nvPr/>
        </p:nvCxnSpPr>
        <p:spPr>
          <a:xfrm>
            <a:off x="8883225" y="3743779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echte verbindingslijn 13">
            <a:extLst>
              <a:ext uri="{FF2B5EF4-FFF2-40B4-BE49-F238E27FC236}">
                <a16:creationId xmlns:a16="http://schemas.microsoft.com/office/drawing/2014/main" id="{F4A6606C-37B4-61E6-B23D-C2A21B921684}"/>
              </a:ext>
            </a:extLst>
          </p:cNvPr>
          <p:cNvCxnSpPr/>
          <p:nvPr/>
        </p:nvCxnSpPr>
        <p:spPr>
          <a:xfrm>
            <a:off x="7803105" y="3743779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echte verbindingslijn 14">
            <a:extLst>
              <a:ext uri="{FF2B5EF4-FFF2-40B4-BE49-F238E27FC236}">
                <a16:creationId xmlns:a16="http://schemas.microsoft.com/office/drawing/2014/main" id="{FE2D0325-2934-53E2-5628-95A3153FD1C0}"/>
              </a:ext>
            </a:extLst>
          </p:cNvPr>
          <p:cNvCxnSpPr/>
          <p:nvPr/>
        </p:nvCxnSpPr>
        <p:spPr>
          <a:xfrm>
            <a:off x="7803105" y="225484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echte verbindingslijn 15">
            <a:extLst>
              <a:ext uri="{FF2B5EF4-FFF2-40B4-BE49-F238E27FC236}">
                <a16:creationId xmlns:a16="http://schemas.microsoft.com/office/drawing/2014/main" id="{3B11D3BC-6A3C-0732-AA59-A57947557A4E}"/>
              </a:ext>
            </a:extLst>
          </p:cNvPr>
          <p:cNvCxnSpPr/>
          <p:nvPr/>
        </p:nvCxnSpPr>
        <p:spPr>
          <a:xfrm>
            <a:off x="8523185" y="3743779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echte verbindingslijn 16">
            <a:extLst>
              <a:ext uri="{FF2B5EF4-FFF2-40B4-BE49-F238E27FC236}">
                <a16:creationId xmlns:a16="http://schemas.microsoft.com/office/drawing/2014/main" id="{14B98DA6-C4C9-46D9-5DD7-E0EC56490038}"/>
              </a:ext>
            </a:extLst>
          </p:cNvPr>
          <p:cNvCxnSpPr/>
          <p:nvPr/>
        </p:nvCxnSpPr>
        <p:spPr>
          <a:xfrm>
            <a:off x="8163145" y="3887795"/>
            <a:ext cx="720080" cy="838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17">
            <a:extLst>
              <a:ext uri="{FF2B5EF4-FFF2-40B4-BE49-F238E27FC236}">
                <a16:creationId xmlns:a16="http://schemas.microsoft.com/office/drawing/2014/main" id="{4565998B-E542-F616-4E20-E0993BD6FB79}"/>
              </a:ext>
            </a:extLst>
          </p:cNvPr>
          <p:cNvCxnSpPr/>
          <p:nvPr/>
        </p:nvCxnSpPr>
        <p:spPr>
          <a:xfrm flipV="1">
            <a:off x="3842665" y="4463859"/>
            <a:ext cx="4680520" cy="8384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Rechte verbindingslijn 18">
            <a:extLst>
              <a:ext uri="{FF2B5EF4-FFF2-40B4-BE49-F238E27FC236}">
                <a16:creationId xmlns:a16="http://schemas.microsoft.com/office/drawing/2014/main" id="{C4F6E2C0-5125-7E48-39A8-2AA4A53D405F}"/>
              </a:ext>
            </a:extLst>
          </p:cNvPr>
          <p:cNvCxnSpPr/>
          <p:nvPr/>
        </p:nvCxnSpPr>
        <p:spPr>
          <a:xfrm>
            <a:off x="3842665" y="431984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Rechte verbindingslijn 19">
            <a:extLst>
              <a:ext uri="{FF2B5EF4-FFF2-40B4-BE49-F238E27FC236}">
                <a16:creationId xmlns:a16="http://schemas.microsoft.com/office/drawing/2014/main" id="{F5DB4CAF-ABB4-9B49-1D92-4ABD52B57A6A}"/>
              </a:ext>
            </a:extLst>
          </p:cNvPr>
          <p:cNvCxnSpPr/>
          <p:nvPr/>
        </p:nvCxnSpPr>
        <p:spPr>
          <a:xfrm>
            <a:off x="8163145" y="431984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Rechte verbindingslijn 20">
            <a:extLst>
              <a:ext uri="{FF2B5EF4-FFF2-40B4-BE49-F238E27FC236}">
                <a16:creationId xmlns:a16="http://schemas.microsoft.com/office/drawing/2014/main" id="{13FB2C17-F7E4-9242-5CD4-705C1CCBC6D3}"/>
              </a:ext>
            </a:extLst>
          </p:cNvPr>
          <p:cNvCxnSpPr/>
          <p:nvPr/>
        </p:nvCxnSpPr>
        <p:spPr>
          <a:xfrm>
            <a:off x="8883225" y="431984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Rechte verbindingslijn 21">
            <a:extLst>
              <a:ext uri="{FF2B5EF4-FFF2-40B4-BE49-F238E27FC236}">
                <a16:creationId xmlns:a16="http://schemas.microsoft.com/office/drawing/2014/main" id="{3BFBCA72-A7E4-0EBB-F783-1E2629FFF9C6}"/>
              </a:ext>
            </a:extLst>
          </p:cNvPr>
          <p:cNvCxnSpPr/>
          <p:nvPr/>
        </p:nvCxnSpPr>
        <p:spPr>
          <a:xfrm>
            <a:off x="7803105" y="431984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Rechte verbindingslijn 22">
            <a:extLst>
              <a:ext uri="{FF2B5EF4-FFF2-40B4-BE49-F238E27FC236}">
                <a16:creationId xmlns:a16="http://schemas.microsoft.com/office/drawing/2014/main" id="{B6DD3160-1E82-7BF1-3061-4EF24D911775}"/>
              </a:ext>
            </a:extLst>
          </p:cNvPr>
          <p:cNvCxnSpPr/>
          <p:nvPr/>
        </p:nvCxnSpPr>
        <p:spPr>
          <a:xfrm>
            <a:off x="8523185" y="431984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Rechte verbindingslijn 23">
            <a:extLst>
              <a:ext uri="{FF2B5EF4-FFF2-40B4-BE49-F238E27FC236}">
                <a16:creationId xmlns:a16="http://schemas.microsoft.com/office/drawing/2014/main" id="{EF1E9180-7CB8-8DB0-12B9-30ABBC54988B}"/>
              </a:ext>
            </a:extLst>
          </p:cNvPr>
          <p:cNvCxnSpPr/>
          <p:nvPr/>
        </p:nvCxnSpPr>
        <p:spPr>
          <a:xfrm>
            <a:off x="8091137" y="4463859"/>
            <a:ext cx="792088" cy="838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kstvak 24">
            <a:extLst>
              <a:ext uri="{FF2B5EF4-FFF2-40B4-BE49-F238E27FC236}">
                <a16:creationId xmlns:a16="http://schemas.microsoft.com/office/drawing/2014/main" id="{5978A331-C07E-F76A-C9A9-39E21B51A7AE}"/>
              </a:ext>
            </a:extLst>
          </p:cNvPr>
          <p:cNvSpPr txBox="1"/>
          <p:nvPr/>
        </p:nvSpPr>
        <p:spPr>
          <a:xfrm>
            <a:off x="2906561" y="2182835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B3C72664-06CC-51BC-D306-462722944E70}"/>
              </a:ext>
            </a:extLst>
          </p:cNvPr>
          <p:cNvSpPr txBox="1"/>
          <p:nvPr/>
        </p:nvSpPr>
        <p:spPr>
          <a:xfrm>
            <a:off x="2906561" y="3734487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27" name="Tekstvak 26">
            <a:extLst>
              <a:ext uri="{FF2B5EF4-FFF2-40B4-BE49-F238E27FC236}">
                <a16:creationId xmlns:a16="http://schemas.microsoft.com/office/drawing/2014/main" id="{0ED1FFE8-579C-BE39-FBDD-667E4C8A009E}"/>
              </a:ext>
            </a:extLst>
          </p:cNvPr>
          <p:cNvSpPr txBox="1"/>
          <p:nvPr/>
        </p:nvSpPr>
        <p:spPr>
          <a:xfrm>
            <a:off x="2906561" y="4238543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tx1"/>
                </a:solidFill>
              </a:rPr>
              <a:t>M</a:t>
            </a:r>
          </a:p>
        </p:txBody>
      </p:sp>
      <p:cxnSp>
        <p:nvCxnSpPr>
          <p:cNvPr id="28" name="Rechte verbindingslijn 27">
            <a:extLst>
              <a:ext uri="{FF2B5EF4-FFF2-40B4-BE49-F238E27FC236}">
                <a16:creationId xmlns:a16="http://schemas.microsoft.com/office/drawing/2014/main" id="{8F172D2E-BFD7-7AE4-E4B6-B821A7B4334B}"/>
              </a:ext>
            </a:extLst>
          </p:cNvPr>
          <p:cNvCxnSpPr/>
          <p:nvPr/>
        </p:nvCxnSpPr>
        <p:spPr>
          <a:xfrm flipH="1">
            <a:off x="7803105" y="2398859"/>
            <a:ext cx="108012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28">
            <a:extLst>
              <a:ext uri="{FF2B5EF4-FFF2-40B4-BE49-F238E27FC236}">
                <a16:creationId xmlns:a16="http://schemas.microsoft.com/office/drawing/2014/main" id="{412DB795-E1C9-AF5C-6DD5-E8F3383C3CB6}"/>
              </a:ext>
            </a:extLst>
          </p:cNvPr>
          <p:cNvCxnSpPr/>
          <p:nvPr/>
        </p:nvCxnSpPr>
        <p:spPr>
          <a:xfrm>
            <a:off x="6722985" y="225484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Rechte verbindingslijn 29">
            <a:extLst>
              <a:ext uri="{FF2B5EF4-FFF2-40B4-BE49-F238E27FC236}">
                <a16:creationId xmlns:a16="http://schemas.microsoft.com/office/drawing/2014/main" id="{BA5C512A-E6CA-C868-E3F0-E988ABDF1454}"/>
              </a:ext>
            </a:extLst>
          </p:cNvPr>
          <p:cNvCxnSpPr/>
          <p:nvPr/>
        </p:nvCxnSpPr>
        <p:spPr>
          <a:xfrm>
            <a:off x="5642865" y="225484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30">
            <a:extLst>
              <a:ext uri="{FF2B5EF4-FFF2-40B4-BE49-F238E27FC236}">
                <a16:creationId xmlns:a16="http://schemas.microsoft.com/office/drawing/2014/main" id="{E7E75BC5-67F0-9E09-C20D-BBE10C8068C5}"/>
              </a:ext>
            </a:extLst>
          </p:cNvPr>
          <p:cNvCxnSpPr/>
          <p:nvPr/>
        </p:nvCxnSpPr>
        <p:spPr>
          <a:xfrm>
            <a:off x="4562745" y="225484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Rechte verbindingslijn 31">
            <a:extLst>
              <a:ext uri="{FF2B5EF4-FFF2-40B4-BE49-F238E27FC236}">
                <a16:creationId xmlns:a16="http://schemas.microsoft.com/office/drawing/2014/main" id="{5C94CC51-D4A5-EF9B-FD39-F8B7A60D116B}"/>
              </a:ext>
            </a:extLst>
          </p:cNvPr>
          <p:cNvCxnSpPr/>
          <p:nvPr/>
        </p:nvCxnSpPr>
        <p:spPr>
          <a:xfrm>
            <a:off x="7443065" y="3743779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Rechte verbindingslijn 32">
            <a:extLst>
              <a:ext uri="{FF2B5EF4-FFF2-40B4-BE49-F238E27FC236}">
                <a16:creationId xmlns:a16="http://schemas.microsoft.com/office/drawing/2014/main" id="{572CCE16-E9B6-4A51-D6F9-BE9D67EE6F99}"/>
              </a:ext>
            </a:extLst>
          </p:cNvPr>
          <p:cNvCxnSpPr/>
          <p:nvPr/>
        </p:nvCxnSpPr>
        <p:spPr>
          <a:xfrm>
            <a:off x="7443065" y="3743779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echte verbindingslijn 33">
            <a:extLst>
              <a:ext uri="{FF2B5EF4-FFF2-40B4-BE49-F238E27FC236}">
                <a16:creationId xmlns:a16="http://schemas.microsoft.com/office/drawing/2014/main" id="{0702C604-CEA5-9807-7CFE-62B28999DF17}"/>
              </a:ext>
            </a:extLst>
          </p:cNvPr>
          <p:cNvCxnSpPr/>
          <p:nvPr/>
        </p:nvCxnSpPr>
        <p:spPr>
          <a:xfrm>
            <a:off x="7083025" y="3743779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Rechte verbindingslijn 34">
            <a:extLst>
              <a:ext uri="{FF2B5EF4-FFF2-40B4-BE49-F238E27FC236}">
                <a16:creationId xmlns:a16="http://schemas.microsoft.com/office/drawing/2014/main" id="{87F975B4-DED1-E6DF-E8E8-9525F11EC492}"/>
              </a:ext>
            </a:extLst>
          </p:cNvPr>
          <p:cNvCxnSpPr/>
          <p:nvPr/>
        </p:nvCxnSpPr>
        <p:spPr>
          <a:xfrm>
            <a:off x="7803105" y="3743779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echte verbindingslijn 35">
            <a:extLst>
              <a:ext uri="{FF2B5EF4-FFF2-40B4-BE49-F238E27FC236}">
                <a16:creationId xmlns:a16="http://schemas.microsoft.com/office/drawing/2014/main" id="{CCD27083-0858-1995-1AB4-7506D1DD4ED6}"/>
              </a:ext>
            </a:extLst>
          </p:cNvPr>
          <p:cNvCxnSpPr/>
          <p:nvPr/>
        </p:nvCxnSpPr>
        <p:spPr>
          <a:xfrm>
            <a:off x="6722985" y="3743779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36">
            <a:extLst>
              <a:ext uri="{FF2B5EF4-FFF2-40B4-BE49-F238E27FC236}">
                <a16:creationId xmlns:a16="http://schemas.microsoft.com/office/drawing/2014/main" id="{8989EC7E-33E0-D398-C53F-9D606E8CDAB4}"/>
              </a:ext>
            </a:extLst>
          </p:cNvPr>
          <p:cNvCxnSpPr/>
          <p:nvPr/>
        </p:nvCxnSpPr>
        <p:spPr>
          <a:xfrm>
            <a:off x="6362945" y="3743779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F076967A-9125-DA05-C867-64192BA7FD5B}"/>
              </a:ext>
            </a:extLst>
          </p:cNvPr>
          <p:cNvCxnSpPr/>
          <p:nvPr/>
        </p:nvCxnSpPr>
        <p:spPr>
          <a:xfrm>
            <a:off x="7083025" y="3743779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38">
            <a:extLst>
              <a:ext uri="{FF2B5EF4-FFF2-40B4-BE49-F238E27FC236}">
                <a16:creationId xmlns:a16="http://schemas.microsoft.com/office/drawing/2014/main" id="{EDA911BC-EA92-2563-44D7-A1E4B14B9E56}"/>
              </a:ext>
            </a:extLst>
          </p:cNvPr>
          <p:cNvCxnSpPr/>
          <p:nvPr/>
        </p:nvCxnSpPr>
        <p:spPr>
          <a:xfrm>
            <a:off x="6002905" y="3743779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Rechte verbindingslijn 39">
            <a:extLst>
              <a:ext uri="{FF2B5EF4-FFF2-40B4-BE49-F238E27FC236}">
                <a16:creationId xmlns:a16="http://schemas.microsoft.com/office/drawing/2014/main" id="{5E3090B9-542D-6821-DD91-87942A6E77D9}"/>
              </a:ext>
            </a:extLst>
          </p:cNvPr>
          <p:cNvCxnSpPr/>
          <p:nvPr/>
        </p:nvCxnSpPr>
        <p:spPr>
          <a:xfrm>
            <a:off x="5642865" y="3743779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Rechte verbindingslijn 40">
            <a:extLst>
              <a:ext uri="{FF2B5EF4-FFF2-40B4-BE49-F238E27FC236}">
                <a16:creationId xmlns:a16="http://schemas.microsoft.com/office/drawing/2014/main" id="{9A75951E-82C8-DE7D-994A-3713B648B781}"/>
              </a:ext>
            </a:extLst>
          </p:cNvPr>
          <p:cNvCxnSpPr/>
          <p:nvPr/>
        </p:nvCxnSpPr>
        <p:spPr>
          <a:xfrm>
            <a:off x="6362945" y="3743779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41">
            <a:extLst>
              <a:ext uri="{FF2B5EF4-FFF2-40B4-BE49-F238E27FC236}">
                <a16:creationId xmlns:a16="http://schemas.microsoft.com/office/drawing/2014/main" id="{F9050741-2C70-15F0-0761-022E69D9F6A1}"/>
              </a:ext>
            </a:extLst>
          </p:cNvPr>
          <p:cNvCxnSpPr/>
          <p:nvPr/>
        </p:nvCxnSpPr>
        <p:spPr>
          <a:xfrm>
            <a:off x="5282825" y="3743779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Rechte verbindingslijn 42">
            <a:extLst>
              <a:ext uri="{FF2B5EF4-FFF2-40B4-BE49-F238E27FC236}">
                <a16:creationId xmlns:a16="http://schemas.microsoft.com/office/drawing/2014/main" id="{5631CC99-ACDE-02C8-60E0-52B91F9BCCEB}"/>
              </a:ext>
            </a:extLst>
          </p:cNvPr>
          <p:cNvCxnSpPr/>
          <p:nvPr/>
        </p:nvCxnSpPr>
        <p:spPr>
          <a:xfrm>
            <a:off x="4922785" y="3743779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Rechte verbindingslijn 43">
            <a:extLst>
              <a:ext uri="{FF2B5EF4-FFF2-40B4-BE49-F238E27FC236}">
                <a16:creationId xmlns:a16="http://schemas.microsoft.com/office/drawing/2014/main" id="{BE724954-B1C3-B4B1-BBF6-BB029780CB8C}"/>
              </a:ext>
            </a:extLst>
          </p:cNvPr>
          <p:cNvCxnSpPr/>
          <p:nvPr/>
        </p:nvCxnSpPr>
        <p:spPr>
          <a:xfrm>
            <a:off x="5642865" y="3743779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Rechte verbindingslijn 44">
            <a:extLst>
              <a:ext uri="{FF2B5EF4-FFF2-40B4-BE49-F238E27FC236}">
                <a16:creationId xmlns:a16="http://schemas.microsoft.com/office/drawing/2014/main" id="{8EB4022C-71E7-48CA-8F25-9B376A578813}"/>
              </a:ext>
            </a:extLst>
          </p:cNvPr>
          <p:cNvCxnSpPr/>
          <p:nvPr/>
        </p:nvCxnSpPr>
        <p:spPr>
          <a:xfrm>
            <a:off x="4562745" y="3743779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Rechte verbindingslijn 45">
            <a:extLst>
              <a:ext uri="{FF2B5EF4-FFF2-40B4-BE49-F238E27FC236}">
                <a16:creationId xmlns:a16="http://schemas.microsoft.com/office/drawing/2014/main" id="{887A18D3-FCFE-D228-74F2-39F8470EB512}"/>
              </a:ext>
            </a:extLst>
          </p:cNvPr>
          <p:cNvCxnSpPr/>
          <p:nvPr/>
        </p:nvCxnSpPr>
        <p:spPr>
          <a:xfrm>
            <a:off x="4202705" y="3743779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C11C9999-A947-90F9-4B47-47F034E35A22}"/>
              </a:ext>
            </a:extLst>
          </p:cNvPr>
          <p:cNvCxnSpPr/>
          <p:nvPr/>
        </p:nvCxnSpPr>
        <p:spPr>
          <a:xfrm>
            <a:off x="4922785" y="3743779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47">
            <a:extLst>
              <a:ext uri="{FF2B5EF4-FFF2-40B4-BE49-F238E27FC236}">
                <a16:creationId xmlns:a16="http://schemas.microsoft.com/office/drawing/2014/main" id="{7A22A7B7-F72E-267A-B31F-79FAFEB4421E}"/>
              </a:ext>
            </a:extLst>
          </p:cNvPr>
          <p:cNvCxnSpPr/>
          <p:nvPr/>
        </p:nvCxnSpPr>
        <p:spPr>
          <a:xfrm>
            <a:off x="7443065" y="431984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Rechte verbindingslijn 48">
            <a:extLst>
              <a:ext uri="{FF2B5EF4-FFF2-40B4-BE49-F238E27FC236}">
                <a16:creationId xmlns:a16="http://schemas.microsoft.com/office/drawing/2014/main" id="{C349A709-AFC3-164B-C573-48D01E56EEF0}"/>
              </a:ext>
            </a:extLst>
          </p:cNvPr>
          <p:cNvCxnSpPr/>
          <p:nvPr/>
        </p:nvCxnSpPr>
        <p:spPr>
          <a:xfrm>
            <a:off x="7803105" y="431984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Rechte verbindingslijn 49">
            <a:extLst>
              <a:ext uri="{FF2B5EF4-FFF2-40B4-BE49-F238E27FC236}">
                <a16:creationId xmlns:a16="http://schemas.microsoft.com/office/drawing/2014/main" id="{680884E3-B60B-0C9F-CD6C-CB9C4421A0A7}"/>
              </a:ext>
            </a:extLst>
          </p:cNvPr>
          <p:cNvCxnSpPr/>
          <p:nvPr/>
        </p:nvCxnSpPr>
        <p:spPr>
          <a:xfrm>
            <a:off x="6722985" y="431984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Rechte verbindingslijn 50">
            <a:extLst>
              <a:ext uri="{FF2B5EF4-FFF2-40B4-BE49-F238E27FC236}">
                <a16:creationId xmlns:a16="http://schemas.microsoft.com/office/drawing/2014/main" id="{F7410003-876E-3CE4-81FD-47899F841B3B}"/>
              </a:ext>
            </a:extLst>
          </p:cNvPr>
          <p:cNvCxnSpPr/>
          <p:nvPr/>
        </p:nvCxnSpPr>
        <p:spPr>
          <a:xfrm>
            <a:off x="7083025" y="431984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Rechte verbindingslijn 51">
            <a:extLst>
              <a:ext uri="{FF2B5EF4-FFF2-40B4-BE49-F238E27FC236}">
                <a16:creationId xmlns:a16="http://schemas.microsoft.com/office/drawing/2014/main" id="{420D61E0-033F-C1D5-3F65-547215D18559}"/>
              </a:ext>
            </a:extLst>
          </p:cNvPr>
          <p:cNvCxnSpPr/>
          <p:nvPr/>
        </p:nvCxnSpPr>
        <p:spPr>
          <a:xfrm>
            <a:off x="6002905" y="431984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Rechte verbindingslijn 52">
            <a:extLst>
              <a:ext uri="{FF2B5EF4-FFF2-40B4-BE49-F238E27FC236}">
                <a16:creationId xmlns:a16="http://schemas.microsoft.com/office/drawing/2014/main" id="{1F5792FE-F89F-9002-36A8-7F7CBAB9A165}"/>
              </a:ext>
            </a:extLst>
          </p:cNvPr>
          <p:cNvCxnSpPr/>
          <p:nvPr/>
        </p:nvCxnSpPr>
        <p:spPr>
          <a:xfrm>
            <a:off x="6362945" y="431984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Rechte verbindingslijn 53">
            <a:extLst>
              <a:ext uri="{FF2B5EF4-FFF2-40B4-BE49-F238E27FC236}">
                <a16:creationId xmlns:a16="http://schemas.microsoft.com/office/drawing/2014/main" id="{BC1D2ED6-5368-0EE3-70C5-923B350144D9}"/>
              </a:ext>
            </a:extLst>
          </p:cNvPr>
          <p:cNvCxnSpPr/>
          <p:nvPr/>
        </p:nvCxnSpPr>
        <p:spPr>
          <a:xfrm>
            <a:off x="5282825" y="431984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Rechte verbindingslijn 54">
            <a:extLst>
              <a:ext uri="{FF2B5EF4-FFF2-40B4-BE49-F238E27FC236}">
                <a16:creationId xmlns:a16="http://schemas.microsoft.com/office/drawing/2014/main" id="{E7A79000-67BD-F8D5-5C7C-CF9A6FA164FC}"/>
              </a:ext>
            </a:extLst>
          </p:cNvPr>
          <p:cNvCxnSpPr/>
          <p:nvPr/>
        </p:nvCxnSpPr>
        <p:spPr>
          <a:xfrm>
            <a:off x="4922785" y="431984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Rechte verbindingslijn 55">
            <a:extLst>
              <a:ext uri="{FF2B5EF4-FFF2-40B4-BE49-F238E27FC236}">
                <a16:creationId xmlns:a16="http://schemas.microsoft.com/office/drawing/2014/main" id="{90BFF8AD-FD57-D374-A8D8-C68FB21AA175}"/>
              </a:ext>
            </a:extLst>
          </p:cNvPr>
          <p:cNvCxnSpPr/>
          <p:nvPr/>
        </p:nvCxnSpPr>
        <p:spPr>
          <a:xfrm>
            <a:off x="5642865" y="431984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Rechte verbindingslijn 56">
            <a:extLst>
              <a:ext uri="{FF2B5EF4-FFF2-40B4-BE49-F238E27FC236}">
                <a16:creationId xmlns:a16="http://schemas.microsoft.com/office/drawing/2014/main" id="{05355AE3-6024-1896-81EA-0656EAAD84F0}"/>
              </a:ext>
            </a:extLst>
          </p:cNvPr>
          <p:cNvCxnSpPr/>
          <p:nvPr/>
        </p:nvCxnSpPr>
        <p:spPr>
          <a:xfrm>
            <a:off x="4922785" y="431984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Rechte verbindingslijn 57">
            <a:extLst>
              <a:ext uri="{FF2B5EF4-FFF2-40B4-BE49-F238E27FC236}">
                <a16:creationId xmlns:a16="http://schemas.microsoft.com/office/drawing/2014/main" id="{34746A70-F2AF-F0EE-8E51-F050E2C95413}"/>
              </a:ext>
            </a:extLst>
          </p:cNvPr>
          <p:cNvCxnSpPr/>
          <p:nvPr/>
        </p:nvCxnSpPr>
        <p:spPr>
          <a:xfrm>
            <a:off x="4562745" y="431984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Rechte verbindingslijn 58">
            <a:extLst>
              <a:ext uri="{FF2B5EF4-FFF2-40B4-BE49-F238E27FC236}">
                <a16:creationId xmlns:a16="http://schemas.microsoft.com/office/drawing/2014/main" id="{5E8A1E5C-7432-6A43-F9F3-6173CC67A615}"/>
              </a:ext>
            </a:extLst>
          </p:cNvPr>
          <p:cNvCxnSpPr/>
          <p:nvPr/>
        </p:nvCxnSpPr>
        <p:spPr>
          <a:xfrm>
            <a:off x="4562745" y="431984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Rechte verbindingslijn 59">
            <a:extLst>
              <a:ext uri="{FF2B5EF4-FFF2-40B4-BE49-F238E27FC236}">
                <a16:creationId xmlns:a16="http://schemas.microsoft.com/office/drawing/2014/main" id="{A4F1141F-4E01-CC5D-4911-2CD260E92A74}"/>
              </a:ext>
            </a:extLst>
          </p:cNvPr>
          <p:cNvCxnSpPr/>
          <p:nvPr/>
        </p:nvCxnSpPr>
        <p:spPr>
          <a:xfrm>
            <a:off x="4202705" y="431984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Rechte verbindingslijn 60">
            <a:extLst>
              <a:ext uri="{FF2B5EF4-FFF2-40B4-BE49-F238E27FC236}">
                <a16:creationId xmlns:a16="http://schemas.microsoft.com/office/drawing/2014/main" id="{6B12DC03-7EEA-4178-72A3-93DBFACA53AE}"/>
              </a:ext>
            </a:extLst>
          </p:cNvPr>
          <p:cNvCxnSpPr/>
          <p:nvPr/>
        </p:nvCxnSpPr>
        <p:spPr>
          <a:xfrm>
            <a:off x="3842665" y="3743779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Rechte verbindingslijn 61">
            <a:extLst>
              <a:ext uri="{FF2B5EF4-FFF2-40B4-BE49-F238E27FC236}">
                <a16:creationId xmlns:a16="http://schemas.microsoft.com/office/drawing/2014/main" id="{58BCAE03-6FA9-B343-AC53-E2CB2C9278BC}"/>
              </a:ext>
            </a:extLst>
          </p:cNvPr>
          <p:cNvCxnSpPr/>
          <p:nvPr/>
        </p:nvCxnSpPr>
        <p:spPr>
          <a:xfrm>
            <a:off x="4202705" y="3743779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Rechte verbindingslijn 63">
            <a:extLst>
              <a:ext uri="{FF2B5EF4-FFF2-40B4-BE49-F238E27FC236}">
                <a16:creationId xmlns:a16="http://schemas.microsoft.com/office/drawing/2014/main" id="{A2396E47-5200-7FC3-94F1-17AF39F51C80}"/>
              </a:ext>
            </a:extLst>
          </p:cNvPr>
          <p:cNvCxnSpPr/>
          <p:nvPr/>
        </p:nvCxnSpPr>
        <p:spPr>
          <a:xfrm>
            <a:off x="3554633" y="318448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Rechte verbindingslijn 64">
            <a:extLst>
              <a:ext uri="{FF2B5EF4-FFF2-40B4-BE49-F238E27FC236}">
                <a16:creationId xmlns:a16="http://schemas.microsoft.com/office/drawing/2014/main" id="{E16AAA60-8D57-6FFA-564D-510F6286885B}"/>
              </a:ext>
            </a:extLst>
          </p:cNvPr>
          <p:cNvCxnSpPr/>
          <p:nvPr/>
        </p:nvCxnSpPr>
        <p:spPr>
          <a:xfrm>
            <a:off x="3554633" y="3328499"/>
            <a:ext cx="532859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Rechte verbindingslijn 65">
            <a:extLst>
              <a:ext uri="{FF2B5EF4-FFF2-40B4-BE49-F238E27FC236}">
                <a16:creationId xmlns:a16="http://schemas.microsoft.com/office/drawing/2014/main" id="{D9EA7DF2-D371-3A76-00FD-C341C28FF636}"/>
              </a:ext>
            </a:extLst>
          </p:cNvPr>
          <p:cNvCxnSpPr/>
          <p:nvPr/>
        </p:nvCxnSpPr>
        <p:spPr>
          <a:xfrm>
            <a:off x="7803105" y="3328499"/>
            <a:ext cx="108012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Rechte verbindingslijn 66">
            <a:extLst>
              <a:ext uri="{FF2B5EF4-FFF2-40B4-BE49-F238E27FC236}">
                <a16:creationId xmlns:a16="http://schemas.microsoft.com/office/drawing/2014/main" id="{36E376DC-266A-6942-24F7-9961CB32B513}"/>
              </a:ext>
            </a:extLst>
          </p:cNvPr>
          <p:cNvCxnSpPr/>
          <p:nvPr/>
        </p:nvCxnSpPr>
        <p:spPr>
          <a:xfrm>
            <a:off x="8883225" y="318448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Rechte verbindingslijn 67">
            <a:extLst>
              <a:ext uri="{FF2B5EF4-FFF2-40B4-BE49-F238E27FC236}">
                <a16:creationId xmlns:a16="http://schemas.microsoft.com/office/drawing/2014/main" id="{6C60E910-325D-8B07-6EFF-4B480DDFBA5E}"/>
              </a:ext>
            </a:extLst>
          </p:cNvPr>
          <p:cNvCxnSpPr/>
          <p:nvPr/>
        </p:nvCxnSpPr>
        <p:spPr>
          <a:xfrm>
            <a:off x="7803105" y="318448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Rechte verbindingslijn 68">
            <a:extLst>
              <a:ext uri="{FF2B5EF4-FFF2-40B4-BE49-F238E27FC236}">
                <a16:creationId xmlns:a16="http://schemas.microsoft.com/office/drawing/2014/main" id="{3360D3A7-1D2B-FF61-9A42-9D8D847F6884}"/>
              </a:ext>
            </a:extLst>
          </p:cNvPr>
          <p:cNvCxnSpPr/>
          <p:nvPr/>
        </p:nvCxnSpPr>
        <p:spPr>
          <a:xfrm>
            <a:off x="6722985" y="318448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Rechte verbindingslijn 69">
            <a:extLst>
              <a:ext uri="{FF2B5EF4-FFF2-40B4-BE49-F238E27FC236}">
                <a16:creationId xmlns:a16="http://schemas.microsoft.com/office/drawing/2014/main" id="{7DF70DF0-2D9F-A161-BA54-92980532DE8D}"/>
              </a:ext>
            </a:extLst>
          </p:cNvPr>
          <p:cNvCxnSpPr/>
          <p:nvPr/>
        </p:nvCxnSpPr>
        <p:spPr>
          <a:xfrm>
            <a:off x="5642865" y="318448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Rechte verbindingslijn 70">
            <a:extLst>
              <a:ext uri="{FF2B5EF4-FFF2-40B4-BE49-F238E27FC236}">
                <a16:creationId xmlns:a16="http://schemas.microsoft.com/office/drawing/2014/main" id="{61C55DA9-3C91-2395-6DF0-675CB5B3E074}"/>
              </a:ext>
            </a:extLst>
          </p:cNvPr>
          <p:cNvCxnSpPr/>
          <p:nvPr/>
        </p:nvCxnSpPr>
        <p:spPr>
          <a:xfrm>
            <a:off x="4562745" y="318448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kstvak 71">
            <a:extLst>
              <a:ext uri="{FF2B5EF4-FFF2-40B4-BE49-F238E27FC236}">
                <a16:creationId xmlns:a16="http://schemas.microsoft.com/office/drawing/2014/main" id="{A647B017-27CD-AF90-CF96-F3CC952CA622}"/>
              </a:ext>
            </a:extLst>
          </p:cNvPr>
          <p:cNvSpPr txBox="1"/>
          <p:nvPr/>
        </p:nvSpPr>
        <p:spPr>
          <a:xfrm>
            <a:off x="2906561" y="3126705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73" name="Tekstvak 72">
            <a:extLst>
              <a:ext uri="{FF2B5EF4-FFF2-40B4-BE49-F238E27FC236}">
                <a16:creationId xmlns:a16="http://schemas.microsoft.com/office/drawing/2014/main" id="{B0B34D8C-5379-CA57-15AF-CC05D9A7F00A}"/>
              </a:ext>
            </a:extLst>
          </p:cNvPr>
          <p:cNvSpPr txBox="1"/>
          <p:nvPr/>
        </p:nvSpPr>
        <p:spPr>
          <a:xfrm>
            <a:off x="8235153" y="2118593"/>
            <a:ext cx="504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b="0" dirty="0">
                <a:solidFill>
                  <a:schemeClr val="tx1"/>
                </a:solidFill>
              </a:rPr>
              <a:t>?</a:t>
            </a:r>
            <a:endParaRPr lang="nl-NL" sz="1800" b="0" dirty="0">
              <a:solidFill>
                <a:schemeClr val="tx1"/>
              </a:solidFill>
            </a:endParaRPr>
          </a:p>
        </p:txBody>
      </p:sp>
      <p:sp>
        <p:nvSpPr>
          <p:cNvPr id="74" name="Tekstvak 73">
            <a:extLst>
              <a:ext uri="{FF2B5EF4-FFF2-40B4-BE49-F238E27FC236}">
                <a16:creationId xmlns:a16="http://schemas.microsoft.com/office/drawing/2014/main" id="{D64051C5-14D1-F998-C9AF-8235495C9AC6}"/>
              </a:ext>
            </a:extLst>
          </p:cNvPr>
          <p:cNvSpPr txBox="1"/>
          <p:nvPr/>
        </p:nvSpPr>
        <p:spPr>
          <a:xfrm>
            <a:off x="5727751" y="4745639"/>
            <a:ext cx="1201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>
                <a:sym typeface="Wingdings" panose="05000000000000000000" pitchFamily="2" charset="2"/>
              </a:rPr>
              <a:t> </a:t>
            </a:r>
            <a:r>
              <a:rPr lang="nl-NL" sz="1600" dirty="0">
                <a:solidFill>
                  <a:schemeClr val="tx1"/>
                </a:solidFill>
                <a:sym typeface="Wingdings" panose="05000000000000000000" pitchFamily="2" charset="2"/>
              </a:rPr>
              <a:t>→ time</a:t>
            </a:r>
            <a:endParaRPr lang="nl-NL" sz="1600" dirty="0">
              <a:solidFill>
                <a:schemeClr val="tx1"/>
              </a:solidFill>
            </a:endParaRPr>
          </a:p>
        </p:txBody>
      </p:sp>
      <p:sp>
        <p:nvSpPr>
          <p:cNvPr id="75" name="Tekstvak 74">
            <a:extLst>
              <a:ext uri="{FF2B5EF4-FFF2-40B4-BE49-F238E27FC236}">
                <a16:creationId xmlns:a16="http://schemas.microsoft.com/office/drawing/2014/main" id="{DAD6BF40-CE4A-A2BC-C508-CD7DCF0248C2}"/>
              </a:ext>
            </a:extLst>
          </p:cNvPr>
          <p:cNvSpPr txBox="1"/>
          <p:nvPr/>
        </p:nvSpPr>
        <p:spPr>
          <a:xfrm>
            <a:off x="8470886" y="1104621"/>
            <a:ext cx="10904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>
                <a:sym typeface="Wingdings" panose="05000000000000000000" pitchFamily="2" charset="2"/>
              </a:rPr>
              <a:t>     </a:t>
            </a:r>
          </a:p>
          <a:p>
            <a:r>
              <a:rPr lang="nl-NL" sz="1600" dirty="0" err="1">
                <a:solidFill>
                  <a:schemeClr val="tx1"/>
                </a:solidFill>
                <a:sym typeface="Wingdings" panose="05000000000000000000" pitchFamily="2" charset="2"/>
              </a:rPr>
              <a:t>Current</a:t>
            </a:r>
            <a:r>
              <a:rPr lang="nl-NL" sz="1600" dirty="0">
                <a:solidFill>
                  <a:schemeClr val="tx1"/>
                </a:solidFill>
                <a:sym typeface="Wingdings" panose="05000000000000000000" pitchFamily="2" charset="2"/>
              </a:rPr>
              <a:t> time</a:t>
            </a:r>
          </a:p>
          <a:p>
            <a:r>
              <a:rPr lang="nl-NL" sz="1600" dirty="0">
                <a:solidFill>
                  <a:schemeClr val="tx1"/>
                </a:solidFill>
                <a:sym typeface="Wingdings" panose="05000000000000000000" pitchFamily="2" charset="2"/>
              </a:rPr>
              <a:t>     ↓</a:t>
            </a:r>
            <a:endParaRPr lang="nl-NL" sz="1600" dirty="0">
              <a:solidFill>
                <a:schemeClr val="tx1"/>
              </a:solidFill>
            </a:endParaRPr>
          </a:p>
        </p:txBody>
      </p:sp>
      <p:sp>
        <p:nvSpPr>
          <p:cNvPr id="76" name="Tekstvak 75">
            <a:extLst>
              <a:ext uri="{FF2B5EF4-FFF2-40B4-BE49-F238E27FC236}">
                <a16:creationId xmlns:a16="http://schemas.microsoft.com/office/drawing/2014/main" id="{B688EA08-5B72-8082-A46B-162FC6CBD4A1}"/>
              </a:ext>
            </a:extLst>
          </p:cNvPr>
          <p:cNvSpPr txBox="1"/>
          <p:nvPr/>
        </p:nvSpPr>
        <p:spPr>
          <a:xfrm>
            <a:off x="9507488" y="2123265"/>
            <a:ext cx="1069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b="0" dirty="0">
                <a:solidFill>
                  <a:schemeClr val="tx1"/>
                </a:solidFill>
              </a:rPr>
              <a:t>Target</a:t>
            </a:r>
          </a:p>
          <a:p>
            <a:r>
              <a:rPr lang="nl-NL" sz="1600" b="0" dirty="0">
                <a:solidFill>
                  <a:schemeClr val="tx1"/>
                </a:solidFill>
              </a:rPr>
              <a:t>Series </a:t>
            </a:r>
          </a:p>
        </p:txBody>
      </p:sp>
      <p:sp>
        <p:nvSpPr>
          <p:cNvPr id="77" name="Tekstvak 76">
            <a:extLst>
              <a:ext uri="{FF2B5EF4-FFF2-40B4-BE49-F238E27FC236}">
                <a16:creationId xmlns:a16="http://schemas.microsoft.com/office/drawing/2014/main" id="{6625DCAF-AECD-CFDC-F922-A02B61B034AE}"/>
              </a:ext>
            </a:extLst>
          </p:cNvPr>
          <p:cNvSpPr txBox="1"/>
          <p:nvPr/>
        </p:nvSpPr>
        <p:spPr>
          <a:xfrm>
            <a:off x="9497144" y="3137623"/>
            <a:ext cx="1069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b="0" dirty="0" err="1">
                <a:solidFill>
                  <a:schemeClr val="tx1"/>
                </a:solidFill>
              </a:rPr>
              <a:t>Auxiliary</a:t>
            </a:r>
            <a:endParaRPr lang="nl-NL" sz="1600" b="0" dirty="0">
              <a:solidFill>
                <a:schemeClr val="tx1"/>
              </a:solidFill>
            </a:endParaRPr>
          </a:p>
          <a:p>
            <a:r>
              <a:rPr lang="nl-NL" sz="1600" b="0" dirty="0">
                <a:solidFill>
                  <a:schemeClr val="tx1"/>
                </a:solidFill>
              </a:rPr>
              <a:t>Series </a:t>
            </a:r>
          </a:p>
        </p:txBody>
      </p:sp>
    </p:spTree>
    <p:extLst>
      <p:ext uri="{BB962C8B-B14F-4D97-AF65-F5344CB8AC3E}">
        <p14:creationId xmlns:p14="http://schemas.microsoft.com/office/powerpoint/2010/main" val="2804580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72" grpId="0"/>
      <p:bldP spid="74" grpId="0"/>
      <p:bldP spid="7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D3D0A6-43F9-902C-4DB1-690783163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Flash </a:t>
            </a:r>
            <a:r>
              <a:rPr lang="nl-NL" dirty="0" err="1"/>
              <a:t>estimates</a:t>
            </a:r>
            <a:r>
              <a:rPr lang="nl-NL" dirty="0"/>
              <a:t> </a:t>
            </a:r>
            <a:r>
              <a:rPr lang="nl-NL" dirty="0" err="1"/>
              <a:t>vs</a:t>
            </a:r>
            <a:r>
              <a:rPr lang="nl-NL" dirty="0"/>
              <a:t> </a:t>
            </a:r>
            <a:r>
              <a:rPr lang="nl-NL" dirty="0" err="1"/>
              <a:t>nowcasting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1EE40E0-4A14-9B50-C479-7EA337882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E820CE8-ED95-48A5-3C50-C35C61EB341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u="sng" dirty="0"/>
              <a:t>Flash estimate </a:t>
            </a:r>
            <a:r>
              <a:rPr lang="nl-NL" sz="2400" dirty="0"/>
              <a:t>(</a:t>
            </a:r>
            <a:r>
              <a:rPr lang="nl-NL" sz="2400" dirty="0" err="1"/>
              <a:t>Eurostat</a:t>
            </a:r>
            <a:r>
              <a:rPr lang="nl-NL" sz="2400" dirty="0"/>
              <a:t>/</a:t>
            </a:r>
            <a:r>
              <a:rPr lang="en-US" sz="2400" dirty="0"/>
              <a:t>United Nations*, 2017, 2.3) </a:t>
            </a:r>
          </a:p>
          <a:p>
            <a:r>
              <a:rPr lang="en-US" sz="2400" dirty="0"/>
              <a:t>An </a:t>
            </a:r>
            <a:r>
              <a:rPr lang="en-US" sz="2400" b="1" dirty="0"/>
              <a:t>early estimate </a:t>
            </a:r>
            <a:r>
              <a:rPr lang="en-US" sz="2400" dirty="0"/>
              <a:t>produced and published for an economic variable of interest over the most </a:t>
            </a:r>
            <a:r>
              <a:rPr lang="en-US" sz="2400" b="1" dirty="0"/>
              <a:t>recent reference period</a:t>
            </a:r>
            <a:r>
              <a:rPr lang="en-US" sz="2400" dirty="0"/>
              <a:t>. The flash estimate is normally calculated on the basis of an </a:t>
            </a:r>
            <a:r>
              <a:rPr lang="en-US" sz="2400" b="1" dirty="0"/>
              <a:t>incomplete information set</a:t>
            </a:r>
            <a:r>
              <a:rPr lang="en-US" sz="2400" dirty="0"/>
              <a:t>, however produced using almost the </a:t>
            </a:r>
            <a:r>
              <a:rPr lang="en-US" sz="2400" b="1" dirty="0"/>
              <a:t>same </a:t>
            </a:r>
            <a:r>
              <a:rPr lang="en-US" sz="2400" dirty="0"/>
              <a:t>statistical or econometric models as for regular estimates. Flash estimate models should incorporate hard data as much as possible.</a:t>
            </a:r>
          </a:p>
          <a:p>
            <a:endParaRPr lang="nl-NL" dirty="0"/>
          </a:p>
          <a:p>
            <a:endParaRPr lang="nl-NL" sz="1400" dirty="0"/>
          </a:p>
          <a:p>
            <a:pPr marL="0" indent="0">
              <a:buNone/>
            </a:pPr>
            <a:r>
              <a:rPr lang="nl-NL" sz="1400" dirty="0"/>
              <a:t>*</a:t>
            </a:r>
            <a:r>
              <a:rPr lang="nl-NL" sz="1400" dirty="0" err="1"/>
              <a:t>Handbook</a:t>
            </a:r>
            <a:r>
              <a:rPr lang="nl-NL" sz="1400" dirty="0"/>
              <a:t> on </a:t>
            </a:r>
            <a:r>
              <a:rPr lang="nl-NL" sz="1400" dirty="0" err="1"/>
              <a:t>rapid</a:t>
            </a:r>
            <a:r>
              <a:rPr lang="nl-NL" sz="1400" dirty="0"/>
              <a:t> </a:t>
            </a:r>
            <a:r>
              <a:rPr lang="nl-NL" sz="1400" dirty="0" err="1"/>
              <a:t>estimates</a:t>
            </a:r>
            <a:r>
              <a:rPr lang="nl-NL" sz="1400" dirty="0"/>
              <a:t>:</a:t>
            </a:r>
          </a:p>
          <a:p>
            <a:pPr marL="0" indent="0">
              <a:buNone/>
            </a:pPr>
            <a:r>
              <a:rPr lang="en-US" sz="1400" dirty="0">
                <a:hlinkClick r:id="rId2"/>
              </a:rPr>
              <a:t>https://ec.europa.eu/eurostat/web/products-manuals-and-guidelines/-/KS-GQ-17-008</a:t>
            </a:r>
            <a:endParaRPr lang="nl-NL" sz="1400" dirty="0"/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97007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182E7E-FE7F-AA72-FA6A-5ADF4DA78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Nowcasting</a:t>
            </a:r>
            <a:r>
              <a:rPr lang="nl-NL" dirty="0"/>
              <a:t>: </a:t>
            </a:r>
            <a:r>
              <a:rPr lang="nl-NL" dirty="0" err="1"/>
              <a:t>definition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C5A42D54-C5EE-E402-2BA2-156D859E9E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B7900CE-23BD-01A1-5F25-0733F59415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i="1" dirty="0"/>
              <a:t>Prediction of the present, the very near future and the very recent past </a:t>
            </a:r>
            <a:r>
              <a:rPr lang="en-US" sz="2400" dirty="0"/>
              <a:t>(</a:t>
            </a:r>
            <a:r>
              <a:rPr lang="en-US" sz="2400" dirty="0" err="1"/>
              <a:t>Bańbura</a:t>
            </a:r>
            <a:r>
              <a:rPr lang="en-US" sz="2400" dirty="0"/>
              <a:t> et al. , 2010) </a:t>
            </a:r>
          </a:p>
          <a:p>
            <a:endParaRPr lang="nl-NL" sz="2400" dirty="0"/>
          </a:p>
          <a:p>
            <a:pPr marL="0" indent="0">
              <a:buNone/>
            </a:pPr>
            <a:r>
              <a:rPr lang="nl-NL" sz="2400" dirty="0" err="1"/>
              <a:t>Characteristics</a:t>
            </a:r>
            <a:r>
              <a:rPr lang="nl-NL" sz="2400" dirty="0"/>
              <a:t> (</a:t>
            </a:r>
            <a:r>
              <a:rPr lang="nl-NL" sz="2400" dirty="0" err="1"/>
              <a:t>Eurostat</a:t>
            </a:r>
            <a:r>
              <a:rPr lang="nl-NL" sz="2400" dirty="0"/>
              <a:t>/</a:t>
            </a:r>
            <a:r>
              <a:rPr lang="en-US" sz="2400" dirty="0"/>
              <a:t>United Nations, 2017, 2.3) </a:t>
            </a:r>
            <a:endParaRPr lang="nl-NL" sz="2400" dirty="0"/>
          </a:p>
          <a:p>
            <a:pPr marL="457200" indent="-457200">
              <a:buFont typeface="+mj-lt"/>
              <a:buAutoNum type="alphaLcParenR"/>
            </a:pPr>
            <a:r>
              <a:rPr lang="nl-NL" sz="2400" dirty="0"/>
              <a:t>Timing: </a:t>
            </a:r>
            <a:r>
              <a:rPr lang="nl-NL" sz="2400" dirty="0" err="1"/>
              <a:t>just</a:t>
            </a:r>
            <a:r>
              <a:rPr lang="nl-NL" sz="2400" dirty="0"/>
              <a:t> </a:t>
            </a:r>
            <a:r>
              <a:rPr lang="nl-NL" sz="2400" dirty="0" err="1"/>
              <a:t>before</a:t>
            </a:r>
            <a:r>
              <a:rPr lang="nl-NL" sz="2400" dirty="0"/>
              <a:t> or </a:t>
            </a:r>
            <a:r>
              <a:rPr lang="nl-NL" sz="2400" dirty="0" err="1"/>
              <a:t>after</a:t>
            </a:r>
            <a:r>
              <a:rPr lang="nl-NL" sz="2400" dirty="0"/>
              <a:t> </a:t>
            </a:r>
            <a:r>
              <a:rPr lang="nl-NL" sz="2400" dirty="0" err="1"/>
              <a:t>reference</a:t>
            </a:r>
            <a:r>
              <a:rPr lang="nl-NL" sz="2400" dirty="0"/>
              <a:t> </a:t>
            </a:r>
            <a:r>
              <a:rPr lang="nl-NL" sz="2400" dirty="0" err="1"/>
              <a:t>period</a:t>
            </a:r>
            <a:endParaRPr lang="nl-NL" sz="2400" dirty="0"/>
          </a:p>
          <a:p>
            <a:pPr marL="457200" indent="-457200">
              <a:buFont typeface="+mj-lt"/>
              <a:buAutoNum type="alphaLcParenR"/>
            </a:pPr>
            <a:r>
              <a:rPr lang="nl-NL" sz="2400" dirty="0"/>
              <a:t>Data </a:t>
            </a:r>
            <a:r>
              <a:rPr lang="nl-NL" sz="2400" dirty="0" err="1"/>
              <a:t>used</a:t>
            </a:r>
            <a:r>
              <a:rPr lang="nl-NL" sz="2400" dirty="0"/>
              <a:t>: mix of </a:t>
            </a:r>
            <a:r>
              <a:rPr lang="nl-NL" sz="2400" dirty="0" err="1"/>
              <a:t>qualitative</a:t>
            </a:r>
            <a:r>
              <a:rPr lang="nl-NL" sz="2400" dirty="0"/>
              <a:t>, </a:t>
            </a:r>
            <a:r>
              <a:rPr lang="nl-NL" sz="2400" dirty="0" err="1"/>
              <a:t>current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historical</a:t>
            </a:r>
            <a:r>
              <a:rPr lang="nl-NL" sz="2400" dirty="0"/>
              <a:t> data</a:t>
            </a:r>
          </a:p>
          <a:p>
            <a:pPr marL="457200" indent="-457200">
              <a:buFont typeface="+mj-lt"/>
              <a:buAutoNum type="alphaLcParenR"/>
            </a:pPr>
            <a:r>
              <a:rPr lang="nl-NL" sz="2400" dirty="0"/>
              <a:t>Method: </a:t>
            </a:r>
            <a:r>
              <a:rPr lang="nl-NL" sz="2400" dirty="0" err="1"/>
              <a:t>specific</a:t>
            </a:r>
            <a:r>
              <a:rPr lang="nl-NL" sz="2400" dirty="0"/>
              <a:t> </a:t>
            </a:r>
            <a:r>
              <a:rPr lang="nl-NL" sz="2400" dirty="0" err="1"/>
              <a:t>models</a:t>
            </a:r>
            <a:endParaRPr lang="nl-NL" sz="2400" dirty="0"/>
          </a:p>
          <a:p>
            <a:pPr marL="457200" indent="-457200">
              <a:buFont typeface="+mj-lt"/>
              <a:buAutoNum type="alphaLcParenR"/>
            </a:pPr>
            <a:r>
              <a:rPr lang="nl-NL" sz="2400" dirty="0" err="1"/>
              <a:t>Possibly</a:t>
            </a:r>
            <a:r>
              <a:rPr lang="nl-NL" sz="2400" dirty="0"/>
              <a:t> </a:t>
            </a:r>
            <a:r>
              <a:rPr lang="nl-NL" sz="2400" dirty="0" err="1"/>
              <a:t>other</a:t>
            </a:r>
            <a:r>
              <a:rPr lang="nl-NL" sz="2400" dirty="0"/>
              <a:t> data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methods</a:t>
            </a:r>
            <a:r>
              <a:rPr lang="nl-NL" sz="2400" dirty="0"/>
              <a:t> </a:t>
            </a:r>
            <a:r>
              <a:rPr lang="nl-NL" sz="2400" dirty="0" err="1"/>
              <a:t>than</a:t>
            </a:r>
            <a:r>
              <a:rPr lang="nl-NL" sz="2400" dirty="0"/>
              <a:t> </a:t>
            </a:r>
            <a:r>
              <a:rPr lang="nl-NL" sz="2400" dirty="0" err="1"/>
              <a:t>regular</a:t>
            </a:r>
            <a:r>
              <a:rPr lang="nl-NL" sz="2400" dirty="0"/>
              <a:t> </a:t>
            </a:r>
            <a:r>
              <a:rPr lang="nl-NL" sz="2400" dirty="0" err="1"/>
              <a:t>production</a:t>
            </a:r>
            <a:r>
              <a:rPr lang="nl-NL" sz="2400" dirty="0"/>
              <a:t> </a:t>
            </a:r>
            <a:r>
              <a:rPr lang="nl-NL" sz="2400" dirty="0" err="1"/>
              <a:t>process</a:t>
            </a:r>
            <a:r>
              <a:rPr lang="nl-NL" sz="2400" dirty="0"/>
              <a:t>. </a:t>
            </a:r>
          </a:p>
          <a:p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1149804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6460DD-E196-3A26-41D7-83C73A3FB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Nowcasting</a:t>
            </a:r>
            <a:r>
              <a:rPr lang="nl-NL" dirty="0"/>
              <a:t>: </a:t>
            </a:r>
            <a:r>
              <a:rPr lang="nl-NL" dirty="0" err="1"/>
              <a:t>possible</a:t>
            </a:r>
            <a:r>
              <a:rPr lang="nl-NL" dirty="0"/>
              <a:t> </a:t>
            </a:r>
            <a:r>
              <a:rPr lang="nl-NL" dirty="0" err="1"/>
              <a:t>objectives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C0808863-BC10-7037-4183-29FE5BFD48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5AC3F4C-438F-6212-B011-1D123BCFB5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sz="2100" dirty="0" err="1"/>
              <a:t>Why</a:t>
            </a:r>
            <a:r>
              <a:rPr lang="nl-NL" sz="2100" dirty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100" spc="40" dirty="0">
                <a:solidFill>
                  <a:srgbClr val="271D6C"/>
                </a:solidFill>
                <a:latin typeface="Calibri" pitchFamily="34" charset="0"/>
              </a:rPr>
              <a:t>Acceleration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sz="2000" spc="40" dirty="0" err="1">
                <a:solidFill>
                  <a:srgbClr val="271D6C"/>
                </a:solidFill>
                <a:latin typeface="Calibri" pitchFamily="34" charset="0"/>
              </a:rPr>
              <a:t>Increase</a:t>
            </a:r>
            <a:r>
              <a:rPr lang="nl-NL" sz="2000" spc="40" dirty="0">
                <a:solidFill>
                  <a:srgbClr val="271D6C"/>
                </a:solidFill>
                <a:latin typeface="Calibri" pitchFamily="34" charset="0"/>
              </a:rPr>
              <a:t> </a:t>
            </a:r>
            <a:r>
              <a:rPr lang="nl-NL" sz="2000" spc="40" dirty="0" err="1">
                <a:solidFill>
                  <a:srgbClr val="271D6C"/>
                </a:solidFill>
                <a:latin typeface="Calibri" pitchFamily="34" charset="0"/>
              </a:rPr>
              <a:t>timeliness</a:t>
            </a:r>
            <a:r>
              <a:rPr lang="nl-NL" sz="2000" spc="40" dirty="0">
                <a:solidFill>
                  <a:srgbClr val="271D6C"/>
                </a:solidFill>
                <a:latin typeface="Calibri" pitchFamily="34" charset="0"/>
              </a:rPr>
              <a:t> (</a:t>
            </a:r>
            <a:r>
              <a:rPr lang="nl-NL" sz="2000" spc="40" dirty="0" err="1">
                <a:solidFill>
                  <a:srgbClr val="271D6C"/>
                </a:solidFill>
                <a:latin typeface="Calibri" pitchFamily="34" charset="0"/>
              </a:rPr>
              <a:t>publish</a:t>
            </a:r>
            <a:r>
              <a:rPr lang="nl-NL" sz="2000" spc="40" dirty="0">
                <a:solidFill>
                  <a:srgbClr val="271D6C"/>
                </a:solidFill>
                <a:latin typeface="Calibri" pitchFamily="34" charset="0"/>
              </a:rPr>
              <a:t> </a:t>
            </a:r>
            <a:r>
              <a:rPr lang="nl-NL" sz="2000" spc="40" dirty="0" err="1">
                <a:solidFill>
                  <a:srgbClr val="271D6C"/>
                </a:solidFill>
                <a:latin typeface="Calibri" pitchFamily="34" charset="0"/>
              </a:rPr>
              <a:t>earlier</a:t>
            </a:r>
            <a:r>
              <a:rPr lang="nl-NL" sz="2000" spc="40" dirty="0">
                <a:solidFill>
                  <a:srgbClr val="271D6C"/>
                </a:solidFill>
                <a:latin typeface="Calibri" pitchFamily="34" charset="0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sz="2000" spc="40" dirty="0" err="1">
                <a:solidFill>
                  <a:srgbClr val="271D6C"/>
                </a:solidFill>
                <a:latin typeface="Calibri" pitchFamily="34" charset="0"/>
              </a:rPr>
              <a:t>Increase</a:t>
            </a:r>
            <a:r>
              <a:rPr lang="nl-NL" sz="2000" spc="40" dirty="0">
                <a:solidFill>
                  <a:srgbClr val="271D6C"/>
                </a:solidFill>
                <a:latin typeface="Calibri" pitchFamily="34" charset="0"/>
              </a:rPr>
              <a:t> </a:t>
            </a:r>
            <a:r>
              <a:rPr lang="nl-NL" sz="2000" spc="40" dirty="0" err="1">
                <a:solidFill>
                  <a:srgbClr val="271D6C"/>
                </a:solidFill>
                <a:latin typeface="Calibri" pitchFamily="34" charset="0"/>
              </a:rPr>
              <a:t>frequency</a:t>
            </a:r>
            <a:r>
              <a:rPr lang="nl-NL" sz="2000" spc="40" dirty="0">
                <a:solidFill>
                  <a:srgbClr val="271D6C"/>
                </a:solidFill>
                <a:latin typeface="Calibri" pitchFamily="34" charset="0"/>
              </a:rPr>
              <a:t> (</a:t>
            </a:r>
            <a:r>
              <a:rPr lang="nl-NL" sz="2000" spc="40" dirty="0" err="1">
                <a:solidFill>
                  <a:srgbClr val="271D6C"/>
                </a:solidFill>
                <a:latin typeface="Calibri" pitchFamily="34" charset="0"/>
              </a:rPr>
              <a:t>publish</a:t>
            </a:r>
            <a:r>
              <a:rPr lang="nl-NL" sz="2000" spc="40" dirty="0">
                <a:solidFill>
                  <a:srgbClr val="271D6C"/>
                </a:solidFill>
                <a:latin typeface="Calibri" pitchFamily="34" charset="0"/>
              </a:rPr>
              <a:t> more </a:t>
            </a:r>
            <a:r>
              <a:rPr lang="nl-NL" sz="2000" spc="40" dirty="0" err="1">
                <a:solidFill>
                  <a:srgbClr val="271D6C"/>
                </a:solidFill>
                <a:latin typeface="Calibri" pitchFamily="34" charset="0"/>
              </a:rPr>
              <a:t>often</a:t>
            </a:r>
            <a:r>
              <a:rPr lang="nl-NL" sz="2000" spc="40" dirty="0">
                <a:solidFill>
                  <a:srgbClr val="271D6C"/>
                </a:solidFill>
                <a:latin typeface="Calibri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100" spc="40" dirty="0" err="1">
                <a:solidFill>
                  <a:srgbClr val="271D6C"/>
                </a:solidFill>
                <a:latin typeface="Calibri" pitchFamily="34" charset="0"/>
              </a:rPr>
              <a:t>Limitations</a:t>
            </a:r>
            <a:r>
              <a:rPr lang="nl-NL" sz="2100" spc="40" dirty="0">
                <a:solidFill>
                  <a:srgbClr val="271D6C"/>
                </a:solidFill>
                <a:latin typeface="Calibri" pitchFamily="34" charset="0"/>
              </a:rPr>
              <a:t> in availability of data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nl-NL" sz="2100" spc="40" dirty="0">
              <a:solidFill>
                <a:srgbClr val="271D6C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nl-NL" sz="2100" dirty="0" err="1"/>
              <a:t>Modelbased</a:t>
            </a:r>
            <a:r>
              <a:rPr lang="nl-NL" sz="2100" dirty="0"/>
              <a:t> approaches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100" dirty="0"/>
              <a:t>Time </a:t>
            </a:r>
            <a:r>
              <a:rPr lang="nl-NL" sz="2100" dirty="0" err="1"/>
              <a:t>dimension</a:t>
            </a:r>
            <a:r>
              <a:rPr lang="nl-NL" sz="2100" dirty="0"/>
              <a:t> -&gt; Time series </a:t>
            </a:r>
            <a:r>
              <a:rPr lang="nl-NL" sz="2100" dirty="0" err="1"/>
              <a:t>models</a:t>
            </a:r>
            <a:endParaRPr lang="nl-NL" sz="21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100" dirty="0" err="1"/>
              <a:t>Auxiliary</a:t>
            </a:r>
            <a:r>
              <a:rPr lang="nl-NL" sz="2100" dirty="0"/>
              <a:t> information -&gt; variables / </a:t>
            </a:r>
            <a:r>
              <a:rPr lang="nl-NL" sz="2100" dirty="0" err="1"/>
              <a:t>regressors</a:t>
            </a:r>
            <a:endParaRPr lang="nl-NL" sz="2100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13146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7602A1-405D-6958-F55C-CE0F6BB39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Nowcasting</a:t>
            </a:r>
            <a:r>
              <a:rPr lang="nl-NL" dirty="0"/>
              <a:t>: information set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9090410-7561-2351-2739-35C3854F0B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9ECE607-4DE7-4222-BCD0-9BEB048337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No or incomplete data of target variable for reference period</a:t>
            </a:r>
          </a:p>
          <a:p>
            <a:r>
              <a:rPr lang="en-GB" dirty="0"/>
              <a:t>Use of historical and additional data:</a:t>
            </a:r>
          </a:p>
          <a:p>
            <a:pPr lvl="1">
              <a:buFontTx/>
              <a:buChar char="-"/>
            </a:pPr>
            <a:r>
              <a:rPr lang="en-US" sz="1600" dirty="0">
                <a:solidFill>
                  <a:srgbClr val="00A1CD"/>
                </a:solidFill>
              </a:rPr>
              <a:t>Partial measurements (part of the population or period)</a:t>
            </a:r>
            <a:endParaRPr lang="nl-NL" sz="1600" dirty="0">
              <a:solidFill>
                <a:srgbClr val="00A1CD"/>
              </a:solidFill>
            </a:endParaRPr>
          </a:p>
          <a:p>
            <a:pPr lvl="1">
              <a:buFontTx/>
              <a:buChar char="-"/>
            </a:pPr>
            <a:r>
              <a:rPr lang="en-US" sz="1600" dirty="0">
                <a:solidFill>
                  <a:srgbClr val="00A1CD"/>
                </a:solidFill>
              </a:rPr>
              <a:t>Related (both statistical as economical) indicators (incl big data): 'proxies‘</a:t>
            </a:r>
          </a:p>
          <a:p>
            <a:pPr lvl="2">
              <a:buFontTx/>
              <a:buChar char="-"/>
            </a:pPr>
            <a:r>
              <a:rPr lang="en-US" sz="1600" dirty="0">
                <a:solidFill>
                  <a:srgbClr val="00A1CD"/>
                </a:solidFill>
              </a:rPr>
              <a:t>Possibly available earlier</a:t>
            </a:r>
          </a:p>
          <a:p>
            <a:pPr lvl="2">
              <a:buFontTx/>
              <a:buChar char="-"/>
            </a:pPr>
            <a:r>
              <a:rPr lang="en-US" sz="1600" dirty="0">
                <a:solidFill>
                  <a:srgbClr val="00A1CD"/>
                </a:solidFill>
              </a:rPr>
              <a:t>Possibly with a higher frequency </a:t>
            </a:r>
            <a:endParaRPr lang="nl-NL" sz="1600" dirty="0">
              <a:solidFill>
                <a:srgbClr val="00A1CD"/>
              </a:solidFill>
            </a:endParaRPr>
          </a:p>
          <a:p>
            <a:pPr lvl="1">
              <a:buFontTx/>
              <a:buChar char="-"/>
            </a:pPr>
            <a:r>
              <a:rPr lang="en-US" sz="1600" dirty="0">
                <a:solidFill>
                  <a:srgbClr val="00A1CD"/>
                </a:solidFill>
              </a:rPr>
              <a:t>Leading indicators (vs coincident indicators)</a:t>
            </a:r>
            <a:endParaRPr lang="nl-NL" sz="1600" dirty="0">
              <a:solidFill>
                <a:srgbClr val="00A1CD"/>
              </a:solidFill>
            </a:endParaRPr>
          </a:p>
          <a:p>
            <a:pPr lvl="1">
              <a:buFontTx/>
              <a:buChar char="-"/>
            </a:pPr>
            <a:r>
              <a:rPr lang="en-US" sz="1600" dirty="0">
                <a:solidFill>
                  <a:srgbClr val="00A1CD"/>
                </a:solidFill>
              </a:rPr>
              <a:t>Expert knowledge</a:t>
            </a:r>
            <a:r>
              <a:rPr lang="nl-NL" sz="1600" dirty="0">
                <a:solidFill>
                  <a:srgbClr val="00A1CD"/>
                </a:solidFill>
              </a:rPr>
              <a:t> 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35634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C13D92-0E1E-C65D-5DFD-35C02CAD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Nowcasting</a:t>
            </a:r>
            <a:r>
              <a:rPr lang="nl-NL" dirty="0"/>
              <a:t> </a:t>
            </a:r>
            <a:r>
              <a:rPr lang="nl-NL" dirty="0" err="1"/>
              <a:t>vs</a:t>
            </a:r>
            <a:r>
              <a:rPr lang="nl-NL" dirty="0"/>
              <a:t> </a:t>
            </a:r>
            <a:r>
              <a:rPr lang="nl-NL" dirty="0" err="1"/>
              <a:t>forecasting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D1D3D45-DEFA-B034-4A88-8AADAE250A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94863C9-27FE-BD01-A524-D3355696FE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 err="1">
                <a:solidFill>
                  <a:srgbClr val="FF0000"/>
                </a:solidFill>
              </a:rPr>
              <a:t>Forecasting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No data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reference</a:t>
            </a:r>
            <a:r>
              <a:rPr lang="nl-NL" dirty="0"/>
              <a:t> </a:t>
            </a:r>
            <a:r>
              <a:rPr lang="nl-NL" dirty="0" err="1"/>
              <a:t>period</a:t>
            </a:r>
            <a:r>
              <a:rPr lang="nl-NL" dirty="0"/>
              <a:t> -&gt; complete </a:t>
            </a:r>
            <a:r>
              <a:rPr lang="nl-NL" dirty="0" err="1"/>
              <a:t>extrapolation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Out-of-sample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Outside</a:t>
            </a:r>
            <a:r>
              <a:rPr lang="nl-NL" dirty="0"/>
              <a:t> scope of </a:t>
            </a:r>
            <a:r>
              <a:rPr lang="nl-NL" dirty="0" err="1"/>
              <a:t>NSI’s</a:t>
            </a:r>
            <a:r>
              <a:rPr lang="nl-NL" dirty="0"/>
              <a:t> (?)</a:t>
            </a:r>
            <a:endParaRPr lang="nl-NL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nl-NL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nl-NL" dirty="0" err="1">
                <a:solidFill>
                  <a:srgbClr val="FF0000"/>
                </a:solidFill>
              </a:rPr>
              <a:t>Nowcasting</a:t>
            </a:r>
            <a:endParaRPr lang="nl-NL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At </a:t>
            </a:r>
            <a:r>
              <a:rPr lang="nl-NL" dirty="0" err="1"/>
              <a:t>least</a:t>
            </a:r>
            <a:r>
              <a:rPr lang="nl-NL" dirty="0"/>
              <a:t> </a:t>
            </a:r>
            <a:r>
              <a:rPr lang="nl-NL" dirty="0" err="1"/>
              <a:t>some</a:t>
            </a:r>
            <a:r>
              <a:rPr lang="nl-NL" dirty="0"/>
              <a:t> (</a:t>
            </a:r>
            <a:r>
              <a:rPr lang="nl-NL" dirty="0" err="1"/>
              <a:t>partial</a:t>
            </a:r>
            <a:r>
              <a:rPr lang="nl-NL" dirty="0"/>
              <a:t>) data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reference</a:t>
            </a:r>
            <a:r>
              <a:rPr lang="nl-NL" dirty="0"/>
              <a:t> </a:t>
            </a:r>
            <a:r>
              <a:rPr lang="nl-NL" dirty="0" err="1"/>
              <a:t>period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In-sample</a:t>
            </a:r>
          </a:p>
          <a:p>
            <a:pPr>
              <a:buAutoNum type="arabicPeriod"/>
            </a:pPr>
            <a:endParaRPr lang="nl-NL" dirty="0"/>
          </a:p>
          <a:p>
            <a:pPr marL="0" indent="0">
              <a:buNone/>
            </a:pPr>
            <a:r>
              <a:rPr lang="nl-NL" dirty="0"/>
              <a:t>-&gt;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technique</a:t>
            </a:r>
            <a:r>
              <a:rPr lang="nl-NL" dirty="0"/>
              <a:t> but </a:t>
            </a:r>
            <a:r>
              <a:rPr lang="nl-NL" dirty="0" err="1"/>
              <a:t>objective</a:t>
            </a:r>
            <a:r>
              <a:rPr lang="nl-NL" dirty="0"/>
              <a:t> </a:t>
            </a:r>
            <a:r>
              <a:rPr lang="nl-NL" dirty="0" err="1"/>
              <a:t>determines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approach is </a:t>
            </a:r>
            <a:r>
              <a:rPr lang="nl-NL" dirty="0" err="1"/>
              <a:t>acceptable</a:t>
            </a:r>
            <a:r>
              <a:rPr lang="nl-NL" dirty="0"/>
              <a:t> (at </a:t>
            </a:r>
            <a:r>
              <a:rPr lang="nl-NL" dirty="0" err="1"/>
              <a:t>StatNL</a:t>
            </a:r>
            <a:r>
              <a:rPr lang="nl-NL" dirty="0"/>
              <a:t>)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320491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614589-1212-FDA3-060E-AC7BF032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In-sample </a:t>
            </a:r>
            <a:r>
              <a:rPr lang="nl-NL" dirty="0" err="1"/>
              <a:t>vs</a:t>
            </a:r>
            <a:r>
              <a:rPr lang="nl-NL" dirty="0"/>
              <a:t> out-of-sample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51480CA-1B8C-5177-A8CF-674A92DA33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0E5A5BA-FF04-CF16-0F59-70D8661552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 dirty="0"/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32CEB4DA-71A0-3560-6786-F353FF3D8B62}"/>
              </a:ext>
            </a:extLst>
          </p:cNvPr>
          <p:cNvCxnSpPr/>
          <p:nvPr/>
        </p:nvCxnSpPr>
        <p:spPr>
          <a:xfrm>
            <a:off x="3064454" y="254073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8546B8D7-F243-26A6-AD26-F15C73E4C4CF}"/>
              </a:ext>
            </a:extLst>
          </p:cNvPr>
          <p:cNvCxnSpPr/>
          <p:nvPr/>
        </p:nvCxnSpPr>
        <p:spPr>
          <a:xfrm>
            <a:off x="3064454" y="2684753"/>
            <a:ext cx="424847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echte verbindingslijn 6">
            <a:extLst>
              <a:ext uri="{FF2B5EF4-FFF2-40B4-BE49-F238E27FC236}">
                <a16:creationId xmlns:a16="http://schemas.microsoft.com/office/drawing/2014/main" id="{5EC9F26E-4D5B-AAFC-A200-4124AA7D6477}"/>
              </a:ext>
            </a:extLst>
          </p:cNvPr>
          <p:cNvCxnSpPr/>
          <p:nvPr/>
        </p:nvCxnSpPr>
        <p:spPr>
          <a:xfrm flipV="1">
            <a:off x="3064454" y="4173689"/>
            <a:ext cx="4608512" cy="4192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7C58BCE5-9160-382B-C3E4-3778A2367650}"/>
              </a:ext>
            </a:extLst>
          </p:cNvPr>
          <p:cNvCxnSpPr/>
          <p:nvPr/>
        </p:nvCxnSpPr>
        <p:spPr>
          <a:xfrm>
            <a:off x="3064454" y="402967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40306066-F8E2-9A36-65D3-BBCD516D26CC}"/>
              </a:ext>
            </a:extLst>
          </p:cNvPr>
          <p:cNvCxnSpPr/>
          <p:nvPr/>
        </p:nvCxnSpPr>
        <p:spPr>
          <a:xfrm>
            <a:off x="7672966" y="402967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1FC6A6B4-09C2-8FE7-A42C-83FF0316AEA4}"/>
              </a:ext>
            </a:extLst>
          </p:cNvPr>
          <p:cNvCxnSpPr/>
          <p:nvPr/>
        </p:nvCxnSpPr>
        <p:spPr>
          <a:xfrm>
            <a:off x="7312926" y="2684753"/>
            <a:ext cx="108012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310B52E0-0B8C-9E26-536E-A12DA7D555AB}"/>
              </a:ext>
            </a:extLst>
          </p:cNvPr>
          <p:cNvCxnSpPr/>
          <p:nvPr/>
        </p:nvCxnSpPr>
        <p:spPr>
          <a:xfrm>
            <a:off x="8393046" y="254073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9F60F4E3-29F7-877B-0788-C1AFE85FD0F7}"/>
              </a:ext>
            </a:extLst>
          </p:cNvPr>
          <p:cNvCxnSpPr/>
          <p:nvPr/>
        </p:nvCxnSpPr>
        <p:spPr>
          <a:xfrm>
            <a:off x="8393046" y="402967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4715C38F-A236-F4C4-64F3-CCA95DF74D65}"/>
              </a:ext>
            </a:extLst>
          </p:cNvPr>
          <p:cNvCxnSpPr/>
          <p:nvPr/>
        </p:nvCxnSpPr>
        <p:spPr>
          <a:xfrm>
            <a:off x="7312926" y="402967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echte verbindingslijn 13">
            <a:extLst>
              <a:ext uri="{FF2B5EF4-FFF2-40B4-BE49-F238E27FC236}">
                <a16:creationId xmlns:a16="http://schemas.microsoft.com/office/drawing/2014/main" id="{40C4A11C-3070-1C9B-D5BE-707A0956930A}"/>
              </a:ext>
            </a:extLst>
          </p:cNvPr>
          <p:cNvCxnSpPr/>
          <p:nvPr/>
        </p:nvCxnSpPr>
        <p:spPr>
          <a:xfrm>
            <a:off x="7312926" y="254073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echte verbindingslijn 14">
            <a:extLst>
              <a:ext uri="{FF2B5EF4-FFF2-40B4-BE49-F238E27FC236}">
                <a16:creationId xmlns:a16="http://schemas.microsoft.com/office/drawing/2014/main" id="{F42D076F-AB3C-1C2E-86E8-9B12BD1479EA}"/>
              </a:ext>
            </a:extLst>
          </p:cNvPr>
          <p:cNvCxnSpPr/>
          <p:nvPr/>
        </p:nvCxnSpPr>
        <p:spPr>
          <a:xfrm>
            <a:off x="8033006" y="402967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echte verbindingslijn 15">
            <a:extLst>
              <a:ext uri="{FF2B5EF4-FFF2-40B4-BE49-F238E27FC236}">
                <a16:creationId xmlns:a16="http://schemas.microsoft.com/office/drawing/2014/main" id="{5BA18CB3-487A-3ADE-3DE9-E36E7D738BCC}"/>
              </a:ext>
            </a:extLst>
          </p:cNvPr>
          <p:cNvCxnSpPr/>
          <p:nvPr/>
        </p:nvCxnSpPr>
        <p:spPr>
          <a:xfrm>
            <a:off x="7672966" y="4173689"/>
            <a:ext cx="720080" cy="838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echte verbindingslijn 16">
            <a:extLst>
              <a:ext uri="{FF2B5EF4-FFF2-40B4-BE49-F238E27FC236}">
                <a16:creationId xmlns:a16="http://schemas.microsoft.com/office/drawing/2014/main" id="{BF4A01F9-C69F-0104-251C-F428E2C39DB1}"/>
              </a:ext>
            </a:extLst>
          </p:cNvPr>
          <p:cNvCxnSpPr/>
          <p:nvPr/>
        </p:nvCxnSpPr>
        <p:spPr>
          <a:xfrm flipV="1">
            <a:off x="3352486" y="4749753"/>
            <a:ext cx="4680520" cy="8384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17">
            <a:extLst>
              <a:ext uri="{FF2B5EF4-FFF2-40B4-BE49-F238E27FC236}">
                <a16:creationId xmlns:a16="http://schemas.microsoft.com/office/drawing/2014/main" id="{DF4286F9-FA58-66D6-CB1A-2BCACBFD0D3A}"/>
              </a:ext>
            </a:extLst>
          </p:cNvPr>
          <p:cNvCxnSpPr/>
          <p:nvPr/>
        </p:nvCxnSpPr>
        <p:spPr>
          <a:xfrm>
            <a:off x="3352486" y="460573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Rechte verbindingslijn 18">
            <a:extLst>
              <a:ext uri="{FF2B5EF4-FFF2-40B4-BE49-F238E27FC236}">
                <a16:creationId xmlns:a16="http://schemas.microsoft.com/office/drawing/2014/main" id="{C604290D-94AF-E0DD-C70E-31983B9F5F7F}"/>
              </a:ext>
            </a:extLst>
          </p:cNvPr>
          <p:cNvCxnSpPr/>
          <p:nvPr/>
        </p:nvCxnSpPr>
        <p:spPr>
          <a:xfrm>
            <a:off x="7672966" y="460573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Rechte verbindingslijn 19">
            <a:extLst>
              <a:ext uri="{FF2B5EF4-FFF2-40B4-BE49-F238E27FC236}">
                <a16:creationId xmlns:a16="http://schemas.microsoft.com/office/drawing/2014/main" id="{0D1DB3D8-777C-53F8-0C88-ADB5C3BAD520}"/>
              </a:ext>
            </a:extLst>
          </p:cNvPr>
          <p:cNvCxnSpPr/>
          <p:nvPr/>
        </p:nvCxnSpPr>
        <p:spPr>
          <a:xfrm>
            <a:off x="8393046" y="460573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Rechte verbindingslijn 20">
            <a:extLst>
              <a:ext uri="{FF2B5EF4-FFF2-40B4-BE49-F238E27FC236}">
                <a16:creationId xmlns:a16="http://schemas.microsoft.com/office/drawing/2014/main" id="{77F7D868-8C57-BB3F-A76C-38DF189C14DA}"/>
              </a:ext>
            </a:extLst>
          </p:cNvPr>
          <p:cNvCxnSpPr/>
          <p:nvPr/>
        </p:nvCxnSpPr>
        <p:spPr>
          <a:xfrm>
            <a:off x="7312926" y="460573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Rechte verbindingslijn 21">
            <a:extLst>
              <a:ext uri="{FF2B5EF4-FFF2-40B4-BE49-F238E27FC236}">
                <a16:creationId xmlns:a16="http://schemas.microsoft.com/office/drawing/2014/main" id="{6DE2A959-874A-81EA-7AD4-A149070030A3}"/>
              </a:ext>
            </a:extLst>
          </p:cNvPr>
          <p:cNvCxnSpPr/>
          <p:nvPr/>
        </p:nvCxnSpPr>
        <p:spPr>
          <a:xfrm>
            <a:off x="8033006" y="460573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Rechte verbindingslijn 22">
            <a:extLst>
              <a:ext uri="{FF2B5EF4-FFF2-40B4-BE49-F238E27FC236}">
                <a16:creationId xmlns:a16="http://schemas.microsoft.com/office/drawing/2014/main" id="{45C9D99C-50CE-F1FC-3BAC-3CE5B5345207}"/>
              </a:ext>
            </a:extLst>
          </p:cNvPr>
          <p:cNvCxnSpPr/>
          <p:nvPr/>
        </p:nvCxnSpPr>
        <p:spPr>
          <a:xfrm>
            <a:off x="7600958" y="4749753"/>
            <a:ext cx="792088" cy="838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kstvak 23">
            <a:extLst>
              <a:ext uri="{FF2B5EF4-FFF2-40B4-BE49-F238E27FC236}">
                <a16:creationId xmlns:a16="http://schemas.microsoft.com/office/drawing/2014/main" id="{9DA2A941-3446-22EE-B50C-EB6F5801F8B7}"/>
              </a:ext>
            </a:extLst>
          </p:cNvPr>
          <p:cNvSpPr txBox="1"/>
          <p:nvPr/>
        </p:nvSpPr>
        <p:spPr>
          <a:xfrm>
            <a:off x="2416382" y="2468729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D04EFB50-300A-7AA2-2582-F995F6B57B16}"/>
              </a:ext>
            </a:extLst>
          </p:cNvPr>
          <p:cNvSpPr txBox="1"/>
          <p:nvPr/>
        </p:nvSpPr>
        <p:spPr>
          <a:xfrm>
            <a:off x="2416382" y="4020381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9DB68C0B-D898-B54C-4835-403ED4EDCD49}"/>
              </a:ext>
            </a:extLst>
          </p:cNvPr>
          <p:cNvSpPr txBox="1"/>
          <p:nvPr/>
        </p:nvSpPr>
        <p:spPr>
          <a:xfrm>
            <a:off x="2416382" y="4524437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tx1"/>
                </a:solidFill>
              </a:rPr>
              <a:t>M</a:t>
            </a:r>
          </a:p>
        </p:txBody>
      </p:sp>
      <p:cxnSp>
        <p:nvCxnSpPr>
          <p:cNvPr id="27" name="Rechte verbindingslijn 26">
            <a:extLst>
              <a:ext uri="{FF2B5EF4-FFF2-40B4-BE49-F238E27FC236}">
                <a16:creationId xmlns:a16="http://schemas.microsoft.com/office/drawing/2014/main" id="{FB6C0B3F-20F4-4EDD-5F2D-F416AA303977}"/>
              </a:ext>
            </a:extLst>
          </p:cNvPr>
          <p:cNvCxnSpPr/>
          <p:nvPr/>
        </p:nvCxnSpPr>
        <p:spPr>
          <a:xfrm flipH="1">
            <a:off x="7312926" y="2684753"/>
            <a:ext cx="108012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echte verbindingslijn 27">
            <a:extLst>
              <a:ext uri="{FF2B5EF4-FFF2-40B4-BE49-F238E27FC236}">
                <a16:creationId xmlns:a16="http://schemas.microsoft.com/office/drawing/2014/main" id="{D1FDD3EA-76BA-113A-39CD-218201C2769A}"/>
              </a:ext>
            </a:extLst>
          </p:cNvPr>
          <p:cNvCxnSpPr/>
          <p:nvPr/>
        </p:nvCxnSpPr>
        <p:spPr>
          <a:xfrm>
            <a:off x="6232806" y="254073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28">
            <a:extLst>
              <a:ext uri="{FF2B5EF4-FFF2-40B4-BE49-F238E27FC236}">
                <a16:creationId xmlns:a16="http://schemas.microsoft.com/office/drawing/2014/main" id="{2ED36A4E-242F-835C-09C3-B6DD4007B365}"/>
              </a:ext>
            </a:extLst>
          </p:cNvPr>
          <p:cNvCxnSpPr/>
          <p:nvPr/>
        </p:nvCxnSpPr>
        <p:spPr>
          <a:xfrm>
            <a:off x="5152686" y="254073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Rechte verbindingslijn 29">
            <a:extLst>
              <a:ext uri="{FF2B5EF4-FFF2-40B4-BE49-F238E27FC236}">
                <a16:creationId xmlns:a16="http://schemas.microsoft.com/office/drawing/2014/main" id="{4C77EE37-D46B-891D-613A-53D453E9206C}"/>
              </a:ext>
            </a:extLst>
          </p:cNvPr>
          <p:cNvCxnSpPr/>
          <p:nvPr/>
        </p:nvCxnSpPr>
        <p:spPr>
          <a:xfrm>
            <a:off x="4072566" y="254073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30">
            <a:extLst>
              <a:ext uri="{FF2B5EF4-FFF2-40B4-BE49-F238E27FC236}">
                <a16:creationId xmlns:a16="http://schemas.microsoft.com/office/drawing/2014/main" id="{7898ABA5-9BDB-B80E-12A7-E49C43ACD630}"/>
              </a:ext>
            </a:extLst>
          </p:cNvPr>
          <p:cNvCxnSpPr/>
          <p:nvPr/>
        </p:nvCxnSpPr>
        <p:spPr>
          <a:xfrm>
            <a:off x="6952886" y="402967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Rechte verbindingslijn 31">
            <a:extLst>
              <a:ext uri="{FF2B5EF4-FFF2-40B4-BE49-F238E27FC236}">
                <a16:creationId xmlns:a16="http://schemas.microsoft.com/office/drawing/2014/main" id="{2356D28F-C830-0A0E-4344-A449C5A96033}"/>
              </a:ext>
            </a:extLst>
          </p:cNvPr>
          <p:cNvCxnSpPr/>
          <p:nvPr/>
        </p:nvCxnSpPr>
        <p:spPr>
          <a:xfrm>
            <a:off x="6952886" y="402967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Rechte verbindingslijn 32">
            <a:extLst>
              <a:ext uri="{FF2B5EF4-FFF2-40B4-BE49-F238E27FC236}">
                <a16:creationId xmlns:a16="http://schemas.microsoft.com/office/drawing/2014/main" id="{E8BEF4FE-BCF0-DE62-C232-180BD474F73E}"/>
              </a:ext>
            </a:extLst>
          </p:cNvPr>
          <p:cNvCxnSpPr/>
          <p:nvPr/>
        </p:nvCxnSpPr>
        <p:spPr>
          <a:xfrm>
            <a:off x="6592846" y="402967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echte verbindingslijn 33">
            <a:extLst>
              <a:ext uri="{FF2B5EF4-FFF2-40B4-BE49-F238E27FC236}">
                <a16:creationId xmlns:a16="http://schemas.microsoft.com/office/drawing/2014/main" id="{EFA19154-928F-B390-B463-74B0ED7A9C90}"/>
              </a:ext>
            </a:extLst>
          </p:cNvPr>
          <p:cNvCxnSpPr/>
          <p:nvPr/>
        </p:nvCxnSpPr>
        <p:spPr>
          <a:xfrm>
            <a:off x="7312926" y="402967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Rechte verbindingslijn 34">
            <a:extLst>
              <a:ext uri="{FF2B5EF4-FFF2-40B4-BE49-F238E27FC236}">
                <a16:creationId xmlns:a16="http://schemas.microsoft.com/office/drawing/2014/main" id="{F27A6E3B-BC4D-BCBA-BA57-49144192ACFC}"/>
              </a:ext>
            </a:extLst>
          </p:cNvPr>
          <p:cNvCxnSpPr/>
          <p:nvPr/>
        </p:nvCxnSpPr>
        <p:spPr>
          <a:xfrm>
            <a:off x="6232806" y="402967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echte verbindingslijn 35">
            <a:extLst>
              <a:ext uri="{FF2B5EF4-FFF2-40B4-BE49-F238E27FC236}">
                <a16:creationId xmlns:a16="http://schemas.microsoft.com/office/drawing/2014/main" id="{D3F4C9A9-00A2-09CF-1DB9-8106C283E654}"/>
              </a:ext>
            </a:extLst>
          </p:cNvPr>
          <p:cNvCxnSpPr/>
          <p:nvPr/>
        </p:nvCxnSpPr>
        <p:spPr>
          <a:xfrm>
            <a:off x="5872766" y="402967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36">
            <a:extLst>
              <a:ext uri="{FF2B5EF4-FFF2-40B4-BE49-F238E27FC236}">
                <a16:creationId xmlns:a16="http://schemas.microsoft.com/office/drawing/2014/main" id="{8C0E16FB-3025-E481-A057-FF54329400DD}"/>
              </a:ext>
            </a:extLst>
          </p:cNvPr>
          <p:cNvCxnSpPr/>
          <p:nvPr/>
        </p:nvCxnSpPr>
        <p:spPr>
          <a:xfrm>
            <a:off x="6592846" y="402967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85DACDE9-F771-2569-38D5-BBB96140DCAF}"/>
              </a:ext>
            </a:extLst>
          </p:cNvPr>
          <p:cNvCxnSpPr/>
          <p:nvPr/>
        </p:nvCxnSpPr>
        <p:spPr>
          <a:xfrm>
            <a:off x="5512726" y="402967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38">
            <a:extLst>
              <a:ext uri="{FF2B5EF4-FFF2-40B4-BE49-F238E27FC236}">
                <a16:creationId xmlns:a16="http://schemas.microsoft.com/office/drawing/2014/main" id="{913E5D76-0602-7B9C-7ABF-EAF173487F7B}"/>
              </a:ext>
            </a:extLst>
          </p:cNvPr>
          <p:cNvCxnSpPr/>
          <p:nvPr/>
        </p:nvCxnSpPr>
        <p:spPr>
          <a:xfrm>
            <a:off x="5152686" y="402967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Rechte verbindingslijn 39">
            <a:extLst>
              <a:ext uri="{FF2B5EF4-FFF2-40B4-BE49-F238E27FC236}">
                <a16:creationId xmlns:a16="http://schemas.microsoft.com/office/drawing/2014/main" id="{B8DE18D9-46FF-0004-C605-AE3DDFE29B04}"/>
              </a:ext>
            </a:extLst>
          </p:cNvPr>
          <p:cNvCxnSpPr/>
          <p:nvPr/>
        </p:nvCxnSpPr>
        <p:spPr>
          <a:xfrm>
            <a:off x="5872766" y="402967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Rechte verbindingslijn 40">
            <a:extLst>
              <a:ext uri="{FF2B5EF4-FFF2-40B4-BE49-F238E27FC236}">
                <a16:creationId xmlns:a16="http://schemas.microsoft.com/office/drawing/2014/main" id="{076470CB-4584-EEBF-89C4-0B6C37609074}"/>
              </a:ext>
            </a:extLst>
          </p:cNvPr>
          <p:cNvCxnSpPr/>
          <p:nvPr/>
        </p:nvCxnSpPr>
        <p:spPr>
          <a:xfrm>
            <a:off x="4792646" y="402967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41">
            <a:extLst>
              <a:ext uri="{FF2B5EF4-FFF2-40B4-BE49-F238E27FC236}">
                <a16:creationId xmlns:a16="http://schemas.microsoft.com/office/drawing/2014/main" id="{B75FB832-B240-734B-0CCB-2E4DF19CFDB0}"/>
              </a:ext>
            </a:extLst>
          </p:cNvPr>
          <p:cNvCxnSpPr/>
          <p:nvPr/>
        </p:nvCxnSpPr>
        <p:spPr>
          <a:xfrm>
            <a:off x="4432606" y="402967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Rechte verbindingslijn 42">
            <a:extLst>
              <a:ext uri="{FF2B5EF4-FFF2-40B4-BE49-F238E27FC236}">
                <a16:creationId xmlns:a16="http://schemas.microsoft.com/office/drawing/2014/main" id="{F2A7B90A-D37B-D051-8B3B-D0F73A7A01D7}"/>
              </a:ext>
            </a:extLst>
          </p:cNvPr>
          <p:cNvCxnSpPr/>
          <p:nvPr/>
        </p:nvCxnSpPr>
        <p:spPr>
          <a:xfrm>
            <a:off x="5152686" y="402967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Rechte verbindingslijn 43">
            <a:extLst>
              <a:ext uri="{FF2B5EF4-FFF2-40B4-BE49-F238E27FC236}">
                <a16:creationId xmlns:a16="http://schemas.microsoft.com/office/drawing/2014/main" id="{7848FBA6-10C4-74E1-9BFD-874976EB40BE}"/>
              </a:ext>
            </a:extLst>
          </p:cNvPr>
          <p:cNvCxnSpPr/>
          <p:nvPr/>
        </p:nvCxnSpPr>
        <p:spPr>
          <a:xfrm>
            <a:off x="4072566" y="402967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Rechte verbindingslijn 44">
            <a:extLst>
              <a:ext uri="{FF2B5EF4-FFF2-40B4-BE49-F238E27FC236}">
                <a16:creationId xmlns:a16="http://schemas.microsoft.com/office/drawing/2014/main" id="{76EC69E2-C56B-01B7-2295-4F830F43ADFB}"/>
              </a:ext>
            </a:extLst>
          </p:cNvPr>
          <p:cNvCxnSpPr/>
          <p:nvPr/>
        </p:nvCxnSpPr>
        <p:spPr>
          <a:xfrm>
            <a:off x="3712526" y="402967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Rechte verbindingslijn 45">
            <a:extLst>
              <a:ext uri="{FF2B5EF4-FFF2-40B4-BE49-F238E27FC236}">
                <a16:creationId xmlns:a16="http://schemas.microsoft.com/office/drawing/2014/main" id="{19433E47-3CFC-610B-2EDF-156E6F16BE6E}"/>
              </a:ext>
            </a:extLst>
          </p:cNvPr>
          <p:cNvCxnSpPr/>
          <p:nvPr/>
        </p:nvCxnSpPr>
        <p:spPr>
          <a:xfrm>
            <a:off x="4432606" y="402967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449F4471-183B-A5BC-99C1-1473DF210353}"/>
              </a:ext>
            </a:extLst>
          </p:cNvPr>
          <p:cNvCxnSpPr/>
          <p:nvPr/>
        </p:nvCxnSpPr>
        <p:spPr>
          <a:xfrm>
            <a:off x="6952886" y="460573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47">
            <a:extLst>
              <a:ext uri="{FF2B5EF4-FFF2-40B4-BE49-F238E27FC236}">
                <a16:creationId xmlns:a16="http://schemas.microsoft.com/office/drawing/2014/main" id="{7FCA3073-12E9-4BDB-FA82-BFE51F6FBF61}"/>
              </a:ext>
            </a:extLst>
          </p:cNvPr>
          <p:cNvCxnSpPr/>
          <p:nvPr/>
        </p:nvCxnSpPr>
        <p:spPr>
          <a:xfrm>
            <a:off x="7312926" y="460573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Rechte verbindingslijn 48">
            <a:extLst>
              <a:ext uri="{FF2B5EF4-FFF2-40B4-BE49-F238E27FC236}">
                <a16:creationId xmlns:a16="http://schemas.microsoft.com/office/drawing/2014/main" id="{FA78DF71-D813-4B48-C2C9-B401060B7FDD}"/>
              </a:ext>
            </a:extLst>
          </p:cNvPr>
          <p:cNvCxnSpPr/>
          <p:nvPr/>
        </p:nvCxnSpPr>
        <p:spPr>
          <a:xfrm>
            <a:off x="6232806" y="460573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Rechte verbindingslijn 49">
            <a:extLst>
              <a:ext uri="{FF2B5EF4-FFF2-40B4-BE49-F238E27FC236}">
                <a16:creationId xmlns:a16="http://schemas.microsoft.com/office/drawing/2014/main" id="{E4382F0F-28C0-45F1-FE95-D93A89592DC3}"/>
              </a:ext>
            </a:extLst>
          </p:cNvPr>
          <p:cNvCxnSpPr/>
          <p:nvPr/>
        </p:nvCxnSpPr>
        <p:spPr>
          <a:xfrm>
            <a:off x="6592846" y="460573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Rechte verbindingslijn 50">
            <a:extLst>
              <a:ext uri="{FF2B5EF4-FFF2-40B4-BE49-F238E27FC236}">
                <a16:creationId xmlns:a16="http://schemas.microsoft.com/office/drawing/2014/main" id="{BAD0B666-2EE2-BEAF-2329-34C82D51FCBA}"/>
              </a:ext>
            </a:extLst>
          </p:cNvPr>
          <p:cNvCxnSpPr/>
          <p:nvPr/>
        </p:nvCxnSpPr>
        <p:spPr>
          <a:xfrm>
            <a:off x="5512726" y="460573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Rechte verbindingslijn 51">
            <a:extLst>
              <a:ext uri="{FF2B5EF4-FFF2-40B4-BE49-F238E27FC236}">
                <a16:creationId xmlns:a16="http://schemas.microsoft.com/office/drawing/2014/main" id="{99CA65CB-65C8-5C84-2ADE-2B0BAF3BFCEE}"/>
              </a:ext>
            </a:extLst>
          </p:cNvPr>
          <p:cNvCxnSpPr/>
          <p:nvPr/>
        </p:nvCxnSpPr>
        <p:spPr>
          <a:xfrm>
            <a:off x="5872766" y="460573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Rechte verbindingslijn 52">
            <a:extLst>
              <a:ext uri="{FF2B5EF4-FFF2-40B4-BE49-F238E27FC236}">
                <a16:creationId xmlns:a16="http://schemas.microsoft.com/office/drawing/2014/main" id="{5F22972D-E94E-0B89-686B-EB3C26321802}"/>
              </a:ext>
            </a:extLst>
          </p:cNvPr>
          <p:cNvCxnSpPr/>
          <p:nvPr/>
        </p:nvCxnSpPr>
        <p:spPr>
          <a:xfrm>
            <a:off x="4792646" y="460573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Rechte verbindingslijn 53">
            <a:extLst>
              <a:ext uri="{FF2B5EF4-FFF2-40B4-BE49-F238E27FC236}">
                <a16:creationId xmlns:a16="http://schemas.microsoft.com/office/drawing/2014/main" id="{20900C17-A25C-F4A5-97BD-5686DB8B3C12}"/>
              </a:ext>
            </a:extLst>
          </p:cNvPr>
          <p:cNvCxnSpPr/>
          <p:nvPr/>
        </p:nvCxnSpPr>
        <p:spPr>
          <a:xfrm>
            <a:off x="4432606" y="460573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Rechte verbindingslijn 54">
            <a:extLst>
              <a:ext uri="{FF2B5EF4-FFF2-40B4-BE49-F238E27FC236}">
                <a16:creationId xmlns:a16="http://schemas.microsoft.com/office/drawing/2014/main" id="{2528A358-06AE-A584-D2F5-02F9B86051DF}"/>
              </a:ext>
            </a:extLst>
          </p:cNvPr>
          <p:cNvCxnSpPr/>
          <p:nvPr/>
        </p:nvCxnSpPr>
        <p:spPr>
          <a:xfrm>
            <a:off x="5152686" y="460573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Rechte verbindingslijn 55">
            <a:extLst>
              <a:ext uri="{FF2B5EF4-FFF2-40B4-BE49-F238E27FC236}">
                <a16:creationId xmlns:a16="http://schemas.microsoft.com/office/drawing/2014/main" id="{951C3EF2-BE67-9510-85F0-DE802001D257}"/>
              </a:ext>
            </a:extLst>
          </p:cNvPr>
          <p:cNvCxnSpPr/>
          <p:nvPr/>
        </p:nvCxnSpPr>
        <p:spPr>
          <a:xfrm>
            <a:off x="4432606" y="460573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Rechte verbindingslijn 56">
            <a:extLst>
              <a:ext uri="{FF2B5EF4-FFF2-40B4-BE49-F238E27FC236}">
                <a16:creationId xmlns:a16="http://schemas.microsoft.com/office/drawing/2014/main" id="{14AEF967-ACBA-CD8A-3779-0664795FFA43}"/>
              </a:ext>
            </a:extLst>
          </p:cNvPr>
          <p:cNvCxnSpPr/>
          <p:nvPr/>
        </p:nvCxnSpPr>
        <p:spPr>
          <a:xfrm>
            <a:off x="4072566" y="460573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Rechte verbindingslijn 57">
            <a:extLst>
              <a:ext uri="{FF2B5EF4-FFF2-40B4-BE49-F238E27FC236}">
                <a16:creationId xmlns:a16="http://schemas.microsoft.com/office/drawing/2014/main" id="{7B2160BC-570D-086A-AE05-823C58440159}"/>
              </a:ext>
            </a:extLst>
          </p:cNvPr>
          <p:cNvCxnSpPr/>
          <p:nvPr/>
        </p:nvCxnSpPr>
        <p:spPr>
          <a:xfrm>
            <a:off x="4072566" y="460573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Rechte verbindingslijn 58">
            <a:extLst>
              <a:ext uri="{FF2B5EF4-FFF2-40B4-BE49-F238E27FC236}">
                <a16:creationId xmlns:a16="http://schemas.microsoft.com/office/drawing/2014/main" id="{05FCC0DA-6CBF-EDFB-3CA8-B51EC07F239E}"/>
              </a:ext>
            </a:extLst>
          </p:cNvPr>
          <p:cNvCxnSpPr/>
          <p:nvPr/>
        </p:nvCxnSpPr>
        <p:spPr>
          <a:xfrm>
            <a:off x="3712526" y="460573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Rechte verbindingslijn 59">
            <a:extLst>
              <a:ext uri="{FF2B5EF4-FFF2-40B4-BE49-F238E27FC236}">
                <a16:creationId xmlns:a16="http://schemas.microsoft.com/office/drawing/2014/main" id="{1E96E20F-FEFD-AB04-04CA-3F4B55064112}"/>
              </a:ext>
            </a:extLst>
          </p:cNvPr>
          <p:cNvCxnSpPr/>
          <p:nvPr/>
        </p:nvCxnSpPr>
        <p:spPr>
          <a:xfrm>
            <a:off x="3352486" y="402967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Rechte verbindingslijn 60">
            <a:extLst>
              <a:ext uri="{FF2B5EF4-FFF2-40B4-BE49-F238E27FC236}">
                <a16:creationId xmlns:a16="http://schemas.microsoft.com/office/drawing/2014/main" id="{0772FFE5-F9A2-EB03-E805-568FE3C832C9}"/>
              </a:ext>
            </a:extLst>
          </p:cNvPr>
          <p:cNvCxnSpPr/>
          <p:nvPr/>
        </p:nvCxnSpPr>
        <p:spPr>
          <a:xfrm>
            <a:off x="3712526" y="402967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kstvak 61">
            <a:extLst>
              <a:ext uri="{FF2B5EF4-FFF2-40B4-BE49-F238E27FC236}">
                <a16:creationId xmlns:a16="http://schemas.microsoft.com/office/drawing/2014/main" id="{9853E995-FBF2-144F-6FE2-9F5A48F2C2E3}"/>
              </a:ext>
            </a:extLst>
          </p:cNvPr>
          <p:cNvSpPr txBox="1"/>
          <p:nvPr/>
        </p:nvSpPr>
        <p:spPr>
          <a:xfrm>
            <a:off x="5008669" y="5062530"/>
            <a:ext cx="1296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>
                <a:sym typeface="Wingdings" panose="05000000000000000000" pitchFamily="2" charset="2"/>
              </a:rPr>
              <a:t> </a:t>
            </a:r>
            <a:r>
              <a:rPr lang="nl-NL" sz="1600" dirty="0">
                <a:solidFill>
                  <a:schemeClr val="tx1"/>
                </a:solidFill>
                <a:sym typeface="Wingdings" panose="05000000000000000000" pitchFamily="2" charset="2"/>
              </a:rPr>
              <a:t>→ time</a:t>
            </a:r>
            <a:endParaRPr lang="nl-NL" sz="1600" dirty="0">
              <a:solidFill>
                <a:schemeClr val="tx1"/>
              </a:solidFill>
            </a:endParaRPr>
          </a:p>
        </p:txBody>
      </p:sp>
      <p:sp>
        <p:nvSpPr>
          <p:cNvPr id="63" name="Tekstvak 62">
            <a:extLst>
              <a:ext uri="{FF2B5EF4-FFF2-40B4-BE49-F238E27FC236}">
                <a16:creationId xmlns:a16="http://schemas.microsoft.com/office/drawing/2014/main" id="{33398CD8-F0A2-FE19-201B-CEB546940A7B}"/>
              </a:ext>
            </a:extLst>
          </p:cNvPr>
          <p:cNvSpPr txBox="1"/>
          <p:nvPr/>
        </p:nvSpPr>
        <p:spPr>
          <a:xfrm>
            <a:off x="7967829" y="1344238"/>
            <a:ext cx="8640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>
                <a:sym typeface="Wingdings" panose="05000000000000000000" pitchFamily="2" charset="2"/>
              </a:rPr>
              <a:t>     </a:t>
            </a:r>
          </a:p>
          <a:p>
            <a:r>
              <a:rPr lang="nl-NL" sz="1600" dirty="0" err="1">
                <a:solidFill>
                  <a:schemeClr val="tx1"/>
                </a:solidFill>
                <a:sym typeface="Wingdings" panose="05000000000000000000" pitchFamily="2" charset="2"/>
              </a:rPr>
              <a:t>Current</a:t>
            </a:r>
            <a:r>
              <a:rPr lang="nl-NL" sz="1600" dirty="0">
                <a:solidFill>
                  <a:schemeClr val="tx1"/>
                </a:solidFill>
                <a:sym typeface="Wingdings" panose="05000000000000000000" pitchFamily="2" charset="2"/>
              </a:rPr>
              <a:t> time</a:t>
            </a:r>
          </a:p>
          <a:p>
            <a:r>
              <a:rPr lang="nl-NL" sz="1600" dirty="0">
                <a:solidFill>
                  <a:schemeClr val="tx1"/>
                </a:solidFill>
                <a:sym typeface="Wingdings" panose="05000000000000000000" pitchFamily="2" charset="2"/>
              </a:rPr>
              <a:t>     ↓</a:t>
            </a:r>
            <a:endParaRPr lang="nl-NL" sz="1600" dirty="0">
              <a:solidFill>
                <a:schemeClr val="tx1"/>
              </a:solidFill>
            </a:endParaRPr>
          </a:p>
        </p:txBody>
      </p:sp>
      <p:cxnSp>
        <p:nvCxnSpPr>
          <p:cNvPr id="64" name="Rechte verbindingslijn 63">
            <a:extLst>
              <a:ext uri="{FF2B5EF4-FFF2-40B4-BE49-F238E27FC236}">
                <a16:creationId xmlns:a16="http://schemas.microsoft.com/office/drawing/2014/main" id="{D3DC7A24-A9D4-4C8B-22EE-F276D45E416E}"/>
              </a:ext>
            </a:extLst>
          </p:cNvPr>
          <p:cNvCxnSpPr/>
          <p:nvPr/>
        </p:nvCxnSpPr>
        <p:spPr>
          <a:xfrm>
            <a:off x="3064454" y="347037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Rechte verbindingslijn 64">
            <a:extLst>
              <a:ext uri="{FF2B5EF4-FFF2-40B4-BE49-F238E27FC236}">
                <a16:creationId xmlns:a16="http://schemas.microsoft.com/office/drawing/2014/main" id="{4C192E02-D070-2C0D-44BF-75770FC3EB9F}"/>
              </a:ext>
            </a:extLst>
          </p:cNvPr>
          <p:cNvCxnSpPr/>
          <p:nvPr/>
        </p:nvCxnSpPr>
        <p:spPr>
          <a:xfrm>
            <a:off x="3064454" y="3614393"/>
            <a:ext cx="532859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Rechte verbindingslijn 65">
            <a:extLst>
              <a:ext uri="{FF2B5EF4-FFF2-40B4-BE49-F238E27FC236}">
                <a16:creationId xmlns:a16="http://schemas.microsoft.com/office/drawing/2014/main" id="{A076DED6-E123-2CE6-7971-0311B4053D34}"/>
              </a:ext>
            </a:extLst>
          </p:cNvPr>
          <p:cNvCxnSpPr/>
          <p:nvPr/>
        </p:nvCxnSpPr>
        <p:spPr>
          <a:xfrm>
            <a:off x="7312926" y="3614393"/>
            <a:ext cx="108012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Rechte verbindingslijn 66">
            <a:extLst>
              <a:ext uri="{FF2B5EF4-FFF2-40B4-BE49-F238E27FC236}">
                <a16:creationId xmlns:a16="http://schemas.microsoft.com/office/drawing/2014/main" id="{9FDA4498-DB6F-C823-A4F7-BE9095CFD72F}"/>
              </a:ext>
            </a:extLst>
          </p:cNvPr>
          <p:cNvCxnSpPr/>
          <p:nvPr/>
        </p:nvCxnSpPr>
        <p:spPr>
          <a:xfrm>
            <a:off x="8393046" y="347037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Rechte verbindingslijn 67">
            <a:extLst>
              <a:ext uri="{FF2B5EF4-FFF2-40B4-BE49-F238E27FC236}">
                <a16:creationId xmlns:a16="http://schemas.microsoft.com/office/drawing/2014/main" id="{BFCE7B18-972E-5ED4-56D3-1912AD08C9D3}"/>
              </a:ext>
            </a:extLst>
          </p:cNvPr>
          <p:cNvCxnSpPr/>
          <p:nvPr/>
        </p:nvCxnSpPr>
        <p:spPr>
          <a:xfrm>
            <a:off x="7312926" y="347037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Rechte verbindingslijn 68">
            <a:extLst>
              <a:ext uri="{FF2B5EF4-FFF2-40B4-BE49-F238E27FC236}">
                <a16:creationId xmlns:a16="http://schemas.microsoft.com/office/drawing/2014/main" id="{C2602C9C-32CE-90B5-AB6C-BE7D48CC459B}"/>
              </a:ext>
            </a:extLst>
          </p:cNvPr>
          <p:cNvCxnSpPr/>
          <p:nvPr/>
        </p:nvCxnSpPr>
        <p:spPr>
          <a:xfrm>
            <a:off x="6232806" y="347037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Rechte verbindingslijn 69">
            <a:extLst>
              <a:ext uri="{FF2B5EF4-FFF2-40B4-BE49-F238E27FC236}">
                <a16:creationId xmlns:a16="http://schemas.microsoft.com/office/drawing/2014/main" id="{604AC4E3-9D12-EF7F-4019-E737D69A4C06}"/>
              </a:ext>
            </a:extLst>
          </p:cNvPr>
          <p:cNvCxnSpPr/>
          <p:nvPr/>
        </p:nvCxnSpPr>
        <p:spPr>
          <a:xfrm>
            <a:off x="5152686" y="347037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Rechte verbindingslijn 70">
            <a:extLst>
              <a:ext uri="{FF2B5EF4-FFF2-40B4-BE49-F238E27FC236}">
                <a16:creationId xmlns:a16="http://schemas.microsoft.com/office/drawing/2014/main" id="{1BFE419D-97F6-A6C6-2040-96DCEC79E877}"/>
              </a:ext>
            </a:extLst>
          </p:cNvPr>
          <p:cNvCxnSpPr/>
          <p:nvPr/>
        </p:nvCxnSpPr>
        <p:spPr>
          <a:xfrm>
            <a:off x="4072566" y="3470377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kstvak 71">
            <a:extLst>
              <a:ext uri="{FF2B5EF4-FFF2-40B4-BE49-F238E27FC236}">
                <a16:creationId xmlns:a16="http://schemas.microsoft.com/office/drawing/2014/main" id="{4103983B-56AD-E902-C949-8CF08FDC3A1A}"/>
              </a:ext>
            </a:extLst>
          </p:cNvPr>
          <p:cNvSpPr txBox="1"/>
          <p:nvPr/>
        </p:nvSpPr>
        <p:spPr>
          <a:xfrm>
            <a:off x="2416382" y="3412599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73" name="Rechthoek 72">
            <a:extLst>
              <a:ext uri="{FF2B5EF4-FFF2-40B4-BE49-F238E27FC236}">
                <a16:creationId xmlns:a16="http://schemas.microsoft.com/office/drawing/2014/main" id="{B59D99B1-8654-C200-3B6A-5F672F3BE25E}"/>
              </a:ext>
            </a:extLst>
          </p:cNvPr>
          <p:cNvSpPr/>
          <p:nvPr/>
        </p:nvSpPr>
        <p:spPr>
          <a:xfrm>
            <a:off x="2920438" y="2407057"/>
            <a:ext cx="4392488" cy="265547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endParaRPr lang="nl-NL" sz="1800" b="0"/>
          </a:p>
        </p:txBody>
      </p:sp>
      <p:cxnSp>
        <p:nvCxnSpPr>
          <p:cNvPr id="74" name="Rechte verbindingslijn 73">
            <a:extLst>
              <a:ext uri="{FF2B5EF4-FFF2-40B4-BE49-F238E27FC236}">
                <a16:creationId xmlns:a16="http://schemas.microsoft.com/office/drawing/2014/main" id="{3CC84697-C930-1D68-B00B-1CD3F467BAE0}"/>
              </a:ext>
            </a:extLst>
          </p:cNvPr>
          <p:cNvCxnSpPr/>
          <p:nvPr/>
        </p:nvCxnSpPr>
        <p:spPr bwMode="auto">
          <a:xfrm>
            <a:off x="7024894" y="5068783"/>
            <a:ext cx="1440160" cy="0"/>
          </a:xfrm>
          <a:prstGeom prst="line">
            <a:avLst/>
          </a:prstGeom>
          <a:noFill/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5" name="Rechte verbindingslijn 74">
            <a:extLst>
              <a:ext uri="{FF2B5EF4-FFF2-40B4-BE49-F238E27FC236}">
                <a16:creationId xmlns:a16="http://schemas.microsoft.com/office/drawing/2014/main" id="{BDE920D3-AE7C-57A0-C3DD-84C63FE443AE}"/>
              </a:ext>
            </a:extLst>
          </p:cNvPr>
          <p:cNvCxnSpPr/>
          <p:nvPr/>
        </p:nvCxnSpPr>
        <p:spPr bwMode="auto">
          <a:xfrm>
            <a:off x="7024894" y="2404487"/>
            <a:ext cx="1440160" cy="0"/>
          </a:xfrm>
          <a:prstGeom prst="line">
            <a:avLst/>
          </a:prstGeom>
          <a:noFill/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Rechte verbindingslijn 75">
            <a:extLst>
              <a:ext uri="{FF2B5EF4-FFF2-40B4-BE49-F238E27FC236}">
                <a16:creationId xmlns:a16="http://schemas.microsoft.com/office/drawing/2014/main" id="{1542F648-424F-2F6E-EF26-729D0E5E4722}"/>
              </a:ext>
            </a:extLst>
          </p:cNvPr>
          <p:cNvCxnSpPr/>
          <p:nvPr/>
        </p:nvCxnSpPr>
        <p:spPr bwMode="auto">
          <a:xfrm>
            <a:off x="8465054" y="2404487"/>
            <a:ext cx="0" cy="2658043"/>
          </a:xfrm>
          <a:prstGeom prst="line">
            <a:avLst/>
          </a:prstGeom>
          <a:noFill/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77" name="Tekstvak 76">
            <a:extLst>
              <a:ext uri="{FF2B5EF4-FFF2-40B4-BE49-F238E27FC236}">
                <a16:creationId xmlns:a16="http://schemas.microsoft.com/office/drawing/2014/main" id="{AD48845F-BA6C-10D1-68B4-0B79AEA5882D}"/>
              </a:ext>
            </a:extLst>
          </p:cNvPr>
          <p:cNvSpPr txBox="1"/>
          <p:nvPr/>
        </p:nvSpPr>
        <p:spPr>
          <a:xfrm>
            <a:off x="7420939" y="2817371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0" dirty="0">
                <a:solidFill>
                  <a:srgbClr val="0F5494"/>
                </a:solidFill>
              </a:rPr>
              <a:t>Out-of-sample</a:t>
            </a:r>
          </a:p>
        </p:txBody>
      </p:sp>
      <p:sp>
        <p:nvSpPr>
          <p:cNvPr id="78" name="Rechthoek 77">
            <a:extLst>
              <a:ext uri="{FF2B5EF4-FFF2-40B4-BE49-F238E27FC236}">
                <a16:creationId xmlns:a16="http://schemas.microsoft.com/office/drawing/2014/main" id="{A02DF7D4-6CEE-AC8E-299A-E27795326DFB}"/>
              </a:ext>
            </a:extLst>
          </p:cNvPr>
          <p:cNvSpPr/>
          <p:nvPr/>
        </p:nvSpPr>
        <p:spPr>
          <a:xfrm>
            <a:off x="7348501" y="2936271"/>
            <a:ext cx="10985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1400" b="0" dirty="0">
                <a:solidFill>
                  <a:srgbClr val="0F5494"/>
                </a:solidFill>
              </a:rPr>
              <a:t>In-sample</a:t>
            </a:r>
            <a:endParaRPr lang="nl-NL" dirty="0"/>
          </a:p>
        </p:txBody>
      </p:sp>
      <p:sp>
        <p:nvSpPr>
          <p:cNvPr id="79" name="Rechthoek 78">
            <a:extLst>
              <a:ext uri="{FF2B5EF4-FFF2-40B4-BE49-F238E27FC236}">
                <a16:creationId xmlns:a16="http://schemas.microsoft.com/office/drawing/2014/main" id="{0EF153E5-7124-9B28-42E4-4F66C68ED181}"/>
              </a:ext>
            </a:extLst>
          </p:cNvPr>
          <p:cNvSpPr/>
          <p:nvPr/>
        </p:nvSpPr>
        <p:spPr>
          <a:xfrm>
            <a:off x="7335629" y="3449620"/>
            <a:ext cx="1057416" cy="14481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endParaRPr lang="nl-NL" sz="1800" b="0"/>
          </a:p>
        </p:txBody>
      </p:sp>
      <p:sp>
        <p:nvSpPr>
          <p:cNvPr id="80" name="Tekstvak 79">
            <a:extLst>
              <a:ext uri="{FF2B5EF4-FFF2-40B4-BE49-F238E27FC236}">
                <a16:creationId xmlns:a16="http://schemas.microsoft.com/office/drawing/2014/main" id="{F1D07575-8E8B-5976-9006-642FBF136A06}"/>
              </a:ext>
            </a:extLst>
          </p:cNvPr>
          <p:cNvSpPr txBox="1"/>
          <p:nvPr/>
        </p:nvSpPr>
        <p:spPr>
          <a:xfrm>
            <a:off x="6520837" y="1537151"/>
            <a:ext cx="10801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>
                <a:sym typeface="Wingdings" panose="05000000000000000000" pitchFamily="2" charset="2"/>
              </a:rPr>
              <a:t>     </a:t>
            </a:r>
          </a:p>
          <a:p>
            <a:r>
              <a:rPr lang="nl-NL" sz="1600" dirty="0" err="1">
                <a:sym typeface="Wingdings" panose="05000000000000000000" pitchFamily="2" charset="2"/>
              </a:rPr>
              <a:t>Available</a:t>
            </a:r>
            <a:r>
              <a:rPr lang="nl-NL" sz="1600" dirty="0">
                <a:sym typeface="Wingdings" panose="05000000000000000000" pitchFamily="2" charset="2"/>
              </a:rPr>
              <a:t> data</a:t>
            </a:r>
            <a:endParaRPr lang="nl-NL" sz="16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nl-NL" sz="1600" dirty="0">
                <a:solidFill>
                  <a:schemeClr val="tx1"/>
                </a:solidFill>
                <a:sym typeface="Wingdings" panose="05000000000000000000" pitchFamily="2" charset="2"/>
              </a:rPr>
              <a:t>     </a:t>
            </a:r>
            <a:endParaRPr lang="nl-NL" sz="1600" dirty="0">
              <a:solidFill>
                <a:schemeClr val="tx1"/>
              </a:solidFill>
            </a:endParaRPr>
          </a:p>
        </p:txBody>
      </p:sp>
      <p:cxnSp>
        <p:nvCxnSpPr>
          <p:cNvPr id="81" name="Rechte verbindingslijn met pijl 80">
            <a:extLst>
              <a:ext uri="{FF2B5EF4-FFF2-40B4-BE49-F238E27FC236}">
                <a16:creationId xmlns:a16="http://schemas.microsoft.com/office/drawing/2014/main" id="{1BE5B4E1-FB0C-1C4D-D08C-0F265A428FB3}"/>
              </a:ext>
            </a:extLst>
          </p:cNvPr>
          <p:cNvCxnSpPr/>
          <p:nvPr/>
        </p:nvCxnSpPr>
        <p:spPr>
          <a:xfrm flipH="1">
            <a:off x="6452449" y="1921715"/>
            <a:ext cx="111803" cy="479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83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78" grpId="0"/>
      <p:bldP spid="7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6B93FA-81BD-BC60-05E0-11E427774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Nowcasting</a:t>
            </a:r>
            <a:r>
              <a:rPr lang="nl-NL" dirty="0"/>
              <a:t>: </a:t>
            </a:r>
            <a:r>
              <a:rPr lang="nl-NL" dirty="0" err="1"/>
              <a:t>applications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EED4929-0AE1-4C99-9E3B-B30C40DE51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F213299-3B81-432B-A58C-C32F4CDB8B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dirty="0" err="1"/>
              <a:t>Increase</a:t>
            </a:r>
            <a:r>
              <a:rPr lang="nl-NL" dirty="0"/>
              <a:t> </a:t>
            </a:r>
            <a:r>
              <a:rPr lang="nl-NL" dirty="0" err="1"/>
              <a:t>timeliness</a:t>
            </a:r>
            <a:r>
              <a:rPr lang="nl-NL" dirty="0"/>
              <a:t>/</a:t>
            </a:r>
            <a:r>
              <a:rPr lang="nl-NL" dirty="0" err="1"/>
              <a:t>frequency</a:t>
            </a:r>
            <a:r>
              <a:rPr lang="nl-NL" dirty="0"/>
              <a:t> of </a:t>
            </a:r>
            <a:r>
              <a:rPr lang="nl-NL" dirty="0" err="1"/>
              <a:t>publications</a:t>
            </a:r>
            <a:endParaRPr lang="nl-NL" dirty="0"/>
          </a:p>
          <a:p>
            <a:r>
              <a:rPr lang="nl-NL" dirty="0" err="1"/>
              <a:t>When</a:t>
            </a:r>
            <a:r>
              <a:rPr lang="nl-NL" dirty="0"/>
              <a:t> availability of data </a:t>
            </a:r>
            <a:r>
              <a:rPr lang="nl-NL" dirty="0" err="1"/>
              <a:t>decreases</a:t>
            </a:r>
            <a:endParaRPr lang="nl-NL" dirty="0"/>
          </a:p>
          <a:p>
            <a:r>
              <a:rPr lang="nl-NL" dirty="0"/>
              <a:t>As </a:t>
            </a:r>
            <a:r>
              <a:rPr lang="nl-NL" dirty="0" err="1"/>
              <a:t>emergency</a:t>
            </a:r>
            <a:r>
              <a:rPr lang="nl-NL" dirty="0"/>
              <a:t> scenario / benchmark</a:t>
            </a:r>
          </a:p>
          <a:p>
            <a:r>
              <a:rPr lang="nl-NL" dirty="0" err="1"/>
              <a:t>Estimation</a:t>
            </a:r>
            <a:r>
              <a:rPr lang="nl-NL" dirty="0"/>
              <a:t> of sub-</a:t>
            </a:r>
            <a:r>
              <a:rPr lang="nl-NL" dirty="0" err="1"/>
              <a:t>aggregates</a:t>
            </a:r>
            <a:endParaRPr lang="nl-NL" dirty="0"/>
          </a:p>
          <a:p>
            <a:r>
              <a:rPr lang="nl-NL" dirty="0" err="1"/>
              <a:t>Reduction</a:t>
            </a:r>
            <a:r>
              <a:rPr lang="nl-NL" dirty="0"/>
              <a:t> of </a:t>
            </a:r>
            <a:r>
              <a:rPr lang="nl-NL" dirty="0" err="1"/>
              <a:t>revisions</a:t>
            </a:r>
            <a:endParaRPr lang="nl-NL" dirty="0"/>
          </a:p>
          <a:p>
            <a:r>
              <a:rPr lang="nl-NL" dirty="0"/>
              <a:t>More </a:t>
            </a:r>
            <a:r>
              <a:rPr lang="nl-NL" dirty="0" err="1"/>
              <a:t>efficient</a:t>
            </a:r>
            <a:r>
              <a:rPr lang="nl-NL" dirty="0"/>
              <a:t> </a:t>
            </a:r>
            <a:r>
              <a:rPr lang="nl-NL" dirty="0" err="1"/>
              <a:t>processes</a:t>
            </a:r>
            <a:r>
              <a:rPr lang="nl-NL" dirty="0"/>
              <a:t> </a:t>
            </a:r>
          </a:p>
          <a:p>
            <a:r>
              <a:rPr lang="nl-NL" dirty="0" err="1"/>
              <a:t>Margins</a:t>
            </a:r>
            <a:r>
              <a:rPr lang="nl-NL" dirty="0"/>
              <a:t>  </a:t>
            </a:r>
          </a:p>
          <a:p>
            <a:pPr marL="342900" indent="-342900">
              <a:buFontTx/>
              <a:buChar char="-"/>
            </a:pPr>
            <a:endParaRPr lang="nl-NL" dirty="0"/>
          </a:p>
          <a:p>
            <a:pPr marL="0" indent="0">
              <a:buNone/>
            </a:pPr>
            <a:r>
              <a:rPr lang="nl-NL" dirty="0"/>
              <a:t>-&gt; </a:t>
            </a:r>
            <a:r>
              <a:rPr lang="en-US" dirty="0"/>
              <a:t>Trade-off between timeliness and accuracy</a:t>
            </a:r>
            <a:endParaRPr lang="nl-NL" dirty="0"/>
          </a:p>
          <a:p>
            <a:pPr marL="342900" indent="-342900">
              <a:buFontTx/>
              <a:buChar char="-"/>
            </a:pPr>
            <a:endParaRPr lang="nl-NL" dirty="0"/>
          </a:p>
          <a:p>
            <a:pPr marL="342900" indent="-342900">
              <a:buFontTx/>
              <a:buChar char="-"/>
            </a:pP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91133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222D71-D31F-2D49-61F6-2B0C19EFA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Methods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57DC445-0CCB-F203-D442-4096100F93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2EC84E8-E735-4F84-FB92-9D4BE555B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76786" y="1322396"/>
            <a:ext cx="10515597" cy="4194176"/>
          </a:xfrm>
        </p:spPr>
        <p:txBody>
          <a:bodyPr/>
          <a:lstStyle/>
          <a:p>
            <a:r>
              <a:rPr lang="nl-NL" u="sng" dirty="0" err="1"/>
              <a:t>Univariate</a:t>
            </a:r>
            <a:r>
              <a:rPr lang="nl-NL" dirty="0"/>
              <a:t>: </a:t>
            </a:r>
            <a:r>
              <a:rPr lang="nl-NL" dirty="0" err="1"/>
              <a:t>autoregressive</a:t>
            </a:r>
            <a:r>
              <a:rPr lang="nl-NL" dirty="0"/>
              <a:t> </a:t>
            </a:r>
            <a:r>
              <a:rPr lang="nl-NL" dirty="0" err="1"/>
              <a:t>models</a:t>
            </a:r>
            <a:r>
              <a:rPr lang="nl-NL" dirty="0"/>
              <a:t>,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auxiliary</a:t>
            </a:r>
            <a:r>
              <a:rPr lang="nl-NL" dirty="0"/>
              <a:t> data</a:t>
            </a:r>
          </a:p>
          <a:p>
            <a:pPr lvl="1"/>
            <a:r>
              <a:rPr lang="nl-NL" dirty="0" err="1"/>
              <a:t>Naïve</a:t>
            </a:r>
            <a:r>
              <a:rPr lang="nl-NL" dirty="0"/>
              <a:t> </a:t>
            </a:r>
            <a:r>
              <a:rPr lang="nl-NL" dirty="0" err="1"/>
              <a:t>methods</a:t>
            </a:r>
            <a:endParaRPr lang="nl-NL" dirty="0"/>
          </a:p>
          <a:p>
            <a:pPr lvl="1"/>
            <a:r>
              <a:rPr lang="nl-NL" dirty="0" err="1"/>
              <a:t>Exponential</a:t>
            </a:r>
            <a:r>
              <a:rPr lang="nl-NL" dirty="0"/>
              <a:t> </a:t>
            </a:r>
            <a:r>
              <a:rPr lang="nl-NL" dirty="0" err="1"/>
              <a:t>smoothing</a:t>
            </a:r>
            <a:endParaRPr lang="nl-NL" dirty="0"/>
          </a:p>
          <a:p>
            <a:pPr lvl="1"/>
            <a:r>
              <a:rPr lang="nl-NL" dirty="0" err="1"/>
              <a:t>Regression</a:t>
            </a:r>
            <a:endParaRPr lang="nl-NL" dirty="0"/>
          </a:p>
          <a:p>
            <a:pPr lvl="1"/>
            <a:r>
              <a:rPr lang="nl-NL" dirty="0" err="1"/>
              <a:t>Autoregressive</a:t>
            </a:r>
            <a:r>
              <a:rPr lang="nl-NL" dirty="0"/>
              <a:t> </a:t>
            </a:r>
            <a:r>
              <a:rPr lang="nl-NL" dirty="0" err="1"/>
              <a:t>distributed</a:t>
            </a:r>
            <a:r>
              <a:rPr lang="nl-NL" dirty="0"/>
              <a:t> lag (ADL)</a:t>
            </a:r>
          </a:p>
          <a:p>
            <a:pPr lvl="1"/>
            <a:r>
              <a:rPr lang="nl-NL" dirty="0"/>
              <a:t>ARIMA(X)</a:t>
            </a:r>
          </a:p>
          <a:p>
            <a:pPr lvl="1"/>
            <a:r>
              <a:rPr lang="nl-NL" dirty="0" err="1"/>
              <a:t>Structural</a:t>
            </a:r>
            <a:r>
              <a:rPr lang="nl-NL" dirty="0"/>
              <a:t> time series </a:t>
            </a:r>
            <a:r>
              <a:rPr lang="nl-NL" dirty="0" err="1"/>
              <a:t>models</a:t>
            </a:r>
            <a:r>
              <a:rPr lang="nl-NL" dirty="0"/>
              <a:t> (STM)</a:t>
            </a:r>
          </a:p>
          <a:p>
            <a:pPr marL="342000" lvl="1" indent="0">
              <a:buNone/>
            </a:pPr>
            <a:r>
              <a:rPr lang="nl-NL" dirty="0"/>
              <a:t>-&gt; ‘</a:t>
            </a:r>
            <a:r>
              <a:rPr lang="nl-NL" dirty="0" err="1"/>
              <a:t>simple</a:t>
            </a:r>
            <a:r>
              <a:rPr lang="nl-NL" dirty="0"/>
              <a:t>’ is </a:t>
            </a:r>
            <a:r>
              <a:rPr lang="nl-NL" dirty="0" err="1"/>
              <a:t>often</a:t>
            </a:r>
            <a:r>
              <a:rPr lang="nl-NL" dirty="0"/>
              <a:t> </a:t>
            </a:r>
            <a:r>
              <a:rPr lang="nl-NL" dirty="0" err="1"/>
              <a:t>effective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short forecast </a:t>
            </a:r>
            <a:r>
              <a:rPr lang="nl-NL" dirty="0" err="1"/>
              <a:t>horizons</a:t>
            </a:r>
            <a:endParaRPr lang="nl-NL" dirty="0"/>
          </a:p>
          <a:p>
            <a:r>
              <a:rPr lang="nl-NL" u="sng" dirty="0"/>
              <a:t>Multivariate</a:t>
            </a:r>
            <a:r>
              <a:rPr lang="nl-NL" dirty="0"/>
              <a:t>: </a:t>
            </a:r>
            <a:r>
              <a:rPr lang="nl-NL" dirty="0" err="1"/>
              <a:t>several</a:t>
            </a:r>
            <a:r>
              <a:rPr lang="nl-NL" dirty="0"/>
              <a:t> series </a:t>
            </a:r>
            <a:r>
              <a:rPr lang="nl-NL" dirty="0" err="1"/>
              <a:t>modelled</a:t>
            </a:r>
            <a:r>
              <a:rPr lang="nl-NL" dirty="0"/>
              <a:t> </a:t>
            </a:r>
            <a:r>
              <a:rPr lang="nl-NL" dirty="0" err="1"/>
              <a:t>simultaneously</a:t>
            </a:r>
            <a:endParaRPr lang="nl-NL" dirty="0"/>
          </a:p>
          <a:p>
            <a:pPr lvl="1"/>
            <a:r>
              <a:rPr lang="nl-NL" dirty="0"/>
              <a:t>Vector </a:t>
            </a:r>
            <a:r>
              <a:rPr lang="nl-NL" dirty="0" err="1"/>
              <a:t>Autoregressive</a:t>
            </a:r>
            <a:r>
              <a:rPr lang="nl-NL" dirty="0"/>
              <a:t> (VAR)</a:t>
            </a:r>
          </a:p>
          <a:p>
            <a:pPr lvl="1"/>
            <a:r>
              <a:rPr lang="nl-NL" dirty="0" err="1"/>
              <a:t>Structural</a:t>
            </a:r>
            <a:r>
              <a:rPr lang="nl-NL" dirty="0"/>
              <a:t> Times series </a:t>
            </a:r>
            <a:r>
              <a:rPr lang="nl-NL" dirty="0" err="1"/>
              <a:t>Models</a:t>
            </a:r>
            <a:r>
              <a:rPr lang="nl-NL" dirty="0"/>
              <a:t> (STM) (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correlated</a:t>
            </a:r>
            <a:r>
              <a:rPr lang="nl-NL" dirty="0"/>
              <a:t> or shared </a:t>
            </a:r>
            <a:r>
              <a:rPr lang="nl-NL" dirty="0" err="1"/>
              <a:t>components</a:t>
            </a:r>
            <a:r>
              <a:rPr lang="nl-NL" dirty="0"/>
              <a:t>)</a:t>
            </a:r>
          </a:p>
          <a:p>
            <a:pPr lvl="1"/>
            <a:r>
              <a:rPr lang="nl-NL" dirty="0"/>
              <a:t>Factor </a:t>
            </a:r>
            <a:r>
              <a:rPr lang="nl-NL" dirty="0" err="1"/>
              <a:t>models</a:t>
            </a:r>
            <a:endParaRPr lang="nl-NL" dirty="0"/>
          </a:p>
          <a:p>
            <a:pPr lvl="1"/>
            <a:r>
              <a:rPr lang="nl-NL" dirty="0"/>
              <a:t>Mixed </a:t>
            </a:r>
            <a:r>
              <a:rPr lang="nl-NL" dirty="0" err="1"/>
              <a:t>frequency</a:t>
            </a:r>
            <a:r>
              <a:rPr lang="nl-NL" dirty="0"/>
              <a:t> </a:t>
            </a:r>
            <a:r>
              <a:rPr lang="nl-NL" dirty="0" err="1"/>
              <a:t>models</a:t>
            </a:r>
            <a:r>
              <a:rPr lang="nl-NL" dirty="0"/>
              <a:t> (MIDAS)</a:t>
            </a:r>
          </a:p>
          <a:p>
            <a:pPr lvl="1"/>
            <a:r>
              <a:rPr lang="nl-NL" dirty="0"/>
              <a:t>Bridge </a:t>
            </a:r>
            <a:r>
              <a:rPr lang="nl-NL" dirty="0" err="1"/>
              <a:t>models</a:t>
            </a:r>
            <a:r>
              <a:rPr lang="nl-NL" dirty="0"/>
              <a:t>, Chow-Lin (</a:t>
            </a:r>
            <a:r>
              <a:rPr lang="nl-NL" dirty="0" err="1"/>
              <a:t>temporal</a:t>
            </a:r>
            <a:r>
              <a:rPr lang="nl-NL" dirty="0"/>
              <a:t> </a:t>
            </a:r>
            <a:r>
              <a:rPr lang="nl-NL" dirty="0" err="1"/>
              <a:t>disaggregation</a:t>
            </a:r>
            <a:r>
              <a:rPr lang="nl-NL" dirty="0"/>
              <a:t>)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35963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33078F-A1DD-2BB1-BE27-DCC0B5FEB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A3BC7EE-B402-0C7E-6CE3-55F0914834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C8EAF8C-252B-C983-3F48-80411CA0BF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nl-NL" sz="2400" dirty="0"/>
              <a:t>Download </a:t>
            </a:r>
            <a:r>
              <a:rPr lang="nl-NL" sz="2400" dirty="0" err="1"/>
              <a:t>and</a:t>
            </a:r>
            <a:r>
              <a:rPr lang="nl-NL" sz="2400" dirty="0"/>
              <a:t> unzip course </a:t>
            </a:r>
            <a:r>
              <a:rPr lang="nl-NL" sz="2400" dirty="0" err="1"/>
              <a:t>materials</a:t>
            </a:r>
            <a:endParaRPr lang="nl-NL" sz="2400" dirty="0"/>
          </a:p>
          <a:p>
            <a:pPr marL="457200" indent="-457200">
              <a:buFont typeface="+mj-lt"/>
              <a:buAutoNum type="arabicPeriod"/>
            </a:pPr>
            <a:endParaRPr lang="nl-NL" sz="2400" dirty="0"/>
          </a:p>
          <a:p>
            <a:pPr marL="457200" indent="-457200">
              <a:buFont typeface="+mj-lt"/>
              <a:buAutoNum type="arabicPeriod"/>
            </a:pPr>
            <a:r>
              <a:rPr lang="nl-NL" sz="2400" dirty="0"/>
              <a:t>In </a:t>
            </a:r>
            <a:r>
              <a:rPr lang="nl-NL" sz="2400" dirty="0" err="1"/>
              <a:t>Rstudio</a:t>
            </a:r>
            <a:r>
              <a:rPr lang="nl-NL" sz="2400" dirty="0"/>
              <a:t> go </a:t>
            </a:r>
            <a:r>
              <a:rPr lang="nl-NL" sz="2400" dirty="0" err="1"/>
              <a:t>to</a:t>
            </a:r>
            <a:r>
              <a:rPr lang="nl-NL" sz="2400" dirty="0"/>
              <a:t> </a:t>
            </a:r>
          </a:p>
          <a:p>
            <a:pPr marL="342000" lvl="1" indent="0">
              <a:buNone/>
            </a:pPr>
            <a:r>
              <a:rPr lang="nl-NL" sz="2400" dirty="0"/>
              <a:t>	</a:t>
            </a: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./</a:t>
            </a:r>
            <a:r>
              <a:rPr lang="nl-NL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Exercises</a:t>
            </a: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nl-NL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Exercises.Rproj</a:t>
            </a:r>
            <a:endParaRPr lang="nl-NL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/>
            </a:pPr>
            <a:endParaRPr lang="nl-NL" sz="2400" dirty="0"/>
          </a:p>
          <a:p>
            <a:pPr marL="457200" indent="-457200">
              <a:buFont typeface="+mj-lt"/>
              <a:buAutoNum type="arabicPeriod"/>
            </a:pPr>
            <a:r>
              <a:rPr lang="nl-NL" sz="2400" dirty="0"/>
              <a:t>Select </a:t>
            </a:r>
            <a:r>
              <a:rPr lang="nl-NL" sz="2400" dirty="0" err="1"/>
              <a:t>the</a:t>
            </a:r>
            <a:r>
              <a:rPr lang="nl-NL" sz="2400" dirty="0"/>
              <a:t> R-file </a:t>
            </a:r>
            <a:r>
              <a:rPr lang="nl-NL" sz="2400" dirty="0" err="1"/>
              <a:t>for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current</a:t>
            </a:r>
            <a:r>
              <a:rPr lang="nl-NL" sz="2400" dirty="0"/>
              <a:t> </a:t>
            </a:r>
            <a:r>
              <a:rPr lang="nl-NL" sz="2400" dirty="0" err="1"/>
              <a:t>session</a:t>
            </a:r>
            <a:r>
              <a:rPr lang="nl-NL" sz="2400" dirty="0"/>
              <a:t>, e.g.</a:t>
            </a:r>
          </a:p>
          <a:p>
            <a:pPr marL="0" indent="0">
              <a:buNone/>
            </a:pPr>
            <a:r>
              <a:rPr lang="nl-NL" sz="2400" dirty="0"/>
              <a:t>          	</a:t>
            </a: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1.1 ……….R</a:t>
            </a:r>
          </a:p>
          <a:p>
            <a:pPr marL="0" indent="0">
              <a:buNone/>
            </a:pP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1.2 ……….R</a:t>
            </a:r>
          </a:p>
          <a:p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38359857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147CF2-6362-D77C-DE37-E23F45E0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1121FB5-7EA3-21D0-AE46-9156313FF3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8A4D51-EA7E-19B5-7B8E-1145EA6321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nl-NL" dirty="0"/>
          </a:p>
          <a:p>
            <a:pPr marL="0" indent="0" algn="ctr">
              <a:buNone/>
            </a:pPr>
            <a:r>
              <a:rPr lang="nl-NL" sz="3200" dirty="0" err="1"/>
              <a:t>Questions</a:t>
            </a:r>
            <a:r>
              <a:rPr lang="nl-NL" sz="3200" dirty="0"/>
              <a:t> </a:t>
            </a:r>
            <a:r>
              <a:rPr lang="nl-NL" sz="3200" dirty="0" err="1"/>
              <a:t>so</a:t>
            </a:r>
            <a:r>
              <a:rPr lang="nl-NL" sz="3200" dirty="0"/>
              <a:t> far?</a:t>
            </a:r>
          </a:p>
          <a:p>
            <a:pPr marL="0" indent="0" algn="ctr">
              <a:buNone/>
            </a:pP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41711898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6BD7C6-00F0-FFD2-1463-A109C16BB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Literature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CC8DC71B-75EA-9AD9-5287-AF100F41F8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F65AF5E-AB2B-4EA3-7DE6-5AC3F1C8E14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Time series models:</a:t>
            </a:r>
          </a:p>
          <a:p>
            <a:r>
              <a:rPr lang="en-US" dirty="0"/>
              <a:t>Box, G. </a:t>
            </a:r>
            <a:r>
              <a:rPr lang="en-US" dirty="0" err="1"/>
              <a:t>en</a:t>
            </a:r>
            <a:r>
              <a:rPr lang="en-US" dirty="0"/>
              <a:t> G. Jenkins (1970), Time Series Analysis: Forecasting and Control, San Francisco: Holden-Day.</a:t>
            </a:r>
          </a:p>
          <a:p>
            <a:r>
              <a:rPr lang="en-GB" sz="2000" dirty="0"/>
              <a:t>Chatfield, C. (2019), </a:t>
            </a:r>
            <a:r>
              <a:rPr lang="en-GB" sz="2000" i="1" dirty="0"/>
              <a:t>The analysis of time series with applications in R</a:t>
            </a:r>
            <a:endParaRPr lang="nl-NL" dirty="0"/>
          </a:p>
          <a:p>
            <a:r>
              <a:rPr lang="en-GB" dirty="0"/>
              <a:t>Hamilton, J.D. (1994), </a:t>
            </a:r>
            <a:r>
              <a:rPr lang="en-GB" i="1" dirty="0"/>
              <a:t>Time Series Analysis</a:t>
            </a:r>
          </a:p>
          <a:p>
            <a:endParaRPr lang="en-GB" sz="2000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91388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6BD7C6-00F0-FFD2-1463-A109C16BB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Literature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CC8DC71B-75EA-9AD9-5287-AF100F41F8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F65AF5E-AB2B-4EA3-7DE6-5AC3F1C8E14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dirty="0"/>
              <a:t>Structural time series models</a:t>
            </a:r>
          </a:p>
          <a:p>
            <a:r>
              <a:rPr lang="en-GB" sz="2000" dirty="0"/>
              <a:t>Commandeur, J.F. and S.J. Koopman (2007), </a:t>
            </a:r>
            <a:r>
              <a:rPr lang="en-GB" sz="2000" i="1" dirty="0"/>
              <a:t>An introduction to state space time series analysis</a:t>
            </a:r>
            <a:r>
              <a:rPr lang="en-GB" sz="2000" dirty="0"/>
              <a:t>, Oxford University Press </a:t>
            </a:r>
          </a:p>
          <a:p>
            <a:r>
              <a:rPr lang="en-US" sz="2000" dirty="0"/>
              <a:t>Durbin, J. and S. J. Koopman (2012), </a:t>
            </a:r>
            <a:r>
              <a:rPr lang="en-US" sz="2000" i="1" dirty="0"/>
              <a:t>Time series analysis by state space methods</a:t>
            </a:r>
            <a:r>
              <a:rPr lang="en-US" sz="2000" dirty="0"/>
              <a:t>, </a:t>
            </a:r>
            <a:r>
              <a:rPr lang="en-US" dirty="0"/>
              <a:t>Oxford University Press</a:t>
            </a:r>
          </a:p>
          <a:p>
            <a:r>
              <a:rPr lang="en-US" dirty="0"/>
              <a:t>Harvey (1989), Forecasting, structural time series models and the Kalman filter, Cambridge University Press.</a:t>
            </a:r>
          </a:p>
          <a:p>
            <a:endParaRPr lang="en-GB" sz="2000" dirty="0"/>
          </a:p>
          <a:p>
            <a:endParaRPr lang="en-GB" sz="2000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536107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7000F5-A6D1-BF62-C9F6-F7F05DAF0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Literature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7CF7232-A768-E26B-DD7D-FA0D710502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28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ED91A3D-BD68-2C49-E845-163DB10259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Seasonal</a:t>
            </a:r>
            <a:r>
              <a:rPr lang="de-DE" dirty="0"/>
              <a:t> </a:t>
            </a:r>
            <a:r>
              <a:rPr lang="de-DE" dirty="0" err="1"/>
              <a:t>adjustment</a:t>
            </a:r>
            <a:r>
              <a:rPr lang="de-DE" dirty="0"/>
              <a:t>:</a:t>
            </a:r>
            <a:endParaRPr lang="de-DE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de-DE" sz="2000" dirty="0"/>
              <a:t>Eurostat (2024), </a:t>
            </a:r>
            <a:r>
              <a:rPr lang="de-DE" sz="2000" dirty="0">
                <a:hlinkClick r:id="rId3"/>
              </a:rPr>
              <a:t>ESS </a:t>
            </a:r>
            <a:r>
              <a:rPr lang="de-DE" sz="2000" dirty="0" err="1">
                <a:hlinkClick r:id="rId3"/>
              </a:rPr>
              <a:t>guidelines</a:t>
            </a:r>
            <a:r>
              <a:rPr lang="de-DE" sz="2000" dirty="0">
                <a:hlinkClick r:id="rId3"/>
              </a:rPr>
              <a:t> on </a:t>
            </a:r>
            <a:r>
              <a:rPr lang="de-DE" sz="2000" dirty="0" err="1">
                <a:hlinkClick r:id="rId3"/>
              </a:rPr>
              <a:t>seasonal</a:t>
            </a:r>
            <a:r>
              <a:rPr lang="de-DE" sz="2000" dirty="0">
                <a:hlinkClick r:id="rId3"/>
              </a:rPr>
              <a:t> </a:t>
            </a:r>
            <a:r>
              <a:rPr lang="de-DE" sz="2000" dirty="0" err="1">
                <a:hlinkClick r:id="rId3"/>
              </a:rPr>
              <a:t>adjustment</a:t>
            </a:r>
            <a:endParaRPr lang="nl-NL" sz="2000" dirty="0">
              <a:hlinkClick r:id="rId4"/>
            </a:endParaRPr>
          </a:p>
          <a:p>
            <a:r>
              <a:rPr lang="nl-NL" dirty="0"/>
              <a:t>Eurostat (2018), </a:t>
            </a:r>
            <a:r>
              <a:rPr lang="nl-NL" dirty="0" err="1">
                <a:hlinkClick r:id="rId4"/>
              </a:rPr>
              <a:t>H</a:t>
            </a:r>
            <a:r>
              <a:rPr lang="nl-NL" sz="2000" dirty="0" err="1">
                <a:hlinkClick r:id="rId4"/>
              </a:rPr>
              <a:t>andbook</a:t>
            </a:r>
            <a:r>
              <a:rPr lang="nl-NL" sz="2000" dirty="0">
                <a:hlinkClick r:id="rId4"/>
              </a:rPr>
              <a:t> on </a:t>
            </a:r>
            <a:r>
              <a:rPr lang="nl-NL" sz="2000" dirty="0" err="1">
                <a:hlinkClick r:id="rId4"/>
              </a:rPr>
              <a:t>seasonal</a:t>
            </a:r>
            <a:r>
              <a:rPr lang="nl-NL" sz="2000" dirty="0">
                <a:hlinkClick r:id="rId4"/>
              </a:rPr>
              <a:t> </a:t>
            </a:r>
            <a:r>
              <a:rPr lang="nl-NL" sz="2000" dirty="0" err="1">
                <a:hlinkClick r:id="rId4"/>
              </a:rPr>
              <a:t>adjustment</a:t>
            </a:r>
            <a:endParaRPr lang="nl-NL" sz="2000" dirty="0">
              <a:hlinkClick r:id="rId5"/>
            </a:endParaRPr>
          </a:p>
          <a:p>
            <a:r>
              <a:rPr lang="pt-BR" sz="2000" dirty="0">
                <a:hlinkClick r:id="rId6"/>
              </a:rPr>
              <a:t>https://jdemetra-new-documentation.netlify.app/</a:t>
            </a:r>
            <a:r>
              <a:rPr lang="pt-BR" sz="2000" dirty="0"/>
              <a:t> </a:t>
            </a:r>
          </a:p>
          <a:p>
            <a:r>
              <a:rPr lang="en-US" sz="2000" dirty="0"/>
              <a:t>UNECE (2020), </a:t>
            </a:r>
            <a:r>
              <a:rPr lang="en-US" sz="2000" dirty="0">
                <a:hlinkClick r:id="rId7"/>
              </a:rPr>
              <a:t>Practical Guide to Seasonal Adjustment with </a:t>
            </a:r>
            <a:r>
              <a:rPr lang="en-US" sz="2000" dirty="0" err="1">
                <a:hlinkClick r:id="rId7"/>
              </a:rPr>
              <a:t>JDemetra</a:t>
            </a:r>
            <a:r>
              <a:rPr lang="en-US" sz="2000" dirty="0">
                <a:hlinkClick r:id="rId7"/>
              </a:rPr>
              <a:t>+</a:t>
            </a:r>
            <a:endParaRPr lang="en-US" sz="2000" dirty="0"/>
          </a:p>
          <a:p>
            <a:r>
              <a:rPr lang="nl-NL" sz="2000" dirty="0"/>
              <a:t>US Census Bureau (2025), </a:t>
            </a:r>
            <a:r>
              <a:rPr lang="nl-NL" sz="2000" dirty="0">
                <a:hlinkClick r:id="rId8"/>
              </a:rPr>
              <a:t>X-13ARIMA-SEATS Reference manual</a:t>
            </a:r>
            <a:r>
              <a:rPr lang="nl-NL" sz="2000" dirty="0"/>
              <a:t> </a:t>
            </a:r>
          </a:p>
          <a:p>
            <a:r>
              <a:rPr lang="en-US" sz="2000" dirty="0"/>
              <a:t>Eurostat (2020), Guidance on time series treatment in the context of the Covid-19-crisis, </a:t>
            </a:r>
            <a:r>
              <a:rPr lang="en-US" sz="2000" dirty="0">
                <a:hlinkClick r:id="rId9"/>
              </a:rPr>
              <a:t>Methodological Note</a:t>
            </a:r>
            <a:r>
              <a:rPr lang="en-US" sz="2000" dirty="0"/>
              <a:t>  </a:t>
            </a:r>
          </a:p>
          <a:p>
            <a:endParaRPr lang="nl-NL" dirty="0"/>
          </a:p>
          <a:p>
            <a:endParaRPr lang="en-US" sz="2000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937552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C03DAA-E46D-C979-5BF3-1C837CDF2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Literature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E47A247-2ACC-6E54-3561-8ED9712FE3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29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1E95E09-3AA1-B56A-9832-74CDD59A4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582538"/>
            <a:ext cx="10515597" cy="419417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+mj-lt"/>
              </a:rPr>
              <a:t>Forecasting:</a:t>
            </a:r>
          </a:p>
          <a:p>
            <a:r>
              <a:rPr lang="en-GB" dirty="0" err="1">
                <a:latin typeface="+mj-lt"/>
              </a:rPr>
              <a:t>Hyndman,R.J</a:t>
            </a:r>
            <a:r>
              <a:rPr lang="en-GB" dirty="0">
                <a:latin typeface="+mj-lt"/>
              </a:rPr>
              <a:t>.,  </a:t>
            </a:r>
            <a:r>
              <a:rPr lang="en-GB" dirty="0" err="1">
                <a:latin typeface="+mj-lt"/>
              </a:rPr>
              <a:t>Athanasopulos</a:t>
            </a:r>
            <a:r>
              <a:rPr lang="en-GB" dirty="0">
                <a:latin typeface="+mj-lt"/>
              </a:rPr>
              <a:t>, G., </a:t>
            </a:r>
            <a:r>
              <a:rPr lang="en-GB" i="1" dirty="0">
                <a:latin typeface="+mj-lt"/>
              </a:rPr>
              <a:t>Forecasting, Principles and Practice</a:t>
            </a:r>
            <a:r>
              <a:rPr lang="en-GB" dirty="0">
                <a:latin typeface="+mj-lt"/>
              </a:rPr>
              <a:t>, </a:t>
            </a:r>
            <a:r>
              <a:rPr lang="en-GB" u="sng" dirty="0">
                <a:latin typeface="+mj-lt"/>
                <a:hlinkClick r:id="rId3"/>
              </a:rPr>
              <a:t>https://otexts.com/fpp3/</a:t>
            </a:r>
            <a:endParaRPr lang="en-GB" u="sng" dirty="0">
              <a:latin typeface="+mj-lt"/>
            </a:endParaRPr>
          </a:p>
          <a:p>
            <a:r>
              <a:rPr lang="en-US" dirty="0">
                <a:latin typeface="+mj-lt"/>
              </a:rPr>
              <a:t>Petropoulos et al. (2022), </a:t>
            </a:r>
            <a:r>
              <a:rPr lang="en-US" dirty="0">
                <a:latin typeface="+mj-lt"/>
                <a:hlinkClick r:id="rId4"/>
              </a:rPr>
              <a:t>Forecasting: theory and practice</a:t>
            </a:r>
            <a:r>
              <a:rPr lang="en-US" dirty="0">
                <a:latin typeface="+mj-lt"/>
              </a:rPr>
              <a:t>, International Journal of Forecasting, Volume 38, Issue 3, Pages 705-871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Makridakis</a:t>
            </a:r>
            <a:r>
              <a:rPr lang="en-US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S., E. </a:t>
            </a:r>
            <a:r>
              <a:rPr lang="en-US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Spiliotis</a:t>
            </a:r>
            <a:r>
              <a:rPr lang="en-US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V. </a:t>
            </a:r>
            <a:r>
              <a:rPr lang="en-US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Assimakopoulos</a:t>
            </a:r>
            <a:r>
              <a:rPr lang="en-US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(2020), The M4 Competition: 100,000 time series and 61 forecasting methods, </a:t>
            </a:r>
            <a:r>
              <a:rPr lang="en-GB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International Journal of Forecasting, Volume 36, Issue 1, Pages 54-74.</a:t>
            </a:r>
            <a:endParaRPr lang="nl-NL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Makridakis</a:t>
            </a:r>
            <a:r>
              <a:rPr lang="en-GB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S., E. </a:t>
            </a:r>
            <a:r>
              <a:rPr lang="en-GB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Spiliotis</a:t>
            </a:r>
            <a:r>
              <a:rPr lang="en-GB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V. </a:t>
            </a:r>
            <a:r>
              <a:rPr lang="en-GB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Assimakopoulos</a:t>
            </a:r>
            <a:r>
              <a:rPr lang="en-GB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(2022), M5 accuracy competition: Results, findings, and conclusions, International Journal of Forecasting, Volume 38, Issue 4, Pages 1346-1364.</a:t>
            </a:r>
            <a:endParaRPr lang="nl-NL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latin typeface="+mj-lt"/>
            </a:endParaRPr>
          </a:p>
          <a:p>
            <a:endParaRPr lang="nl-NL" i="1" dirty="0">
              <a:highlight>
                <a:srgbClr val="FFFF00"/>
              </a:highlight>
              <a:latin typeface="+mj-lt"/>
            </a:endParaRPr>
          </a:p>
          <a:p>
            <a:endParaRPr lang="en-GB" dirty="0">
              <a:latin typeface="+mj-lt"/>
            </a:endParaRPr>
          </a:p>
          <a:p>
            <a:endParaRPr lang="nl-NL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232152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C03DAA-E46D-C979-5BF3-1C837CDF2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Literature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E47A247-2ACC-6E54-3561-8ED9712FE3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30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1E95E09-3AA1-B56A-9832-74CDD59A4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582538"/>
            <a:ext cx="10515597" cy="419417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+mn-lt"/>
              </a:rPr>
              <a:t>Nowcasting:</a:t>
            </a:r>
          </a:p>
          <a:p>
            <a:r>
              <a:rPr lang="en-US" dirty="0">
                <a:latin typeface="+mn-lt"/>
              </a:rPr>
              <a:t>Baldacci, E., </a:t>
            </a:r>
            <a:r>
              <a:rPr lang="en-US" dirty="0" err="1">
                <a:latin typeface="+mn-lt"/>
              </a:rPr>
              <a:t>Buono</a:t>
            </a:r>
            <a:r>
              <a:rPr lang="en-US" dirty="0">
                <a:latin typeface="+mn-lt"/>
              </a:rPr>
              <a:t>, D., </a:t>
            </a:r>
            <a:r>
              <a:rPr lang="en-US" dirty="0" err="1">
                <a:latin typeface="+mn-lt"/>
              </a:rPr>
              <a:t>Kapetanios</a:t>
            </a:r>
            <a:r>
              <a:rPr lang="en-US" dirty="0">
                <a:latin typeface="+mn-lt"/>
              </a:rPr>
              <a:t>, G., </a:t>
            </a:r>
            <a:r>
              <a:rPr lang="en-US" dirty="0" err="1">
                <a:latin typeface="+mn-lt"/>
              </a:rPr>
              <a:t>Krische</a:t>
            </a:r>
            <a:r>
              <a:rPr lang="en-US" dirty="0">
                <a:latin typeface="+mn-lt"/>
              </a:rPr>
              <a:t>, S., Marcellino, M., </a:t>
            </a:r>
            <a:r>
              <a:rPr lang="en-US" dirty="0" err="1">
                <a:latin typeface="+mn-lt"/>
              </a:rPr>
              <a:t>Mazzi</a:t>
            </a:r>
            <a:r>
              <a:rPr lang="en-US" dirty="0">
                <a:latin typeface="+mn-lt"/>
              </a:rPr>
              <a:t>, G.L., </a:t>
            </a:r>
            <a:r>
              <a:rPr lang="en-US" dirty="0" err="1">
                <a:latin typeface="+mn-lt"/>
              </a:rPr>
              <a:t>Papailias</a:t>
            </a:r>
            <a:r>
              <a:rPr lang="en-US" dirty="0">
                <a:latin typeface="+mn-lt"/>
              </a:rPr>
              <a:t>, F. (2016) </a:t>
            </a:r>
            <a:r>
              <a:rPr lang="en-GB" i="1" dirty="0">
                <a:latin typeface="+mn-lt"/>
              </a:rPr>
              <a:t>Big Data and Macroeconomic Nowcasting: from data access to modelling</a:t>
            </a:r>
            <a:r>
              <a:rPr lang="en-GB" dirty="0">
                <a:latin typeface="+mn-lt"/>
              </a:rPr>
              <a:t>, Eurostat</a:t>
            </a:r>
          </a:p>
          <a:p>
            <a:r>
              <a:rPr lang="en-GB" dirty="0">
                <a:latin typeface="+mn-lt"/>
              </a:rPr>
              <a:t>Eurostat and United Nations (2017), </a:t>
            </a:r>
            <a:r>
              <a:rPr lang="en-GB" i="1" dirty="0">
                <a:latin typeface="+mn-lt"/>
              </a:rPr>
              <a:t>Handbook on rapid estimates</a:t>
            </a:r>
          </a:p>
          <a:p>
            <a:r>
              <a:rPr lang="en-GB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Banbura</a:t>
            </a:r>
            <a:r>
              <a:rPr lang="en-GB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 M., D. </a:t>
            </a:r>
            <a:r>
              <a:rPr lang="en-GB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Giannone</a:t>
            </a:r>
            <a:r>
              <a:rPr lang="en-GB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 and L. Reichlin. 2010. Nowcasting. ECB Working Paper 1275. DOI: </a:t>
            </a:r>
            <a:r>
              <a:rPr lang="en-GB" u="none" strike="noStrike" dirty="0">
                <a:solidFill>
                  <a:srgbClr val="0563C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http://dx.doi.org/10.2139/ssrn.1717887</a:t>
            </a:r>
            <a:r>
              <a:rPr lang="en-GB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nl-NL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nl-NL" i="1" dirty="0">
              <a:highlight>
                <a:srgbClr val="FFFF00"/>
              </a:highlight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nl-NL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43671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9CC45C-6ECF-1414-149F-897E6C174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CA729C-10AD-F90E-DB78-5A4E0B79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54865-23C6-396F-8BC1-7B48F2EAE3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843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d5f05ec8-edda-47a7-a42e-90bbfcebfc5f"/>
  <p:tag name="SLIDO_EVENT_SECTION_UUID" val="71a6711e-5d0b-4e9f-9223-093e31161b77"/>
</p:tagLst>
</file>

<file path=ppt/theme/theme1.xml><?xml version="1.0" encoding="utf-8"?>
<a:theme xmlns:a="http://schemas.openxmlformats.org/drawingml/2006/main" name="ESTAT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TAT PPT Template.potx" id="{44100892-7769-4A20-A750-3553371E0F2E}" vid="{905E760A-09FE-4DBA-89B6-DF3A5D6D09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A5C57F8EADE4E9CD6BB064C0C3195" ma:contentTypeVersion="16" ma:contentTypeDescription="Create a new document." ma:contentTypeScope="" ma:versionID="bb51c19a58f458ddcddd050a07659236">
  <xsd:schema xmlns:xsd="http://www.w3.org/2001/XMLSchema" xmlns:xs="http://www.w3.org/2001/XMLSchema" xmlns:p="http://schemas.microsoft.com/office/2006/metadata/properties" xmlns:ns2="0e422b70-e85d-4377-8ee0-b6227433d381" xmlns:ns3="199f642e-5af9-486c-ac06-f366742ef41a" targetNamespace="http://schemas.microsoft.com/office/2006/metadata/properties" ma:root="true" ma:fieldsID="0ee7a3bac0352a48a43420936abd968a" ns2:_="" ns3:_="">
    <xsd:import namespace="0e422b70-e85d-4377-8ee0-b6227433d381"/>
    <xsd:import namespace="199f642e-5af9-486c-ac06-f366742ef41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2b70-e85d-4377-8ee0-b6227433d38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2b2fad6-9d2c-441c-a321-3f5f1e9bd9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9f642e-5af9-486c-ac06-f366742ef41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2defd33-e0ca-4991-a4bb-5bf1ac0b491c}" ma:internalName="TaxCatchAll" ma:showField="CatchAllData" ma:web="199f642e-5af9-486c-ac06-f366742ef4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e422b70-e85d-4377-8ee0-b6227433d381">
      <Terms xmlns="http://schemas.microsoft.com/office/infopath/2007/PartnerControls"/>
    </lcf76f155ced4ddcb4097134ff3c332f>
    <TaxCatchAll xmlns="199f642e-5af9-486c-ac06-f366742ef41a"/>
  </documentManagement>
</p:properties>
</file>

<file path=customXml/itemProps1.xml><?xml version="1.0" encoding="utf-8"?>
<ds:datastoreItem xmlns:ds="http://schemas.openxmlformats.org/officeDocument/2006/customXml" ds:itemID="{04B464EA-1576-49DD-9675-1E3399D4D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422b70-e85d-4377-8ee0-b6227433d381"/>
    <ds:schemaRef ds:uri="199f642e-5af9-486c-ac06-f366742ef4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7DD9E9F-9EEB-4105-B29B-819486C285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6C293B-B8B4-4284-A17E-9F9E4C32B25A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0e422b70-e85d-4377-8ee0-b6227433d381"/>
    <ds:schemaRef ds:uri="http://schemas.microsoft.com/office/infopath/2007/PartnerControls"/>
    <ds:schemaRef ds:uri="199f642e-5af9-486c-ac06-f366742ef41a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ESTAT PPT Template</Template>
  <TotalTime>363</TotalTime>
  <Words>1603</Words>
  <Application>Microsoft Office PowerPoint</Application>
  <PresentationFormat>Breedbeeld</PresentationFormat>
  <Paragraphs>330</Paragraphs>
  <Slides>31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Cambria Math</vt:lpstr>
      <vt:lpstr>Courier New</vt:lpstr>
      <vt:lpstr>Wingdings</vt:lpstr>
      <vt:lpstr>ESTAT Theme</vt:lpstr>
      <vt:lpstr>Welcome to the ESTP course  Econometrics for macroeconomic statistics! </vt:lpstr>
      <vt:lpstr>Course trainers</vt:lpstr>
      <vt:lpstr>1.1 Welcome and overview of the course</vt:lpstr>
      <vt:lpstr>Motivation</vt:lpstr>
      <vt:lpstr>Course objectives</vt:lpstr>
      <vt:lpstr>Course objectives</vt:lpstr>
      <vt:lpstr>Course programme</vt:lpstr>
      <vt:lpstr>Course programme</vt:lpstr>
      <vt:lpstr>Who are you?</vt:lpstr>
      <vt:lpstr>PowerPoint-presentatie</vt:lpstr>
      <vt:lpstr>What is cross sectional data?</vt:lpstr>
      <vt:lpstr>What is a time series?</vt:lpstr>
      <vt:lpstr>       time series     vs.  cross-sectional</vt:lpstr>
      <vt:lpstr>PowerPoint-presentatie</vt:lpstr>
      <vt:lpstr>The nowcasting problem</vt:lpstr>
      <vt:lpstr>Flash estimates vs nowcasting</vt:lpstr>
      <vt:lpstr>Nowcasting: definition</vt:lpstr>
      <vt:lpstr>Nowcasting: possible objectives</vt:lpstr>
      <vt:lpstr>Nowcasting: information set</vt:lpstr>
      <vt:lpstr>Nowcasting vs forecasting</vt:lpstr>
      <vt:lpstr>In-sample vs out-of-sample</vt:lpstr>
      <vt:lpstr>Nowcasting: applications</vt:lpstr>
      <vt:lpstr>Methods</vt:lpstr>
      <vt:lpstr>Exercises</vt:lpstr>
      <vt:lpstr>PowerPoint-presentatie</vt:lpstr>
      <vt:lpstr>Literature</vt:lpstr>
      <vt:lpstr>Literature</vt:lpstr>
      <vt:lpstr>Literature</vt:lpstr>
      <vt:lpstr>Literature</vt:lpstr>
      <vt:lpstr>Literature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title title title title title title title title title title title title</dc:title>
  <dc:creator>HANZEVACKI Andrej (ESTAT)</dc:creator>
  <cp:lastModifiedBy>Ouwehand, P. (Pim)</cp:lastModifiedBy>
  <cp:revision>129</cp:revision>
  <dcterms:created xsi:type="dcterms:W3CDTF">2024-11-22T11:11:00Z</dcterms:created>
  <dcterms:modified xsi:type="dcterms:W3CDTF">2026-10-02T05:01:22Z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0x010100E6AA5C57F8EADE4E9CD6BB064C0C3195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2023-09-26T10:27:54Z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5f9041e0-26c3-439f-9557-91c751557f9e</vt:lpwstr>
  </property>
  <property fmtid="{D5CDD505-2E9C-101B-9397-08002B2CF9AE}" pid="9" name="MSIP_Label_6bd9ddd1-4d20-43f6-abfa-fc3c07406f94_ContentBits">
    <vt:lpwstr>0</vt:lpwstr>
  </property>
  <property fmtid="{D5CDD505-2E9C-101B-9397-08002B2CF9AE}" pid="10" name="SlidoAppVersion">
    <vt:lpwstr>1.5.3.3511</vt:lpwstr>
  </property>
  <property fmtid="{D5CDD505-2E9C-101B-9397-08002B2CF9AE}" pid="11" name="MediaServiceImageTags">
    <vt:lpwstr/>
  </property>
</Properties>
</file>