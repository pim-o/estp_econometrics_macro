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6" r:id="rId5"/>
    <p:sldId id="298" r:id="rId6"/>
    <p:sldId id="299" r:id="rId7"/>
    <p:sldId id="272" r:id="rId8"/>
    <p:sldId id="273" r:id="rId9"/>
    <p:sldId id="300" r:id="rId10"/>
    <p:sldId id="301" r:id="rId11"/>
    <p:sldId id="302" r:id="rId12"/>
    <p:sldId id="303" r:id="rId13"/>
    <p:sldId id="278" r:id="rId14"/>
    <p:sldId id="290" r:id="rId15"/>
    <p:sldId id="304" r:id="rId16"/>
    <p:sldId id="305" r:id="rId17"/>
    <p:sldId id="306" r:id="rId18"/>
    <p:sldId id="307" r:id="rId19"/>
    <p:sldId id="291" r:id="rId20"/>
    <p:sldId id="308" r:id="rId21"/>
    <p:sldId id="282" r:id="rId22"/>
    <p:sldId id="283" r:id="rId23"/>
    <p:sldId id="309" r:id="rId24"/>
    <p:sldId id="310" r:id="rId25"/>
    <p:sldId id="311" r:id="rId26"/>
    <p:sldId id="312" r:id="rId27"/>
    <p:sldId id="313" r:id="rId28"/>
    <p:sldId id="292" r:id="rId29"/>
    <p:sldId id="297" r:id="rId30"/>
    <p:sldId id="314" r:id="rId31"/>
    <p:sldId id="286" r:id="rId32"/>
    <p:sldId id="315" r:id="rId33"/>
    <p:sldId id="316" r:id="rId34"/>
    <p:sldId id="317" r:id="rId35"/>
    <p:sldId id="319" r:id="rId36"/>
    <p:sldId id="320" r:id="rId37"/>
    <p:sldId id="321" r:id="rId38"/>
    <p:sldId id="322" r:id="rId39"/>
    <p:sldId id="323" r:id="rId40"/>
    <p:sldId id="261" r:id="rId41"/>
  </p:sldIdLst>
  <p:sldSz cx="12192000" cy="6858000"/>
  <p:notesSz cx="6858000" cy="9144000"/>
  <p:custDataLst>
    <p:tags r:id="rId4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F99"/>
    <a:srgbClr val="101010"/>
    <a:srgbClr val="0E47CB"/>
    <a:srgbClr val="2644A7"/>
    <a:srgbClr val="F4F4F4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102" d="100"/>
          <a:sy n="102" d="100"/>
        </p:scale>
        <p:origin x="642" y="10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customschemas.google.com/relationships/presentationmetadata" Target="meta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17/08/2026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‹nr.›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r>
              <a:rPr lang="en-US"/>
              <a:t>CONTRACTORS ORGANISING SOME OF THE COURSES ARE ACTING UNDER A FRAMEWORK CONTRACT CONCLUDED WITH THE COMMISSION</a:t>
            </a:r>
            <a:endParaRPr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fld id="{F9E7AC55-E6E3-4D14-88EA-AE169C4ED335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118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r>
              <a:rPr lang="en-US"/>
              <a:t>CONTRACTORS ORGANISING SOME OF THE COURSES ARE ACTING UNDER A FRAMEWORK CONTRACT CONCLUDED WITH THE COMMISSION</a:t>
            </a:r>
            <a:endParaRPr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fld id="{96BC9F29-D3DF-4671-94B1-C480698F375E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45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P. Pijpers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Macroeconomic nowcasting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E" dirty="0"/>
              <a:t>06/10/2026</a:t>
            </a:r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as model building blocks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000" dirty="0"/>
              <a:t>Factor models are useful tools independent of nowcasting</a:t>
            </a:r>
          </a:p>
          <a:p>
            <a:endParaRPr lang="en-GB" sz="2000" dirty="0"/>
          </a:p>
          <a:p>
            <a:r>
              <a:rPr lang="en-GB" sz="2000" dirty="0"/>
              <a:t>The use of factor models for parsimonious nowcasting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9215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≠ Information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000" dirty="0"/>
              <a:t>Recent decades : an explosion in available socio-economic time series, many with very high cadence.</a:t>
            </a:r>
          </a:p>
          <a:p>
            <a:endParaRPr lang="en-GB" sz="2000" dirty="0"/>
          </a:p>
          <a:p>
            <a:r>
              <a:rPr lang="en-GB" sz="2000" dirty="0"/>
              <a:t>Problem 1: long time series with uniform quality are less common. How to capture very long term cycles?</a:t>
            </a:r>
          </a:p>
          <a:p>
            <a:endParaRPr lang="en-GB" sz="2000" dirty="0"/>
          </a:p>
          <a:p>
            <a:r>
              <a:rPr lang="en-GB" sz="2000" dirty="0"/>
              <a:t>Problem 2: often, the data are measurements of </a:t>
            </a:r>
            <a:r>
              <a:rPr lang="en-GB" sz="2000" i="1" dirty="0"/>
              <a:t>very nearly</a:t>
            </a:r>
            <a:r>
              <a:rPr lang="en-GB" sz="2000" dirty="0"/>
              <a:t> the same underlying process. How to count/measure how much each new series contributes in new </a:t>
            </a:r>
            <a:r>
              <a:rPr lang="en-GB" sz="2000" u="sng" dirty="0"/>
              <a:t>independent</a:t>
            </a:r>
            <a:r>
              <a:rPr lang="en-GB" sz="2000" dirty="0"/>
              <a:t> information?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902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‘</a:t>
            </a:r>
            <a:r>
              <a:rPr lang="nl-NL" dirty="0" err="1"/>
              <a:t>idiom</a:t>
            </a:r>
            <a:r>
              <a:rPr lang="nl-NL" dirty="0"/>
              <a:t>’</a:t>
            </a:r>
            <a:endParaRPr lang="en-GB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C9F29-D3DF-4671-94B1-C480698F375E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4" name="Tekstvak 3"/>
          <p:cNvSpPr txBox="1"/>
          <p:nvPr/>
        </p:nvSpPr>
        <p:spPr>
          <a:xfrm>
            <a:off x="2135562" y="2376190"/>
            <a:ext cx="4341253" cy="461665"/>
          </a:xfrm>
          <a:prstGeom prst="rect">
            <a:avLst/>
          </a:prstGeom>
          <a:noFill/>
          <a:ln>
            <a:solidFill>
              <a:srgbClr val="99CCFF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strike="sngStrike" dirty="0">
                <a:solidFill>
                  <a:srgbClr val="0F5494"/>
                </a:solidFill>
              </a:rPr>
              <a:t>idiosyncratic shocks</a:t>
            </a:r>
            <a:r>
              <a:rPr lang="en-GB" sz="2400" dirty="0">
                <a:solidFill>
                  <a:srgbClr val="0F5494"/>
                </a:solidFill>
              </a:rPr>
              <a:t>        noise</a:t>
            </a:r>
          </a:p>
        </p:txBody>
      </p:sp>
      <p:cxnSp>
        <p:nvCxnSpPr>
          <p:cNvPr id="6" name="Rechte verbindingslijn met pijl 5"/>
          <p:cNvCxnSpPr/>
          <p:nvPr/>
        </p:nvCxnSpPr>
        <p:spPr bwMode="auto">
          <a:xfrm>
            <a:off x="5054753" y="2626380"/>
            <a:ext cx="492943" cy="0"/>
          </a:xfrm>
          <a:prstGeom prst="straightConnector1">
            <a:avLst/>
          </a:prstGeom>
          <a:noFill/>
          <a:ln w="25400" cap="flat" cmpd="sng" algn="ctr">
            <a:solidFill>
              <a:schemeClr val="accent6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9" name="Tekstvak 8"/>
          <p:cNvSpPr txBox="1"/>
          <p:nvPr/>
        </p:nvSpPr>
        <p:spPr>
          <a:xfrm>
            <a:off x="2135561" y="3356993"/>
            <a:ext cx="8086352" cy="461665"/>
          </a:xfrm>
          <a:prstGeom prst="rect">
            <a:avLst/>
          </a:prstGeom>
          <a:noFill/>
          <a:ln>
            <a:solidFill>
              <a:srgbClr val="99CCFF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F5494"/>
                </a:solidFill>
              </a:rPr>
              <a:t>(dynamic) factors               (principal) components</a:t>
            </a:r>
          </a:p>
        </p:txBody>
      </p:sp>
      <p:cxnSp>
        <p:nvCxnSpPr>
          <p:cNvPr id="10" name="Rechte verbindingslijn met pijl 9"/>
          <p:cNvCxnSpPr/>
          <p:nvPr/>
        </p:nvCxnSpPr>
        <p:spPr bwMode="auto">
          <a:xfrm>
            <a:off x="4829884" y="3634958"/>
            <a:ext cx="877513" cy="0"/>
          </a:xfrm>
          <a:prstGeom prst="straightConnector1">
            <a:avLst/>
          </a:prstGeom>
          <a:noFill/>
          <a:ln w="25400" cap="flat" cmpd="sng" algn="ctr">
            <a:solidFill>
              <a:schemeClr val="accent6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2" name="Tekstvak 11"/>
          <p:cNvSpPr txBox="1"/>
          <p:nvPr/>
        </p:nvSpPr>
        <p:spPr>
          <a:xfrm>
            <a:off x="2135561" y="4342230"/>
            <a:ext cx="6809878" cy="1569660"/>
          </a:xfrm>
          <a:prstGeom prst="rect">
            <a:avLst/>
          </a:prstGeom>
          <a:noFill/>
          <a:ln>
            <a:solidFill>
              <a:srgbClr val="99CCFF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F5494"/>
                </a:solidFill>
              </a:rPr>
              <a:t>(trend &amp; cycle) &amp; seasonal &amp; irregular</a:t>
            </a:r>
          </a:p>
          <a:p>
            <a:endParaRPr lang="en-GB" sz="2400" dirty="0">
              <a:solidFill>
                <a:srgbClr val="0F5494"/>
              </a:solidFill>
            </a:endParaRPr>
          </a:p>
          <a:p>
            <a:endParaRPr lang="en-GB" sz="2400" dirty="0">
              <a:solidFill>
                <a:srgbClr val="0F5494"/>
              </a:solidFill>
            </a:endParaRPr>
          </a:p>
          <a:p>
            <a:r>
              <a:rPr lang="en-GB" sz="2400" dirty="0">
                <a:solidFill>
                  <a:srgbClr val="0F5494"/>
                </a:solidFill>
              </a:rPr>
              <a:t>low frequency &amp; mid-frequency &amp; high frequency</a:t>
            </a:r>
          </a:p>
        </p:txBody>
      </p:sp>
      <p:cxnSp>
        <p:nvCxnSpPr>
          <p:cNvPr id="13" name="Rechte verbindingslijn met pijl 12"/>
          <p:cNvCxnSpPr/>
          <p:nvPr/>
        </p:nvCxnSpPr>
        <p:spPr bwMode="auto">
          <a:xfrm>
            <a:off x="5519936" y="4849932"/>
            <a:ext cx="0" cy="523284"/>
          </a:xfrm>
          <a:prstGeom prst="straightConnector1">
            <a:avLst/>
          </a:prstGeom>
          <a:noFill/>
          <a:ln w="25400" cap="flat" cmpd="sng" algn="ctr">
            <a:solidFill>
              <a:schemeClr val="accent6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008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81200" y="548681"/>
            <a:ext cx="8229600" cy="936625"/>
          </a:xfrm>
        </p:spPr>
        <p:txBody>
          <a:bodyPr/>
          <a:lstStyle/>
          <a:p>
            <a:r>
              <a:rPr lang="nl-NL" dirty="0" err="1"/>
              <a:t>Equations</a:t>
            </a:r>
            <a:r>
              <a:rPr lang="nl-NL" dirty="0"/>
              <a:t> (</a:t>
            </a:r>
            <a:r>
              <a:rPr lang="nl-NL" dirty="0" err="1"/>
              <a:t>definitions</a:t>
            </a:r>
            <a:r>
              <a:rPr lang="nl-NL" dirty="0"/>
              <a:t>)</a:t>
            </a:r>
            <a:endParaRPr lang="en-GB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C9F29-D3DF-4671-94B1-C480698F375E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1981199" y="1652319"/>
                <a:ext cx="8229599" cy="4549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000" dirty="0">
                    <a:solidFill>
                      <a:srgbClr val="0F5494"/>
                    </a:solidFill>
                  </a:rPr>
                  <a:t>K </a:t>
                </a:r>
                <a:r>
                  <a:rPr lang="en-GB" sz="2000" dirty="0">
                    <a:solidFill>
                      <a:srgbClr val="0F5494"/>
                    </a:solidFill>
                  </a:rPr>
                  <a:t>dependent variable(s)</a:t>
                </a:r>
                <a:r>
                  <a:rPr lang="nl-NL" sz="2000" dirty="0">
                    <a:solidFill>
                      <a:srgbClr val="0F5494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nl-NL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l-NL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000" dirty="0">
                    <a:solidFill>
                      <a:srgbClr val="0F5494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sz="20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∈{1,…,</m:t>
                    </m:r>
                    <m:r>
                      <a:rPr lang="en-US" sz="20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0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nl-NL" sz="2000" dirty="0">
                  <a:solidFill>
                    <a:srgbClr val="0F5494"/>
                  </a:solidFill>
                </a:endParaRPr>
              </a:p>
              <a:p>
                <a:endParaRPr lang="nl-NL" sz="2000" dirty="0">
                  <a:solidFill>
                    <a:srgbClr val="0F5494"/>
                  </a:solidFill>
                </a:endParaRPr>
              </a:p>
              <a:p>
                <a:r>
                  <a:rPr lang="nl-NL" sz="2000" dirty="0">
                    <a:solidFill>
                      <a:srgbClr val="0F5494"/>
                    </a:solidFill>
                  </a:rPr>
                  <a:t>N </a:t>
                </a:r>
                <a:r>
                  <a:rPr lang="en-GB" sz="2000" dirty="0">
                    <a:solidFill>
                      <a:srgbClr val="0F5494"/>
                    </a:solidFill>
                  </a:rPr>
                  <a:t>independent/predictor variables</a:t>
                </a:r>
                <a:r>
                  <a:rPr lang="nl-NL" sz="2000" dirty="0">
                    <a:solidFill>
                      <a:srgbClr val="0F5494"/>
                    </a:solidFill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nl-NL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sz="2000" i="1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i="1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nl-NL" sz="2000" i="1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∈{1,..,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nl-NL" sz="2000" dirty="0">
                  <a:solidFill>
                    <a:srgbClr val="0F5494"/>
                  </a:solidFill>
                </a:endParaRPr>
              </a:p>
              <a:p>
                <a:endParaRPr lang="nl-NL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both sampled M times</a:t>
                </a:r>
                <a:r>
                  <a:rPr lang="nl-NL" sz="2000" dirty="0">
                    <a:solidFill>
                      <a:srgbClr val="0F5494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∈{1,…,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nl-NL" sz="2000" dirty="0">
                  <a:solidFill>
                    <a:srgbClr val="0F5494"/>
                  </a:solidFill>
                </a:endParaRPr>
              </a:p>
              <a:p>
                <a:endParaRPr lang="nl-NL" sz="2000" dirty="0">
                  <a:solidFill>
                    <a:srgbClr val="0F5494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rgbClr val="0F5494"/>
                  </a:solidFill>
                </a:endParaRPr>
              </a:p>
              <a:p>
                <a:endParaRPr lang="nl-NL" sz="2000" dirty="0">
                  <a:solidFill>
                    <a:srgbClr val="0F5494"/>
                  </a:solidFill>
                </a:endParaRPr>
              </a:p>
              <a:p>
                <a:r>
                  <a:rPr lang="en-GB" sz="1800" dirty="0">
                    <a:solidFill>
                      <a:srgbClr val="0F5494"/>
                    </a:solidFill>
                  </a:rPr>
                  <a:t>This equation is in vector-matrix form, with the index for the different variables suppressed</a:t>
                </a:r>
                <a:r>
                  <a:rPr lang="nl-NL" sz="1800" dirty="0">
                    <a:solidFill>
                      <a:srgbClr val="0F5494"/>
                    </a:solidFill>
                  </a:rPr>
                  <a:t>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0F5494"/>
                    </a:solidFill>
                  </a:rPr>
                  <a:t>the</a:t>
                </a:r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:r>
                  <a:rPr lang="en-GB" sz="1800" dirty="0">
                    <a:solidFill>
                      <a:srgbClr val="0F5494"/>
                    </a:solidFill>
                  </a:rPr>
                  <a:t>are vectors with length </a:t>
                </a:r>
                <a:r>
                  <a:rPr lang="nl-NL" sz="1800" dirty="0">
                    <a:solidFill>
                      <a:srgbClr val="0F5494"/>
                    </a:solidFill>
                  </a:rPr>
                  <a:t>K (</a:t>
                </a:r>
                <a:r>
                  <a:rPr lang="en-GB" sz="1800" dirty="0">
                    <a:solidFill>
                      <a:srgbClr val="0F5494"/>
                    </a:solidFill>
                  </a:rPr>
                  <a:t>one vector for every </a:t>
                </a:r>
                <a:r>
                  <a:rPr lang="nl-NL" sz="1800" dirty="0">
                    <a:solidFill>
                      <a:srgbClr val="0F5494"/>
                    </a:solidFill>
                  </a:rPr>
                  <a:t>i)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0F5494"/>
                    </a:solidFill>
                  </a:rPr>
                  <a:t>the</a:t>
                </a:r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:r>
                  <a:rPr lang="en-GB" sz="1800" dirty="0">
                    <a:solidFill>
                      <a:srgbClr val="0F5494"/>
                    </a:solidFill>
                  </a:rPr>
                  <a:t>also : they represent noise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l-NL" sz="1800" dirty="0">
                    <a:solidFill>
                      <a:srgbClr val="0F5494"/>
                    </a:solidFill>
                  </a:rPr>
                  <a:t>the factors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:r>
                  <a:rPr lang="nl-NL" sz="1800" dirty="0" err="1">
                    <a:solidFill>
                      <a:srgbClr val="0F5494"/>
                    </a:solidFill>
                  </a:rPr>
                  <a:t>also</a:t>
                </a:r>
                <a:r>
                  <a:rPr lang="nl-NL" sz="1800" dirty="0">
                    <a:solidFill>
                      <a:srgbClr val="0F5494"/>
                    </a:solidFill>
                  </a:rPr>
                  <a:t>: </a:t>
                </a:r>
                <a:r>
                  <a:rPr lang="nl-NL" sz="1800" dirty="0" err="1">
                    <a:solidFill>
                      <a:srgbClr val="0F5494"/>
                    </a:solidFill>
                  </a:rPr>
                  <a:t>they</a:t>
                </a:r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:r>
                  <a:rPr lang="en-GB" sz="1800" dirty="0">
                    <a:solidFill>
                      <a:srgbClr val="0F5494"/>
                    </a:solidFill>
                  </a:rPr>
                  <a:t>are derived from the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:r>
                  <a:rPr lang="nl-NL" sz="1800" dirty="0" err="1">
                    <a:solidFill>
                      <a:srgbClr val="0F5494"/>
                    </a:solidFill>
                  </a:rPr>
                  <a:t>and</a:t>
                </a:r>
                <a:r>
                  <a:rPr lang="nl-NL" sz="1800" dirty="0">
                    <a:solidFill>
                      <a:srgbClr val="0F5494"/>
                    </a:solidFill>
                  </a:rPr>
                  <a:t> have </a:t>
                </a:r>
                <a:r>
                  <a:rPr lang="nl-NL" sz="1800" dirty="0" err="1">
                    <a:solidFill>
                      <a:srgbClr val="0F5494"/>
                    </a:solidFill>
                  </a:rPr>
                  <a:t>length</a:t>
                </a:r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nl-NL" sz="1800" dirty="0">
                    <a:solidFill>
                      <a:srgbClr val="0F5494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0F5494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sz="1800" dirty="0">
                    <a:solidFill>
                      <a:srgbClr val="0F5494"/>
                    </a:solidFill>
                  </a:rPr>
                  <a:t> is a matrix with </a:t>
                </a:r>
                <a14:m>
                  <m:oMath xmlns:m="http://schemas.openxmlformats.org/officeDocument/2006/math">
                    <m:r>
                      <a:rPr lang="en-GB" sz="18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1800" dirty="0">
                    <a:solidFill>
                      <a:srgbClr val="0F5494"/>
                    </a:solidFill>
                  </a:rPr>
                  <a:t> rows and </a:t>
                </a:r>
                <a14:m>
                  <m:oMath xmlns:m="http://schemas.openxmlformats.org/officeDocument/2006/math">
                    <m:r>
                      <a:rPr lang="en-GB" sz="18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1800" dirty="0">
                    <a:solidFill>
                      <a:srgbClr val="0F5494"/>
                    </a:solidFill>
                  </a:rPr>
                  <a:t> columns</a:t>
                </a:r>
              </a:p>
              <a:p>
                <a:endParaRPr lang="nl-NL" sz="2000" dirty="0">
                  <a:solidFill>
                    <a:srgbClr val="0F5494"/>
                  </a:solidFill>
                </a:endParaRPr>
              </a:p>
            </p:txBody>
          </p:sp>
        </mc:Choice>
        <mc:Fallback xmlns="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1652319"/>
                <a:ext cx="8229599" cy="4549002"/>
              </a:xfrm>
              <a:prstGeom prst="rect">
                <a:avLst/>
              </a:prstGeom>
              <a:blipFill>
                <a:blip r:embed="rId2"/>
                <a:stretch>
                  <a:fillRect l="-741" t="-5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21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3E5ED9-AA9C-A1D5-DADA-30BC77A2C4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70722" y="413590"/>
                <a:ext cx="10515600" cy="1147157"/>
              </a:xfrm>
            </p:spPr>
            <p:txBody>
              <a:bodyPr/>
              <a:lstStyle/>
              <a:p>
                <a:r>
                  <a:rPr lang="nl-NL" dirty="0"/>
                  <a:t>One step back (I): </a:t>
                </a:r>
                <a:br>
                  <a:rPr lang="nl-NL" dirty="0"/>
                </a:br>
                <a:r>
                  <a:rPr lang="nl-NL" dirty="0" err="1"/>
                  <a:t>relationship</a:t>
                </a:r>
                <a:r>
                  <a:rPr lang="nl-NL" dirty="0"/>
                  <a:t>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nl-NL" dirty="0"/>
                  <a:t> </a:t>
                </a:r>
                <a:endParaRPr lang="en-I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3E5ED9-AA9C-A1D5-DADA-30BC77A2C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70722" y="413590"/>
                <a:ext cx="10515600" cy="1147157"/>
              </a:xfrm>
              <a:blipFill>
                <a:blip r:embed="rId2"/>
                <a:stretch>
                  <a:fillRect l="-2029" t="-14894" b="-26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Factors are derived from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sz="2000" b="0" dirty="0">
                    <a:solidFill>
                      <a:srgbClr val="0F5494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nl-NL" sz="2000" b="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nl-NL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l-NL" sz="2000" b="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nl-NL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b>
                      <m:sSubPr>
                        <m:ctrlP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nl-NL" sz="2000" b="0" dirty="0">
                    <a:solidFill>
                      <a:srgbClr val="0F5494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nl-NL" sz="1600" b="0" dirty="0">
                    <a:solidFill>
                      <a:srgbClr val="0F5494"/>
                    </a:solidFill>
                  </a:rPr>
                  <a:t>(X </a:t>
                </a:r>
                <a:r>
                  <a:rPr lang="en-GB" sz="1600" b="0" dirty="0">
                    <a:solidFill>
                      <a:srgbClr val="0F5494"/>
                    </a:solidFill>
                  </a:rPr>
                  <a:t>matrix with N rows and M columns</a:t>
                </a:r>
                <a:r>
                  <a:rPr lang="nl-NL" sz="1600" b="0" dirty="0">
                    <a:solidFill>
                      <a:srgbClr val="0F5494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nl-NL" sz="18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cross-products matrix </a:t>
                </a:r>
                <a:r>
                  <a:rPr lang="nl-NL" sz="2000" b="0" dirty="0">
                    <a:solidFill>
                      <a:srgbClr val="0F5494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nl-NL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supHide m:val="on"/>
                        <m:ctrlP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l-NL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Sup>
                          <m:sSubSupPr>
                            <m:ctrlP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nl-NL" sz="2000" b="0" i="1" smtClean="0">
                                    <a:solidFill>
                                      <a:srgbClr val="0F549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NL" sz="2000" b="0" i="1" smtClean="0">
                                    <a:solidFill>
                                      <a:srgbClr val="0F5494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nl-NL" sz="2000" b="0" i="1" smtClean="0">
                                    <a:solidFill>
                                      <a:srgbClr val="0F5494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nl-NL" sz="2000" b="0" i="1" smtClean="0">
                                <a:solidFill>
                                  <a:srgbClr val="0F549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nary>
                  </m:oMath>
                </a14:m>
                <a:endParaRPr lang="nl-NL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nl-NL" sz="1600" b="0" dirty="0">
                    <a:solidFill>
                      <a:srgbClr val="0F5494"/>
                    </a:solidFill>
                  </a:rPr>
                  <a:t>(</a:t>
                </a:r>
                <a:r>
                  <a:rPr lang="en-GB" sz="1600" b="0" dirty="0">
                    <a:solidFill>
                      <a:srgbClr val="0F5494"/>
                    </a:solidFill>
                  </a:rPr>
                  <a:t>note that the order matters </a:t>
                </a:r>
                <a:r>
                  <a:rPr lang="nl-NL" sz="1600" b="0" dirty="0">
                    <a:solidFill>
                      <a:srgbClr val="0F5494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endParaRPr lang="nl-NL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nl-NL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The matrix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is symmetric and positive definite:</a:t>
                </a:r>
              </a:p>
              <a:p>
                <a:pPr marL="0" indent="0">
                  <a:buNone/>
                </a:pPr>
                <a:r>
                  <a:rPr lang="en-GB" sz="1800" b="0" dirty="0">
                    <a:solidFill>
                      <a:srgbClr val="0F5494"/>
                    </a:solidFill>
                  </a:rPr>
                  <a:t>There is an eigenvalue decomposition</a:t>
                </a:r>
              </a:p>
              <a:p>
                <a:pPr marL="0" indent="0">
                  <a:buNone/>
                </a:pPr>
                <a:r>
                  <a:rPr lang="en-GB" sz="1800" b="0" dirty="0">
                    <a:solidFill>
                      <a:srgbClr val="0F5494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𝑈𝐷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sz="18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1800" b="0" dirty="0">
                    <a:solidFill>
                      <a:srgbClr val="0F5494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1800" b="0" dirty="0">
                    <a:solidFill>
                      <a:srgbClr val="0F5494"/>
                    </a:solidFill>
                  </a:rPr>
                  <a:t> is a diagonal matrix of eigenvalues,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800" b="0" dirty="0">
                    <a:solidFill>
                      <a:srgbClr val="0F5494"/>
                    </a:solidFill>
                  </a:rPr>
                  <a:t> is an orthonormal matrix with eigenvectors as columns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580" t="-1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3E5ED9-AA9C-A1D5-DADA-30BC77A2C4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70722" y="413590"/>
                <a:ext cx="10515600" cy="1147157"/>
              </a:xfrm>
            </p:spPr>
            <p:txBody>
              <a:bodyPr/>
              <a:lstStyle/>
              <a:p>
                <a:r>
                  <a:rPr lang="nl-NL" dirty="0"/>
                  <a:t>One step back (II): </a:t>
                </a:r>
                <a:br>
                  <a:rPr lang="nl-NL" dirty="0"/>
                </a:br>
                <a:r>
                  <a:rPr lang="nl-NL" dirty="0" err="1"/>
                  <a:t>relationship</a:t>
                </a:r>
                <a:r>
                  <a:rPr lang="nl-NL" dirty="0"/>
                  <a:t>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nl-NL" dirty="0"/>
                  <a:t> </a:t>
                </a:r>
                <a:endParaRPr lang="en-I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3E5ED9-AA9C-A1D5-DADA-30BC77A2C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70722" y="413590"/>
                <a:ext cx="10515600" cy="1147157"/>
              </a:xfrm>
              <a:blipFill>
                <a:blip r:embed="rId2"/>
                <a:stretch>
                  <a:fillRect l="-2029" t="-14894" b="-26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endParaRPr lang="nl-NL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8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18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𝑈𝐷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sz="180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nl-NL" dirty="0" err="1">
                    <a:solidFill>
                      <a:srgbClr val="0F5494"/>
                    </a:solidFill>
                  </a:rPr>
                  <a:t>implies</a:t>
                </a:r>
                <a:r>
                  <a:rPr lang="nl-NL" dirty="0">
                    <a:solidFill>
                      <a:srgbClr val="0F5494"/>
                    </a:solidFill>
                  </a:rPr>
                  <a:t> </a:t>
                </a:r>
                <a:r>
                  <a:rPr lang="nl-NL" dirty="0" err="1">
                    <a:solidFill>
                      <a:srgbClr val="0F5494"/>
                    </a:solidFill>
                  </a:rPr>
                  <a:t>that</a:t>
                </a:r>
                <a:endParaRPr lang="nl-NL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NL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nl-NL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F5494"/>
                    </a:solidFill>
                  </a:rPr>
                  <a:t>The eigenvalues (diagonal elements of diagonal matrix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NL" dirty="0">
                    <a:solidFill>
                      <a:srgbClr val="0F5494"/>
                    </a:solidFill>
                  </a:rPr>
                  <a:t>) </a:t>
                </a:r>
                <a:r>
                  <a:rPr lang="en-GB" dirty="0">
                    <a:solidFill>
                      <a:srgbClr val="0F5494"/>
                    </a:solidFill>
                  </a:rPr>
                  <a:t>are usually sorted in descending order, sometimes referred to as </a:t>
                </a:r>
                <a:r>
                  <a:rPr lang="en-GB" i="1" dirty="0">
                    <a:solidFill>
                      <a:srgbClr val="0F5494"/>
                    </a:solidFill>
                  </a:rPr>
                  <a:t>eigenvalue spectrum</a:t>
                </a:r>
              </a:p>
              <a:p>
                <a:pPr marL="0" indent="0">
                  <a:buNone/>
                </a:pPr>
                <a:endParaRPr lang="en-GB" i="1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F5494"/>
                    </a:solidFill>
                  </a:rPr>
                  <a:t>often: steeply descending in value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F5494"/>
                    </a:solidFill>
                  </a:rPr>
                  <a:t>therefore: keep only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i="1" dirty="0">
                    <a:solidFill>
                      <a:srgbClr val="0F5494"/>
                    </a:solidFill>
                  </a:rPr>
                  <a:t> </a:t>
                </a:r>
                <a:r>
                  <a:rPr lang="en-GB" dirty="0">
                    <a:solidFill>
                      <a:srgbClr val="0F5494"/>
                    </a:solidFill>
                  </a:rPr>
                  <a:t>largest eigenvalues: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nl-NL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𝑓𝑖𝑟𝑠𝑡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𝑟𝑜𝑤𝑠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𝑜𝑛𝑙𝑦</m:t>
                      </m:r>
                      <m:r>
                        <a:rPr lang="en-US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580" r="-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30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FD66F19-7628-2C4D-B84D-470A8A0E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59533"/>
            <a:ext cx="8229600" cy="936625"/>
          </a:xfrm>
        </p:spPr>
        <p:txBody>
          <a:bodyPr/>
          <a:lstStyle/>
          <a:p>
            <a:r>
              <a:rPr lang="en-GB" dirty="0"/>
              <a:t>Why would this make sense ?</a:t>
            </a:r>
          </a:p>
        </p:txBody>
      </p:sp>
    </p:spTree>
    <p:extLst>
      <p:ext uri="{BB962C8B-B14F-4D97-AF65-F5344CB8AC3E}">
        <p14:creationId xmlns:p14="http://schemas.microsoft.com/office/powerpoint/2010/main" val="111191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would this make sense ?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Noise:</a:t>
                </a: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Not only the dependent variables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have a stochastic/noise component,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do too.</a:t>
                </a:r>
              </a:p>
              <a:p>
                <a:pPr marL="0" indent="0">
                  <a:buNone/>
                </a:pPr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so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very simplest (!) form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and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b="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580" t="-1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56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1124745"/>
            <a:ext cx="6568862" cy="4032447"/>
          </a:xfrm>
          <a:prstGeom prst="rect">
            <a:avLst/>
          </a:prstGeom>
        </p:spPr>
      </p:pic>
      <p:sp>
        <p:nvSpPr>
          <p:cNvPr id="4" name="Tekstvak 3"/>
          <p:cNvSpPr txBox="1"/>
          <p:nvPr/>
        </p:nvSpPr>
        <p:spPr>
          <a:xfrm>
            <a:off x="3215680" y="5733257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F5494"/>
                </a:solidFill>
              </a:rPr>
              <a:t>idealised artificial example</a:t>
            </a:r>
          </a:p>
        </p:txBody>
      </p:sp>
    </p:spTree>
    <p:extLst>
      <p:ext uri="{BB962C8B-B14F-4D97-AF65-F5344CB8AC3E}">
        <p14:creationId xmlns:p14="http://schemas.microsoft.com/office/powerpoint/2010/main" val="57565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5" y="332657"/>
            <a:ext cx="5424577" cy="4949927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 flipH="1">
            <a:off x="3574563" y="5579238"/>
            <a:ext cx="513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0F5494"/>
                </a:solidFill>
              </a:rPr>
              <a:t>Data set of 88 auxiliary time series for NL</a:t>
            </a:r>
          </a:p>
        </p:txBody>
      </p:sp>
    </p:spTree>
    <p:extLst>
      <p:ext uri="{BB962C8B-B14F-4D97-AF65-F5344CB8AC3E}">
        <p14:creationId xmlns:p14="http://schemas.microsoft.com/office/powerpoint/2010/main" val="18715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limited to time series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applicable to any multivariate analysis problem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technique started to be used with introduction of computers in the sciences (1960s), now part of what is called machine learning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information extraction/noise suppression.</a:t>
                </a:r>
              </a:p>
              <a:p>
                <a:endParaRPr lang="en-GB" sz="2000" b="0" dirty="0">
                  <a:solidFill>
                    <a:srgbClr val="0F5494"/>
                  </a:solidFill>
                </a:endParaRPr>
              </a:p>
              <a:p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Note:</a:t>
                </a: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before calculating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do some form of scaling of the variables (e.g. subtract mean and divide by standard deviation).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38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 forward again (I)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dirty="0"/>
                  <a:t>what to do with the factors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?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determine the linking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How? 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038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018A3CB-3184-8F15-CF28-B14758486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27" y="374330"/>
            <a:ext cx="8037811" cy="610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5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F40A4BD-079B-11AA-80FA-4015767CE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656" y="404615"/>
            <a:ext cx="8620688" cy="604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23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595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51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 forward again (II)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2000" dirty="0"/>
                  <a:t>what to do with the factors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2000" dirty="0"/>
                  <a:t> ?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determine the linking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e.g. solve as a least squares problem</a:t>
                </a:r>
              </a:p>
              <a:p>
                <a:r>
                  <a:rPr lang="en-GB" sz="2000" b="1" dirty="0">
                    <a:solidFill>
                      <a:srgbClr val="FF0000"/>
                    </a:solidFill>
                  </a:rPr>
                  <a:t>! ensure that:</a:t>
                </a:r>
                <a:r>
                  <a:rPr lang="en-GB" b="1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samples</m:t>
                    </m:r>
                    <m: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&gt;#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factors</m:t>
                    </m:r>
                    <m: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E47CB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GB" sz="2000" dirty="0">
                  <a:solidFill>
                    <a:srgbClr val="0E47CB"/>
                  </a:solidFill>
                </a:endParaRP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60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4223792" y="2132856"/>
                <a:ext cx="313816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solidFill>
                      <a:srgbClr val="101010"/>
                    </a:solidFill>
                  </a:rPr>
                  <a:t>ensure that: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GB" sz="2800" dirty="0">
                  <a:solidFill>
                    <a:srgbClr val="101010"/>
                  </a:solidFill>
                </a:endParaRPr>
              </a:p>
              <a:p>
                <a:pPr algn="ctr"/>
                <a:endParaRPr lang="en-GB" sz="2800" dirty="0">
                  <a:solidFill>
                    <a:srgbClr val="101010"/>
                  </a:solidFill>
                </a:endParaRPr>
              </a:p>
              <a:p>
                <a:pPr algn="ctr"/>
                <a:r>
                  <a:rPr lang="en-GB" sz="2800" dirty="0">
                    <a:solidFill>
                      <a:srgbClr val="101010"/>
                    </a:solidFill>
                  </a:rPr>
                  <a:t>why ?</a:t>
                </a:r>
              </a:p>
              <a:p>
                <a:endParaRPr lang="en-GB" sz="2400" dirty="0" err="1">
                  <a:solidFill>
                    <a:srgbClr val="0F5494"/>
                  </a:solidFill>
                </a:endParaRP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2132856"/>
                <a:ext cx="3138167" cy="1754326"/>
              </a:xfrm>
              <a:prstGeom prst="rect">
                <a:avLst/>
              </a:prstGeom>
              <a:blipFill>
                <a:blip r:embed="rId2"/>
                <a:stretch>
                  <a:fillRect l="-4078" t="-38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64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2279577" y="836712"/>
                <a:ext cx="748883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rgbClr val="101010"/>
                    </a:solidFill>
                  </a:rPr>
                  <a:t>ensure that: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GB" sz="2800" dirty="0">
                  <a:solidFill>
                    <a:srgbClr val="101010"/>
                  </a:solidFill>
                </a:endParaRPr>
              </a:p>
              <a:p>
                <a:endParaRPr lang="en-GB" sz="2800" dirty="0">
                  <a:solidFill>
                    <a:srgbClr val="101010"/>
                  </a:solidFill>
                </a:endParaRPr>
              </a:p>
              <a:p>
                <a:r>
                  <a:rPr lang="en-GB" sz="2800" dirty="0">
                    <a:solidFill>
                      <a:srgbClr val="101010"/>
                    </a:solidFill>
                  </a:rPr>
                  <a:t>to ensure that the problem is not underdetermined:</a:t>
                </a:r>
              </a:p>
              <a:p>
                <a:r>
                  <a:rPr lang="en-GB" sz="2800" dirty="0">
                    <a:solidFill>
                      <a:srgbClr val="101010"/>
                    </a:solidFill>
                  </a:rPr>
                  <a:t>i.e. to ensure there are fewer free parameters than data points.</a:t>
                </a:r>
              </a:p>
              <a:p>
                <a:pPr algn="ctr"/>
                <a:endParaRPr lang="en-GB" sz="2800" dirty="0">
                  <a:solidFill>
                    <a:srgbClr val="101010"/>
                  </a:solidFill>
                </a:endParaRPr>
              </a:p>
              <a:p>
                <a:r>
                  <a:rPr lang="en-GB" sz="2800" dirty="0">
                    <a:solidFill>
                      <a:srgbClr val="101010"/>
                    </a:solidFill>
                  </a:rPr>
                  <a:t>particularly because in terms of the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800" dirty="0">
                    <a:solidFill>
                      <a:srgbClr val="101010"/>
                    </a:solidFill>
                  </a:rPr>
                  <a:t> the method is used for extrapolation.</a:t>
                </a: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7" y="836712"/>
                <a:ext cx="7488832" cy="3970318"/>
              </a:xfrm>
              <a:prstGeom prst="rect">
                <a:avLst/>
              </a:prstGeom>
              <a:blipFill>
                <a:blip r:embed="rId2"/>
                <a:stretch>
                  <a:fillRect l="-1710" t="-1534" r="-1140" b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406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 models, part 2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23033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or dynamic factors?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l-GR" sz="2000" b="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l-GR" sz="2000" b="0" i="1">
                                      <a:solidFill>
                                        <a:srgbClr val="0F549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l-GR" sz="2000" b="0" i="1">
                                          <a:solidFill>
                                            <a:srgbClr val="0F549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rgbClr val="0F549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p>
                                      <m:r>
                                        <a:rPr lang="en-US" sz="2000" b="0" i="1">
                                          <a:solidFill>
                                            <a:srgbClr val="0F549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sz="2000" b="0" i="1">
                                      <a:solidFill>
                                        <a:srgbClr val="0F549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solidFill>
                                        <a:srgbClr val="0F549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h𝑖𝑔h</m:t>
                          </m:r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nl-NL" sz="2000" b="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static: treat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as independent of t (i.e. of i)</a:t>
                </a:r>
              </a:p>
              <a:p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dynamic: treat one or both as dependent on t (on i)</a:t>
                </a:r>
              </a:p>
              <a:p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e.g.: use a moving window in time with a finite width to determine the transformation matrix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from auxiliary time series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to factors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2000" b="0" dirty="0">
                    <a:solidFill>
                      <a:srgbClr val="0F5494"/>
                    </a:solidFill>
                  </a:rPr>
                  <a:t>use (the same) window to determine the relationship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between the factors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 and the dependent variables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000" b="0" dirty="0">
                    <a:solidFill>
                      <a:srgbClr val="0F5494"/>
                    </a:solidFill>
                  </a:rPr>
                  <a:t>.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238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a window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1800" dirty="0"/>
              <a:t>if we limit to a finite time window, remember that length of window M must remain greater than number of factors L. </a:t>
            </a:r>
          </a:p>
          <a:p>
            <a:endParaRPr lang="en-GB" sz="1800" dirty="0"/>
          </a:p>
          <a:p>
            <a:r>
              <a:rPr lang="en-GB" sz="1800" dirty="0"/>
              <a:t>choices:</a:t>
            </a:r>
          </a:p>
          <a:p>
            <a:pPr lvl="1"/>
            <a:r>
              <a:rPr lang="en-GB" sz="1800" b="0" dirty="0"/>
              <a:t>uniform weights</a:t>
            </a:r>
          </a:p>
          <a:p>
            <a:pPr lvl="1"/>
            <a:r>
              <a:rPr lang="en-GB" sz="1800" b="0" dirty="0"/>
              <a:t>(exponentially) decreasing going back</a:t>
            </a:r>
          </a:p>
          <a:p>
            <a:pPr lvl="1"/>
            <a:r>
              <a:rPr lang="en-GB" sz="1800" b="0" dirty="0"/>
              <a:t>time/frequency filtering</a:t>
            </a:r>
          </a:p>
          <a:p>
            <a:pPr lvl="1"/>
            <a:r>
              <a:rPr lang="en-GB" sz="1800" b="0" dirty="0"/>
              <a:t>…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78098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correction and control (I)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1800" dirty="0"/>
                  <a:t>adaptive model : </a:t>
                </a:r>
                <a:r>
                  <a:rPr lang="en-GB" sz="1800" dirty="0" err="1"/>
                  <a:t>Kalman</a:t>
                </a:r>
                <a:r>
                  <a:rPr lang="en-GB" sz="1800" dirty="0"/>
                  <a:t> filtering</a:t>
                </a:r>
              </a:p>
              <a:p>
                <a:endParaRPr lang="en-GB" sz="1800" dirty="0"/>
              </a:p>
              <a:p>
                <a:r>
                  <a:rPr lang="en-GB" sz="1800" dirty="0"/>
                  <a:t>the central idea:</a:t>
                </a:r>
              </a:p>
              <a:p>
                <a:pPr lvl="1"/>
                <a:r>
                  <a:rPr lang="en-GB" sz="1800" b="0" dirty="0"/>
                  <a:t>at time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sz="1800" b="0" dirty="0"/>
                  <a:t> we have the ‘predicted’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GB" sz="1800" b="0" dirty="0"/>
                  <a:t> from the factors and the linking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1800" b="0" dirty="0"/>
                  <a:t>  </a:t>
                </a:r>
              </a:p>
              <a:p>
                <a:pPr lvl="1"/>
                <a:r>
                  <a:rPr lang="en-GB" sz="1800" b="0" dirty="0"/>
                  <a:t>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b="0" dirty="0"/>
                  <a:t> we also have the measured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1800" b="0" dirty="0"/>
                  <a:t> for that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sz="1800" b="0" dirty="0"/>
                  <a:t>: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GB" sz="1800" b="0" dirty="0"/>
                  <a:t> in the index is used to express how long we have to wait to get this.</a:t>
                </a:r>
              </a:p>
              <a:p>
                <a:pPr lvl="1"/>
                <a:r>
                  <a:rPr lang="en-GB" sz="1800" b="0" dirty="0"/>
                  <a:t>We can try to use (systematics in) those differences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GB" sz="1800" b="0" dirty="0"/>
                  <a:t> to adjust the predictions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6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correction and control (II)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3" y="1195947"/>
                <a:ext cx="5125277" cy="490018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GB" sz="12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1600" b="0" dirty="0">
                    <a:solidFill>
                      <a:srgbClr val="0F5494"/>
                    </a:solidFill>
                  </a:rPr>
                  <a:t>use optimal weighting (i.e.. inverse variance) for the differences:</a:t>
                </a: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1600" b="0" dirty="0">
                    <a:solidFill>
                      <a:srgbClr val="0F5494"/>
                    </a:solidFill>
                  </a:rPr>
                  <a:t>(tilde means model/PCA factors)</a:t>
                </a: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sz="1600" b="0" dirty="0">
                    <a:solidFill>
                      <a:srgbClr val="0F5494"/>
                    </a:solidFill>
                  </a:rPr>
                  <a:t> is </a:t>
                </a:r>
                <a:r>
                  <a:rPr lang="en-GB" sz="1600" b="0" dirty="0" err="1">
                    <a:solidFill>
                      <a:srgbClr val="0F5494"/>
                    </a:solidFill>
                  </a:rPr>
                  <a:t>Kalman</a:t>
                </a:r>
                <a:r>
                  <a:rPr lang="en-GB" sz="1600" b="0" dirty="0">
                    <a:solidFill>
                      <a:srgbClr val="0F5494"/>
                    </a:solidFill>
                  </a:rPr>
                  <a:t> </a:t>
                </a:r>
                <a:r>
                  <a:rPr lang="en-GB" sz="1600" b="0" u="sng" dirty="0">
                    <a:solidFill>
                      <a:srgbClr val="0F5494"/>
                    </a:solidFill>
                  </a:rPr>
                  <a:t>gain</a:t>
                </a:r>
                <a:r>
                  <a:rPr lang="en-GB" sz="1600" b="0" dirty="0">
                    <a:solidFill>
                      <a:srgbClr val="0F5494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b="0" dirty="0">
                    <a:solidFill>
                      <a:srgbClr val="0F5494"/>
                    </a:solidFill>
                  </a:rPr>
                  <a:t> refers to variance. 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GB" sz="1600" b="0" dirty="0">
                    <a:solidFill>
                      <a:srgbClr val="0F5494"/>
                    </a:solidFill>
                  </a:rPr>
                  <a:t> is (co-)variance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rgbClr val="0F549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endParaRPr lang="en-GB" sz="1600" b="0" dirty="0">
                  <a:solidFill>
                    <a:srgbClr val="0F5494"/>
                  </a:solidFill>
                </a:endParaRPr>
              </a:p>
              <a:p>
                <a:pPr marL="0" indent="0">
                  <a:buNone/>
                </a:pPr>
                <a:r>
                  <a:rPr lang="en-GB" sz="1600" b="0" dirty="0">
                    <a:solidFill>
                      <a:srgbClr val="0F5494"/>
                    </a:solidFill>
                  </a:rPr>
                  <a:t>(optional extra) 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b="0" dirty="0">
                    <a:solidFill>
                      <a:srgbClr val="0F5494"/>
                    </a:solidFill>
                  </a:rPr>
                  <a:t> not fully known: AR model:</a:t>
                </a:r>
              </a:p>
              <a:p>
                <a:pPr marL="0" indent="0">
                  <a:buNone/>
                </a:pPr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3" y="1195947"/>
                <a:ext cx="5125277" cy="4900180"/>
              </a:xfrm>
              <a:blipFill>
                <a:blip r:embed="rId2"/>
                <a:stretch>
                  <a:fillRect l="-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7E1F8470-9A4D-C284-BC64-879EEE0C90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196261"/>
                <a:ext cx="5125277" cy="490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342000" marR="0" lvl="0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2400"/>
                  <a:buFont typeface="Arial"/>
                  <a:buChar char="•"/>
                  <a:defRPr sz="20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684000" marR="0" lvl="1" indent="-34200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chemeClr val="dk2"/>
                  </a:buClr>
                  <a:buSzPts val="2000"/>
                  <a:buFont typeface="Arial"/>
                  <a:buChar char="•"/>
                  <a:defRPr sz="18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972000" marR="0" lvl="2" indent="-3429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800"/>
                  <a:buFont typeface="Arial"/>
                  <a:buChar char="•"/>
                  <a:defRPr sz="16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296000" marR="0" lvl="3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600"/>
                  <a:buFont typeface="Arial"/>
                  <a:buChar char="•"/>
                  <a:defRPr sz="14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1620000" marR="0" lvl="4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600"/>
                  <a:buFont typeface="Arial"/>
                  <a:buChar char="•"/>
                  <a:defRPr sz="12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nl-NL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16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6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l-NL" sz="16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GB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i="1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acc>
                            <m:accPr>
                              <m:chr m:val="̃"/>
                              <m:ctrlPr>
                                <a:rPr lang="el-GR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Sup>
                        <m:sSubSup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l-GR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Ξ</m:t>
                      </m:r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GB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smtClean="0">
                                      <a:solidFill>
                                        <a:srgbClr val="0F549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smtClean="0">
                                      <a:solidFill>
                                        <a:srgbClr val="0F5494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          (+</m:t>
                          </m:r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GB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solidFill>
                                    <a:srgbClr val="0F549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Sup>
                        <m:sSubSupPr>
                          <m:ctrlP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 smtClean="0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            (+</m:t>
                      </m:r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1600" i="1" smtClean="0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>
                  <a:solidFill>
                    <a:srgbClr val="0F5494"/>
                  </a:solidFill>
                </a:endParaRPr>
              </a:p>
              <a:p>
                <a:pPr marL="0" indent="0">
                  <a:buFont typeface="Arial"/>
                  <a:buNone/>
                </a:pPr>
                <a:endParaRPr lang="en-IE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7E1F8470-9A4D-C284-BC64-879EEE0C9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196261"/>
                <a:ext cx="5125277" cy="4900180"/>
              </a:xfrm>
              <a:prstGeom prst="rect">
                <a:avLst/>
              </a:prstGeom>
              <a:blipFill>
                <a:blip r:embed="rId3"/>
                <a:stretch>
                  <a:fillRect t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557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56" y="757959"/>
            <a:ext cx="7483488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72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"/>
            <a:ext cx="9144000" cy="595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34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Missing data &amp; ‘ragged edges’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‘flavours’ of missing data: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0" dirty="0"/>
              <a:t>random points in time series of explanatory variable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0" dirty="0"/>
              <a:t>systematic </a:t>
            </a:r>
            <a:r>
              <a:rPr lang="en-GB" b="0" dirty="0" err="1"/>
              <a:t>missings</a:t>
            </a:r>
            <a:r>
              <a:rPr lang="en-GB" b="0" dirty="0"/>
              <a:t> throughout : i.e. explanatory variables are mixed cadence or dependent has lower cadence than explanatory vars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0" dirty="0"/>
              <a:t>systematic </a:t>
            </a:r>
            <a:r>
              <a:rPr lang="en-GB" b="0" dirty="0" err="1"/>
              <a:t>missings</a:t>
            </a:r>
            <a:r>
              <a:rPr lang="en-GB" b="0" dirty="0"/>
              <a:t> at forward edge (ragged edge)</a:t>
            </a:r>
          </a:p>
          <a:p>
            <a:pPr marL="800100" lvl="1" indent="-342900">
              <a:buFont typeface="+mj-lt"/>
              <a:buAutoNum type="arabicPeriod"/>
            </a:pPr>
            <a:endParaRPr lang="en-GB" b="0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43167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C9F29-D3DF-4671-94B1-C480698F375E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2207568" y="2420888"/>
                <a:ext cx="684076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57250" lvl="1" indent="-342900">
                  <a:buAutoNum type="arabicParenR"/>
                </a:pPr>
                <a:r>
                  <a:rPr lang="en-GB" sz="2000" dirty="0">
                    <a:solidFill>
                      <a:srgbClr val="0F5494"/>
                    </a:solidFill>
                  </a:rPr>
                  <a:t>Random missing points</a:t>
                </a:r>
              </a:p>
              <a:p>
                <a:pPr marL="514350" lvl="1"/>
                <a:endParaRPr lang="en-GB" sz="2000" dirty="0">
                  <a:solidFill>
                    <a:srgbClr val="0F5494"/>
                  </a:solidFill>
                </a:endParaRPr>
              </a:p>
              <a:p>
                <a:pPr marL="514350" lvl="1"/>
                <a:r>
                  <a:rPr lang="en-GB" sz="2000" dirty="0">
                    <a:solidFill>
                      <a:srgbClr val="0F5494"/>
                    </a:solidFill>
                  </a:rPr>
                  <a:t>interpolate or sample from </a:t>
                </a:r>
                <a:r>
                  <a:rPr lang="en-GB" sz="2000" dirty="0" err="1">
                    <a:solidFill>
                      <a:srgbClr val="0F5494"/>
                    </a:solidFill>
                  </a:rPr>
                  <a:t>p.d.f</a:t>
                </a:r>
                <a:r>
                  <a:rPr lang="en-GB" sz="2000" dirty="0">
                    <a:solidFill>
                      <a:srgbClr val="0F5494"/>
                    </a:solidFill>
                  </a:rPr>
                  <a:t>.</a:t>
                </a:r>
              </a:p>
              <a:p>
                <a:pPr marL="685800" lvl="1" indent="-171450"/>
                <a:r>
                  <a:rPr lang="en-GB" sz="2000" dirty="0">
                    <a:solidFill>
                      <a:srgbClr val="0F5494"/>
                    </a:solidFill>
                  </a:rPr>
                  <a:t>downweight in modelling </a:t>
                </a:r>
              </a:p>
              <a:p>
                <a:pPr marL="685800" lvl="1" indent="-171450"/>
                <a:endParaRPr lang="en-GB" sz="2000" dirty="0">
                  <a:solidFill>
                    <a:srgbClr val="0F5494"/>
                  </a:solidFill>
                </a:endParaRPr>
              </a:p>
              <a:p>
                <a:pPr marL="685800" lvl="1" indent="-171450"/>
                <a:r>
                  <a:rPr lang="en-GB" sz="2000" dirty="0">
                    <a:solidFill>
                      <a:srgbClr val="0F5494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F5494"/>
                    </a:solidFill>
                  </a:rPr>
                  <a:t> to zero or very small value</a:t>
                </a:r>
                <a:endParaRPr lang="en-GB" sz="2000" dirty="0"/>
              </a:p>
              <a:p>
                <a:endParaRPr lang="en-GB" sz="2400" dirty="0" err="1">
                  <a:solidFill>
                    <a:srgbClr val="0F5494"/>
                  </a:solidFill>
                </a:endParaRPr>
              </a:p>
            </p:txBody>
          </p:sp>
        </mc:Choice>
        <mc:Fallback xmlns="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2420888"/>
                <a:ext cx="6840760" cy="2308324"/>
              </a:xfrm>
              <a:prstGeom prst="rect">
                <a:avLst/>
              </a:prstGeom>
              <a:blipFill>
                <a:blip r:embed="rId2"/>
                <a:stretch>
                  <a:fillRect t="-1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710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2207569" y="1124745"/>
                <a:ext cx="7059177" cy="4363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0F5494"/>
                    </a:solidFill>
                  </a:rPr>
                  <a:t>2) Systematic/regular missing</a:t>
                </a:r>
              </a:p>
              <a:p>
                <a:endParaRPr lang="en-GB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treat the lower frequency variable (dependent) as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weighted average over latent high frequency: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F549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F549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do STM (in state-space form) for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000" dirty="0">
                    <a:solidFill>
                      <a:srgbClr val="0F5494"/>
                    </a:solidFill>
                  </a:rPr>
                  <a:t> together 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with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GB" sz="2000" dirty="0">
                  <a:solidFill>
                    <a:srgbClr val="0F5494"/>
                  </a:solidFill>
                </a:endParaRPr>
              </a:p>
              <a:p>
                <a:endParaRPr lang="en-GB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problem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5494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F5494"/>
                    </a:solidFill>
                  </a:rPr>
                  <a:t> only available 1 out of every 3 months</a:t>
                </a:r>
              </a:p>
              <a:p>
                <a:endParaRPr lang="en-GB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in model part of state-space : draw from </a:t>
                </a:r>
                <a:r>
                  <a:rPr lang="en-GB" sz="2000" dirty="0" err="1">
                    <a:solidFill>
                      <a:srgbClr val="0F5494"/>
                    </a:solidFill>
                  </a:rPr>
                  <a:t>distr.func</a:t>
                </a:r>
                <a:r>
                  <a:rPr lang="en-GB" sz="2000" dirty="0">
                    <a:solidFill>
                      <a:srgbClr val="0F5494"/>
                    </a:solidFill>
                  </a:rPr>
                  <a:t>.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ignore in measurement part for 2 out of every three months.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use an Expectation Maximization algorithm</a:t>
                </a: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9" y="1124745"/>
                <a:ext cx="7059177" cy="4363887"/>
              </a:xfrm>
              <a:prstGeom prst="rect">
                <a:avLst/>
              </a:prstGeom>
              <a:blipFill>
                <a:blip r:embed="rId2"/>
                <a:stretch>
                  <a:fillRect l="-864" t="-699" b="-1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108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2207569" y="1124745"/>
                <a:ext cx="7422225" cy="3477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0F5494"/>
                    </a:solidFill>
                  </a:rPr>
                  <a:t>3) Forward edge </a:t>
                </a:r>
                <a:r>
                  <a:rPr lang="en-GB" sz="2000" dirty="0" err="1">
                    <a:solidFill>
                      <a:srgbClr val="0F5494"/>
                    </a:solidFill>
                  </a:rPr>
                  <a:t>missings</a:t>
                </a:r>
                <a:r>
                  <a:rPr lang="en-GB" sz="2000" dirty="0">
                    <a:solidFill>
                      <a:srgbClr val="0F5494"/>
                    </a:solidFill>
                  </a:rPr>
                  <a:t> (ragged edge)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a)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F5494"/>
                    </a:solidFill>
                  </a:rPr>
                  <a:t>very simplistic solution, ‘vertical alignment’ :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shift all explanatory series forward so that you no longer 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have a ragged edge </a:t>
                </a:r>
              </a:p>
              <a:p>
                <a:endParaRPr lang="en-GB" sz="2000" dirty="0">
                  <a:solidFill>
                    <a:srgbClr val="0F5494"/>
                  </a:solidFill>
                </a:endParaRP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b)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F5494"/>
                    </a:solidFill>
                  </a:rPr>
                  <a:t>do a PCA on the ‘trimmed’ set (i.e. a complete block)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F5494"/>
                    </a:solidFill>
                  </a:rPr>
                  <a:t>use the PCA factors and the subset of observed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>
                    <a:solidFill>
                      <a:srgbClr val="0F5494"/>
                    </a:solidFill>
                  </a:rPr>
                  <a:t> to</a:t>
                </a:r>
              </a:p>
              <a:p>
                <a:r>
                  <a:rPr lang="en-GB" sz="2000" dirty="0">
                    <a:solidFill>
                      <a:srgbClr val="0F5494"/>
                    </a:solidFill>
                  </a:rPr>
                  <a:t>    extrapolate the missing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rgbClr val="0F5494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>
                    <a:solidFill>
                      <a:srgbClr val="0F5494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F5494"/>
                    </a:solidFill>
                  </a:rPr>
                  <a:t>re-do a PCA on this extended set and repeat to convergence</a:t>
                </a: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9" y="1124745"/>
                <a:ext cx="7422225" cy="3477875"/>
              </a:xfrm>
              <a:prstGeom prst="rect">
                <a:avLst/>
              </a:prstGeom>
              <a:blipFill>
                <a:blip r:embed="rId2"/>
                <a:stretch>
                  <a:fillRect l="-821" t="-877" b="-24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325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extensions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0" u="sng" dirty="0">
                <a:solidFill>
                  <a:srgbClr val="0F5494"/>
                </a:solidFill>
              </a:rPr>
              <a:t>asymmetric filters</a:t>
            </a:r>
            <a:r>
              <a:rPr lang="en-GB" sz="2000" b="0" dirty="0">
                <a:solidFill>
                  <a:srgbClr val="0F5494"/>
                </a:solidFill>
              </a:rPr>
              <a:t> : weight differences between </a:t>
            </a:r>
            <a:r>
              <a:rPr lang="en-GB" sz="2000" b="0" i="1" dirty="0">
                <a:solidFill>
                  <a:srgbClr val="0F5494"/>
                </a:solidFill>
              </a:rPr>
              <a:t>upward</a:t>
            </a:r>
            <a:r>
              <a:rPr lang="en-GB" sz="2000" b="0" dirty="0">
                <a:solidFill>
                  <a:srgbClr val="0F5494"/>
                </a:solidFill>
              </a:rPr>
              <a:t> and </a:t>
            </a:r>
            <a:r>
              <a:rPr lang="en-GB" sz="2000" b="0" i="1" dirty="0">
                <a:solidFill>
                  <a:srgbClr val="0F5494"/>
                </a:solidFill>
              </a:rPr>
              <a:t>downward</a:t>
            </a:r>
            <a:r>
              <a:rPr lang="en-GB" sz="2000" b="0" dirty="0">
                <a:solidFill>
                  <a:srgbClr val="0F5494"/>
                </a:solidFill>
              </a:rPr>
              <a:t> updates/estimates </a:t>
            </a:r>
          </a:p>
          <a:p>
            <a:pPr marL="0" indent="0">
              <a:buNone/>
            </a:pPr>
            <a:r>
              <a:rPr lang="en-GB" sz="2000" b="0" dirty="0">
                <a:solidFill>
                  <a:srgbClr val="0F5494"/>
                </a:solidFill>
              </a:rPr>
              <a:t>(i.e. positively directed or negatively directed changes due to any particular regressor </a:t>
            </a:r>
          </a:p>
          <a:p>
            <a:pPr marL="0" indent="0">
              <a:buNone/>
            </a:pPr>
            <a:endParaRPr lang="en-GB" sz="2000" b="0" dirty="0">
              <a:solidFill>
                <a:srgbClr val="0F5494"/>
              </a:solidFill>
            </a:endParaRPr>
          </a:p>
          <a:p>
            <a:pPr marL="0" indent="0">
              <a:buNone/>
            </a:pPr>
            <a:r>
              <a:rPr lang="en-GB" sz="2000" b="0" u="sng" dirty="0">
                <a:solidFill>
                  <a:srgbClr val="0F5494"/>
                </a:solidFill>
              </a:rPr>
              <a:t>non-linear models</a:t>
            </a:r>
          </a:p>
          <a:p>
            <a:pPr marL="0" indent="0">
              <a:buNone/>
            </a:pPr>
            <a:endParaRPr lang="en-GB" sz="2000" b="0" u="sng" dirty="0">
              <a:solidFill>
                <a:srgbClr val="0F5494"/>
              </a:solidFill>
            </a:endParaRPr>
          </a:p>
          <a:p>
            <a:pPr marL="0" indent="0">
              <a:buNone/>
            </a:pPr>
            <a:r>
              <a:rPr lang="en-GB" sz="2000" b="0" u="sng" dirty="0">
                <a:solidFill>
                  <a:srgbClr val="0F5494"/>
                </a:solidFill>
              </a:rPr>
              <a:t>regime changes</a:t>
            </a:r>
            <a:r>
              <a:rPr lang="en-GB" sz="2000" b="0" dirty="0">
                <a:solidFill>
                  <a:srgbClr val="0F5494"/>
                </a:solidFill>
              </a:rPr>
              <a:t> (e.g. re-basing of indicators)</a:t>
            </a:r>
          </a:p>
          <a:p>
            <a:pPr marL="0" indent="0">
              <a:buNone/>
            </a:pPr>
            <a:endParaRPr lang="en-GB" sz="2000" b="0" dirty="0">
              <a:solidFill>
                <a:srgbClr val="0F5494"/>
              </a:solidFill>
            </a:endParaRPr>
          </a:p>
          <a:p>
            <a:pPr marL="0" indent="0">
              <a:buNone/>
            </a:pPr>
            <a:r>
              <a:rPr lang="en-GB" sz="2000" b="0" u="sng" dirty="0">
                <a:solidFill>
                  <a:srgbClr val="0F5494"/>
                </a:solidFill>
              </a:rPr>
              <a:t>separation by frequency-bands</a:t>
            </a:r>
            <a:r>
              <a:rPr lang="en-GB" sz="2000" b="0" dirty="0">
                <a:solidFill>
                  <a:srgbClr val="0F5494"/>
                </a:solidFill>
              </a:rPr>
              <a:t> of signals</a:t>
            </a:r>
          </a:p>
          <a:p>
            <a:pPr marL="0" indent="0">
              <a:buNone/>
            </a:pPr>
            <a:r>
              <a:rPr lang="en-GB" sz="2000" b="0" dirty="0">
                <a:solidFill>
                  <a:srgbClr val="0F5494"/>
                </a:solidFill>
              </a:rPr>
              <a:t>(trend, cycle, seasonal)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9056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8E182-E6E5-B5C4-4656-9CE1F610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A076BA5-6DAA-E3D3-665A-9370BD1F5D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5E5FA2D-6454-9B69-B07E-3B0023B73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527141"/>
            <a:ext cx="10515597" cy="4568985"/>
          </a:xfrm>
        </p:spPr>
        <p:txBody>
          <a:bodyPr/>
          <a:lstStyle/>
          <a:p>
            <a:r>
              <a:rPr lang="en-GB" dirty="0">
                <a:solidFill>
                  <a:srgbClr val="104F99"/>
                </a:solidFill>
              </a:rPr>
              <a:t>The training material includes the .csv file “85692NED_TabelIndeling_20260817115615.csv” </a:t>
            </a:r>
          </a:p>
          <a:p>
            <a:r>
              <a:rPr lang="en-GB" dirty="0">
                <a:solidFill>
                  <a:srgbClr val="104F99"/>
                </a:solidFill>
              </a:rPr>
              <a:t>This is a time series of CBS open data, at monthly cadence from Jan 2013 to May 2026, on the number of persons receiving a certain type of unemployment benefit</a:t>
            </a:r>
          </a:p>
          <a:p>
            <a:r>
              <a:rPr lang="en-GB" dirty="0">
                <a:solidFill>
                  <a:srgbClr val="104F99"/>
                </a:solidFill>
              </a:rPr>
              <a:t>In R there is a package “forecast” (Hyndman, </a:t>
            </a:r>
            <a:r>
              <a:rPr lang="en-GB" dirty="0" err="1">
                <a:solidFill>
                  <a:srgbClr val="104F99"/>
                </a:solidFill>
              </a:rPr>
              <a:t>Khandakar</a:t>
            </a:r>
            <a:r>
              <a:rPr lang="en-GB" dirty="0">
                <a:solidFill>
                  <a:srgbClr val="104F99"/>
                </a:solidFill>
              </a:rPr>
              <a:t>) which you can apply to this time series.</a:t>
            </a:r>
          </a:p>
          <a:p>
            <a:pPr lvl="1"/>
            <a:r>
              <a:rPr lang="en-GB" dirty="0">
                <a:solidFill>
                  <a:srgbClr val="104F99"/>
                </a:solidFill>
              </a:rPr>
              <a:t>try some variants of ARIMA models implemented in the package. What parameters seem best?</a:t>
            </a:r>
          </a:p>
          <a:p>
            <a:pPr lvl="1"/>
            <a:r>
              <a:rPr lang="en-GB" dirty="0">
                <a:solidFill>
                  <a:srgbClr val="104F99"/>
                </a:solidFill>
              </a:rPr>
              <a:t>does inclusion of seasonal effects make a difference?</a:t>
            </a:r>
          </a:p>
          <a:p>
            <a:pPr lvl="1"/>
            <a:r>
              <a:rPr lang="en-GB" dirty="0">
                <a:solidFill>
                  <a:srgbClr val="104F99"/>
                </a:solidFill>
              </a:rPr>
              <a:t>What would you conclude concerning a stochastic component or noise? How does this influence the margin of uncertainty on your forecast?</a:t>
            </a:r>
          </a:p>
        </p:txBody>
      </p:sp>
    </p:spTree>
    <p:extLst>
      <p:ext uri="{BB962C8B-B14F-4D97-AF65-F5344CB8AC3E}">
        <p14:creationId xmlns:p14="http://schemas.microsoft.com/office/powerpoint/2010/main" val="2940984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EFC2CB8-2519-FD8D-FC64-75FFE50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8AC4C02-067A-1EF2-A23E-0B55A3EB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02" y="441701"/>
            <a:ext cx="4130398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79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EFC2CB8-2519-FD8D-FC64-75FFE50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8AC4C02-067A-1EF2-A23E-0B55A3EB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02" y="441701"/>
            <a:ext cx="4130398" cy="2987299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6A7BB1E4-4343-5A11-611A-E49717D79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9991"/>
            <a:ext cx="4133446" cy="296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09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EFC2CB8-2519-FD8D-FC64-75FFE50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8AC4C02-067A-1EF2-A23E-0B55A3EB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02" y="441701"/>
            <a:ext cx="4130398" cy="2987299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6A7BB1E4-4343-5A11-611A-E49717D79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9991"/>
            <a:ext cx="4133446" cy="296901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CEB57340-6A8F-68BF-3303-3C6B00867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99" y="3428999"/>
            <a:ext cx="4124302" cy="296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86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EFC2CB8-2519-FD8D-FC64-75FFE50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7AC55-E6E3-4D14-88EA-AE169C4ED335}" type="slidenum">
              <a:rPr lang="en-GB" smtClean="0"/>
              <a:pPr>
                <a:defRPr/>
              </a:pPr>
              <a:t>36</a:t>
            </a:fld>
            <a:endParaRPr lang="en-GB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8AC4C02-067A-1EF2-A23E-0B55A3EB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02" y="441701"/>
            <a:ext cx="4130398" cy="2987299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6A7BB1E4-4343-5A11-611A-E49717D79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9991"/>
            <a:ext cx="4133446" cy="296901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CEB57340-6A8F-68BF-3303-3C6B00867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99" y="3428999"/>
            <a:ext cx="4124302" cy="296901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EF61C6E-2E6D-04FD-1694-D5254FBA1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7" y="3431192"/>
            <a:ext cx="4124302" cy="2966817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9A21E47F-14D7-F6F7-3065-64CC6091A397}"/>
              </a:ext>
            </a:extLst>
          </p:cNvPr>
          <p:cNvSpPr txBox="1"/>
          <p:nvPr/>
        </p:nvSpPr>
        <p:spPr>
          <a:xfrm>
            <a:off x="1489348" y="1636719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B9D97B9C-CAEE-5C59-1E27-27A2A6F6A1F9}"/>
              </a:ext>
            </a:extLst>
          </p:cNvPr>
          <p:cNvSpPr txBox="1"/>
          <p:nvPr/>
        </p:nvSpPr>
        <p:spPr>
          <a:xfrm>
            <a:off x="10229446" y="1627573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smooth trend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A3ECA7D-56D9-6C3C-1C7B-BDCC886F7060}"/>
              </a:ext>
            </a:extLst>
          </p:cNvPr>
          <p:cNvSpPr txBox="1"/>
          <p:nvPr/>
        </p:nvSpPr>
        <p:spPr>
          <a:xfrm>
            <a:off x="1061345" y="4605727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seasonal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72B99A99-9039-F5EA-76D3-B9CB7F6CC316}"/>
              </a:ext>
            </a:extLst>
          </p:cNvPr>
          <p:cNvSpPr txBox="1"/>
          <p:nvPr/>
        </p:nvSpPr>
        <p:spPr>
          <a:xfrm>
            <a:off x="10220301" y="4614874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stochastic</a:t>
            </a:r>
          </a:p>
        </p:txBody>
      </p:sp>
    </p:spTree>
    <p:extLst>
      <p:ext uri="{BB962C8B-B14F-4D97-AF65-F5344CB8AC3E}">
        <p14:creationId xmlns:p14="http://schemas.microsoft.com/office/powerpoint/2010/main" val="3655199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Further questions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76</TotalTime>
  <Words>1498</Words>
  <Application>Microsoft Office PowerPoint</Application>
  <PresentationFormat>Breedbeeld</PresentationFormat>
  <Paragraphs>243</Paragraphs>
  <Slides>37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 Math</vt:lpstr>
      <vt:lpstr>ESTAT Theme</vt:lpstr>
      <vt:lpstr>Macroeconomic nowcasting</vt:lpstr>
      <vt:lpstr>Factors as model building blocks</vt:lpstr>
      <vt:lpstr>Data ≠ Information</vt:lpstr>
      <vt:lpstr>some ‘idiom’</vt:lpstr>
      <vt:lpstr>Equations (definitions)</vt:lpstr>
      <vt:lpstr>One step back (I):  relationship between F and X </vt:lpstr>
      <vt:lpstr>One step back (II):  relationship between F and X </vt:lpstr>
      <vt:lpstr>Why would this make sense ?</vt:lpstr>
      <vt:lpstr>Why would this make sense ?</vt:lpstr>
      <vt:lpstr>PowerPoint-presentatie</vt:lpstr>
      <vt:lpstr>PowerPoint-presentatie</vt:lpstr>
      <vt:lpstr>not limited to time series</vt:lpstr>
      <vt:lpstr>Go forward again (I)</vt:lpstr>
      <vt:lpstr>PowerPoint-presentatie</vt:lpstr>
      <vt:lpstr>PowerPoint-presentatie</vt:lpstr>
      <vt:lpstr>PowerPoint-presentatie</vt:lpstr>
      <vt:lpstr>Go forward again (II)</vt:lpstr>
      <vt:lpstr>PowerPoint-presentatie</vt:lpstr>
      <vt:lpstr>PowerPoint-presentatie</vt:lpstr>
      <vt:lpstr>Factor models, part 2</vt:lpstr>
      <vt:lpstr>Static or dynamic factors?</vt:lpstr>
      <vt:lpstr>choosing a window</vt:lpstr>
      <vt:lpstr>correction and control (I)</vt:lpstr>
      <vt:lpstr>correction and control (II)</vt:lpstr>
      <vt:lpstr>PowerPoint-presentatie</vt:lpstr>
      <vt:lpstr>PowerPoint-presentatie</vt:lpstr>
      <vt:lpstr>Missing data &amp; ‘ragged edges’</vt:lpstr>
      <vt:lpstr>PowerPoint-presentatie</vt:lpstr>
      <vt:lpstr>PowerPoint-presentatie</vt:lpstr>
      <vt:lpstr>PowerPoint-presentatie</vt:lpstr>
      <vt:lpstr>further extensions</vt:lpstr>
      <vt:lpstr>Exercise</vt:lpstr>
      <vt:lpstr>PowerPoint-presentatie</vt:lpstr>
      <vt:lpstr>PowerPoint-presentatie</vt:lpstr>
      <vt:lpstr>PowerPoint-presentatie</vt:lpstr>
      <vt:lpstr>PowerPoint-presentatie</vt:lpstr>
      <vt:lpstr>Further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Pijpers, F.P. (Frank)</cp:lastModifiedBy>
  <cp:revision>75</cp:revision>
  <dcterms:created xsi:type="dcterms:W3CDTF">2024-11-22T11:11:00Z</dcterms:created>
  <dcterms:modified xsi:type="dcterms:W3CDTF">2026-08-17T12:13:25Z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