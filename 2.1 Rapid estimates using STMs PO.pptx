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55"/>
  </p:notesMasterIdLst>
  <p:handoutMasterIdLst>
    <p:handoutMasterId r:id="rId56"/>
  </p:handoutMasterIdLst>
  <p:sldIdLst>
    <p:sldId id="262" r:id="rId5"/>
    <p:sldId id="265" r:id="rId6"/>
    <p:sldId id="800" r:id="rId7"/>
    <p:sldId id="801" r:id="rId8"/>
    <p:sldId id="802" r:id="rId9"/>
    <p:sldId id="803" r:id="rId10"/>
    <p:sldId id="804" r:id="rId11"/>
    <p:sldId id="807" r:id="rId12"/>
    <p:sldId id="808" r:id="rId13"/>
    <p:sldId id="809" r:id="rId14"/>
    <p:sldId id="810" r:id="rId15"/>
    <p:sldId id="811" r:id="rId16"/>
    <p:sldId id="812" r:id="rId17"/>
    <p:sldId id="813" r:id="rId18"/>
    <p:sldId id="814" r:id="rId19"/>
    <p:sldId id="815" r:id="rId20"/>
    <p:sldId id="816" r:id="rId21"/>
    <p:sldId id="818" r:id="rId22"/>
    <p:sldId id="819" r:id="rId23"/>
    <p:sldId id="820" r:id="rId24"/>
    <p:sldId id="821" r:id="rId25"/>
    <p:sldId id="822" r:id="rId26"/>
    <p:sldId id="823" r:id="rId27"/>
    <p:sldId id="861" r:id="rId28"/>
    <p:sldId id="862" r:id="rId29"/>
    <p:sldId id="863" r:id="rId30"/>
    <p:sldId id="865" r:id="rId31"/>
    <p:sldId id="824" r:id="rId32"/>
    <p:sldId id="825" r:id="rId33"/>
    <p:sldId id="826" r:id="rId34"/>
    <p:sldId id="827" r:id="rId35"/>
    <p:sldId id="817" r:id="rId36"/>
    <p:sldId id="869" r:id="rId37"/>
    <p:sldId id="828" r:id="rId38"/>
    <p:sldId id="829" r:id="rId39"/>
    <p:sldId id="871" r:id="rId40"/>
    <p:sldId id="830" r:id="rId41"/>
    <p:sldId id="831" r:id="rId42"/>
    <p:sldId id="832" r:id="rId43"/>
    <p:sldId id="833" r:id="rId44"/>
    <p:sldId id="834" r:id="rId45"/>
    <p:sldId id="836" r:id="rId46"/>
    <p:sldId id="837" r:id="rId47"/>
    <p:sldId id="840" r:id="rId48"/>
    <p:sldId id="614" r:id="rId49"/>
    <p:sldId id="623" r:id="rId50"/>
    <p:sldId id="839" r:id="rId51"/>
    <p:sldId id="634" r:id="rId52"/>
    <p:sldId id="635" r:id="rId53"/>
    <p:sldId id="261" r:id="rId54"/>
  </p:sldIdLst>
  <p:sldSz cx="12192000" cy="6858000"/>
  <p:notesSz cx="6858000" cy="9144000"/>
  <p:custDataLst>
    <p:tags r:id="rId5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6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4A7"/>
    <a:srgbClr val="101010"/>
    <a:srgbClr val="F4F4F4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A4A9A-08D4-41EC-A222-5D5926BFFED6}" v="2" dt="2025-07-04T13:46:36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5" autoAdjust="0"/>
    <p:restoredTop sz="81100" autoAdjust="0"/>
  </p:normalViewPr>
  <p:slideViewPr>
    <p:cSldViewPr snapToGrid="0">
      <p:cViewPr varScale="1">
        <p:scale>
          <a:sx n="75" d="100"/>
          <a:sy n="75" d="100"/>
        </p:scale>
        <p:origin x="54" y="1182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74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handoutMaster" Target="handoutMasters/handoutMaster1.xml"/><Relationship Id="rId69" Type="http://customschemas.google.com/relationships/presentationmetadata" Target="meta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7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gs" Target="tags/tag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‹nr.›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901951"/>
            <a:ext cx="10515597" cy="4194176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oud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tekst 9"/>
          <p:cNvSpPr>
            <a:spLocks noGrp="1"/>
          </p:cNvSpPr>
          <p:nvPr>
            <p:ph type="body" sz="quarter" idx="11"/>
          </p:nvPr>
        </p:nvSpPr>
        <p:spPr>
          <a:xfrm>
            <a:off x="623392" y="1316765"/>
            <a:ext cx="10177131" cy="48965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spc="53" baseline="0">
                <a:solidFill>
                  <a:srgbClr val="271D6C"/>
                </a:solidFill>
                <a:latin typeface="Calibri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13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23392" y="452669"/>
            <a:ext cx="10177131" cy="672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i="0" spc="80" baseline="0">
                <a:solidFill>
                  <a:srgbClr val="00A1CD"/>
                </a:solidFill>
                <a:latin typeface="Calibri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ianumm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37392-BFF6-4758-997B-6D4972B410DF}" type="slidenum">
              <a:rPr lang="nl-NL"/>
              <a:pPr>
                <a:defRPr/>
              </a:pPr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6822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  <p:sldLayoutId id="2147483728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9.emf"/><Relationship Id="rId7" Type="http://schemas.openxmlformats.org/officeDocument/2006/relationships/oleObject" Target="../embeddings/oleObject7.bin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23.wmf"/><Relationship Id="rId4" Type="http://schemas.openxmlformats.org/officeDocument/2006/relationships/image" Target="../media/image20.emf"/><Relationship Id="rId9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2.wmf"/><Relationship Id="rId10" Type="http://schemas.openxmlformats.org/officeDocument/2006/relationships/image" Target="../media/image26.e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2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wmf"/><Relationship Id="rId4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0.wmf"/><Relationship Id="rId10" Type="http://schemas.openxmlformats.org/officeDocument/2006/relationships/image" Target="../media/image32.png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15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web/packages/KFAS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emf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oleObject" Target="../embeddings/oleObject17.bin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../media/image29.wmf"/><Relationship Id="rId9" Type="http://schemas.openxmlformats.org/officeDocument/2006/relationships/image" Target="NUL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bs.nl/en-gb/dossier/dossier-well-being-and-the-sustainable-development-goals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2520" y="3277775"/>
            <a:ext cx="4185989" cy="1745469"/>
          </a:xfrm>
        </p:spPr>
        <p:txBody>
          <a:bodyPr/>
          <a:lstStyle/>
          <a:p>
            <a:r>
              <a:rPr lang="en-IE" dirty="0" err="1"/>
              <a:t>Dr.</a:t>
            </a:r>
            <a:r>
              <a:rPr lang="en-IE" dirty="0"/>
              <a:t> Pim Ouwehand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2.1 Rapid estimates using Structural time series models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E" dirty="0"/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294237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47B82D-1991-13D2-5B62-76F0A40D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Overview</a:t>
            </a:r>
            <a:r>
              <a:rPr lang="nl-NL" dirty="0"/>
              <a:t>: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255789A-21E5-9C30-4F36-E583237EE0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852A06D-3075-A521-72CD-ECC35A6951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Introduction to </a:t>
            </a:r>
            <a:r>
              <a:rPr lang="en-US" sz="2400" dirty="0" err="1">
                <a:solidFill>
                  <a:schemeClr val="tx1"/>
                </a:solidFill>
              </a:rPr>
              <a:t>stm’s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in-sample and out-of-sample forecasting</a:t>
            </a:r>
          </a:p>
          <a:p>
            <a:pPr lvl="2"/>
            <a:r>
              <a:rPr lang="en-US" sz="2000" dirty="0">
                <a:solidFill>
                  <a:schemeClr val="tx1"/>
                </a:solidFill>
              </a:rPr>
              <a:t>Exercises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out-of-sample with regressors: nowcasting</a:t>
            </a:r>
          </a:p>
          <a:p>
            <a:pPr lvl="2"/>
            <a:r>
              <a:rPr lang="en-US" sz="2000" dirty="0">
                <a:solidFill>
                  <a:schemeClr val="tx1"/>
                </a:solidFill>
              </a:rPr>
              <a:t>Exercises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03948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B870364B-63A9-4AAB-D8CA-40F3E40BF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Time series </a:t>
            </a:r>
            <a:r>
              <a:rPr lang="nl-NL" dirty="0" err="1"/>
              <a:t>decomposition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3</a:t>
            </a:fld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809" y="1247048"/>
            <a:ext cx="2757364" cy="1841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094" y="2478088"/>
            <a:ext cx="2757364" cy="1841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649" y="4974366"/>
            <a:ext cx="2757364" cy="1841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Line 14"/>
          <p:cNvSpPr>
            <a:spLocks noChangeShapeType="1"/>
          </p:cNvSpPr>
          <p:nvPr/>
        </p:nvSpPr>
        <p:spPr bwMode="auto">
          <a:xfrm flipV="1">
            <a:off x="4123253" y="2879230"/>
            <a:ext cx="242537" cy="1049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544150"/>
            <a:endParaRPr lang="nl-NL" sz="2133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4093731" y="4534918"/>
            <a:ext cx="301575" cy="1390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544150"/>
            <a:endParaRPr lang="nl-NL" sz="2133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0" name="Line 14"/>
          <p:cNvSpPr>
            <a:spLocks noChangeShapeType="1"/>
          </p:cNvSpPr>
          <p:nvPr/>
        </p:nvSpPr>
        <p:spPr bwMode="auto">
          <a:xfrm flipV="1">
            <a:off x="4123252" y="3762000"/>
            <a:ext cx="242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544150"/>
            <a:endParaRPr lang="nl-NL" sz="2133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1" name="Line 14"/>
          <p:cNvSpPr>
            <a:spLocks noChangeShapeType="1"/>
          </p:cNvSpPr>
          <p:nvPr/>
        </p:nvSpPr>
        <p:spPr bwMode="auto">
          <a:xfrm flipV="1">
            <a:off x="7307578" y="1823113"/>
            <a:ext cx="242537" cy="1049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544150"/>
            <a:endParaRPr lang="nl-NL" sz="2133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7262083" y="2874244"/>
            <a:ext cx="301575" cy="13904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544150"/>
            <a:endParaRPr lang="nl-NL" sz="2133">
              <a:solidFill>
                <a:prstClr val="black"/>
              </a:solidFill>
              <a:latin typeface="Calibri"/>
              <a:cs typeface="+mn-cs"/>
            </a:endParaRPr>
          </a:p>
        </p:txBody>
      </p:sp>
      <p:pic>
        <p:nvPicPr>
          <p:cNvPr id="13" name="Picture 1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390" y="2975240"/>
            <a:ext cx="2757364" cy="1841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650" y="3109427"/>
            <a:ext cx="2757364" cy="1841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093" y="689754"/>
            <a:ext cx="2757364" cy="1841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3893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0A47425-0FD1-EE6B-8CFE-C004B9D8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Structural</a:t>
            </a:r>
            <a:r>
              <a:rPr lang="nl-NL" dirty="0"/>
              <a:t> </a:t>
            </a:r>
            <a:r>
              <a:rPr lang="nl-NL" dirty="0" err="1"/>
              <a:t>times</a:t>
            </a:r>
            <a:r>
              <a:rPr lang="nl-NL" dirty="0"/>
              <a:t> series model (STM)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4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 err="1"/>
              <a:t>Objective</a:t>
            </a:r>
            <a:r>
              <a:rPr lang="nl-NL" sz="2400" dirty="0"/>
              <a:t> : </a:t>
            </a:r>
            <a:r>
              <a:rPr lang="nl-NL" sz="2400" dirty="0" err="1"/>
              <a:t>describe</a:t>
            </a:r>
            <a:r>
              <a:rPr lang="nl-NL" sz="2400" dirty="0"/>
              <a:t> </a:t>
            </a:r>
            <a:r>
              <a:rPr lang="nl-NL" sz="2400" dirty="0" err="1"/>
              <a:t>underlying</a:t>
            </a:r>
            <a:r>
              <a:rPr lang="nl-NL" sz="2400" dirty="0"/>
              <a:t> </a:t>
            </a:r>
            <a:r>
              <a:rPr lang="nl-NL" sz="2400" dirty="0" err="1"/>
              <a:t>patterns</a:t>
            </a:r>
            <a:r>
              <a:rPr lang="nl-NL" sz="2400" dirty="0"/>
              <a:t> in data </a:t>
            </a:r>
            <a:r>
              <a:rPr lang="nl-NL" sz="2400" dirty="0" err="1"/>
              <a:t>explicitly</a:t>
            </a:r>
            <a:endParaRPr lang="nl-NL" sz="2400" dirty="0"/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24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 err="1"/>
              <a:t>Signal</a:t>
            </a:r>
            <a:r>
              <a:rPr lang="nl-NL" sz="2400" dirty="0"/>
              <a:t> vs. </a:t>
            </a:r>
            <a:r>
              <a:rPr lang="nl-NL" sz="2400" dirty="0" err="1"/>
              <a:t>Noise</a:t>
            </a:r>
            <a:endParaRPr lang="nl-NL" sz="2400" dirty="0"/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2400" i="1" dirty="0"/>
          </a:p>
          <a:p>
            <a:pPr marL="0" indent="0">
              <a:buNone/>
            </a:pPr>
            <a:r>
              <a:rPr lang="nl-NL" sz="2400" i="1" dirty="0"/>
              <a:t>	Series = </a:t>
            </a:r>
            <a:r>
              <a:rPr lang="nl-NL" sz="2400" i="1" dirty="0" err="1"/>
              <a:t>Signal</a:t>
            </a:r>
            <a:r>
              <a:rPr lang="nl-NL" sz="2400" i="1" dirty="0"/>
              <a:t> + </a:t>
            </a:r>
            <a:r>
              <a:rPr lang="nl-NL" sz="2400" i="1" dirty="0" err="1"/>
              <a:t>Noise</a:t>
            </a:r>
            <a:endParaRPr lang="nl-NL" sz="2400" i="1" dirty="0"/>
          </a:p>
          <a:p>
            <a:pPr marL="0" indent="0">
              <a:buNone/>
            </a:pPr>
            <a:r>
              <a:rPr lang="nl-NL" sz="2400" i="1" dirty="0"/>
              <a:t>	</a:t>
            </a:r>
            <a:r>
              <a:rPr lang="nl-NL" sz="2400" i="1" dirty="0" err="1"/>
              <a:t>Signal</a:t>
            </a:r>
            <a:r>
              <a:rPr lang="nl-NL" sz="2400" i="1" dirty="0"/>
              <a:t> = Trend + </a:t>
            </a:r>
            <a:r>
              <a:rPr lang="nl-NL" sz="2400" i="1" dirty="0" err="1"/>
              <a:t>Seasonal</a:t>
            </a:r>
            <a:r>
              <a:rPr lang="nl-NL" sz="2400" i="1" dirty="0"/>
              <a:t> + …</a:t>
            </a:r>
          </a:p>
          <a:p>
            <a:pPr marL="457189" indent="-457189">
              <a:buFontTx/>
              <a:buChar char="-"/>
            </a:pP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386894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346" y="2370337"/>
            <a:ext cx="5061220" cy="296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Afbeelding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55" y="2504447"/>
            <a:ext cx="4889116" cy="25071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33E4C6CE-4D35-2F1E-F7CC-32FA0F8CC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is a trend?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5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>
          <a:xfrm>
            <a:off x="970722" y="1401856"/>
            <a:ext cx="10515597" cy="48719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dirty="0" err="1"/>
              <a:t>Underlying</a:t>
            </a:r>
            <a:r>
              <a:rPr lang="nl-NL" dirty="0"/>
              <a:t> long term </a:t>
            </a:r>
            <a:r>
              <a:rPr lang="nl-NL" dirty="0" err="1"/>
              <a:t>growth</a:t>
            </a:r>
            <a:r>
              <a:rPr lang="nl-NL" dirty="0"/>
              <a:t> </a:t>
            </a:r>
            <a:r>
              <a:rPr lang="nl-NL" dirty="0" err="1"/>
              <a:t>rate</a:t>
            </a:r>
            <a:endParaRPr lang="nl-NL" dirty="0"/>
          </a:p>
          <a:p>
            <a:endParaRPr lang="nl-NL" dirty="0"/>
          </a:p>
          <a:p>
            <a:pPr marL="0" indent="0">
              <a:buNone/>
            </a:pPr>
            <a:r>
              <a:rPr lang="nl-NL" dirty="0"/>
              <a:t>Global			       	                         </a:t>
            </a:r>
            <a:r>
              <a:rPr lang="nl-NL" dirty="0" err="1"/>
              <a:t>Local</a:t>
            </a:r>
            <a:r>
              <a:rPr lang="nl-NL" dirty="0"/>
              <a:t> (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margins</a:t>
            </a:r>
            <a:r>
              <a:rPr lang="nl-NL" dirty="0"/>
              <a:t>)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STM: time series </a:t>
            </a:r>
            <a:r>
              <a:rPr lang="nl-NL" dirty="0" err="1"/>
              <a:t>components</a:t>
            </a:r>
            <a:r>
              <a:rPr lang="nl-NL" dirty="0"/>
              <a:t> </a:t>
            </a:r>
            <a:r>
              <a:rPr lang="nl-NL" dirty="0" err="1"/>
              <a:t>vary</a:t>
            </a:r>
            <a:r>
              <a:rPr lang="nl-NL" dirty="0"/>
              <a:t> over time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96974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22E443-1B72-E98A-1165-E66F21D7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STM (random walk plus </a:t>
            </a:r>
            <a:r>
              <a:rPr lang="nl-NL" dirty="0" err="1"/>
              <a:t>noise</a:t>
            </a:r>
            <a:r>
              <a:rPr lang="nl-NL" dirty="0"/>
              <a:t>)</a:t>
            </a:r>
            <a:br>
              <a:rPr lang="nl-NL" dirty="0"/>
            </a:br>
            <a:endParaRPr lang="nl-NL" dirty="0"/>
          </a:p>
        </p:txBody>
      </p:sp>
      <p:sp>
        <p:nvSpPr>
          <p:cNvPr id="5" name="Tijdelijke aanduiding voor inhoud 2"/>
          <p:cNvSpPr txBox="1">
            <a:spLocks/>
          </p:cNvSpPr>
          <p:nvPr/>
        </p:nvSpPr>
        <p:spPr>
          <a:xfrm>
            <a:off x="527381" y="1090385"/>
            <a:ext cx="10972800" cy="4845051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4267" dirty="0">
              <a:solidFill>
                <a:srgbClr val="271D6C"/>
              </a:solidFill>
            </a:endParaRPr>
          </a:p>
          <a:p>
            <a:pPr marL="1828800" lvl="4" indent="0">
              <a:buNone/>
            </a:pPr>
            <a:endParaRPr lang="nl-NL" sz="1800" dirty="0">
              <a:solidFill>
                <a:srgbClr val="271D6C"/>
              </a:solidFill>
            </a:endParaRPr>
          </a:p>
          <a:p>
            <a:pPr marL="1828800" lvl="4" indent="0">
              <a:buNone/>
            </a:pPr>
            <a:endParaRPr lang="nl-NL" sz="2800" dirty="0">
              <a:solidFill>
                <a:srgbClr val="271D6C"/>
              </a:solidFill>
            </a:endParaRPr>
          </a:p>
          <a:p>
            <a:pPr marL="0" indent="0">
              <a:buNone/>
            </a:pPr>
            <a:r>
              <a:rPr lang="nl-NL" sz="4267" dirty="0">
                <a:solidFill>
                  <a:srgbClr val="271D6C"/>
                </a:solidFill>
              </a:rPr>
              <a:t>			</a:t>
            </a:r>
            <a:r>
              <a:rPr lang="nl-NL" sz="2000" dirty="0"/>
              <a:t>: </a:t>
            </a:r>
            <a:r>
              <a:rPr lang="nl-NL" sz="2000" i="1" dirty="0"/>
              <a:t>level (</a:t>
            </a:r>
            <a:r>
              <a:rPr lang="nl-NL" sz="2000" dirty="0"/>
              <a:t>state </a:t>
            </a:r>
            <a:r>
              <a:rPr lang="nl-NL" sz="2000" dirty="0" err="1"/>
              <a:t>variable</a:t>
            </a:r>
            <a:r>
              <a:rPr lang="nl-NL" sz="2000" i="1" dirty="0"/>
              <a:t>)</a:t>
            </a:r>
            <a:r>
              <a:rPr lang="nl-NL" sz="2000" dirty="0"/>
              <a:t>, </a:t>
            </a:r>
            <a:r>
              <a:rPr lang="nl-NL" sz="2000" dirty="0" err="1"/>
              <a:t>unobserved</a:t>
            </a:r>
            <a:endParaRPr lang="nl-NL" sz="2000" dirty="0"/>
          </a:p>
          <a:p>
            <a:endParaRPr lang="nl-NL" sz="2400" dirty="0"/>
          </a:p>
          <a:p>
            <a:pPr marL="0" indent="0">
              <a:buNone/>
            </a:pPr>
            <a:r>
              <a:rPr lang="nl-NL" sz="2000" dirty="0"/>
              <a:t>	             		: </a:t>
            </a:r>
            <a:r>
              <a:rPr lang="nl-NL" sz="2000" i="1" dirty="0"/>
              <a:t>hyperparameters, </a:t>
            </a:r>
            <a:r>
              <a:rPr lang="nl-NL" sz="2000" dirty="0" err="1"/>
              <a:t>determine</a:t>
            </a:r>
            <a:r>
              <a:rPr lang="nl-NL" sz="2000" dirty="0"/>
              <a:t> </a:t>
            </a:r>
            <a:r>
              <a:rPr lang="nl-NL" sz="2000" dirty="0" err="1"/>
              <a:t>noise</a:t>
            </a:r>
            <a:r>
              <a:rPr lang="nl-NL" sz="2000" dirty="0"/>
              <a:t> </a:t>
            </a:r>
            <a:r>
              <a:rPr lang="nl-NL" sz="2000" dirty="0" err="1"/>
              <a:t>and</a:t>
            </a:r>
            <a:r>
              <a:rPr lang="nl-NL" sz="2000" dirty="0"/>
              <a:t> 	</a:t>
            </a:r>
            <a:r>
              <a:rPr lang="nl-NL" sz="2000" dirty="0" err="1"/>
              <a:t>evolution</a:t>
            </a:r>
            <a:r>
              <a:rPr lang="nl-NL" sz="2000" dirty="0"/>
              <a:t> of level</a:t>
            </a:r>
          </a:p>
          <a:p>
            <a:endParaRPr lang="nl-NL" sz="2000" dirty="0"/>
          </a:p>
          <a:p>
            <a:endParaRPr lang="nl-NL" sz="2000" dirty="0"/>
          </a:p>
          <a:p>
            <a:pPr marL="0" indent="0">
              <a:buNone/>
            </a:pPr>
            <a:r>
              <a:rPr lang="nl-NL" sz="2000" dirty="0"/>
              <a:t>	             		: random walk</a:t>
            </a:r>
          </a:p>
          <a:p>
            <a:pPr marL="0" indent="0">
              <a:buNone/>
            </a:pPr>
            <a:r>
              <a:rPr lang="nl-NL" sz="2000" dirty="0"/>
              <a:t>            			: </a:t>
            </a:r>
            <a:r>
              <a:rPr lang="nl-NL" sz="2000" dirty="0" err="1"/>
              <a:t>stationary</a:t>
            </a:r>
            <a:r>
              <a:rPr lang="nl-NL" sz="2000" dirty="0"/>
              <a:t> line</a:t>
            </a:r>
          </a:p>
          <a:p>
            <a:endParaRPr lang="nl-NL" sz="4267" dirty="0">
              <a:solidFill>
                <a:srgbClr val="271D6C"/>
              </a:solidFill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426451" y="1573840"/>
          <a:ext cx="6555055" cy="489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2" imgW="3238200" imgH="241200" progId="Equation.3">
                  <p:embed/>
                </p:oleObj>
              </mc:Choice>
              <mc:Fallback>
                <p:oleObj name="Vergelijking" r:id="rId2" imgW="3238200" imgH="2412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6451" y="1573840"/>
                        <a:ext cx="6555055" cy="4891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084915"/>
              </p:ext>
            </p:extLst>
          </p:nvPr>
        </p:nvGraphicFramePr>
        <p:xfrm>
          <a:off x="2185563" y="4947512"/>
          <a:ext cx="796181" cy="926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4" imgW="393480" imgH="457200" progId="Equation.3">
                  <p:embed/>
                </p:oleObj>
              </mc:Choice>
              <mc:Fallback>
                <p:oleObj name="Vergelijking" r:id="rId4" imgW="393480" imgH="45720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563" y="4947512"/>
                        <a:ext cx="796181" cy="926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365960" y="2931503"/>
          <a:ext cx="359061" cy="463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6" imgW="177480" imgH="228600" progId="Equation.3">
                  <p:embed/>
                </p:oleObj>
              </mc:Choice>
              <mc:Fallback>
                <p:oleObj name="Vergelijking" r:id="rId6" imgW="177480" imgH="22860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960" y="2931503"/>
                        <a:ext cx="359061" cy="4631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109241" y="3839572"/>
          <a:ext cx="872503" cy="515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8" imgW="431640" imgH="253800" progId="Equation.3">
                  <p:embed/>
                </p:oleObj>
              </mc:Choice>
              <mc:Fallback>
                <p:oleObj name="Vergelijking" r:id="rId8" imgW="431640" imgH="2538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241" y="3839572"/>
                        <a:ext cx="872503" cy="515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ige toelichting 10"/>
          <p:cNvSpPr/>
          <p:nvPr/>
        </p:nvSpPr>
        <p:spPr>
          <a:xfrm>
            <a:off x="3037451" y="459521"/>
            <a:ext cx="1152128" cy="630864"/>
          </a:xfrm>
          <a:prstGeom prst="wedgeRectCallout">
            <a:avLst>
              <a:gd name="adj1" fmla="val -5954"/>
              <a:gd name="adj2" fmla="val 14510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150"/>
            <a:r>
              <a:rPr lang="nl-NL" sz="2133" dirty="0" err="1">
                <a:solidFill>
                  <a:prstClr val="black"/>
                </a:solidFill>
                <a:latin typeface="Calibri"/>
              </a:rPr>
              <a:t>signal</a:t>
            </a:r>
            <a:endParaRPr lang="nl-NL" sz="2133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Rechthoekige toelichting 11"/>
          <p:cNvSpPr/>
          <p:nvPr/>
        </p:nvSpPr>
        <p:spPr>
          <a:xfrm>
            <a:off x="4389206" y="452669"/>
            <a:ext cx="952500" cy="630864"/>
          </a:xfrm>
          <a:prstGeom prst="wedgeRectCallout">
            <a:avLst>
              <a:gd name="adj1" fmla="val -71974"/>
              <a:gd name="adj2" fmla="val 14222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150"/>
            <a:r>
              <a:rPr lang="nl-NL" sz="2133" dirty="0" err="1">
                <a:solidFill>
                  <a:prstClr val="black"/>
                </a:solidFill>
                <a:latin typeface="Calibri"/>
              </a:rPr>
              <a:t>noise</a:t>
            </a:r>
            <a:endParaRPr lang="nl-NL" sz="2133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2275529" y="2128553"/>
          <a:ext cx="4824088" cy="498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10" imgW="2463480" imgH="253800" progId="Equation.3">
                  <p:embed/>
                </p:oleObj>
              </mc:Choice>
              <mc:Fallback>
                <p:oleObj name="Vergelijking" r:id="rId10" imgW="2463480" imgH="253800" progId="Equation.3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5529" y="2128553"/>
                        <a:ext cx="4824088" cy="498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kstvak 12"/>
          <p:cNvSpPr txBox="1"/>
          <p:nvPr/>
        </p:nvSpPr>
        <p:spPr>
          <a:xfrm>
            <a:off x="9603426" y="1574902"/>
            <a:ext cx="287034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4150"/>
            <a:r>
              <a:rPr lang="nl-NL" sz="2133" dirty="0" err="1">
                <a:solidFill>
                  <a:srgbClr val="002060"/>
                </a:solidFill>
                <a:latin typeface="+mn-lt"/>
                <a:cs typeface="+mn-cs"/>
              </a:rPr>
              <a:t>Measurement</a:t>
            </a:r>
            <a:r>
              <a:rPr lang="nl-NL" sz="2133" dirty="0">
                <a:solidFill>
                  <a:srgbClr val="002060"/>
                </a:solidFill>
                <a:latin typeface="+mn-lt"/>
                <a:cs typeface="+mn-cs"/>
              </a:rPr>
              <a:t> </a:t>
            </a:r>
            <a:r>
              <a:rPr lang="nl-NL" sz="2133" dirty="0" err="1">
                <a:solidFill>
                  <a:srgbClr val="002060"/>
                </a:solidFill>
                <a:latin typeface="+mn-lt"/>
                <a:cs typeface="+mn-cs"/>
              </a:rPr>
              <a:t>eq</a:t>
            </a:r>
            <a:r>
              <a:rPr lang="nl-NL" sz="2133" dirty="0">
                <a:solidFill>
                  <a:srgbClr val="002060"/>
                </a:solidFill>
                <a:latin typeface="+mn-lt"/>
                <a:cs typeface="+mn-cs"/>
              </a:rPr>
              <a:t>.</a:t>
            </a:r>
          </a:p>
        </p:txBody>
      </p:sp>
      <p:sp>
        <p:nvSpPr>
          <p:cNvPr id="14" name="Rechthoek 13"/>
          <p:cNvSpPr/>
          <p:nvPr/>
        </p:nvSpPr>
        <p:spPr>
          <a:xfrm>
            <a:off x="9603425" y="2134113"/>
            <a:ext cx="1840568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544150"/>
            <a:r>
              <a:rPr lang="nl-NL" sz="2133" dirty="0" err="1">
                <a:solidFill>
                  <a:srgbClr val="002060"/>
                </a:solidFill>
                <a:latin typeface="+mj-lt"/>
                <a:cs typeface="+mn-cs"/>
              </a:rPr>
              <a:t>Transition</a:t>
            </a:r>
            <a:r>
              <a:rPr lang="nl-NL" sz="2133" dirty="0">
                <a:solidFill>
                  <a:srgbClr val="002060"/>
                </a:solidFill>
                <a:latin typeface="+mj-lt"/>
                <a:cs typeface="+mn-cs"/>
              </a:rPr>
              <a:t> </a:t>
            </a:r>
            <a:r>
              <a:rPr lang="nl-NL" sz="2133" dirty="0" err="1">
                <a:solidFill>
                  <a:srgbClr val="002060"/>
                </a:solidFill>
                <a:latin typeface="+mj-lt"/>
                <a:cs typeface="+mn-cs"/>
              </a:rPr>
              <a:t>eq</a:t>
            </a:r>
            <a:r>
              <a:rPr lang="nl-NL" sz="2133" dirty="0">
                <a:solidFill>
                  <a:srgbClr val="002060"/>
                </a:solidFill>
                <a:latin typeface="+mj-lt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124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D9BAAA6-3732-C36D-25AE-1CCE87F0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Estimates</a:t>
            </a:r>
            <a:r>
              <a:rPr lang="nl-NL" dirty="0"/>
              <a:t> of </a:t>
            </a:r>
            <a:r>
              <a:rPr lang="nl-NL" dirty="0" err="1"/>
              <a:t>signal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7</a:t>
            </a:fld>
            <a:endParaRPr lang="nl-NL" dirty="0"/>
          </a:p>
        </p:txBody>
      </p:sp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3044957"/>
            <a:ext cx="3686701" cy="2456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578" y="3044957"/>
            <a:ext cx="3686700" cy="2456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1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118" y="3044957"/>
            <a:ext cx="3686701" cy="2456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112584" y="1641865"/>
          <a:ext cx="1714723" cy="1107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5" imgW="787320" imgH="507960" progId="Equation.3">
                  <p:embed/>
                </p:oleObj>
              </mc:Choice>
              <mc:Fallback>
                <p:oleObj name="Vergelijking" r:id="rId5" imgW="787320" imgH="50796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584" y="1641865"/>
                        <a:ext cx="1714723" cy="11076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5222885" y="1607105"/>
          <a:ext cx="1714723" cy="1107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7" imgW="787320" imgH="507960" progId="Equation.3">
                  <p:embed/>
                </p:oleObj>
              </mc:Choice>
              <mc:Fallback>
                <p:oleObj name="Vergelijking" r:id="rId7" imgW="787320" imgH="50796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885" y="1607105"/>
                        <a:ext cx="1714723" cy="11076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9351344" y="1607105"/>
          <a:ext cx="1714723" cy="1107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9" imgW="787320" imgH="507960" progId="Equation.3">
                  <p:embed/>
                </p:oleObj>
              </mc:Choice>
              <mc:Fallback>
                <p:oleObj name="Vergelijking" r:id="rId9" imgW="787320" imgH="50796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1344" y="1607105"/>
                        <a:ext cx="1714723" cy="11076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326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DD03D79D-DC38-A88A-B95B-C0D61E921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Residuals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8</a:t>
            </a:fld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 err="1"/>
              <a:t>Residuals</a:t>
            </a:r>
            <a:endParaRPr lang="nl-NL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823425" y="4603764"/>
          <a:ext cx="1714723" cy="1107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2" imgW="787320" imgH="507960" progId="Equation.3">
                  <p:embed/>
                </p:oleObj>
              </mc:Choice>
              <mc:Fallback>
                <p:oleObj name="Vergelijking" r:id="rId2" imgW="787320" imgH="50796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425" y="4603764"/>
                        <a:ext cx="1714723" cy="11076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933727" y="4569004"/>
          <a:ext cx="1714723" cy="1107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4" imgW="787320" imgH="507960" progId="Equation.3">
                  <p:embed/>
                </p:oleObj>
              </mc:Choice>
              <mc:Fallback>
                <p:oleObj name="Vergelijking" r:id="rId4" imgW="787320" imgH="50796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3727" y="4569004"/>
                        <a:ext cx="1714723" cy="11076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9062185" y="4569004"/>
          <a:ext cx="1714723" cy="1107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6" imgW="787320" imgH="507960" progId="Equation.3">
                  <p:embed/>
                </p:oleObj>
              </mc:Choice>
              <mc:Fallback>
                <p:oleObj name="Vergelijking" r:id="rId6" imgW="787320" imgH="50796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2185" y="4569004"/>
                        <a:ext cx="1714723" cy="11076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2093" y="1592673"/>
            <a:ext cx="3630916" cy="2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49" y="1604797"/>
            <a:ext cx="3630915" cy="2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871" y="1604799"/>
            <a:ext cx="3612720" cy="2407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794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5F92C8A-BE33-A756-EF60-27CF17E87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Residuals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9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>
          <a:xfrm>
            <a:off x="186961" y="1921603"/>
            <a:ext cx="10515597" cy="4194176"/>
          </a:xfrm>
        </p:spPr>
        <p:txBody>
          <a:bodyPr>
            <a:normAutofit fontScale="70000" lnSpcReduction="20000"/>
          </a:bodyPr>
          <a:lstStyle/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sz="4267" dirty="0"/>
          </a:p>
          <a:p>
            <a:endParaRPr lang="nl-NL" dirty="0"/>
          </a:p>
          <a:p>
            <a:pPr marL="0" indent="0">
              <a:buNone/>
            </a:pPr>
            <a:r>
              <a:rPr lang="nl-NL" sz="2667" dirty="0" err="1"/>
              <a:t>Autocorrelation</a:t>
            </a:r>
            <a:r>
              <a:rPr lang="nl-NL" sz="2667" dirty="0"/>
              <a:t> (Q):        </a:t>
            </a:r>
            <a:r>
              <a:rPr lang="nl-NL" sz="2667" dirty="0">
                <a:solidFill>
                  <a:srgbClr val="FF0000"/>
                </a:solidFill>
              </a:rPr>
              <a:t>415.21</a:t>
            </a:r>
            <a:r>
              <a:rPr lang="nl-NL" sz="2667" dirty="0"/>
              <a:t>	                     </a:t>
            </a:r>
            <a:r>
              <a:rPr lang="nl-NL" sz="2667" dirty="0">
                <a:solidFill>
                  <a:srgbClr val="FF0000"/>
                </a:solidFill>
              </a:rPr>
              <a:t>83.94</a:t>
            </a:r>
            <a:r>
              <a:rPr lang="nl-NL" sz="2667" dirty="0"/>
              <a:t>	                                     </a:t>
            </a:r>
            <a:r>
              <a:rPr lang="nl-NL" sz="2667" dirty="0">
                <a:solidFill>
                  <a:srgbClr val="FF0000"/>
                </a:solidFill>
              </a:rPr>
              <a:t>105.40</a:t>
            </a:r>
          </a:p>
          <a:p>
            <a:pPr marL="0" indent="0">
              <a:buNone/>
            </a:pPr>
            <a:r>
              <a:rPr lang="nl-NL" sz="2667" dirty="0" err="1"/>
              <a:t>Heteroscedasticity</a:t>
            </a:r>
            <a:r>
              <a:rPr lang="nl-NL" sz="2667" dirty="0"/>
              <a:t> (H):       </a:t>
            </a:r>
            <a:r>
              <a:rPr lang="nl-NL" sz="2667" dirty="0">
                <a:solidFill>
                  <a:srgbClr val="FF0000"/>
                </a:solidFill>
              </a:rPr>
              <a:t>2.06</a:t>
            </a:r>
            <a:r>
              <a:rPr lang="nl-NL" sz="2667" dirty="0"/>
              <a:t>	                       </a:t>
            </a:r>
            <a:r>
              <a:rPr lang="nl-NL" sz="2667" dirty="0">
                <a:solidFill>
                  <a:srgbClr val="00B050"/>
                </a:solidFill>
              </a:rPr>
              <a:t>1.05</a:t>
            </a:r>
            <a:r>
              <a:rPr lang="nl-NL" sz="2667" dirty="0"/>
              <a:t>	                                         </a:t>
            </a:r>
            <a:r>
              <a:rPr lang="nl-NL" sz="2667" dirty="0">
                <a:solidFill>
                  <a:srgbClr val="00B050"/>
                </a:solidFill>
              </a:rPr>
              <a:t>1.06</a:t>
            </a:r>
          </a:p>
          <a:p>
            <a:pPr marL="0" indent="0">
              <a:buNone/>
            </a:pPr>
            <a:r>
              <a:rPr lang="nl-NL" sz="2667" dirty="0" err="1"/>
              <a:t>Normality</a:t>
            </a:r>
            <a:r>
              <a:rPr lang="nl-NL" sz="2667" dirty="0"/>
              <a:t> (N):                     </a:t>
            </a:r>
            <a:r>
              <a:rPr lang="nl-NL" sz="2667" dirty="0">
                <a:solidFill>
                  <a:srgbClr val="00B050"/>
                </a:solidFill>
              </a:rPr>
              <a:t>0.73</a:t>
            </a:r>
            <a:r>
              <a:rPr lang="nl-NL" sz="2667" dirty="0"/>
              <a:t> 	 	       </a:t>
            </a:r>
            <a:r>
              <a:rPr lang="nl-NL" sz="2667" dirty="0">
                <a:solidFill>
                  <a:srgbClr val="FF0000"/>
                </a:solidFill>
              </a:rPr>
              <a:t>11.07</a:t>
            </a:r>
            <a:r>
              <a:rPr lang="nl-NL" sz="2667" dirty="0"/>
              <a:t>		                         </a:t>
            </a:r>
            <a:r>
              <a:rPr lang="nl-NL" sz="2667" dirty="0">
                <a:solidFill>
                  <a:srgbClr val="FF0000"/>
                </a:solidFill>
              </a:rPr>
              <a:t>13.24</a:t>
            </a:r>
            <a:r>
              <a:rPr lang="nl-NL" sz="2667" dirty="0"/>
              <a:t>	</a:t>
            </a:r>
          </a:p>
          <a:p>
            <a:endParaRPr lang="nl-NL" sz="2667" dirty="0"/>
          </a:p>
          <a:p>
            <a:pPr marL="0" indent="0">
              <a:buNone/>
            </a:pPr>
            <a:r>
              <a:rPr lang="nl-NL" sz="2667" dirty="0"/>
              <a:t>		Q&lt;23.6? , H&lt; 1.43?, N&lt;5.99?    </a:t>
            </a:r>
          </a:p>
          <a:p>
            <a:endParaRPr lang="nl-NL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975" y="1599091"/>
            <a:ext cx="3630916" cy="2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1604797"/>
            <a:ext cx="3630915" cy="2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753" y="1611217"/>
            <a:ext cx="3612720" cy="2407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0731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B26C7160-1EF2-AFEC-B370-4EA1E99CB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Estimation</a:t>
            </a:r>
            <a:r>
              <a:rPr lang="nl-NL" dirty="0"/>
              <a:t> of parameters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10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nl-NL" sz="2800" dirty="0"/>
          </a:p>
          <a:p>
            <a:pPr marL="0" indent="0">
              <a:buNone/>
            </a:pPr>
            <a:r>
              <a:rPr lang="nl-NL" sz="2400" dirty="0" err="1"/>
              <a:t>Known</a:t>
            </a:r>
            <a:r>
              <a:rPr lang="nl-NL" sz="2400" dirty="0"/>
              <a:t>:</a:t>
            </a:r>
          </a:p>
          <a:p>
            <a:pPr marL="0" indent="0">
              <a:buNone/>
            </a:pPr>
            <a:r>
              <a:rPr lang="nl-NL" sz="2400" dirty="0" err="1"/>
              <a:t>Unknown</a:t>
            </a:r>
            <a:r>
              <a:rPr lang="nl-NL" sz="2400" dirty="0"/>
              <a:t>:</a:t>
            </a:r>
          </a:p>
          <a:p>
            <a:endParaRPr lang="nl-NL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817040" y="2852936"/>
          <a:ext cx="1801049" cy="522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2" imgW="876240" imgH="253800" progId="Equation.3">
                  <p:embed/>
                </p:oleObj>
              </mc:Choice>
              <mc:Fallback>
                <p:oleObj name="Vergelijking" r:id="rId2" imgW="876240" imgH="25380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040" y="2852936"/>
                        <a:ext cx="1801049" cy="522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543605" y="1124745"/>
          <a:ext cx="6971027" cy="1008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4" imgW="3340080" imgH="482400" progId="Equation.3">
                  <p:embed/>
                </p:oleObj>
              </mc:Choice>
              <mc:Fallback>
                <p:oleObj name="Vergelijking" r:id="rId4" imgW="334008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605" y="1124745"/>
                        <a:ext cx="6971027" cy="10088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/>
              <p:cNvSpPr txBox="1"/>
              <p:nvPr/>
            </p:nvSpPr>
            <p:spPr>
              <a:xfrm>
                <a:off x="2836743" y="2428632"/>
                <a:ext cx="311965" cy="3282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415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  <m:sub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nl-NL" sz="2133" dirty="0">
                  <a:solidFill>
                    <a:prstClr val="black"/>
                  </a:solidFill>
                  <a:latin typeface="Calibri"/>
                  <a:cs typeface="+mn-cs"/>
                </a:endParaRPr>
              </a:p>
            </p:txBody>
          </p:sp>
        </mc:Choice>
        <mc:Fallback xmlns="">
          <p:sp>
            <p:nvSpPr>
              <p:cNvPr id="7" name="Tekstvak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743" y="2428632"/>
                <a:ext cx="311965" cy="328231"/>
              </a:xfrm>
              <a:prstGeom prst="rect">
                <a:avLst/>
              </a:prstGeom>
              <a:blipFill>
                <a:blip r:embed="rId6"/>
                <a:stretch>
                  <a:fillRect l="-19231" r="-3846" b="-2407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hthoek 7"/>
          <p:cNvSpPr/>
          <p:nvPr/>
        </p:nvSpPr>
        <p:spPr>
          <a:xfrm>
            <a:off x="1854200" y="3644028"/>
            <a:ext cx="9156700" cy="2800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44150"/>
            <a:r>
              <a:rPr lang="nl-NL" sz="2400" dirty="0">
                <a:solidFill>
                  <a:prstClr val="black"/>
                </a:solidFill>
                <a:latin typeface="+mj-lt"/>
                <a:cs typeface="+mn-cs"/>
              </a:rPr>
              <a:t>1. </a:t>
            </a:r>
            <a:r>
              <a:rPr lang="nl-NL" sz="2400" dirty="0" err="1">
                <a:solidFill>
                  <a:prstClr val="black"/>
                </a:solidFill>
                <a:latin typeface="+mj-lt"/>
                <a:cs typeface="+mn-cs"/>
              </a:rPr>
              <a:t>Estimate</a:t>
            </a:r>
            <a:r>
              <a:rPr lang="nl-NL" sz="2400" dirty="0">
                <a:solidFill>
                  <a:prstClr val="black"/>
                </a:solidFill>
                <a:latin typeface="+mj-lt"/>
                <a:cs typeface="+mn-cs"/>
              </a:rPr>
              <a:t> hyperparameters</a:t>
            </a:r>
          </a:p>
          <a:p>
            <a:pPr marL="544150" lvl="1" defTabSz="544150"/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- Maximise </a:t>
            </a: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Likelihood</a:t>
            </a:r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 </a:t>
            </a: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function</a:t>
            </a:r>
            <a:endParaRPr lang="nl-NL" sz="2133" dirty="0">
              <a:solidFill>
                <a:prstClr val="black"/>
              </a:solidFill>
              <a:latin typeface="+mj-lt"/>
              <a:cs typeface="+mn-cs"/>
            </a:endParaRPr>
          </a:p>
          <a:p>
            <a:pPr marL="544150" lvl="1" defTabSz="544150"/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- </a:t>
            </a: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Likelihood-function</a:t>
            </a:r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 </a:t>
            </a: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may</a:t>
            </a:r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 have </a:t>
            </a: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local</a:t>
            </a:r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 optimum</a:t>
            </a:r>
          </a:p>
          <a:p>
            <a:pPr marL="544150" lvl="1" defTabSz="544150"/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- </a:t>
            </a: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Outcome</a:t>
            </a:r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 </a:t>
            </a: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depends</a:t>
            </a:r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 on </a:t>
            </a: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starting</a:t>
            </a:r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 </a:t>
            </a: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conditions</a:t>
            </a:r>
            <a:endParaRPr lang="nl-NL" sz="2133" dirty="0">
              <a:solidFill>
                <a:prstClr val="black"/>
              </a:solidFill>
              <a:latin typeface="+mj-lt"/>
              <a:cs typeface="+mn-cs"/>
            </a:endParaRPr>
          </a:p>
          <a:p>
            <a:pPr defTabSz="544150"/>
            <a:r>
              <a:rPr lang="nl-NL" sz="2400" dirty="0">
                <a:solidFill>
                  <a:prstClr val="black"/>
                </a:solidFill>
                <a:latin typeface="+mj-lt"/>
                <a:cs typeface="+mn-cs"/>
              </a:rPr>
              <a:t>2. </a:t>
            </a:r>
            <a:r>
              <a:rPr lang="nl-NL" sz="2400" dirty="0" err="1">
                <a:solidFill>
                  <a:prstClr val="black"/>
                </a:solidFill>
                <a:latin typeface="+mj-lt"/>
                <a:cs typeface="+mn-cs"/>
              </a:rPr>
              <a:t>Estimate</a:t>
            </a:r>
            <a:r>
              <a:rPr lang="nl-NL" sz="2400" dirty="0">
                <a:solidFill>
                  <a:prstClr val="black"/>
                </a:solidFill>
                <a:latin typeface="+mj-lt"/>
                <a:cs typeface="+mn-cs"/>
              </a:rPr>
              <a:t> </a:t>
            </a:r>
            <a:r>
              <a:rPr lang="nl-NL" sz="2400" dirty="0" err="1">
                <a:solidFill>
                  <a:prstClr val="black"/>
                </a:solidFill>
                <a:latin typeface="+mj-lt"/>
                <a:cs typeface="+mn-cs"/>
              </a:rPr>
              <a:t>states</a:t>
            </a:r>
            <a:r>
              <a:rPr lang="nl-NL" sz="2400" dirty="0">
                <a:solidFill>
                  <a:prstClr val="black"/>
                </a:solidFill>
                <a:latin typeface="+mj-lt"/>
                <a:cs typeface="+mn-cs"/>
              </a:rPr>
              <a:t> (</a:t>
            </a:r>
            <a:r>
              <a:rPr lang="nl-NL" sz="2400" dirty="0" err="1">
                <a:solidFill>
                  <a:prstClr val="black"/>
                </a:solidFill>
                <a:latin typeface="+mj-lt"/>
                <a:cs typeface="+mn-cs"/>
              </a:rPr>
              <a:t>Kalman</a:t>
            </a:r>
            <a:r>
              <a:rPr lang="nl-NL" sz="2400" dirty="0">
                <a:solidFill>
                  <a:prstClr val="black"/>
                </a:solidFill>
                <a:latin typeface="+mj-lt"/>
                <a:cs typeface="+mn-cs"/>
              </a:rPr>
              <a:t> filter):</a:t>
            </a:r>
          </a:p>
          <a:p>
            <a:pPr marL="925141" lvl="1" indent="-380990" defTabSz="544150">
              <a:buFontTx/>
              <a:buChar char="-"/>
            </a:pP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Recursive</a:t>
            </a:r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 </a:t>
            </a: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algorithm</a:t>
            </a:r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, </a:t>
            </a:r>
          </a:p>
          <a:p>
            <a:pPr marL="925141" lvl="1" indent="-380990" defTabSz="544150">
              <a:buFontTx/>
              <a:buChar char="-"/>
            </a:pP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iterates</a:t>
            </a:r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 forward </a:t>
            </a: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through</a:t>
            </a:r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 series (filtering), </a:t>
            </a: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and</a:t>
            </a:r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 </a:t>
            </a: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then</a:t>
            </a:r>
            <a:endParaRPr lang="nl-NL" sz="2133" dirty="0">
              <a:solidFill>
                <a:prstClr val="black"/>
              </a:solidFill>
              <a:latin typeface="+mj-lt"/>
              <a:cs typeface="+mn-cs"/>
            </a:endParaRPr>
          </a:p>
          <a:p>
            <a:pPr marL="925141" lvl="1" indent="-380990" defTabSz="544150">
              <a:buFontTx/>
              <a:buChar char="-"/>
            </a:pP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backwards</a:t>
            </a:r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 (</a:t>
            </a: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smoothing</a:t>
            </a:r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) </a:t>
            </a: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for</a:t>
            </a:r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 </a:t>
            </a: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estimation</a:t>
            </a:r>
            <a:r>
              <a:rPr lang="nl-NL" sz="2133" dirty="0">
                <a:solidFill>
                  <a:prstClr val="black"/>
                </a:solidFill>
                <a:latin typeface="+mj-lt"/>
                <a:cs typeface="+mn-cs"/>
              </a:rPr>
              <a:t> of time series </a:t>
            </a:r>
            <a:r>
              <a:rPr lang="nl-NL" sz="2133" dirty="0" err="1">
                <a:solidFill>
                  <a:prstClr val="black"/>
                </a:solidFill>
                <a:latin typeface="+mj-lt"/>
                <a:cs typeface="+mn-cs"/>
              </a:rPr>
              <a:t>components</a:t>
            </a:r>
            <a:endParaRPr lang="nl-NL" sz="2133" dirty="0">
              <a:solidFill>
                <a:prstClr val="black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1480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D314830-E737-C5EF-06EF-491CC7B1D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11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indent="0" algn="ctr">
              <a:buNone/>
            </a:pPr>
            <a:r>
              <a:rPr lang="nl-NL" dirty="0" err="1"/>
              <a:t>Extensions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11313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29DFF90F-D190-086B-CBE7-C5E1CD781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Model </a:t>
            </a:r>
            <a:r>
              <a:rPr lang="nl-NL" dirty="0" err="1"/>
              <a:t>with</a:t>
            </a:r>
            <a:r>
              <a:rPr lang="nl-NL" dirty="0"/>
              <a:t> trend (</a:t>
            </a:r>
            <a:r>
              <a:rPr lang="nl-NL" dirty="0" err="1"/>
              <a:t>local</a:t>
            </a:r>
            <a:r>
              <a:rPr lang="nl-NL" dirty="0"/>
              <a:t> </a:t>
            </a:r>
            <a:r>
              <a:rPr lang="nl-NL" dirty="0" err="1"/>
              <a:t>linear</a:t>
            </a:r>
            <a:r>
              <a:rPr lang="nl-NL" dirty="0"/>
              <a:t> trend)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12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sz="5200" dirty="0"/>
          </a:p>
          <a:p>
            <a:pPr marL="0" indent="0">
              <a:buNone/>
            </a:pPr>
            <a:r>
              <a:rPr lang="nl-NL" sz="1867" dirty="0"/>
              <a:t>		: </a:t>
            </a:r>
            <a:r>
              <a:rPr lang="nl-NL" sz="1867" i="1" dirty="0" err="1"/>
              <a:t>slope</a:t>
            </a:r>
            <a:endParaRPr lang="nl-NL" sz="1867" i="1" dirty="0"/>
          </a:p>
          <a:p>
            <a:pPr marL="0" indent="0">
              <a:buNone/>
            </a:pPr>
            <a:r>
              <a:rPr lang="nl-NL" sz="1867" i="1" dirty="0"/>
              <a:t>		: trend</a:t>
            </a:r>
          </a:p>
          <a:p>
            <a:endParaRPr lang="nl-NL" sz="1867" dirty="0"/>
          </a:p>
          <a:p>
            <a:endParaRPr lang="nl-NL" sz="1867" dirty="0"/>
          </a:p>
          <a:p>
            <a:pPr marL="0" indent="0">
              <a:buNone/>
            </a:pPr>
            <a:r>
              <a:rPr lang="nl-NL" sz="1867" dirty="0"/>
              <a:t>	               : </a:t>
            </a:r>
            <a:r>
              <a:rPr lang="nl-NL" sz="1867" dirty="0" err="1"/>
              <a:t>smooth</a:t>
            </a:r>
            <a:r>
              <a:rPr lang="nl-NL" sz="1867" dirty="0"/>
              <a:t> trend model</a:t>
            </a:r>
          </a:p>
          <a:p>
            <a:endParaRPr lang="nl-NL" sz="1867" dirty="0"/>
          </a:p>
          <a:p>
            <a:pPr marL="0" indent="0">
              <a:buNone/>
            </a:pPr>
            <a:r>
              <a:rPr lang="nl-NL" sz="1867" dirty="0"/>
              <a:t>                    </a:t>
            </a:r>
          </a:p>
          <a:p>
            <a:pPr marL="0" indent="0">
              <a:buNone/>
            </a:pPr>
            <a:r>
              <a:rPr lang="nl-NL" sz="1867" dirty="0"/>
              <a:t>		: </a:t>
            </a:r>
            <a:r>
              <a:rPr lang="nl-NL" sz="1867" dirty="0" err="1"/>
              <a:t>linear</a:t>
            </a:r>
            <a:r>
              <a:rPr lang="nl-NL" sz="1867" dirty="0"/>
              <a:t> </a:t>
            </a:r>
            <a:r>
              <a:rPr lang="nl-NL" sz="1867" dirty="0" err="1"/>
              <a:t>regression</a:t>
            </a:r>
            <a:endParaRPr lang="nl-NL" sz="1867" dirty="0"/>
          </a:p>
          <a:p>
            <a:endParaRPr lang="nl-NL" sz="1867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487489" y="1459676"/>
          <a:ext cx="6627092" cy="1376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2" imgW="3429000" imgH="711000" progId="Equation.3">
                  <p:embed/>
                </p:oleObj>
              </mc:Choice>
              <mc:Fallback>
                <p:oleObj name="Vergelijking" r:id="rId2" imgW="3429000" imgH="71100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9" y="1459676"/>
                        <a:ext cx="6627092" cy="13767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7904029"/>
              </p:ext>
            </p:extLst>
          </p:nvPr>
        </p:nvGraphicFramePr>
        <p:xfrm>
          <a:off x="1487489" y="4680656"/>
          <a:ext cx="859407" cy="491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4" imgW="444240" imgH="253800" progId="Equation.3">
                  <p:embed/>
                </p:oleObj>
              </mc:Choice>
              <mc:Fallback>
                <p:oleObj name="Vergelijking" r:id="rId4" imgW="444240" imgH="253800" progId="Equation.3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87489" y="4680656"/>
                        <a:ext cx="859407" cy="4910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487489" y="3377049"/>
          <a:ext cx="270055" cy="442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6" imgW="139680" imgH="228600" progId="Equation.3">
                  <p:embed/>
                </p:oleObj>
              </mc:Choice>
              <mc:Fallback>
                <p:oleObj name="Vergelijking" r:id="rId6" imgW="139680" imgH="22860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9" y="3377049"/>
                        <a:ext cx="270055" cy="442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vak 7"/>
              <p:cNvSpPr txBox="1"/>
              <p:nvPr/>
            </p:nvSpPr>
            <p:spPr>
              <a:xfrm>
                <a:off x="1487487" y="5656861"/>
                <a:ext cx="1278213" cy="6924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4415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</m:e>
                        <m:sub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𝜂</m:t>
                          </m:r>
                        </m:sub>
                        <m:sup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lang="nl-NL" sz="213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,</m:t>
                      </m:r>
                      <m:sSubSup>
                        <m:sSubSup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</m:e>
                        <m:sub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𝜍</m:t>
                          </m:r>
                        </m:sub>
                        <m:sup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lang="nl-NL" sz="213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=0</m:t>
                      </m:r>
                    </m:oMath>
                  </m:oMathPara>
                </a14:m>
                <a:endParaRPr lang="nl-NL" sz="2133" dirty="0">
                  <a:solidFill>
                    <a:prstClr val="black"/>
                  </a:solidFill>
                  <a:latin typeface="Calibri"/>
                  <a:cs typeface="+mn-cs"/>
                </a:endParaRPr>
              </a:p>
              <a:p>
                <a:pPr defTabSz="544150"/>
                <a:endParaRPr lang="nl-NL" sz="2133" dirty="0">
                  <a:solidFill>
                    <a:prstClr val="black"/>
                  </a:solidFill>
                  <a:latin typeface="Calibri"/>
                  <a:cs typeface="+mn-cs"/>
                </a:endParaRPr>
              </a:p>
            </p:txBody>
          </p:sp>
        </mc:Choice>
        <mc:Fallback xmlns="">
          <p:sp>
            <p:nvSpPr>
              <p:cNvPr id="8" name="Tekstvak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7" y="5656861"/>
                <a:ext cx="1278213" cy="692497"/>
              </a:xfrm>
              <a:prstGeom prst="rect">
                <a:avLst/>
              </a:prstGeom>
              <a:blipFill>
                <a:blip r:embed="rId8"/>
                <a:stretch>
                  <a:fillRect l="-2381" r="-428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vak 8"/>
              <p:cNvSpPr txBox="1"/>
              <p:nvPr/>
            </p:nvSpPr>
            <p:spPr>
              <a:xfrm>
                <a:off x="1487487" y="3888933"/>
                <a:ext cx="907493" cy="3282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2133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133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nl-NL" sz="2133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l-NL" sz="2133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nl-NL" sz="2133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133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nl-NL" sz="2133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nl-NL" sz="2667" dirty="0" err="1">
                  <a:solidFill>
                    <a:srgbClr val="0F5494"/>
                  </a:solidFill>
                </a:endParaRPr>
              </a:p>
            </p:txBody>
          </p:sp>
        </mc:Choice>
        <mc:Fallback xmlns="">
          <p:sp>
            <p:nvSpPr>
              <p:cNvPr id="9" name="Tekstvak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487" y="3888933"/>
                <a:ext cx="907493" cy="328231"/>
              </a:xfrm>
              <a:prstGeom prst="rect">
                <a:avLst/>
              </a:prstGeom>
              <a:blipFill>
                <a:blip r:embed="rId9"/>
                <a:stretch>
                  <a:fillRect l="-5369" r="-671" b="-2407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Afbeelding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1300" y="2961043"/>
            <a:ext cx="5557309" cy="338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1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FF6B9DB-18DC-579C-7770-F56461B57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Model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seasonal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13</a:t>
            </a:fld>
            <a:endParaRPr lang="nl-NL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911425" y="1796819"/>
          <a:ext cx="8393969" cy="1458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2" imgW="4025880" imgH="698400" progId="Equation.3">
                  <p:embed/>
                </p:oleObj>
              </mc:Choice>
              <mc:Fallback>
                <p:oleObj name="Vergelijking" r:id="rId2" imgW="4025880" imgH="69840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425" y="1796819"/>
                        <a:ext cx="8393969" cy="1458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911423" y="4353279"/>
          <a:ext cx="2791437" cy="881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4" imgW="1409400" imgH="444240" progId="Equation.3">
                  <p:embed/>
                </p:oleObj>
              </mc:Choice>
              <mc:Fallback>
                <p:oleObj name="Vergelijking" r:id="rId4" imgW="1409400" imgH="444240" progId="Equation.3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1423" y="4353279"/>
                        <a:ext cx="2791437" cy="8810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6439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F2C50D26-C8A0-07DE-F2DA-E596DB08D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14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 err="1"/>
              <a:t>Models</a:t>
            </a:r>
            <a:r>
              <a:rPr lang="nl-NL" dirty="0"/>
              <a:t> in R: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Total of 15 </a:t>
            </a:r>
            <a:r>
              <a:rPr lang="nl-NL" dirty="0" err="1"/>
              <a:t>models</a:t>
            </a:r>
            <a:r>
              <a:rPr lang="nl-NL" dirty="0"/>
              <a:t> in ‘</a:t>
            </a:r>
            <a:r>
              <a:rPr lang="nl-NL" dirty="0" err="1"/>
              <a:t>compare.models</a:t>
            </a:r>
            <a:r>
              <a:rPr lang="nl-NL" dirty="0"/>
              <a:t>(…)’</a:t>
            </a:r>
          </a:p>
          <a:p>
            <a:endParaRPr lang="nl-NL" dirty="0"/>
          </a:p>
        </p:txBody>
      </p:sp>
      <p:graphicFrame>
        <p:nvGraphicFramePr>
          <p:cNvPr id="7" name="Tabel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913813"/>
              </p:ext>
            </p:extLst>
          </p:nvPr>
        </p:nvGraphicFramePr>
        <p:xfrm>
          <a:off x="2735627" y="2560836"/>
          <a:ext cx="5376597" cy="1152128"/>
        </p:xfrm>
        <a:graphic>
          <a:graphicData uri="http://schemas.openxmlformats.org/drawingml/2006/table">
            <a:tbl>
              <a:tblPr firstRow="1" firstCol="1" bandRow="1"/>
              <a:tblGrid>
                <a:gridCol w="1516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3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GB" sz="1300" dirty="0">
                          <a:effectLst/>
                        </a:rPr>
                        <a:t>Level</a:t>
                      </a:r>
                      <a:endParaRPr lang="nl-NL" sz="13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nl-NL" sz="1300" dirty="0" err="1">
                          <a:effectLst/>
                        </a:rPr>
                        <a:t>Slope</a:t>
                      </a:r>
                      <a:endParaRPr lang="nl-NL" sz="13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nl-NL" sz="1300" dirty="0" err="1">
                          <a:effectLst/>
                        </a:rPr>
                        <a:t>Seasonal</a:t>
                      </a:r>
                      <a:endParaRPr lang="nl-NL" sz="13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nl-NL" sz="1300" b="0" dirty="0" err="1">
                          <a:solidFill>
                            <a:srgbClr val="000000"/>
                          </a:solidFill>
                          <a:effectLst/>
                        </a:rPr>
                        <a:t>Stochastic</a:t>
                      </a:r>
                      <a:r>
                        <a:rPr lang="nl-NL" sz="1300" b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nl-NL" sz="1300" b="0" dirty="0">
                        <a:solidFill>
                          <a:srgbClr val="000000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0E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nl-NL" sz="1300" dirty="0">
                          <a:effectLst/>
                        </a:rPr>
                        <a:t>-no-</a:t>
                      </a:r>
                      <a:endParaRPr lang="nl-NL" sz="13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nl-NL" sz="1300" dirty="0">
                          <a:effectLst/>
                        </a:rPr>
                        <a:t>-no-</a:t>
                      </a:r>
                      <a:endParaRPr lang="nl-NL" sz="13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nl-NL" sz="1300" b="0" dirty="0" err="1">
                          <a:solidFill>
                            <a:srgbClr val="000000"/>
                          </a:solidFill>
                          <a:effectLst/>
                        </a:rPr>
                        <a:t>Deterministic</a:t>
                      </a:r>
                      <a:endParaRPr lang="nl-NL" sz="1300" b="0" dirty="0">
                        <a:solidFill>
                          <a:srgbClr val="000000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nl-NL" sz="1300" dirty="0" err="1">
                          <a:effectLst/>
                        </a:rPr>
                        <a:t>Stochastic</a:t>
                      </a:r>
                      <a:endParaRPr lang="nl-NL" sz="13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nl-NL" sz="1300" dirty="0" err="1">
                          <a:effectLst/>
                        </a:rPr>
                        <a:t>Stochastic</a:t>
                      </a:r>
                      <a:endParaRPr lang="nl-NL" sz="13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nl-NL" sz="13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0E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nl-NL" sz="1300" dirty="0" err="1">
                          <a:effectLst/>
                        </a:rPr>
                        <a:t>Deterministic</a:t>
                      </a:r>
                      <a:r>
                        <a:rPr lang="nl-NL" sz="1300" dirty="0">
                          <a:effectLst/>
                        </a:rPr>
                        <a:t> </a:t>
                      </a:r>
                      <a:endParaRPr lang="nl-NL" sz="13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nl-NL" sz="1300" dirty="0" err="1">
                          <a:effectLst/>
                        </a:rPr>
                        <a:t>Deterministic</a:t>
                      </a:r>
                      <a:r>
                        <a:rPr lang="nl-NL" sz="1300" dirty="0">
                          <a:effectLst/>
                        </a:rPr>
                        <a:t> </a:t>
                      </a:r>
                      <a:endParaRPr lang="nl-NL" sz="13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718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89014A9-799A-9076-E87C-9BF303A02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select a model?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15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>
          <a:xfrm>
            <a:off x="970722" y="1762251"/>
            <a:ext cx="10515597" cy="4194176"/>
          </a:xfrm>
        </p:spPr>
        <p:txBody>
          <a:bodyPr>
            <a:noAutofit/>
          </a:bodyPr>
          <a:lstStyle/>
          <a:p>
            <a:r>
              <a:rPr lang="nl-NL" sz="2400" dirty="0" err="1"/>
              <a:t>Good</a:t>
            </a:r>
            <a:r>
              <a:rPr lang="nl-NL" sz="2400" dirty="0"/>
              <a:t> model: </a:t>
            </a:r>
          </a:p>
          <a:p>
            <a:pPr lvl="1"/>
            <a:r>
              <a:rPr lang="nl-NL" sz="2200" spc="53" dirty="0" err="1">
                <a:solidFill>
                  <a:srgbClr val="271D6C"/>
                </a:solidFill>
                <a:latin typeface="Calibri" pitchFamily="34" charset="0"/>
              </a:rPr>
              <a:t>goodness</a:t>
            </a:r>
            <a:r>
              <a:rPr lang="nl-NL" sz="2200" spc="53" dirty="0">
                <a:solidFill>
                  <a:srgbClr val="271D6C"/>
                </a:solidFill>
                <a:latin typeface="Calibri" pitchFamily="34" charset="0"/>
              </a:rPr>
              <a:t>-of-fit: low AIC</a:t>
            </a:r>
          </a:p>
          <a:p>
            <a:pPr lvl="1"/>
            <a:r>
              <a:rPr lang="nl-NL" sz="2200" spc="53" dirty="0">
                <a:solidFill>
                  <a:srgbClr val="271D6C"/>
                </a:solidFill>
                <a:latin typeface="Calibri" pitchFamily="34" charset="0"/>
              </a:rPr>
              <a:t>significant (hyper)parameter </a:t>
            </a:r>
            <a:r>
              <a:rPr lang="nl-NL" sz="2200" spc="53" dirty="0" err="1">
                <a:solidFill>
                  <a:srgbClr val="271D6C"/>
                </a:solidFill>
                <a:latin typeface="Calibri" pitchFamily="34" charset="0"/>
              </a:rPr>
              <a:t>estimates</a:t>
            </a:r>
            <a:r>
              <a:rPr lang="nl-NL" sz="2200" spc="53" dirty="0">
                <a:solidFill>
                  <a:srgbClr val="271D6C"/>
                </a:solidFill>
                <a:latin typeface="Calibri" pitchFamily="34" charset="0"/>
              </a:rPr>
              <a:t>, </a:t>
            </a:r>
          </a:p>
          <a:p>
            <a:pPr lvl="1"/>
            <a:r>
              <a:rPr lang="nl-NL" sz="2400" spc="53" dirty="0">
                <a:solidFill>
                  <a:srgbClr val="271D6C"/>
                </a:solidFill>
                <a:latin typeface="Calibri" pitchFamily="34" charset="0"/>
              </a:rPr>
              <a:t>model </a:t>
            </a:r>
            <a:r>
              <a:rPr lang="nl-NL" sz="2400" spc="53" dirty="0" err="1">
                <a:solidFill>
                  <a:srgbClr val="271D6C"/>
                </a:solidFill>
                <a:latin typeface="Calibri" pitchFamily="34" charset="0"/>
              </a:rPr>
              <a:t>assumptions</a:t>
            </a:r>
            <a:r>
              <a:rPr lang="nl-NL" sz="2400" spc="53" dirty="0">
                <a:solidFill>
                  <a:srgbClr val="271D6C"/>
                </a:solidFill>
                <a:latin typeface="Calibri" pitchFamily="34" charset="0"/>
              </a:rPr>
              <a:t> are </a:t>
            </a:r>
            <a:r>
              <a:rPr lang="nl-NL" sz="2400" spc="53" dirty="0" err="1">
                <a:solidFill>
                  <a:srgbClr val="271D6C"/>
                </a:solidFill>
                <a:latin typeface="Calibri" pitchFamily="34" charset="0"/>
              </a:rPr>
              <a:t>satisfied</a:t>
            </a:r>
            <a:r>
              <a:rPr lang="nl-NL" sz="2400" spc="53" dirty="0">
                <a:solidFill>
                  <a:srgbClr val="271D6C"/>
                </a:solidFill>
                <a:latin typeface="Calibri" pitchFamily="34" charset="0"/>
              </a:rPr>
              <a:t>.</a:t>
            </a:r>
          </a:p>
          <a:p>
            <a:pPr lvl="1"/>
            <a:r>
              <a:rPr lang="nl-NL" sz="2400" spc="53" dirty="0" err="1">
                <a:solidFill>
                  <a:srgbClr val="271D6C"/>
                </a:solidFill>
                <a:latin typeface="Calibri" pitchFamily="34" charset="0"/>
              </a:rPr>
              <a:t>Parsimonious</a:t>
            </a:r>
            <a:endParaRPr lang="nl-NL" sz="2400" spc="53" dirty="0">
              <a:solidFill>
                <a:srgbClr val="271D6C"/>
              </a:solidFill>
              <a:latin typeface="Calibri" pitchFamily="34" charset="0"/>
            </a:endParaRPr>
          </a:p>
          <a:p>
            <a:pPr lvl="2"/>
            <a:r>
              <a:rPr lang="nl-NL" sz="2200" spc="53" dirty="0">
                <a:solidFill>
                  <a:srgbClr val="271D6C"/>
                </a:solidFill>
                <a:latin typeface="Calibri" pitchFamily="34" charset="0"/>
              </a:rPr>
              <a:t>‘small’ model: </a:t>
            </a:r>
            <a:r>
              <a:rPr lang="nl-NL" sz="2200" spc="53" dirty="0" err="1">
                <a:solidFill>
                  <a:srgbClr val="271D6C"/>
                </a:solidFill>
                <a:latin typeface="Calibri" pitchFamily="34" charset="0"/>
              </a:rPr>
              <a:t>good</a:t>
            </a:r>
            <a:r>
              <a:rPr lang="nl-NL" sz="2200" spc="53" dirty="0">
                <a:solidFill>
                  <a:srgbClr val="271D6C"/>
                </a:solidFill>
                <a:latin typeface="Calibri" pitchFamily="34" charset="0"/>
              </a:rPr>
              <a:t> </a:t>
            </a:r>
            <a:r>
              <a:rPr lang="nl-NL" sz="2200" spc="53" dirty="0" err="1">
                <a:solidFill>
                  <a:srgbClr val="271D6C"/>
                </a:solidFill>
                <a:latin typeface="Calibri" pitchFamily="34" charset="0"/>
              </a:rPr>
              <a:t>explanatory</a:t>
            </a:r>
            <a:r>
              <a:rPr lang="nl-NL" sz="2200" spc="53" dirty="0">
                <a:solidFill>
                  <a:srgbClr val="271D6C"/>
                </a:solidFill>
                <a:latin typeface="Calibri" pitchFamily="34" charset="0"/>
              </a:rPr>
              <a:t> </a:t>
            </a:r>
            <a:r>
              <a:rPr lang="nl-NL" sz="2200" spc="53" dirty="0" err="1">
                <a:solidFill>
                  <a:srgbClr val="271D6C"/>
                </a:solidFill>
                <a:latin typeface="Calibri" pitchFamily="34" charset="0"/>
              </a:rPr>
              <a:t>value</a:t>
            </a:r>
            <a:r>
              <a:rPr lang="nl-NL" sz="2200" spc="53" dirty="0">
                <a:solidFill>
                  <a:srgbClr val="271D6C"/>
                </a:solidFill>
                <a:latin typeface="Calibri" pitchFamily="34" charset="0"/>
              </a:rPr>
              <a:t> </a:t>
            </a:r>
            <a:r>
              <a:rPr lang="nl-NL" sz="2200" spc="53" dirty="0" err="1">
                <a:solidFill>
                  <a:srgbClr val="271D6C"/>
                </a:solidFill>
                <a:latin typeface="Calibri" pitchFamily="34" charset="0"/>
              </a:rPr>
              <a:t>with</a:t>
            </a:r>
            <a:r>
              <a:rPr lang="nl-NL" sz="2200" spc="53" dirty="0">
                <a:solidFill>
                  <a:srgbClr val="271D6C"/>
                </a:solidFill>
                <a:latin typeface="Calibri" pitchFamily="34" charset="0"/>
              </a:rPr>
              <a:t> </a:t>
            </a:r>
            <a:r>
              <a:rPr lang="nl-NL" sz="2200" spc="53" dirty="0" err="1">
                <a:solidFill>
                  <a:srgbClr val="271D6C"/>
                </a:solidFill>
                <a:latin typeface="Calibri" pitchFamily="34" charset="0"/>
              </a:rPr>
              <a:t>smallest</a:t>
            </a:r>
            <a:r>
              <a:rPr lang="nl-NL" sz="2200" spc="53" dirty="0">
                <a:solidFill>
                  <a:srgbClr val="271D6C"/>
                </a:solidFill>
                <a:latin typeface="Calibri" pitchFamily="34" charset="0"/>
              </a:rPr>
              <a:t> </a:t>
            </a:r>
            <a:r>
              <a:rPr lang="nl-NL" sz="2200" spc="53" dirty="0" err="1">
                <a:solidFill>
                  <a:srgbClr val="271D6C"/>
                </a:solidFill>
                <a:latin typeface="Calibri" pitchFamily="34" charset="0"/>
              </a:rPr>
              <a:t>number</a:t>
            </a:r>
            <a:r>
              <a:rPr lang="nl-NL" sz="2200" spc="53" dirty="0">
                <a:solidFill>
                  <a:srgbClr val="271D6C"/>
                </a:solidFill>
                <a:latin typeface="Calibri" pitchFamily="34" charset="0"/>
              </a:rPr>
              <a:t> of parameters </a:t>
            </a:r>
            <a:r>
              <a:rPr lang="nl-NL" sz="2200" spc="53" dirty="0" err="1">
                <a:solidFill>
                  <a:srgbClr val="271D6C"/>
                </a:solidFill>
                <a:latin typeface="Calibri" pitchFamily="34" charset="0"/>
              </a:rPr>
              <a:t>possible</a:t>
            </a:r>
            <a:endParaRPr lang="nl-NL" sz="2200" spc="53" dirty="0">
              <a:solidFill>
                <a:srgbClr val="271D6C"/>
              </a:solidFill>
              <a:latin typeface="Calibri" pitchFamily="34" charset="0"/>
            </a:endParaRPr>
          </a:p>
          <a:p>
            <a:pPr marL="342000" lvl="1" indent="0">
              <a:buNone/>
            </a:pPr>
            <a:r>
              <a:rPr lang="en-US" sz="2400" spc="53" dirty="0">
                <a:solidFill>
                  <a:srgbClr val="271D6C"/>
                </a:solidFill>
                <a:latin typeface="Calibri" pitchFamily="34" charset="0"/>
              </a:rPr>
              <a:t>    vs.</a:t>
            </a:r>
          </a:p>
          <a:p>
            <a:pPr marL="629100" lvl="2" indent="0">
              <a:buNone/>
            </a:pPr>
            <a:r>
              <a:rPr lang="en-US" sz="2200" spc="53" dirty="0">
                <a:solidFill>
                  <a:srgbClr val="271D6C"/>
                </a:solidFill>
                <a:latin typeface="Calibri" pitchFamily="34" charset="0"/>
              </a:rPr>
              <a:t>O</a:t>
            </a:r>
            <a:r>
              <a:rPr lang="nl-NL" sz="2200" spc="53" dirty="0" err="1">
                <a:solidFill>
                  <a:srgbClr val="271D6C"/>
                </a:solidFill>
                <a:latin typeface="Calibri" pitchFamily="34" charset="0"/>
              </a:rPr>
              <a:t>verfitting</a:t>
            </a:r>
            <a:endParaRPr lang="nl-NL" sz="2200" spc="53" dirty="0">
              <a:solidFill>
                <a:srgbClr val="271D6C"/>
              </a:solidFill>
              <a:latin typeface="Calibri" pitchFamily="34" charset="0"/>
            </a:endParaRPr>
          </a:p>
          <a:p>
            <a:pPr marL="1046358" indent="-457189">
              <a:buFont typeface="Arial" panose="020B0604020202020204" pitchFamily="34" charset="0"/>
              <a:buChar char="•"/>
            </a:pPr>
            <a:r>
              <a:rPr lang="nl-NL" sz="2200" spc="53" dirty="0" err="1">
                <a:solidFill>
                  <a:srgbClr val="271D6C"/>
                </a:solidFill>
                <a:latin typeface="Calibri" pitchFamily="34" charset="0"/>
              </a:rPr>
              <a:t>Noise</a:t>
            </a:r>
            <a:r>
              <a:rPr lang="nl-NL" sz="2200" spc="53" dirty="0">
                <a:solidFill>
                  <a:srgbClr val="271D6C"/>
                </a:solidFill>
                <a:latin typeface="Calibri" pitchFamily="34" charset="0"/>
              </a:rPr>
              <a:t> </a:t>
            </a:r>
            <a:r>
              <a:rPr lang="nl-NL" sz="2200" spc="53" dirty="0" err="1">
                <a:solidFill>
                  <a:srgbClr val="271D6C"/>
                </a:solidFill>
                <a:latin typeface="Calibri" pitchFamily="34" charset="0"/>
              </a:rPr>
              <a:t>itself</a:t>
            </a:r>
            <a:r>
              <a:rPr lang="nl-NL" sz="2200" spc="53" dirty="0">
                <a:solidFill>
                  <a:srgbClr val="271D6C"/>
                </a:solidFill>
                <a:latin typeface="Calibri" pitchFamily="34" charset="0"/>
              </a:rPr>
              <a:t> is </a:t>
            </a:r>
            <a:r>
              <a:rPr lang="nl-NL" sz="2200" spc="53" dirty="0" err="1">
                <a:solidFill>
                  <a:srgbClr val="271D6C"/>
                </a:solidFill>
                <a:latin typeface="Calibri" pitchFamily="34" charset="0"/>
              </a:rPr>
              <a:t>modelled</a:t>
            </a:r>
            <a:r>
              <a:rPr lang="nl-NL" sz="2200" spc="53" dirty="0">
                <a:solidFill>
                  <a:srgbClr val="271D6C"/>
                </a:solidFill>
                <a:latin typeface="Calibri" pitchFamily="34" charset="0"/>
              </a:rPr>
              <a:t>. High in-sample </a:t>
            </a:r>
            <a:r>
              <a:rPr lang="nl-NL" sz="2200" spc="53" dirty="0" err="1">
                <a:solidFill>
                  <a:srgbClr val="271D6C"/>
                </a:solidFill>
                <a:latin typeface="Calibri" pitchFamily="34" charset="0"/>
              </a:rPr>
              <a:t>explanatory</a:t>
            </a:r>
            <a:r>
              <a:rPr lang="nl-NL" sz="2200" spc="53" dirty="0">
                <a:solidFill>
                  <a:srgbClr val="271D6C"/>
                </a:solidFill>
                <a:latin typeface="Calibri" pitchFamily="34" charset="0"/>
              </a:rPr>
              <a:t> </a:t>
            </a:r>
            <a:r>
              <a:rPr lang="nl-NL" sz="2200" spc="53" dirty="0" err="1">
                <a:solidFill>
                  <a:srgbClr val="271D6C"/>
                </a:solidFill>
                <a:latin typeface="Calibri" pitchFamily="34" charset="0"/>
              </a:rPr>
              <a:t>value</a:t>
            </a:r>
            <a:r>
              <a:rPr lang="nl-NL" sz="2200" spc="53" dirty="0">
                <a:solidFill>
                  <a:srgbClr val="271D6C"/>
                </a:solidFill>
                <a:latin typeface="Calibri" pitchFamily="34" charset="0"/>
              </a:rPr>
              <a:t>, but low </a:t>
            </a:r>
            <a:r>
              <a:rPr lang="nl-NL" sz="2200" spc="53" dirty="0" err="1">
                <a:solidFill>
                  <a:srgbClr val="271D6C"/>
                </a:solidFill>
                <a:latin typeface="Calibri" pitchFamily="34" charset="0"/>
              </a:rPr>
              <a:t>predictive</a:t>
            </a:r>
            <a:r>
              <a:rPr lang="nl-NL" sz="2200" spc="53" dirty="0">
                <a:solidFill>
                  <a:srgbClr val="271D6C"/>
                </a:solidFill>
                <a:latin typeface="Calibri" pitchFamily="34" charset="0"/>
              </a:rPr>
              <a:t> power.</a:t>
            </a:r>
          </a:p>
          <a:p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4284673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D3FAAF0-6E72-2304-B3DE-BDF562660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Akaike</a:t>
            </a:r>
            <a:r>
              <a:rPr lang="nl-NL" dirty="0"/>
              <a:t> Information </a:t>
            </a:r>
            <a:r>
              <a:rPr lang="nl-NL" dirty="0" err="1"/>
              <a:t>Criterion</a:t>
            </a:r>
            <a:r>
              <a:rPr lang="nl-NL" dirty="0"/>
              <a:t> (AIC)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16</a:t>
            </a:fld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jdelijke aanduiding voor tekst 1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457189" indent="-457189">
                  <a:buFont typeface="Arial" panose="020B0604020202020204" pitchFamily="34" charset="0"/>
                  <a:buChar char="•"/>
                </a:pPr>
                <a:r>
                  <a:rPr lang="nl-NL" dirty="0"/>
                  <a:t>Balance </a:t>
                </a:r>
                <a:r>
                  <a:rPr lang="nl-NL" dirty="0" err="1"/>
                  <a:t>between</a:t>
                </a:r>
                <a:r>
                  <a:rPr lang="nl-NL" dirty="0"/>
                  <a:t> #parameters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nl-NL" dirty="0"/>
                  <a:t> and </a:t>
                </a:r>
                <a:r>
                  <a:rPr lang="nl-NL" i="1" dirty="0" err="1"/>
                  <a:t>goodness</a:t>
                </a:r>
                <a:r>
                  <a:rPr lang="nl-NL" i="1" dirty="0"/>
                  <a:t>-of-fit</a:t>
                </a:r>
              </a:p>
              <a:p>
                <a:pPr marL="457189" indent="-457189">
                  <a:buFont typeface="Arial" panose="020B0604020202020204" pitchFamily="34" charset="0"/>
                  <a:buChar char="•"/>
                </a:pPr>
                <a:endParaRPr lang="nl-NL" i="1" dirty="0">
                  <a:latin typeface="Cambria Math" panose="02040503050406030204" pitchFamily="18" charset="0"/>
                </a:endParaRPr>
              </a:p>
              <a:p>
                <a:pPr marL="457189" indent="-457189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−2</m:t>
                    </m:r>
                    <m:r>
                      <m:rPr>
                        <m:sty m:val="p"/>
                      </m:rPr>
                      <a:rPr lang="nl-NL">
                        <a:latin typeface="Cambria Math" panose="02040503050406030204" pitchFamily="18" charset="0"/>
                      </a:rPr>
                      <m:t>ln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⁡(</m:t>
                    </m:r>
                    <m:acc>
                      <m:accPr>
                        <m:chr m:val="̂"/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  <m:r>
                      <a:rPr lang="nl-NL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i="1" dirty="0"/>
                  <a:t> </a:t>
                </a:r>
                <a:r>
                  <a:rPr lang="nl-NL" i="1" dirty="0">
                    <a:solidFill>
                      <a:srgbClr val="FF0000"/>
                    </a:solidFill>
                  </a:rPr>
                  <a:t>L=likelihood</a:t>
                </a:r>
              </a:p>
              <a:p>
                <a:pPr>
                  <a:buFontTx/>
                  <a:buChar char="-"/>
                </a:pPr>
                <a:endParaRPr lang="nl-NL" dirty="0"/>
              </a:p>
              <a:p>
                <a:pPr marL="457189" indent="-457189">
                  <a:buFont typeface="Arial" panose="020B0604020202020204" pitchFamily="34" charset="0"/>
                  <a:buChar char="•"/>
                </a:pPr>
                <a:r>
                  <a:rPr lang="nl-NL" dirty="0"/>
                  <a:t>Penalty on #parameters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avoid</a:t>
                </a:r>
                <a:r>
                  <a:rPr lang="nl-NL" dirty="0"/>
                  <a:t> </a:t>
                </a:r>
                <a:r>
                  <a:rPr lang="nl-NL" dirty="0" err="1"/>
                  <a:t>overfitting</a:t>
                </a:r>
                <a:endParaRPr lang="nl-NL" dirty="0"/>
              </a:p>
              <a:p>
                <a:pPr marL="457189" indent="-457189">
                  <a:buFont typeface="Arial" panose="020B0604020202020204" pitchFamily="34" charset="0"/>
                  <a:buChar char="•"/>
                </a:pPr>
                <a:r>
                  <a:rPr lang="nl-NL" dirty="0" err="1"/>
                  <a:t>Lower</a:t>
                </a:r>
                <a:r>
                  <a:rPr lang="nl-NL" dirty="0"/>
                  <a:t> is </a:t>
                </a:r>
                <a:r>
                  <a:rPr lang="nl-NL" dirty="0" err="1"/>
                  <a:t>better</a:t>
                </a:r>
                <a:endParaRPr lang="nl-NL" dirty="0"/>
              </a:p>
              <a:p>
                <a:pPr marL="457189" indent="-457189">
                  <a:buFont typeface="Arial" panose="020B0604020202020204" pitchFamily="34" charset="0"/>
                  <a:buChar char="•"/>
                </a:pP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compare</a:t>
                </a:r>
                <a:r>
                  <a:rPr lang="nl-NL" dirty="0"/>
                  <a:t> </a:t>
                </a:r>
                <a:r>
                  <a:rPr lang="nl-NL" dirty="0" err="1"/>
                  <a:t>models</a:t>
                </a:r>
                <a:r>
                  <a:rPr lang="nl-NL" dirty="0"/>
                  <a:t> on </a:t>
                </a:r>
                <a:r>
                  <a:rPr lang="nl-NL" u="sng" dirty="0" err="1"/>
                  <a:t>same</a:t>
                </a:r>
                <a:r>
                  <a:rPr lang="nl-NL" dirty="0"/>
                  <a:t> data (</a:t>
                </a:r>
                <a:r>
                  <a:rPr lang="nl-NL" dirty="0" err="1"/>
                  <a:t>and</a:t>
                </a:r>
                <a:r>
                  <a:rPr lang="nl-NL" dirty="0"/>
                  <a:t> </a:t>
                </a:r>
                <a:r>
                  <a:rPr lang="nl-NL" dirty="0" err="1"/>
                  <a:t>still</a:t>
                </a:r>
                <a:r>
                  <a:rPr lang="nl-NL" dirty="0"/>
                  <a:t> </a:t>
                </a:r>
                <a:r>
                  <a:rPr lang="nl-NL" dirty="0" err="1"/>
                  <a:t>difficult</a:t>
                </a:r>
                <a:r>
                  <a:rPr lang="nl-NL" dirty="0"/>
                  <a:t> </a:t>
                </a:r>
                <a:r>
                  <a:rPr lang="nl-NL" dirty="0" err="1"/>
                  <a:t>due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lost </a:t>
                </a:r>
                <a:r>
                  <a:rPr lang="nl-NL" dirty="0" err="1"/>
                  <a:t>observations</a:t>
                </a:r>
                <a:r>
                  <a:rPr lang="nl-NL" dirty="0"/>
                  <a:t> </a:t>
                </a:r>
                <a:r>
                  <a:rPr lang="nl-NL" dirty="0" err="1"/>
                  <a:t>from</a:t>
                </a:r>
                <a:r>
                  <a:rPr lang="nl-NL" dirty="0"/>
                  <a:t> fitting, </a:t>
                </a:r>
                <a:r>
                  <a:rPr lang="nl-NL" dirty="0" err="1"/>
                  <a:t>number</a:t>
                </a:r>
                <a:r>
                  <a:rPr lang="nl-NL" dirty="0"/>
                  <a:t> of </a:t>
                </a:r>
                <a:r>
                  <a:rPr lang="nl-NL" dirty="0" err="1"/>
                  <a:t>differences</a:t>
                </a:r>
                <a:r>
                  <a:rPr lang="nl-NL" dirty="0"/>
                  <a:t> </a:t>
                </a:r>
                <a:r>
                  <a:rPr lang="nl-NL" dirty="0" err="1"/>
                  <a:t>needs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be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same</a:t>
                </a:r>
                <a:r>
                  <a:rPr lang="nl-NL" dirty="0"/>
                  <a:t> in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comparison</a:t>
                </a:r>
                <a:r>
                  <a:rPr lang="nl-NL" dirty="0"/>
                  <a:t> model </a:t>
                </a:r>
                <a:r>
                  <a:rPr lang="nl-NL" dirty="0" err="1"/>
                  <a:t>choice</a:t>
                </a:r>
                <a:r>
                  <a:rPr lang="nl-NL" dirty="0"/>
                  <a:t>)</a:t>
                </a:r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2" name="Tijdelijke aanduiding voor tekst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 r="-58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072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A4F0A9E-9278-595C-8148-959DF0BC2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3590"/>
            <a:ext cx="10725978" cy="782357"/>
          </a:xfrm>
        </p:spPr>
        <p:txBody>
          <a:bodyPr/>
          <a:lstStyle/>
          <a:p>
            <a:r>
              <a:rPr lang="nl-NL" sz="4000" dirty="0"/>
              <a:t>How </a:t>
            </a:r>
            <a:r>
              <a:rPr lang="nl-NL" sz="4000" dirty="0" err="1"/>
              <a:t>to</a:t>
            </a:r>
            <a:r>
              <a:rPr lang="nl-NL" sz="4000" dirty="0"/>
              <a:t> select a model in </a:t>
            </a:r>
            <a:r>
              <a:rPr lang="nl-NL" sz="4000" dirty="0" err="1"/>
              <a:t>practice</a:t>
            </a:r>
            <a:r>
              <a:rPr lang="nl-NL" sz="4000" dirty="0"/>
              <a:t> (</a:t>
            </a:r>
            <a:r>
              <a:rPr lang="nl-NL" sz="4000" dirty="0" err="1"/>
              <a:t>manually</a:t>
            </a:r>
            <a:r>
              <a:rPr lang="nl-NL" sz="4000" dirty="0"/>
              <a:t>)? </a:t>
            </a:r>
            <a:br>
              <a:rPr lang="nl-NL" sz="4000" dirty="0">
                <a:solidFill>
                  <a:srgbClr val="FF0000"/>
                </a:solidFill>
              </a:rPr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17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>
          <a:xfrm>
            <a:off x="970722" y="1562100"/>
            <a:ext cx="10515597" cy="453402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nl-NL" sz="2133" dirty="0" err="1"/>
              <a:t>Good</a:t>
            </a:r>
            <a:r>
              <a:rPr lang="nl-NL" sz="2133" dirty="0"/>
              <a:t> model: low AIC (</a:t>
            </a:r>
            <a:r>
              <a:rPr lang="nl-NL" sz="2133" dirty="0" err="1"/>
              <a:t>Akaike</a:t>
            </a:r>
            <a:r>
              <a:rPr lang="nl-NL" sz="2133" dirty="0"/>
              <a:t> Information </a:t>
            </a:r>
            <a:r>
              <a:rPr lang="nl-NL" sz="2133" dirty="0" err="1"/>
              <a:t>Criterion</a:t>
            </a:r>
            <a:r>
              <a:rPr lang="nl-NL" sz="2133" dirty="0"/>
              <a:t>), significant parameter </a:t>
            </a:r>
            <a:r>
              <a:rPr lang="nl-NL" sz="2133" dirty="0" err="1"/>
              <a:t>estimates</a:t>
            </a:r>
            <a:r>
              <a:rPr lang="nl-NL" sz="2133" dirty="0"/>
              <a:t>, no </a:t>
            </a:r>
            <a:r>
              <a:rPr lang="nl-NL" sz="2133" dirty="0" err="1"/>
              <a:t>overfitting</a:t>
            </a:r>
            <a:r>
              <a:rPr lang="nl-NL" sz="2133" dirty="0"/>
              <a:t>, model </a:t>
            </a:r>
            <a:r>
              <a:rPr lang="nl-NL" sz="2133" dirty="0" err="1"/>
              <a:t>assumptions</a:t>
            </a:r>
            <a:r>
              <a:rPr lang="nl-NL" sz="2133" dirty="0"/>
              <a:t> are </a:t>
            </a:r>
            <a:r>
              <a:rPr lang="nl-NL" sz="2133" dirty="0" err="1"/>
              <a:t>satisfied</a:t>
            </a:r>
            <a:r>
              <a:rPr lang="nl-NL" sz="2133" dirty="0"/>
              <a:t>.</a:t>
            </a:r>
          </a:p>
          <a:p>
            <a:endParaRPr lang="nl-NL" sz="2133" dirty="0"/>
          </a:p>
          <a:p>
            <a:pPr marL="0" indent="0">
              <a:buSzPct val="100000"/>
              <a:buNone/>
            </a:pPr>
            <a:r>
              <a:rPr lang="nl-NL" sz="2133" dirty="0"/>
              <a:t>Steps: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nl-NL" sz="2200" dirty="0" err="1"/>
              <a:t>Obtain</a:t>
            </a:r>
            <a:r>
              <a:rPr lang="nl-NL" sz="2200" dirty="0"/>
              <a:t> Maximum </a:t>
            </a:r>
            <a:r>
              <a:rPr lang="nl-NL" sz="2200" dirty="0" err="1"/>
              <a:t>Likelihood</a:t>
            </a:r>
            <a:r>
              <a:rPr lang="nl-NL" sz="2200" dirty="0"/>
              <a:t> </a:t>
            </a:r>
            <a:r>
              <a:rPr lang="nl-NL" sz="2200" dirty="0" err="1"/>
              <a:t>estimate</a:t>
            </a:r>
            <a:r>
              <a:rPr lang="nl-NL" sz="2200" dirty="0"/>
              <a:t>, </a:t>
            </a:r>
            <a:r>
              <a:rPr lang="nl-NL" sz="2200" dirty="0" err="1"/>
              <a:t>optimise</a:t>
            </a:r>
            <a:r>
              <a:rPr lang="nl-NL" sz="2200" dirty="0"/>
              <a:t> </a:t>
            </a:r>
            <a:r>
              <a:rPr lang="nl-NL" sz="2200" dirty="0" err="1"/>
              <a:t>initial</a:t>
            </a:r>
            <a:r>
              <a:rPr lang="nl-NL" sz="2200" dirty="0"/>
              <a:t> </a:t>
            </a:r>
            <a:r>
              <a:rPr lang="nl-NL" sz="2200" dirty="0" err="1"/>
              <a:t>values</a:t>
            </a:r>
            <a:endParaRPr lang="nl-NL" sz="2200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nl-NL" sz="2200" dirty="0" err="1"/>
              <a:t>Choose</a:t>
            </a:r>
            <a:r>
              <a:rPr lang="nl-NL" sz="2200" dirty="0"/>
              <a:t> model </a:t>
            </a:r>
            <a:r>
              <a:rPr lang="nl-NL" sz="2200" dirty="0" err="1"/>
              <a:t>with</a:t>
            </a:r>
            <a:r>
              <a:rPr lang="nl-NL" sz="2200" dirty="0"/>
              <a:t> </a:t>
            </a:r>
            <a:r>
              <a:rPr lang="nl-NL" sz="2200" dirty="0" err="1"/>
              <a:t>lowest</a:t>
            </a:r>
            <a:r>
              <a:rPr lang="nl-NL" sz="2200" dirty="0"/>
              <a:t> AIC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nl-NL" sz="2200" dirty="0"/>
              <a:t>Check </a:t>
            </a:r>
            <a:r>
              <a:rPr lang="nl-NL" sz="2200" dirty="0" err="1"/>
              <a:t>if</a:t>
            </a:r>
            <a:r>
              <a:rPr lang="nl-NL" sz="2200" dirty="0"/>
              <a:t> hyperparameters are significant </a:t>
            </a:r>
            <a:r>
              <a:rPr lang="nl-NL" sz="2200" dirty="0" err="1"/>
              <a:t>and</a:t>
            </a:r>
            <a:r>
              <a:rPr lang="nl-NL" sz="2200" dirty="0"/>
              <a:t> </a:t>
            </a:r>
            <a:r>
              <a:rPr lang="nl-NL" sz="2200" dirty="0" err="1"/>
              <a:t>not</a:t>
            </a:r>
            <a:r>
              <a:rPr lang="nl-NL" sz="2200" dirty="0"/>
              <a:t> </a:t>
            </a:r>
            <a:r>
              <a:rPr lang="nl-NL" sz="2200" dirty="0" err="1"/>
              <a:t>too</a:t>
            </a:r>
            <a:r>
              <a:rPr lang="nl-NL" sz="2200" dirty="0"/>
              <a:t> small</a:t>
            </a:r>
          </a:p>
          <a:p>
            <a:pPr marL="0" indent="0">
              <a:buSzPct val="100000"/>
              <a:buNone/>
            </a:pPr>
            <a:r>
              <a:rPr lang="nl-NL" sz="2200" dirty="0"/>
              <a:t>	</a:t>
            </a:r>
            <a:r>
              <a:rPr lang="nl-NL" sz="1700" dirty="0" err="1"/>
              <a:t>overfitting</a:t>
            </a:r>
            <a:r>
              <a:rPr lang="nl-NL" sz="1700" dirty="0"/>
              <a:t>, </a:t>
            </a:r>
            <a:r>
              <a:rPr lang="nl-NL" sz="1700" dirty="0" err="1"/>
              <a:t>deterministic</a:t>
            </a:r>
            <a:r>
              <a:rPr lang="nl-NL" sz="1700" dirty="0"/>
              <a:t> or </a:t>
            </a:r>
            <a:r>
              <a:rPr lang="nl-NL" sz="1700" dirty="0" err="1"/>
              <a:t>stochastic</a:t>
            </a:r>
            <a:r>
              <a:rPr lang="nl-NL" sz="1700" dirty="0"/>
              <a:t> component</a:t>
            </a:r>
            <a:endParaRPr lang="nl-NL" sz="2200" dirty="0"/>
          </a:p>
          <a:p>
            <a:pPr marL="457200" indent="-457200">
              <a:buSzPct val="100000"/>
              <a:buFont typeface="+mj-lt"/>
              <a:buAutoNum type="arabicPeriod" startAt="4"/>
            </a:pPr>
            <a:r>
              <a:rPr lang="nl-NL" sz="2200" dirty="0"/>
              <a:t>Check </a:t>
            </a:r>
            <a:r>
              <a:rPr lang="nl-NL" sz="2200" dirty="0" err="1"/>
              <a:t>assumptions</a:t>
            </a:r>
            <a:endParaRPr lang="nl-NL" sz="2200" dirty="0"/>
          </a:p>
          <a:p>
            <a:pPr marL="342000" lvl="1" indent="0">
              <a:buSzPct val="100000"/>
              <a:buNone/>
            </a:pPr>
            <a:r>
              <a:rPr lang="nl-NL" sz="2000" dirty="0"/>
              <a:t>	</a:t>
            </a:r>
            <a:r>
              <a:rPr lang="nl-NL" sz="1700" dirty="0" err="1"/>
              <a:t>Autocorrelation</a:t>
            </a:r>
            <a:r>
              <a:rPr lang="nl-NL" sz="1700" dirty="0"/>
              <a:t>, </a:t>
            </a:r>
            <a:r>
              <a:rPr lang="nl-NL" sz="1700" dirty="0" err="1"/>
              <a:t>Homoscedasticity</a:t>
            </a:r>
            <a:r>
              <a:rPr lang="nl-NL" sz="1700" dirty="0"/>
              <a:t>, </a:t>
            </a:r>
            <a:r>
              <a:rPr lang="nl-NL" sz="1700" dirty="0" err="1"/>
              <a:t>Normalitity</a:t>
            </a:r>
            <a:r>
              <a:rPr lang="nl-NL" sz="1700" dirty="0"/>
              <a:t> of </a:t>
            </a:r>
            <a:r>
              <a:rPr lang="nl-NL" sz="1700" dirty="0" err="1"/>
              <a:t>residuals</a:t>
            </a:r>
            <a:endParaRPr lang="nl-NL" sz="2000" dirty="0"/>
          </a:p>
          <a:p>
            <a:pPr marL="457200" indent="-457200">
              <a:buSzPct val="100000"/>
              <a:buFont typeface="+mj-lt"/>
              <a:buAutoNum type="arabicPeriod" startAt="4"/>
            </a:pPr>
            <a:r>
              <a:rPr lang="nl-NL" sz="2200" dirty="0"/>
              <a:t>Do a </a:t>
            </a:r>
            <a:r>
              <a:rPr lang="nl-NL" sz="2200" dirty="0" err="1"/>
              <a:t>visual</a:t>
            </a:r>
            <a:r>
              <a:rPr lang="nl-NL" sz="2200" dirty="0"/>
              <a:t> check</a:t>
            </a:r>
          </a:p>
          <a:p>
            <a:pPr marL="457200" indent="-457200">
              <a:buSzPct val="100000"/>
              <a:buFont typeface="+mj-lt"/>
              <a:buAutoNum type="arabicPeriod" startAt="4"/>
            </a:pPr>
            <a:r>
              <a:rPr lang="nl-NL" sz="2200" dirty="0" err="1"/>
              <a:t>Try</a:t>
            </a:r>
            <a:r>
              <a:rPr lang="nl-NL" sz="2200" dirty="0"/>
              <a:t> </a:t>
            </a:r>
            <a:r>
              <a:rPr lang="nl-NL" sz="2200" dirty="0" err="1"/>
              <a:t>other</a:t>
            </a:r>
            <a:r>
              <a:rPr lang="nl-NL" sz="2200" dirty="0"/>
              <a:t> model (second </a:t>
            </a:r>
            <a:r>
              <a:rPr lang="nl-NL" sz="2200" dirty="0" err="1"/>
              <a:t>lowest</a:t>
            </a:r>
            <a:r>
              <a:rPr lang="nl-NL" sz="2200" dirty="0"/>
              <a:t> AIC)</a:t>
            </a:r>
          </a:p>
          <a:p>
            <a:pPr marL="457200" indent="-457200">
              <a:buSzPct val="100000"/>
              <a:buFont typeface="+mj-lt"/>
              <a:buAutoNum type="arabicPeriod" startAt="4"/>
            </a:pPr>
            <a:r>
              <a:rPr lang="nl-NL" sz="2200" dirty="0" err="1"/>
              <a:t>Optional</a:t>
            </a:r>
            <a:r>
              <a:rPr lang="nl-NL" sz="2200" dirty="0"/>
              <a:t>: </a:t>
            </a:r>
            <a:r>
              <a:rPr lang="nl-NL" sz="2200" dirty="0" err="1"/>
              <a:t>Perform</a:t>
            </a:r>
            <a:r>
              <a:rPr lang="nl-NL" sz="2200" dirty="0"/>
              <a:t> </a:t>
            </a:r>
            <a:r>
              <a:rPr lang="nl-NL" sz="2200" dirty="0" err="1"/>
              <a:t>Likelihood</a:t>
            </a:r>
            <a:r>
              <a:rPr lang="nl-NL" sz="2200" dirty="0"/>
              <a:t> ratio test</a:t>
            </a:r>
            <a:endParaRPr lang="nl-NL" sz="2200" dirty="0">
              <a:solidFill>
                <a:srgbClr val="271D6C"/>
              </a:solidFill>
            </a:endParaRP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12452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6201065-42FB-212F-AFF9-E3EC7B8E0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Example</a:t>
            </a:r>
            <a:r>
              <a:rPr lang="nl-NL" dirty="0"/>
              <a:t>: STM in R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18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>
          <a:xfrm>
            <a:off x="970722" y="1028700"/>
            <a:ext cx="10515597" cy="5067427"/>
          </a:xfrm>
        </p:spPr>
        <p:txBody>
          <a:bodyPr>
            <a:noAutofit/>
          </a:bodyPr>
          <a:lstStyle/>
          <a:p>
            <a:pPr marL="0" indent="0" defTabSz="544041" latinLnBrk="1">
              <a:buNone/>
              <a:defRPr/>
            </a:pPr>
            <a:r>
              <a:rPr lang="en-US" sz="1200" dirty="0"/>
              <a:t>Code based on KFAS package : </a:t>
            </a:r>
            <a:r>
              <a:rPr lang="nl-NL" sz="1200" dirty="0">
                <a:hlinkClick r:id="rId2"/>
              </a:rPr>
              <a:t>https://cran.r-project.org/web/packages/KFAS/</a:t>
            </a:r>
            <a:endParaRPr lang="nl-NL" sz="1200" dirty="0"/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endParaRPr lang="en-US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r>
              <a:rPr lang="en-US" sz="1400" spc="0" dirty="0">
                <a:solidFill>
                  <a:srgbClr val="002060"/>
                </a:solidFill>
                <a:latin typeface="Calibri"/>
              </a:rPr>
              <a:t>Summary: AIC's per model</a:t>
            </a:r>
            <a:endParaRPr lang="nl-NL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model_nr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	AIC      		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model_name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                                                     </a:t>
            </a:r>
            <a:endParaRPr lang="nl-NL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r>
              <a:rPr lang="en-US" sz="1400" spc="0" dirty="0">
                <a:solidFill>
                  <a:srgbClr val="002060"/>
                </a:solidFill>
                <a:latin typeface="Calibri"/>
              </a:rPr>
              <a:t>1       		113.5490 	det.  level                                                     </a:t>
            </a:r>
            <a:endParaRPr lang="nl-NL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r>
              <a:rPr lang="en-US" sz="1400" spc="0" dirty="0">
                <a:solidFill>
                  <a:srgbClr val="002060"/>
                </a:solidFill>
                <a:latin typeface="Calibri"/>
              </a:rPr>
              <a:t>2       		107.4366 	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stoch.level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                                                    </a:t>
            </a:r>
            <a:endParaRPr lang="nl-NL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r>
              <a:rPr lang="en-US" sz="1400" spc="0" dirty="0">
                <a:solidFill>
                  <a:srgbClr val="002060"/>
                </a:solidFill>
                <a:latin typeface="Calibri"/>
              </a:rPr>
              <a:t>3      	 	118.5753 	det.  level 	+ det.  slope (= classical regression)              </a:t>
            </a:r>
            <a:endParaRPr lang="nl-NL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r>
              <a:rPr lang="en-US" sz="1400" spc="0" dirty="0">
                <a:solidFill>
                  <a:srgbClr val="002060"/>
                </a:solidFill>
                <a:latin typeface="Calibri"/>
              </a:rPr>
              <a:t>4       		110.4676 	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stoch.level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	+ det.  slope                                       </a:t>
            </a:r>
            <a:endParaRPr lang="nl-NL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r>
              <a:rPr lang="en-US" sz="1400" spc="0" dirty="0">
                <a:solidFill>
                  <a:srgbClr val="002060"/>
                </a:solidFill>
                <a:latin typeface="Calibri"/>
              </a:rPr>
              <a:t>5       		108.2204 	det.  level 	+ 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stoch.slope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(=smooth trend)                       </a:t>
            </a:r>
            <a:endParaRPr lang="nl-NL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r>
              <a:rPr lang="en-US" sz="1400" spc="0" dirty="0">
                <a:solidFill>
                  <a:srgbClr val="002060"/>
                </a:solidFill>
                <a:latin typeface="Calibri"/>
              </a:rPr>
              <a:t>6       		110.2217 	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stoch.level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	+ 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stoch.slope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                                      </a:t>
            </a:r>
            <a:endParaRPr lang="nl-NL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r>
              <a:rPr lang="en-US" sz="1400" spc="0" dirty="0">
                <a:solidFill>
                  <a:srgbClr val="002060"/>
                </a:solidFill>
                <a:latin typeface="Calibri"/>
              </a:rPr>
              <a:t>7       		112.6724 	det.  level 	+   		   det. seasonal                       </a:t>
            </a:r>
            <a:endParaRPr lang="nl-NL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r>
              <a:rPr lang="en-US" sz="1400" spc="0" dirty="0">
                <a:solidFill>
                  <a:srgbClr val="002060"/>
                </a:solidFill>
                <a:latin typeface="Calibri"/>
              </a:rPr>
              <a:t>8       		106.1023 	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stoch.level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	+               	   det. seasonal                       </a:t>
            </a:r>
            <a:endParaRPr lang="nl-NL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r>
              <a:rPr lang="en-US" sz="1400" spc="0" dirty="0">
                <a:solidFill>
                  <a:srgbClr val="002060"/>
                </a:solidFill>
                <a:latin typeface="Calibri"/>
              </a:rPr>
              <a:t>9       		109.2298 	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stoch.level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	+ det.  slope 	+ det. seasonal                       </a:t>
            </a:r>
            <a:endParaRPr lang="nl-NL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r>
              <a:rPr lang="en-US" sz="1400" spc="0" dirty="0">
                <a:solidFill>
                  <a:srgbClr val="002060"/>
                </a:solidFill>
                <a:latin typeface="Calibri"/>
              </a:rPr>
              <a:t>10      	 	106.6872 	det.  level 	+ 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stoch.slope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	+ det. seasonal (smooth trend + seas) </a:t>
            </a:r>
            <a:endParaRPr lang="nl-NL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r>
              <a:rPr lang="en-US" sz="1400" spc="0" dirty="0">
                <a:solidFill>
                  <a:srgbClr val="002060"/>
                </a:solidFill>
                <a:latin typeface="Calibri"/>
              </a:rPr>
              <a:t>11     	  	108.6881 	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stoch.level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	+ 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stoch.slope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	+ det. seasonal                       </a:t>
            </a:r>
            <a:endParaRPr lang="nl-NL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r>
              <a:rPr lang="en-US" sz="1400" spc="0" dirty="0">
                <a:solidFill>
                  <a:srgbClr val="002060"/>
                </a:solidFill>
                <a:latin typeface="Calibri"/>
              </a:rPr>
              <a:t>12      	 	104.9493 	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stoch.level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			+ 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stoch.seasonal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                     </a:t>
            </a:r>
            <a:endParaRPr lang="nl-NL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r>
              <a:rPr lang="en-US" sz="1400" spc="0" dirty="0">
                <a:solidFill>
                  <a:srgbClr val="002060"/>
                </a:solidFill>
                <a:latin typeface="Calibri"/>
              </a:rPr>
              <a:t>13     	  	108.1476 	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stoch.level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	+ det.  slope 	+ 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stoch.seasonal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                     </a:t>
            </a:r>
            <a:endParaRPr lang="nl-NL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r>
              <a:rPr lang="en-US" sz="1400" spc="0" dirty="0">
                <a:solidFill>
                  <a:srgbClr val="002060"/>
                </a:solidFill>
                <a:latin typeface="Calibri"/>
              </a:rPr>
              <a:t>14      	 	105.3521 	det.  level 	+ 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stoch.slope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	+ 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stoch.seasonal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(smooth trend + seas)</a:t>
            </a:r>
            <a:endParaRPr lang="nl-NL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 latinLnBrk="1">
              <a:spcAft>
                <a:spcPts val="600"/>
              </a:spcAft>
              <a:buNone/>
              <a:defRPr/>
            </a:pPr>
            <a:r>
              <a:rPr lang="en-US" sz="1400" spc="0" dirty="0">
                <a:solidFill>
                  <a:srgbClr val="002060"/>
                </a:solidFill>
                <a:latin typeface="Calibri"/>
              </a:rPr>
              <a:t>15     	  	107.3533 	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stoch.level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	+ 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stoch.slope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	+ </a:t>
            </a:r>
            <a:r>
              <a:rPr lang="en-US" sz="1400" spc="0" dirty="0" err="1">
                <a:solidFill>
                  <a:srgbClr val="002060"/>
                </a:solidFill>
                <a:latin typeface="Calibri"/>
              </a:rPr>
              <a:t>stoch.seasonal</a:t>
            </a:r>
            <a:r>
              <a:rPr lang="en-US" sz="1400" spc="0" dirty="0">
                <a:solidFill>
                  <a:srgbClr val="002060"/>
                </a:solidFill>
                <a:latin typeface="Calibri"/>
              </a:rPr>
              <a:t>   </a:t>
            </a:r>
            <a:endParaRPr lang="nl-NL" sz="1400" spc="0" dirty="0">
              <a:solidFill>
                <a:srgbClr val="002060"/>
              </a:solidFill>
              <a:latin typeface="Calibri"/>
            </a:endParaRPr>
          </a:p>
          <a:p>
            <a:pPr marL="0" indent="0" defTabSz="544041">
              <a:buNone/>
              <a:defRPr/>
            </a:pPr>
            <a:endParaRPr lang="nl-NL" sz="1200" spc="0" dirty="0">
              <a:latin typeface="Calibri"/>
            </a:endParaRPr>
          </a:p>
          <a:p>
            <a:pPr marL="0" indent="0" defTabSz="544041">
              <a:buNone/>
              <a:defRPr/>
            </a:pPr>
            <a:endParaRPr lang="nl-NL" sz="1200" spc="0" dirty="0">
              <a:latin typeface="Calibri"/>
            </a:endParaRPr>
          </a:p>
          <a:p>
            <a:pPr marL="0" indent="0">
              <a:buNone/>
            </a:pPr>
            <a:endParaRPr lang="nl-NL" sz="1200" dirty="0"/>
          </a:p>
        </p:txBody>
      </p:sp>
    </p:spTree>
    <p:extLst>
      <p:ext uri="{BB962C8B-B14F-4D97-AF65-F5344CB8AC3E}">
        <p14:creationId xmlns:p14="http://schemas.microsoft.com/office/powerpoint/2010/main" val="237504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E331842-45FE-A26C-E9CE-468B14223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19</a:t>
            </a:fld>
            <a:endParaRPr lang="nl-NL" dirty="0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82B72BAC-B8CE-2E00-875B-AD5D369207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Rechthoek 4"/>
          <p:cNvSpPr/>
          <p:nvPr/>
        </p:nvSpPr>
        <p:spPr>
          <a:xfrm>
            <a:off x="1524201" y="2172230"/>
            <a:ext cx="9697077" cy="2801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altLang="nl-NL" sz="1467" dirty="0">
                <a:latin typeface="Lucida Console" panose="020B0609040504020204" pitchFamily="49" charset="0"/>
              </a:rPr>
              <a:t>model = 11 [1] "</a:t>
            </a:r>
            <a:r>
              <a:rPr lang="nl-NL" altLang="nl-NL" sz="1467" dirty="0" err="1">
                <a:latin typeface="Lucida Console" panose="020B0609040504020204" pitchFamily="49" charset="0"/>
              </a:rPr>
              <a:t>stoch.level</a:t>
            </a:r>
            <a:r>
              <a:rPr lang="nl-NL" altLang="nl-NL" sz="1467" dirty="0">
                <a:latin typeface="Lucida Console" panose="020B0609040504020204" pitchFamily="49" charset="0"/>
              </a:rPr>
              <a:t> + </a:t>
            </a:r>
            <a:r>
              <a:rPr lang="nl-NL" altLang="nl-NL" sz="1467" dirty="0" err="1">
                <a:latin typeface="Lucida Console" panose="020B0609040504020204" pitchFamily="49" charset="0"/>
              </a:rPr>
              <a:t>stoch.slope</a:t>
            </a:r>
            <a:r>
              <a:rPr lang="nl-NL" altLang="nl-NL" sz="1467" dirty="0">
                <a:latin typeface="Lucida Console" panose="020B0609040504020204" pitchFamily="49" charset="0"/>
              </a:rPr>
              <a:t> + </a:t>
            </a:r>
            <a:r>
              <a:rPr lang="nl-NL" altLang="nl-NL" sz="1467" dirty="0" err="1">
                <a:latin typeface="Lucida Console" panose="020B0609040504020204" pitchFamily="49" charset="0"/>
              </a:rPr>
              <a:t>det</a:t>
            </a:r>
            <a:r>
              <a:rPr lang="nl-NL" altLang="nl-NL" sz="1467" dirty="0">
                <a:latin typeface="Lucida Console" panose="020B0609040504020204" pitchFamily="49" charset="0"/>
              </a:rPr>
              <a:t>. </a:t>
            </a:r>
            <a:r>
              <a:rPr lang="nl-NL" altLang="nl-NL" sz="1467" dirty="0" err="1">
                <a:latin typeface="Lucida Console" panose="020B0609040504020204" pitchFamily="49" charset="0"/>
              </a:rPr>
              <a:t>seasonal</a:t>
            </a:r>
            <a:r>
              <a:rPr lang="nl-NL" altLang="nl-NL" sz="1467" dirty="0">
                <a:latin typeface="Lucida Console" panose="020B0609040504020204" pitchFamily="49" charset="0"/>
              </a:rPr>
              <a:t>" </a:t>
            </a:r>
          </a:p>
          <a:p>
            <a:endParaRPr lang="nl-NL" altLang="nl-NL" sz="1467" dirty="0">
              <a:latin typeface="Lucida Console" panose="020B0609040504020204" pitchFamily="49" charset="0"/>
            </a:endParaRPr>
          </a:p>
          <a:p>
            <a:r>
              <a:rPr lang="nl-NL" altLang="nl-NL" sz="1467" dirty="0">
                <a:latin typeface="Lucida Console" panose="020B0609040504020204" pitchFamily="49" charset="0"/>
              </a:rPr>
              <a:t>	  </a:t>
            </a:r>
            <a:r>
              <a:rPr lang="nl-NL" altLang="nl-NL" sz="1467" dirty="0" err="1">
                <a:latin typeface="Lucida Console" panose="020B0609040504020204" pitchFamily="49" charset="0"/>
              </a:rPr>
              <a:t>value</a:t>
            </a:r>
            <a:r>
              <a:rPr lang="nl-NL" altLang="nl-NL" sz="1467" dirty="0">
                <a:latin typeface="Lucida Console" panose="020B0609040504020204" pitchFamily="49" charset="0"/>
              </a:rPr>
              <a:t> 	</a:t>
            </a:r>
          </a:p>
          <a:p>
            <a:r>
              <a:rPr lang="nl-NL" altLang="nl-NL" sz="1467" dirty="0" err="1">
                <a:latin typeface="Lucida Console" panose="020B0609040504020204" pitchFamily="49" charset="0"/>
              </a:rPr>
              <a:t>LogLik</a:t>
            </a:r>
            <a:r>
              <a:rPr lang="nl-NL" altLang="nl-NL" sz="1467" dirty="0">
                <a:latin typeface="Lucida Console" panose="020B0609040504020204" pitchFamily="49" charset="0"/>
              </a:rPr>
              <a:t> 	  -46.34405</a:t>
            </a:r>
          </a:p>
          <a:p>
            <a:r>
              <a:rPr lang="nl-NL" altLang="nl-NL" sz="1467" dirty="0">
                <a:latin typeface="Lucida Console" panose="020B0609040504020204" pitchFamily="49" charset="0"/>
              </a:rPr>
              <a:t>AIC 	  108.68809</a:t>
            </a:r>
          </a:p>
          <a:p>
            <a:r>
              <a:rPr lang="nl-NL" altLang="nl-NL" sz="1467" dirty="0" err="1">
                <a:latin typeface="Lucida Console" panose="020B0609040504020204" pitchFamily="49" charset="0"/>
              </a:rPr>
              <a:t>with</a:t>
            </a:r>
            <a:r>
              <a:rPr lang="nl-NL" altLang="nl-NL" sz="1467" dirty="0">
                <a:latin typeface="Lucida Console" panose="020B0609040504020204" pitchFamily="49" charset="0"/>
              </a:rPr>
              <a:t>: q = 5 (#diffuse </a:t>
            </a:r>
            <a:r>
              <a:rPr lang="nl-NL" altLang="nl-NL" sz="1467" dirty="0" err="1">
                <a:latin typeface="Lucida Console" panose="020B0609040504020204" pitchFamily="49" charset="0"/>
              </a:rPr>
              <a:t>states</a:t>
            </a:r>
            <a:r>
              <a:rPr lang="nl-NL" altLang="nl-NL" sz="1467" dirty="0">
                <a:latin typeface="Lucida Console" panose="020B0609040504020204" pitchFamily="49" charset="0"/>
              </a:rPr>
              <a:t>) w = 3 (#</a:t>
            </a:r>
            <a:r>
              <a:rPr lang="nl-NL" altLang="nl-NL" sz="1467" dirty="0" err="1">
                <a:latin typeface="Lucida Console" panose="020B0609040504020204" pitchFamily="49" charset="0"/>
              </a:rPr>
              <a:t>hyp.par</a:t>
            </a:r>
            <a:r>
              <a:rPr lang="nl-NL" altLang="nl-NL" sz="1467" dirty="0">
                <a:latin typeface="Lucida Console" panose="020B0609040504020204" pitchFamily="49" charset="0"/>
              </a:rPr>
              <a:t>) </a:t>
            </a:r>
          </a:p>
          <a:p>
            <a:endParaRPr lang="nl-NL" altLang="nl-NL" sz="1467" dirty="0">
              <a:latin typeface="Lucida Console" panose="020B0609040504020204" pitchFamily="49" charset="0"/>
            </a:endParaRPr>
          </a:p>
          <a:p>
            <a:r>
              <a:rPr lang="nl-NL" altLang="nl-NL" sz="1467" dirty="0">
                <a:latin typeface="Lucida Console" panose="020B0609040504020204" pitchFamily="49" charset="0"/>
              </a:rPr>
              <a:t>parameter </a:t>
            </a:r>
            <a:r>
              <a:rPr lang="nl-NL" altLang="nl-NL" sz="1467" dirty="0" err="1">
                <a:latin typeface="Lucida Console" panose="020B0609040504020204" pitchFamily="49" charset="0"/>
              </a:rPr>
              <a:t>estimates</a:t>
            </a:r>
            <a:r>
              <a:rPr lang="nl-NL" altLang="nl-NL" sz="1467" dirty="0">
                <a:latin typeface="Lucida Console" panose="020B0609040504020204" pitchFamily="49" charset="0"/>
              </a:rPr>
              <a:t>: </a:t>
            </a:r>
          </a:p>
          <a:p>
            <a:r>
              <a:rPr lang="nl-NL" altLang="nl-NL" sz="1467" dirty="0">
                <a:latin typeface="Lucida Console" panose="020B0609040504020204" pitchFamily="49" charset="0"/>
              </a:rPr>
              <a:t>	sigma 		sigma^2 	     	t-</a:t>
            </a:r>
            <a:r>
              <a:rPr lang="nl-NL" altLang="nl-NL" sz="1467" dirty="0" err="1">
                <a:latin typeface="Lucida Console" panose="020B0609040504020204" pitchFamily="49" charset="0"/>
              </a:rPr>
              <a:t>value</a:t>
            </a:r>
            <a:r>
              <a:rPr lang="nl-NL" altLang="nl-NL" sz="1467" dirty="0">
                <a:latin typeface="Lucida Console" panose="020B0609040504020204" pitchFamily="49" charset="0"/>
              </a:rPr>
              <a:t> </a:t>
            </a:r>
          </a:p>
          <a:p>
            <a:r>
              <a:rPr lang="nl-NL" altLang="nl-NL" sz="1467" dirty="0" err="1">
                <a:latin typeface="Lucida Console" panose="020B0609040504020204" pitchFamily="49" charset="0"/>
              </a:rPr>
              <a:t>meas</a:t>
            </a:r>
            <a:r>
              <a:rPr lang="nl-NL" altLang="nl-NL" sz="1467" dirty="0">
                <a:latin typeface="Lucida Console" panose="020B0609040504020204" pitchFamily="49" charset="0"/>
              </a:rPr>
              <a:t> 	1.56037935 	2.4347837063 	</a:t>
            </a:r>
            <a:r>
              <a:rPr lang="nl-NL" altLang="nl-NL" sz="1467" dirty="0">
                <a:solidFill>
                  <a:srgbClr val="FF0000"/>
                </a:solidFill>
                <a:latin typeface="Lucida Console" panose="020B0609040504020204" pitchFamily="49" charset="0"/>
              </a:rPr>
              <a:t>2.5387437</a:t>
            </a:r>
            <a:r>
              <a:rPr lang="nl-NL" altLang="nl-NL" sz="1467" dirty="0">
                <a:latin typeface="Lucida Console" panose="020B0609040504020204" pitchFamily="49" charset="0"/>
              </a:rPr>
              <a:t> </a:t>
            </a:r>
          </a:p>
          <a:p>
            <a:r>
              <a:rPr lang="nl-NL" altLang="nl-NL" sz="1467" dirty="0">
                <a:latin typeface="Lucida Console" panose="020B0609040504020204" pitchFamily="49" charset="0"/>
              </a:rPr>
              <a:t>level 	0.02607367 	0.0006798365 	</a:t>
            </a:r>
            <a:r>
              <a:rPr lang="nl-NL" altLang="nl-NL" sz="1467" dirty="0">
                <a:solidFill>
                  <a:srgbClr val="FF0000"/>
                </a:solidFill>
                <a:latin typeface="Lucida Console" panose="020B0609040504020204" pitchFamily="49" charset="0"/>
              </a:rPr>
              <a:t>0.1546449</a:t>
            </a:r>
            <a:r>
              <a:rPr lang="nl-NL" altLang="nl-NL" sz="1467" dirty="0">
                <a:latin typeface="Lucida Console" panose="020B0609040504020204" pitchFamily="49" charset="0"/>
              </a:rPr>
              <a:t> </a:t>
            </a:r>
          </a:p>
          <a:p>
            <a:r>
              <a:rPr lang="nl-NL" altLang="nl-NL" sz="1467" dirty="0" err="1">
                <a:latin typeface="Lucida Console" panose="020B0609040504020204" pitchFamily="49" charset="0"/>
              </a:rPr>
              <a:t>slope</a:t>
            </a:r>
            <a:r>
              <a:rPr lang="nl-NL" altLang="nl-NL" sz="1467" dirty="0">
                <a:latin typeface="Lucida Console" panose="020B0609040504020204" pitchFamily="49" charset="0"/>
              </a:rPr>
              <a:t> 	0.24781126 	0.0614104182 	</a:t>
            </a:r>
            <a:r>
              <a:rPr lang="nl-NL" altLang="nl-NL" sz="1467" dirty="0">
                <a:solidFill>
                  <a:srgbClr val="FF0000"/>
                </a:solidFill>
                <a:latin typeface="Lucida Console" panose="020B0609040504020204" pitchFamily="49" charset="0"/>
              </a:rPr>
              <a:t>2.8623307</a:t>
            </a:r>
            <a:endParaRPr lang="nl-NL" altLang="nl-NL" sz="32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552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FB266B1-C5ED-05F9-B3BA-15E3510D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20</a:t>
            </a:fld>
            <a:endParaRPr lang="nl-NL" dirty="0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AB80121D-8E00-DAB5-87C2-26BC608E0A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71531" y="2469246"/>
            <a:ext cx="8428383" cy="2256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model = 10 [1] "</a:t>
            </a:r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det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. level + </a:t>
            </a:r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stoch.slope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 + </a:t>
            </a:r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det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. </a:t>
            </a:r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seasonal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 (</a:t>
            </a:r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smooth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 trend + </a:t>
            </a:r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seas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)“</a:t>
            </a:r>
          </a:p>
          <a:p>
            <a:pPr eaLnBrk="0" hangingPunct="0"/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	</a:t>
            </a:r>
          </a:p>
          <a:p>
            <a:pPr eaLnBrk="0" hangingPunct="0"/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	</a:t>
            </a:r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value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 	</a:t>
            </a:r>
          </a:p>
          <a:p>
            <a:pPr eaLnBrk="0" hangingPunct="0"/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LogLik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 	-46.3436 	</a:t>
            </a:r>
          </a:p>
          <a:p>
            <a:pPr eaLnBrk="0" hangingPunct="0"/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AIC 	</a:t>
            </a:r>
            <a:r>
              <a:rPr lang="nl-NL" altLang="nl-NL" sz="1333" dirty="0">
                <a:solidFill>
                  <a:srgbClr val="FF0000"/>
                </a:solidFill>
                <a:latin typeface="Lucida Console" panose="020B0609040504020204" pitchFamily="49" charset="0"/>
                <a:cs typeface="+mn-cs"/>
              </a:rPr>
              <a:t>106.6872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 	</a:t>
            </a:r>
          </a:p>
          <a:p>
            <a:pPr eaLnBrk="0" hangingPunct="0"/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with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: q = 5 (#diffuse </a:t>
            </a:r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states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) w = 2 (#</a:t>
            </a:r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hyp.par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) </a:t>
            </a:r>
          </a:p>
          <a:p>
            <a:pPr eaLnBrk="0" hangingPunct="0"/>
            <a:endParaRPr lang="nl-NL" altLang="nl-NL" sz="1333" dirty="0">
              <a:latin typeface="Lucida Console" panose="020B0609040504020204" pitchFamily="49" charset="0"/>
              <a:cs typeface="+mn-cs"/>
            </a:endParaRPr>
          </a:p>
          <a:p>
            <a:pPr eaLnBrk="0" hangingPunct="0"/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parameter </a:t>
            </a:r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estimates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: </a:t>
            </a:r>
          </a:p>
          <a:p>
            <a:pPr eaLnBrk="0" hangingPunct="0"/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	sigma 		sigma^2 		t-</a:t>
            </a:r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value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 </a:t>
            </a:r>
          </a:p>
          <a:p>
            <a:pPr eaLnBrk="0" hangingPunct="0"/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meas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 	1.5604152 	2.43489563 	</a:t>
            </a:r>
            <a:r>
              <a:rPr lang="nl-NL" altLang="nl-NL" sz="1333" dirty="0">
                <a:solidFill>
                  <a:srgbClr val="FF0000"/>
                </a:solidFill>
                <a:latin typeface="Lucida Console" panose="020B0609040504020204" pitchFamily="49" charset="0"/>
                <a:cs typeface="+mn-cs"/>
              </a:rPr>
              <a:t>2.539414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 </a:t>
            </a:r>
          </a:p>
          <a:p>
            <a:pPr eaLnBrk="0" hangingPunct="0"/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slope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 	0.2478813 	0.06144512 	</a:t>
            </a:r>
            <a:r>
              <a:rPr lang="nl-NL" altLang="nl-NL" sz="1333" dirty="0">
                <a:solidFill>
                  <a:srgbClr val="FF0000"/>
                </a:solidFill>
                <a:latin typeface="Lucida Console" panose="020B0609040504020204" pitchFamily="49" charset="0"/>
                <a:cs typeface="+mn-cs"/>
              </a:rPr>
              <a:t>2.863437</a:t>
            </a:r>
            <a:endParaRPr lang="nl-NL" altLang="nl-NL" sz="2400" dirty="0">
              <a:solidFill>
                <a:srgbClr val="FF0000"/>
              </a:solidFill>
              <a:latin typeface="Arial" panose="020B06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2987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362CED1-C88C-D3E8-2DB2-3821DDAC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21</a:t>
            </a:fld>
            <a:endParaRPr lang="nl-NL" dirty="0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371A76CB-63ED-2040-5DD1-75A46851B0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487488" y="2853194"/>
            <a:ext cx="9085691" cy="16409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----</a:t>
            </a:r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Diagnostics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 summary:---- </a:t>
            </a:r>
          </a:p>
          <a:p>
            <a:pPr eaLnBrk="0" hangingPunct="0"/>
            <a:endParaRPr lang="nl-NL" altLang="nl-NL" sz="1333" dirty="0">
              <a:latin typeface="Lucida Console" panose="020B0609040504020204" pitchFamily="49" charset="0"/>
              <a:cs typeface="+mn-cs"/>
            </a:endParaRPr>
          </a:p>
          <a:p>
            <a:pPr eaLnBrk="0" hangingPunct="0"/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		</a:t>
            </a:r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Statistic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 	Value 	</a:t>
            </a:r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Critical_value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 </a:t>
            </a:r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Assumption_satisfied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 </a:t>
            </a:r>
          </a:p>
          <a:p>
            <a:pPr eaLnBrk="0" hangingPunct="0"/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Independence 	Q(10) 		4.665 	16.919 		+ </a:t>
            </a:r>
          </a:p>
          <a:p>
            <a:pPr eaLnBrk="0" hangingPunct="0"/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		r(1) 		-0.012 	+/-0.4 		+ </a:t>
            </a:r>
          </a:p>
          <a:p>
            <a:pPr eaLnBrk="0" hangingPunct="0"/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		r(4) 		-0.142 	+/-0.4 		+ </a:t>
            </a:r>
          </a:p>
          <a:p>
            <a:pPr eaLnBrk="0" hangingPunct="0"/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Homoscedasticity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 	1/H(7) 		6.129 	4.995 		- </a:t>
            </a:r>
          </a:p>
          <a:p>
            <a:pPr eaLnBrk="0" hangingPunct="0"/>
            <a:r>
              <a:rPr lang="nl-NL" altLang="nl-NL" sz="1333" dirty="0" err="1">
                <a:latin typeface="Lucida Console" panose="020B0609040504020204" pitchFamily="49" charset="0"/>
                <a:cs typeface="+mn-cs"/>
              </a:rPr>
              <a:t>Normality</a:t>
            </a:r>
            <a:r>
              <a:rPr lang="nl-NL" altLang="nl-NL" sz="1333" dirty="0">
                <a:latin typeface="Lucida Console" panose="020B0609040504020204" pitchFamily="49" charset="0"/>
                <a:cs typeface="+mn-cs"/>
              </a:rPr>
              <a:t> 	N 		9.066 	5.991 		- </a:t>
            </a:r>
            <a:endParaRPr lang="nl-NL" altLang="nl-NL" sz="2400" dirty="0">
              <a:solidFill>
                <a:prstClr val="black"/>
              </a:solidFill>
              <a:latin typeface="Arial" panose="020B06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117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09AE8F13-F034-53A9-61BF-B2ECBAB6E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22</a:t>
            </a:fld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 err="1"/>
              <a:t>Overfitting</a:t>
            </a:r>
            <a:r>
              <a:rPr lang="nl-NL" dirty="0"/>
              <a:t> –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does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mean</a:t>
            </a:r>
            <a:r>
              <a:rPr lang="nl-NL" dirty="0"/>
              <a:t>?</a:t>
            </a:r>
          </a:p>
        </p:txBody>
      </p:sp>
      <p:pic>
        <p:nvPicPr>
          <p:cNvPr id="5" name="Afbeelding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78" y="1700808"/>
            <a:ext cx="4981511" cy="2470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Afbeelding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34" y="1688896"/>
            <a:ext cx="4732829" cy="248248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el 6"/>
              <p:cNvGraphicFramePr>
                <a:graphicFrameLocks noGrp="1"/>
              </p:cNvGraphicFramePr>
              <p:nvPr/>
            </p:nvGraphicFramePr>
            <p:xfrm>
              <a:off x="2404953" y="4778507"/>
              <a:ext cx="7113271" cy="13848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64653">
                      <a:extLst>
                        <a:ext uri="{9D8B030D-6E8A-4147-A177-3AD203B41FA5}">
                          <a16:colId xmlns:a16="http://schemas.microsoft.com/office/drawing/2014/main" val="2168213172"/>
                        </a:ext>
                      </a:extLst>
                    </a:gridCol>
                    <a:gridCol w="1158729">
                      <a:extLst>
                        <a:ext uri="{9D8B030D-6E8A-4147-A177-3AD203B41FA5}">
                          <a16:colId xmlns:a16="http://schemas.microsoft.com/office/drawing/2014/main" val="59410488"/>
                        </a:ext>
                      </a:extLst>
                    </a:gridCol>
                    <a:gridCol w="1104567">
                      <a:extLst>
                        <a:ext uri="{9D8B030D-6E8A-4147-A177-3AD203B41FA5}">
                          <a16:colId xmlns:a16="http://schemas.microsoft.com/office/drawing/2014/main" val="187898915"/>
                        </a:ext>
                      </a:extLst>
                    </a:gridCol>
                    <a:gridCol w="1212895">
                      <a:extLst>
                        <a:ext uri="{9D8B030D-6E8A-4147-A177-3AD203B41FA5}">
                          <a16:colId xmlns:a16="http://schemas.microsoft.com/office/drawing/2014/main" val="3952139819"/>
                        </a:ext>
                      </a:extLst>
                    </a:gridCol>
                    <a:gridCol w="1212895">
                      <a:extLst>
                        <a:ext uri="{9D8B030D-6E8A-4147-A177-3AD203B41FA5}">
                          <a16:colId xmlns:a16="http://schemas.microsoft.com/office/drawing/2014/main" val="3190411140"/>
                        </a:ext>
                      </a:extLst>
                    </a:gridCol>
                    <a:gridCol w="1159532">
                      <a:extLst>
                        <a:ext uri="{9D8B030D-6E8A-4147-A177-3AD203B41FA5}">
                          <a16:colId xmlns:a16="http://schemas.microsoft.com/office/drawing/2014/main" val="2055329756"/>
                        </a:ext>
                      </a:extLst>
                    </a:gridCol>
                  </a:tblGrid>
                  <a:tr h="459571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effectLst/>
                            </a:rPr>
                            <a:t>      </a:t>
                          </a:r>
                        </a:p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effectLst/>
                            </a:rPr>
                            <a:t>component</a:t>
                          </a: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300">
                              <a:effectLst/>
                            </a:rPr>
                            <a:t>1</a:t>
                          </a:r>
                          <a:endParaRPr lang="nl-NL" sz="1300">
                            <a:effectLst/>
                          </a:endParaRPr>
                        </a:p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Local level 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 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2</a:t>
                          </a:r>
                        </a:p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Smooth trend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 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5777917"/>
                      </a:ext>
                    </a:extLst>
                  </a:tr>
                  <a:tr h="222504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 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 err="1">
                              <a:effectLst/>
                              <a:latin typeface="Calibri"/>
                              <a:ea typeface="+mn-ea"/>
                              <a:cs typeface="+mn-cs"/>
                            </a:rPr>
                            <a:t>value</a:t>
                          </a: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effectLst/>
                            </a:rPr>
                            <a:t>t-</a:t>
                          </a:r>
                          <a:r>
                            <a:rPr lang="nl-NL" sz="1300" dirty="0" err="1">
                              <a:effectLst/>
                            </a:rPr>
                            <a:t>value</a:t>
                          </a: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 err="1">
                              <a:effectLst/>
                            </a:rPr>
                            <a:t>value</a:t>
                          </a: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effectLst/>
                            </a:rPr>
                            <a:t>t-</a:t>
                          </a:r>
                          <a:r>
                            <a:rPr lang="nl-NL" sz="1300" dirty="0" err="1">
                              <a:effectLst/>
                            </a:rPr>
                            <a:t>value</a:t>
                          </a: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4809388"/>
                      </a:ext>
                    </a:extLst>
                  </a:tr>
                  <a:tr h="222504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 err="1">
                              <a:effectLst/>
                            </a:rPr>
                            <a:t>Signal</a:t>
                          </a:r>
                          <a:r>
                            <a:rPr lang="nl-NL" sz="1300" dirty="0">
                              <a:effectLst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nl-NL" sz="13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1300"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GB" sz="1300">
                                      <a:effectLst/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sub>
                                <m:sup/>
                              </m:sSubSup>
                            </m:oMath>
                          </a14:m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solidFill>
                                <a:srgbClr val="FF0000"/>
                              </a:solidFill>
                              <a:effectLst/>
                            </a:rPr>
                            <a:t>0,00314</a:t>
                          </a:r>
                          <a:endParaRPr lang="nl-NL" sz="130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solidFill>
                                <a:srgbClr val="FF0000"/>
                              </a:solidFill>
                              <a:effectLst/>
                            </a:rPr>
                            <a:t>0,32507</a:t>
                          </a:r>
                          <a:endParaRPr lang="nl-NL" sz="130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endParaRPr lang="nl-NL" sz="1300" dirty="0">
                            <a:solidFill>
                              <a:srgbClr val="00B05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solidFill>
                                <a:srgbClr val="00B050"/>
                              </a:solidFill>
                              <a:effectLst/>
                            </a:rPr>
                            <a:t>0,13464</a:t>
                          </a:r>
                          <a:endParaRPr lang="nl-NL" sz="1300" dirty="0">
                            <a:solidFill>
                              <a:srgbClr val="00B05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solidFill>
                                <a:srgbClr val="00B050"/>
                              </a:solidFill>
                              <a:effectLst/>
                            </a:rPr>
                            <a:t>31,21426</a:t>
                          </a:r>
                          <a:endParaRPr lang="nl-NL" sz="1300" dirty="0">
                            <a:solidFill>
                              <a:srgbClr val="00B05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2621078"/>
                      </a:ext>
                    </a:extLst>
                  </a:tr>
                  <a:tr h="23816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effectLst/>
                            </a:rPr>
                            <a:t>Level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nl-NL" sz="13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1300"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GB" sz="1300">
                                      <a:effectLst/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b>
                                <m:sup/>
                              </m:sSubSup>
                            </m:oMath>
                          </a14:m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0,23923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29,43135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-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-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904959"/>
                      </a:ext>
                    </a:extLst>
                  </a:tr>
                  <a:tr h="242147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Slope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nl-NL" sz="13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1300"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GB" sz="1300">
                                      <a:effectLst/>
                                      <a:latin typeface="Cambria Math" panose="02040503050406030204" pitchFamily="18" charset="0"/>
                                    </a:rPr>
                                    <m:t>𝜁</m:t>
                                  </m:r>
                                </m:sub>
                                <m:sup/>
                              </m:sSubSup>
                            </m:oMath>
                          </a14:m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-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-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effectLst/>
                            </a:rPr>
                            <a:t>0,08598</a:t>
                          </a: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effectLst/>
                            </a:rPr>
                            <a:t>22,30516</a:t>
                          </a: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218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el 6"/>
              <p:cNvGraphicFramePr>
                <a:graphicFrameLocks noGrp="1"/>
              </p:cNvGraphicFramePr>
              <p:nvPr/>
            </p:nvGraphicFramePr>
            <p:xfrm>
              <a:off x="2404953" y="4778507"/>
              <a:ext cx="7113271" cy="13848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64653">
                      <a:extLst>
                        <a:ext uri="{9D8B030D-6E8A-4147-A177-3AD203B41FA5}">
                          <a16:colId xmlns:a16="http://schemas.microsoft.com/office/drawing/2014/main" val="2168213172"/>
                        </a:ext>
                      </a:extLst>
                    </a:gridCol>
                    <a:gridCol w="1158729">
                      <a:extLst>
                        <a:ext uri="{9D8B030D-6E8A-4147-A177-3AD203B41FA5}">
                          <a16:colId xmlns:a16="http://schemas.microsoft.com/office/drawing/2014/main" val="59410488"/>
                        </a:ext>
                      </a:extLst>
                    </a:gridCol>
                    <a:gridCol w="1104567">
                      <a:extLst>
                        <a:ext uri="{9D8B030D-6E8A-4147-A177-3AD203B41FA5}">
                          <a16:colId xmlns:a16="http://schemas.microsoft.com/office/drawing/2014/main" val="187898915"/>
                        </a:ext>
                      </a:extLst>
                    </a:gridCol>
                    <a:gridCol w="1212895">
                      <a:extLst>
                        <a:ext uri="{9D8B030D-6E8A-4147-A177-3AD203B41FA5}">
                          <a16:colId xmlns:a16="http://schemas.microsoft.com/office/drawing/2014/main" val="3952139819"/>
                        </a:ext>
                      </a:extLst>
                    </a:gridCol>
                    <a:gridCol w="1212895">
                      <a:extLst>
                        <a:ext uri="{9D8B030D-6E8A-4147-A177-3AD203B41FA5}">
                          <a16:colId xmlns:a16="http://schemas.microsoft.com/office/drawing/2014/main" val="3190411140"/>
                        </a:ext>
                      </a:extLst>
                    </a:gridCol>
                    <a:gridCol w="1159532">
                      <a:extLst>
                        <a:ext uri="{9D8B030D-6E8A-4147-A177-3AD203B41FA5}">
                          <a16:colId xmlns:a16="http://schemas.microsoft.com/office/drawing/2014/main" val="2055329756"/>
                        </a:ext>
                      </a:extLst>
                    </a:gridCol>
                  </a:tblGrid>
                  <a:tr h="459571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effectLst/>
                            </a:rPr>
                            <a:t>      </a:t>
                          </a:r>
                        </a:p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effectLst/>
                            </a:rPr>
                            <a:t>component</a:t>
                          </a: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300">
                              <a:effectLst/>
                            </a:rPr>
                            <a:t>1</a:t>
                          </a:r>
                          <a:endParaRPr lang="nl-NL" sz="1300">
                            <a:effectLst/>
                          </a:endParaRPr>
                        </a:p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Local level 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 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2</a:t>
                          </a:r>
                        </a:p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Smooth trend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 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5777917"/>
                      </a:ext>
                    </a:extLst>
                  </a:tr>
                  <a:tr h="222504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 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 err="1">
                              <a:effectLst/>
                              <a:latin typeface="Calibri"/>
                              <a:ea typeface="+mn-ea"/>
                              <a:cs typeface="+mn-cs"/>
                            </a:rPr>
                            <a:t>value</a:t>
                          </a: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effectLst/>
                            </a:rPr>
                            <a:t>t-</a:t>
                          </a:r>
                          <a:r>
                            <a:rPr lang="nl-NL" sz="1300" dirty="0" err="1">
                              <a:effectLst/>
                            </a:rPr>
                            <a:t>value</a:t>
                          </a: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 err="1">
                              <a:effectLst/>
                            </a:rPr>
                            <a:t>value</a:t>
                          </a: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ct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effectLst/>
                            </a:rPr>
                            <a:t>t-</a:t>
                          </a:r>
                          <a:r>
                            <a:rPr lang="nl-NL" sz="1300" dirty="0" err="1">
                              <a:effectLst/>
                            </a:rPr>
                            <a:t>value</a:t>
                          </a: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4809388"/>
                      </a:ext>
                    </a:extLst>
                  </a:tr>
                  <a:tr h="222504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81" t="-335135" r="-463462" b="-254054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solidFill>
                                <a:srgbClr val="FF0000"/>
                              </a:solidFill>
                              <a:effectLst/>
                            </a:rPr>
                            <a:t>0,00314</a:t>
                          </a:r>
                          <a:endParaRPr lang="nl-NL" sz="130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solidFill>
                                <a:srgbClr val="FF0000"/>
                              </a:solidFill>
                              <a:effectLst/>
                            </a:rPr>
                            <a:t>0,32507</a:t>
                          </a:r>
                          <a:endParaRPr lang="nl-NL" sz="130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endParaRPr lang="nl-NL" sz="1300" dirty="0">
                            <a:solidFill>
                              <a:srgbClr val="00B05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solidFill>
                                <a:srgbClr val="00B050"/>
                              </a:solidFill>
                              <a:effectLst/>
                            </a:rPr>
                            <a:t>0,13464</a:t>
                          </a:r>
                          <a:endParaRPr lang="nl-NL" sz="1300" dirty="0">
                            <a:solidFill>
                              <a:srgbClr val="00B05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solidFill>
                                <a:srgbClr val="00B050"/>
                              </a:solidFill>
                              <a:effectLst/>
                            </a:rPr>
                            <a:t>31,21426</a:t>
                          </a:r>
                          <a:endParaRPr lang="nl-NL" sz="1300" dirty="0">
                            <a:solidFill>
                              <a:srgbClr val="00B05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2621078"/>
                      </a:ext>
                    </a:extLst>
                  </a:tr>
                  <a:tr h="238168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81" t="-412821" r="-463462" b="-141026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0,23923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29,43135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-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-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904959"/>
                      </a:ext>
                    </a:extLst>
                  </a:tr>
                  <a:tr h="242147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marT="0" marB="0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81" t="-500000" r="-463462" b="-37500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-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>
                              <a:effectLst/>
                            </a:rPr>
                            <a:t>-</a:t>
                          </a:r>
                          <a:endParaRPr lang="nl-NL" sz="13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effectLst/>
                            </a:rPr>
                            <a:t>0,08598</a:t>
                          </a: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Calibri"/>
                            </a:defRPr>
                          </a:lvl9pPr>
                        </a:lstStyle>
                        <a:p>
                          <a:pPr algn="r">
                            <a:lnSpc>
                              <a:spcPts val="14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nl-NL" sz="1300" dirty="0">
                              <a:effectLst/>
                            </a:rPr>
                            <a:t>22,30516</a:t>
                          </a:r>
                          <a:endParaRPr lang="nl-NL" sz="13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b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F81BD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2188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88510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89AA1154-C006-8FE9-3A58-A05907559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components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include</a:t>
            </a:r>
            <a:r>
              <a:rPr lang="nl-NL" dirty="0"/>
              <a:t>?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23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dirty="0" err="1"/>
              <a:t>Everything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|t-</a:t>
            </a:r>
            <a:r>
              <a:rPr lang="nl-NL" dirty="0" err="1"/>
              <a:t>value</a:t>
            </a:r>
            <a:r>
              <a:rPr lang="nl-NL" dirty="0"/>
              <a:t>| &gt;1.96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do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include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,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absorbed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time series </a:t>
            </a:r>
            <a:r>
              <a:rPr lang="nl-NL" dirty="0" err="1"/>
              <a:t>components</a:t>
            </a:r>
            <a:endParaRPr lang="nl-NL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dirty="0" err="1"/>
              <a:t>Interaction</a:t>
            </a:r>
            <a:r>
              <a:rPr lang="nl-NL" dirty="0"/>
              <a:t>: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do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include</a:t>
            </a:r>
            <a:r>
              <a:rPr lang="nl-NL" dirty="0"/>
              <a:t> </a:t>
            </a:r>
            <a:r>
              <a:rPr lang="nl-NL" dirty="0" err="1"/>
              <a:t>certain</a:t>
            </a:r>
            <a:r>
              <a:rPr lang="nl-NL" dirty="0"/>
              <a:t> </a:t>
            </a:r>
            <a:r>
              <a:rPr lang="nl-NL" dirty="0" err="1"/>
              <a:t>effects</a:t>
            </a:r>
            <a:r>
              <a:rPr lang="nl-NL" dirty="0"/>
              <a:t>, </a:t>
            </a:r>
            <a:r>
              <a:rPr lang="nl-NL" dirty="0" err="1"/>
              <a:t>they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marked</a:t>
            </a:r>
            <a:r>
              <a:rPr lang="nl-NL" dirty="0"/>
              <a:t> as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outlier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causes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 (</a:t>
            </a:r>
            <a:r>
              <a:rPr lang="nl-NL" dirty="0" err="1"/>
              <a:t>not</a:t>
            </a:r>
            <a:r>
              <a:rPr lang="nl-NL" dirty="0"/>
              <a:t>)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marked</a:t>
            </a:r>
            <a:r>
              <a:rPr lang="nl-NL" dirty="0"/>
              <a:t> as </a:t>
            </a:r>
            <a:r>
              <a:rPr lang="nl-NL" dirty="0" err="1"/>
              <a:t>outlier</a:t>
            </a:r>
            <a:r>
              <a:rPr lang="nl-NL" dirty="0"/>
              <a:t>.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dirty="0" err="1"/>
              <a:t>Think</a:t>
            </a:r>
            <a:r>
              <a:rPr lang="nl-NL" dirty="0"/>
              <a:t> </a:t>
            </a:r>
            <a:r>
              <a:rPr lang="nl-NL" dirty="0" err="1"/>
              <a:t>about</a:t>
            </a:r>
            <a:r>
              <a:rPr lang="nl-NL" dirty="0"/>
              <a:t> </a:t>
            </a:r>
            <a:r>
              <a:rPr lang="nl-NL" dirty="0" err="1"/>
              <a:t>parsimoniousness</a:t>
            </a:r>
            <a:r>
              <a:rPr lang="nl-NL" dirty="0"/>
              <a:t>/</a:t>
            </a:r>
            <a:r>
              <a:rPr lang="nl-NL" dirty="0" err="1"/>
              <a:t>overfitting</a:t>
            </a:r>
            <a:r>
              <a:rPr lang="nl-NL" dirty="0"/>
              <a:t> (AIC)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72909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B6FF582-FC2F-5ABD-EBB2-2A4E97EF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BFCEF94-F775-8072-06EA-C54524AAEF6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 baseline="0">
                <a:solidFill>
                  <a:srgbClr val="271D6C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45CA951-4815-4987-9CD6-BB5D6648C0B5}" type="slidenum">
              <a:rPr lang="nl-NL" sz="1200" smtClean="0"/>
              <a:pPr algn="ctr"/>
              <a:t>24</a:t>
            </a:fld>
            <a:endParaRPr lang="nl-NL" sz="16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731CDB1-8F98-2FD2-CBC9-C4141D0BAB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endParaRPr lang="nl-NL" dirty="0"/>
          </a:p>
          <a:p>
            <a:pPr algn="ctr"/>
            <a:endParaRPr lang="nl-NL" dirty="0"/>
          </a:p>
          <a:p>
            <a:pPr marL="0" indent="0" algn="ctr">
              <a:buNone/>
            </a:pPr>
            <a:endParaRPr lang="nl-NL" dirty="0"/>
          </a:p>
          <a:p>
            <a:pPr marL="0" indent="0" algn="ctr">
              <a:buNone/>
            </a:pPr>
            <a:r>
              <a:rPr lang="nl-NL" dirty="0" err="1"/>
              <a:t>Exercises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09768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CCDBE68-7424-9B04-FFC8-7C48B10FC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 </a:t>
            </a:r>
            <a:r>
              <a:rPr lang="nl-NL" dirty="0" err="1"/>
              <a:t>nowcast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sectors</a:t>
            </a:r>
            <a:br>
              <a:rPr lang="nl-NL" dirty="0"/>
            </a:b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5F3DD778-BF9B-800D-5471-28A0E72FC93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 baseline="0">
                <a:solidFill>
                  <a:srgbClr val="271D6C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45CA951-4815-4987-9CD6-BB5D6648C0B5}" type="slidenum">
              <a:rPr lang="nl-NL" sz="1200" smtClean="0"/>
              <a:pPr algn="ctr"/>
              <a:t>25</a:t>
            </a:fld>
            <a:endParaRPr lang="nl-NL" sz="16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0336B0D-E2DE-B344-A171-44E9BCA0D3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nl-NL" sz="2667" u="sng" dirty="0" err="1"/>
              <a:t>Problem</a:t>
            </a:r>
            <a:r>
              <a:rPr lang="nl-NL" sz="2667" dirty="0"/>
              <a:t>: no data sources </a:t>
            </a:r>
            <a:r>
              <a:rPr lang="nl-NL" sz="2667" dirty="0" err="1"/>
              <a:t>available</a:t>
            </a:r>
            <a:r>
              <a:rPr lang="nl-NL" sz="2667" dirty="0"/>
              <a:t> </a:t>
            </a:r>
            <a:r>
              <a:rPr lang="nl-NL" sz="2667" dirty="0" err="1"/>
              <a:t>for</a:t>
            </a:r>
            <a:r>
              <a:rPr lang="nl-NL" sz="2667" dirty="0"/>
              <a:t> </a:t>
            </a:r>
            <a:r>
              <a:rPr lang="nl-NL" sz="2667" dirty="0" err="1"/>
              <a:t>publication</a:t>
            </a:r>
            <a:r>
              <a:rPr lang="nl-NL" sz="2667" dirty="0"/>
              <a:t> </a:t>
            </a:r>
            <a:r>
              <a:rPr lang="nl-NL" sz="2667" dirty="0" err="1"/>
              <a:t>period</a:t>
            </a:r>
            <a:endParaRPr lang="nl-NL" sz="2667" dirty="0"/>
          </a:p>
          <a:p>
            <a:endParaRPr lang="nl-NL" sz="2667" dirty="0"/>
          </a:p>
          <a:p>
            <a:r>
              <a:rPr lang="nl-NL" sz="2667" u="sng" dirty="0" err="1"/>
              <a:t>Current</a:t>
            </a:r>
            <a:r>
              <a:rPr lang="nl-NL" sz="2667" u="sng" dirty="0"/>
              <a:t> approach</a:t>
            </a:r>
            <a:r>
              <a:rPr lang="nl-NL" sz="2667" dirty="0"/>
              <a:t>: flash </a:t>
            </a:r>
            <a:r>
              <a:rPr lang="nl-NL" sz="2667" dirty="0" err="1"/>
              <a:t>estimate</a:t>
            </a:r>
            <a:r>
              <a:rPr lang="nl-NL" sz="2667" dirty="0"/>
              <a:t> = </a:t>
            </a:r>
            <a:r>
              <a:rPr lang="nl-NL" sz="2667" dirty="0" err="1"/>
              <a:t>growth</a:t>
            </a:r>
            <a:r>
              <a:rPr lang="nl-NL" sz="2667" dirty="0"/>
              <a:t> </a:t>
            </a:r>
            <a:r>
              <a:rPr lang="nl-NL" sz="2667" dirty="0" err="1"/>
              <a:t>rate</a:t>
            </a:r>
            <a:r>
              <a:rPr lang="nl-NL" sz="2667" dirty="0"/>
              <a:t> of </a:t>
            </a:r>
            <a:r>
              <a:rPr lang="nl-NL" sz="2667" dirty="0" err="1"/>
              <a:t>previous</a:t>
            </a:r>
            <a:r>
              <a:rPr lang="nl-NL" sz="2667" dirty="0"/>
              <a:t> </a:t>
            </a:r>
            <a:r>
              <a:rPr lang="nl-NL" sz="2667" dirty="0" err="1"/>
              <a:t>quarter</a:t>
            </a:r>
            <a:r>
              <a:rPr lang="nl-NL" sz="2667" dirty="0"/>
              <a:t>, </a:t>
            </a:r>
            <a:r>
              <a:rPr lang="nl-NL" sz="2667" dirty="0" err="1"/>
              <a:t>possibly</a:t>
            </a:r>
            <a:r>
              <a:rPr lang="nl-NL" sz="2667" dirty="0"/>
              <a:t> </a:t>
            </a:r>
            <a:r>
              <a:rPr lang="nl-NL" sz="2667" dirty="0" err="1"/>
              <a:t>adjusted</a:t>
            </a:r>
            <a:r>
              <a:rPr lang="nl-NL" sz="2667" dirty="0"/>
              <a:t> </a:t>
            </a:r>
            <a:r>
              <a:rPr lang="nl-NL" sz="2667" dirty="0" err="1"/>
              <a:t>based</a:t>
            </a:r>
            <a:r>
              <a:rPr lang="nl-NL" sz="2667" dirty="0"/>
              <a:t> on expert </a:t>
            </a:r>
            <a:r>
              <a:rPr lang="nl-NL" sz="2667" dirty="0" err="1"/>
              <a:t>knowledge</a:t>
            </a:r>
            <a:r>
              <a:rPr lang="nl-NL" sz="2667" dirty="0"/>
              <a:t> (‘</a:t>
            </a:r>
            <a:r>
              <a:rPr lang="nl-NL" sz="2667" dirty="0" err="1"/>
              <a:t>naive</a:t>
            </a:r>
            <a:r>
              <a:rPr lang="nl-NL" sz="2667" dirty="0"/>
              <a:t> </a:t>
            </a:r>
            <a:r>
              <a:rPr lang="nl-NL" sz="2667" dirty="0" err="1"/>
              <a:t>method</a:t>
            </a:r>
            <a:r>
              <a:rPr lang="nl-NL" sz="2667" dirty="0"/>
              <a:t>’)</a:t>
            </a:r>
          </a:p>
          <a:p>
            <a:endParaRPr lang="nl-NL" sz="2667" dirty="0"/>
          </a:p>
          <a:p>
            <a:r>
              <a:rPr lang="nl-NL" sz="2667" u="sng" dirty="0"/>
              <a:t>Data</a:t>
            </a:r>
            <a:r>
              <a:rPr lang="nl-NL" sz="2667" dirty="0"/>
              <a:t>: </a:t>
            </a:r>
          </a:p>
          <a:p>
            <a:pPr lvl="1"/>
            <a:r>
              <a:rPr lang="nl-NL" sz="2667" dirty="0" err="1"/>
              <a:t>Quarterly</a:t>
            </a:r>
            <a:r>
              <a:rPr lang="nl-NL" sz="2667" dirty="0"/>
              <a:t> data Banking </a:t>
            </a:r>
            <a:r>
              <a:rPr lang="nl-NL" sz="2667" dirty="0" err="1"/>
              <a:t>and</a:t>
            </a:r>
            <a:r>
              <a:rPr lang="nl-NL" sz="2667" dirty="0"/>
              <a:t> Insurance sectors</a:t>
            </a:r>
          </a:p>
          <a:p>
            <a:pPr lvl="1"/>
            <a:r>
              <a:rPr lang="nl-NL" sz="2667" dirty="0" err="1"/>
              <a:t>Auxiliary</a:t>
            </a:r>
            <a:r>
              <a:rPr lang="nl-NL" sz="2667" dirty="0"/>
              <a:t> variables (stock exchange transactions, </a:t>
            </a:r>
            <a:r>
              <a:rPr lang="nl-NL" sz="2667" dirty="0" err="1"/>
              <a:t>mortgages</a:t>
            </a:r>
            <a:r>
              <a:rPr lang="nl-NL" sz="2667" dirty="0"/>
              <a:t>, </a:t>
            </a:r>
            <a:r>
              <a:rPr lang="nl-NL" sz="2667" dirty="0" err="1"/>
              <a:t>debit</a:t>
            </a:r>
            <a:r>
              <a:rPr lang="nl-NL" sz="2667" dirty="0"/>
              <a:t> card </a:t>
            </a:r>
            <a:r>
              <a:rPr lang="nl-NL" sz="2667" dirty="0" err="1"/>
              <a:t>payments</a:t>
            </a:r>
            <a:r>
              <a:rPr lang="nl-NL" sz="2667" dirty="0"/>
              <a:t>, </a:t>
            </a:r>
            <a:r>
              <a:rPr lang="nl-NL" sz="2667" dirty="0" err="1"/>
              <a:t>insurance</a:t>
            </a:r>
            <a:r>
              <a:rPr lang="nl-NL" sz="2667" dirty="0"/>
              <a:t> </a:t>
            </a:r>
            <a:r>
              <a:rPr lang="nl-NL" sz="2667" dirty="0" err="1"/>
              <a:t>policies</a:t>
            </a:r>
            <a:r>
              <a:rPr lang="nl-NL" sz="2667" dirty="0"/>
              <a:t>, …)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89670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F5E3622-7137-998B-3552-792B59F40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62BD67B9-1770-C031-BA75-14DD2FCDBDA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 baseline="0">
                <a:solidFill>
                  <a:srgbClr val="271D6C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45CA951-4815-4987-9CD6-BB5D6648C0B5}" type="slidenum">
              <a:rPr lang="nl-NL" sz="1200" smtClean="0"/>
              <a:pPr algn="ctr"/>
              <a:t>26</a:t>
            </a:fld>
            <a:endParaRPr lang="nl-NL" sz="16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F6BE376-7CFC-2011-AC73-E4CC3959A5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/>
              <a:t>R-script:</a:t>
            </a:r>
          </a:p>
          <a:p>
            <a:pPr marL="0" indent="0">
              <a:buNone/>
            </a:pPr>
            <a:r>
              <a:rPr lang="nl-NL" dirty="0">
                <a:latin typeface="Courier" pitchFamily="49" charset="0"/>
              </a:rPr>
              <a:t>   2.1_NowcastingSTM_part1.R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23711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B6FF582-FC2F-5ABD-EBB2-2A4E97EF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BFCEF94-F775-8072-06EA-C54524AAEF6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 baseline="0">
                <a:solidFill>
                  <a:srgbClr val="271D6C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45CA951-4815-4987-9CD6-BB5D6648C0B5}" type="slidenum">
              <a:rPr lang="nl-NL" sz="1200" smtClean="0"/>
              <a:pPr algn="ctr"/>
              <a:t>27</a:t>
            </a:fld>
            <a:endParaRPr lang="nl-NL" sz="16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731CDB1-8F98-2FD2-CBC9-C4141D0BAB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endParaRPr lang="nl-NL" dirty="0"/>
          </a:p>
          <a:p>
            <a:pPr algn="ctr"/>
            <a:endParaRPr lang="nl-NL" dirty="0"/>
          </a:p>
          <a:p>
            <a:pPr marL="0" indent="0" algn="ctr">
              <a:buNone/>
            </a:pPr>
            <a:endParaRPr lang="nl-NL" dirty="0"/>
          </a:p>
          <a:p>
            <a:pPr marL="0" indent="0" algn="ctr">
              <a:buNone/>
            </a:pPr>
            <a:r>
              <a:rPr lang="nl-NL" dirty="0" err="1"/>
              <a:t>Nowcasting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STM’s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81836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08CB22A-4D25-6673-0DD6-FDC969C1F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Time series </a:t>
            </a:r>
            <a:r>
              <a:rPr lang="nl-NL" dirty="0" err="1"/>
              <a:t>models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28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sz="2400" dirty="0"/>
              <a:t>Series = trend + </a:t>
            </a:r>
            <a:r>
              <a:rPr lang="nl-NL" sz="2400" dirty="0" err="1"/>
              <a:t>cycle</a:t>
            </a:r>
            <a:r>
              <a:rPr lang="nl-NL" sz="2400" dirty="0"/>
              <a:t> + </a:t>
            </a:r>
            <a:r>
              <a:rPr lang="nl-NL" sz="2400" dirty="0" err="1"/>
              <a:t>seasonal</a:t>
            </a:r>
            <a:r>
              <a:rPr lang="nl-NL" sz="2400" dirty="0"/>
              <a:t> + breaks + </a:t>
            </a:r>
            <a:r>
              <a:rPr lang="nl-NL" sz="2400" dirty="0" err="1"/>
              <a:t>outliers</a:t>
            </a:r>
            <a:r>
              <a:rPr lang="nl-NL" sz="2400" dirty="0"/>
              <a:t> + …. + </a:t>
            </a:r>
            <a:r>
              <a:rPr lang="nl-NL" sz="2400" dirty="0" err="1"/>
              <a:t>noise</a:t>
            </a:r>
            <a:endParaRPr lang="nl-NL" sz="2400" dirty="0"/>
          </a:p>
          <a:p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hthoek 4"/>
              <p:cNvSpPr/>
              <p:nvPr/>
            </p:nvSpPr>
            <p:spPr>
              <a:xfrm>
                <a:off x="1009584" y="3130949"/>
                <a:ext cx="9806880" cy="6243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544150"/>
                <a14:m>
                  <m:oMath xmlns:m="http://schemas.openxmlformats.org/officeDocument/2006/math">
                    <m:sSub>
                      <m:sSubPr>
                        <m:ctrlPr>
                          <a:rPr lang="nl-NL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nl-NL" sz="3200" i="1">
                            <a:solidFill>
                              <a:prstClr val="black"/>
                            </a:solidFill>
                            <a:latin typeface="Cambria Math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nl-NL" sz="3200" i="1">
                            <a:solidFill>
                              <a:prstClr val="black"/>
                            </a:solidFill>
                            <a:latin typeface="Cambria Math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nl-NL" sz="3200" i="1">
                        <a:solidFill>
                          <a:prstClr val="black"/>
                        </a:solidFill>
                        <a:latin typeface="Cambria Math"/>
                        <a:cs typeface="+mn-cs"/>
                      </a:rPr>
                      <m:t>=</m:t>
                    </m:r>
                    <m:sSub>
                      <m:sSubPr>
                        <m:ctrlPr>
                          <a:rPr lang="nl-NL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nl-NL" sz="3200" i="1">
                            <a:solidFill>
                              <a:prstClr val="black"/>
                            </a:solidFill>
                            <a:latin typeface="Cambria Math"/>
                            <a:cs typeface="+mn-cs"/>
                          </a:rPr>
                          <m:t>𝜏</m:t>
                        </m:r>
                      </m:e>
                      <m:sub>
                        <m:r>
                          <a:rPr lang="nl-NL" sz="3200" i="1">
                            <a:solidFill>
                              <a:prstClr val="black"/>
                            </a:solidFill>
                            <a:latin typeface="Cambria Math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nl-NL" sz="3200" i="1">
                        <a:solidFill>
                          <a:prstClr val="black"/>
                        </a:solidFill>
                        <a:latin typeface="Cambria Math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nl-NL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nl-NL" sz="3200" i="1">
                            <a:solidFill>
                              <a:prstClr val="black"/>
                            </a:solidFill>
                            <a:latin typeface="Cambria Math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lang="nl-NL" sz="3200" i="1">
                            <a:solidFill>
                              <a:prstClr val="black"/>
                            </a:solidFill>
                            <a:latin typeface="Cambria Math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nl-NL" sz="3200" i="1">
                        <a:solidFill>
                          <a:prstClr val="black"/>
                        </a:solidFill>
                        <a:latin typeface="Cambria Math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nl-NL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nl-NL" sz="3200" i="1">
                            <a:solidFill>
                              <a:prstClr val="black"/>
                            </a:solidFill>
                            <a:latin typeface="Cambria Math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nl-NL" sz="3200" i="1">
                            <a:solidFill>
                              <a:prstClr val="black"/>
                            </a:solidFill>
                            <a:latin typeface="Cambria Math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nl-NL" sz="3200" i="1">
                        <a:solidFill>
                          <a:prstClr val="black"/>
                        </a:solidFill>
                        <a:latin typeface="Cambria Math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nl-NL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nl-NL" sz="3200" i="1">
                            <a:solidFill>
                              <a:prstClr val="black"/>
                            </a:solidFill>
                            <a:latin typeface="Cambria Math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lang="nl-NL" sz="3200" i="1">
                            <a:solidFill>
                              <a:prstClr val="black"/>
                            </a:solidFill>
                            <a:latin typeface="Cambria Math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nl-NL" sz="3200" i="1">
                        <a:solidFill>
                          <a:prstClr val="black"/>
                        </a:solidFill>
                        <a:latin typeface="Cambria Math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nl-NL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nl-NL" sz="3200" i="1">
                            <a:solidFill>
                              <a:prstClr val="black"/>
                            </a:solidFill>
                            <a:latin typeface="Cambria Math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lang="nl-NL" sz="3200" i="1">
                            <a:solidFill>
                              <a:prstClr val="black"/>
                            </a:solidFill>
                            <a:latin typeface="Cambria Math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nl-NL" sz="3200" i="1">
                        <a:solidFill>
                          <a:prstClr val="black"/>
                        </a:solidFill>
                        <a:latin typeface="Cambria Math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nl-NL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n-GB" sz="3200" i="1">
                            <a:solidFill>
                              <a:prstClr val="black"/>
                            </a:solidFill>
                            <a:latin typeface="Cambria Math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lang="en-GB" sz="3200" i="1">
                            <a:solidFill>
                              <a:prstClr val="black"/>
                            </a:solidFill>
                            <a:latin typeface="Cambria Math"/>
                            <a:cs typeface="+mn-cs"/>
                          </a:rPr>
                          <m:t>𝑗</m:t>
                        </m:r>
                      </m:sub>
                    </m:sSub>
                    <m:r>
                      <a:rPr lang="nl-NL" sz="3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+…</m:t>
                    </m:r>
                    <m:r>
                      <a:rPr lang="nl-NL" sz="3200" i="1">
                        <a:solidFill>
                          <a:prstClr val="black"/>
                        </a:solidFill>
                        <a:latin typeface="Cambria Math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nl-NL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nl-NL" sz="3200" i="1">
                            <a:solidFill>
                              <a:prstClr val="black"/>
                            </a:solidFill>
                            <a:latin typeface="Cambria Math"/>
                            <a:cs typeface="+mn-cs"/>
                          </a:rPr>
                          <m:t>𝜀</m:t>
                        </m:r>
                      </m:e>
                      <m:sub>
                        <m:r>
                          <a:rPr lang="nl-NL" sz="3200" i="1">
                            <a:solidFill>
                              <a:prstClr val="black"/>
                            </a:solidFill>
                            <a:latin typeface="Cambria Math"/>
                            <a:cs typeface="+mn-cs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sz="3200" dirty="0">
                    <a:solidFill>
                      <a:prstClr val="black"/>
                    </a:solidFill>
                    <a:latin typeface="Calibri"/>
                    <a:cs typeface="+mn-cs"/>
                  </a:rPr>
                  <a:t>,       t=1,…,T</a:t>
                </a:r>
              </a:p>
            </p:txBody>
          </p:sp>
        </mc:Choice>
        <mc:Fallback xmlns="">
          <p:sp>
            <p:nvSpPr>
              <p:cNvPr id="5" name="Rechthoek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584" y="3130949"/>
                <a:ext cx="9806880" cy="624338"/>
              </a:xfrm>
              <a:prstGeom prst="rect">
                <a:avLst/>
              </a:prstGeom>
              <a:blipFill>
                <a:blip r:embed="rId2"/>
                <a:stretch>
                  <a:fillRect t="-11765" b="-264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E0850EF6-F1DC-EEB5-B465-6B60FF245762}"/>
              </a:ext>
            </a:extLst>
          </p:cNvPr>
          <p:cNvCxnSpPr/>
          <p:nvPr/>
        </p:nvCxnSpPr>
        <p:spPr>
          <a:xfrm flipV="1">
            <a:off x="7248128" y="3621021"/>
            <a:ext cx="0" cy="8640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3487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C7075DD-A47A-2007-84C8-37A80E429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forecasting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nowcasting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29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  <a:p>
            <a:endParaRPr lang="nl-NL" dirty="0"/>
          </a:p>
          <a:p>
            <a:pPr marL="0" indent="0">
              <a:buNone/>
            </a:pPr>
            <a:r>
              <a:rPr lang="nl-NL" sz="2400" dirty="0" err="1"/>
              <a:t>Use</a:t>
            </a:r>
            <a:r>
              <a:rPr lang="nl-NL" sz="2400" dirty="0"/>
              <a:t> of </a:t>
            </a:r>
            <a:r>
              <a:rPr lang="nl-NL" sz="2400" dirty="0" err="1"/>
              <a:t>auxiliary</a:t>
            </a:r>
            <a:r>
              <a:rPr lang="nl-NL" sz="2400" dirty="0"/>
              <a:t> series: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/>
              <a:t>Via </a:t>
            </a:r>
            <a:r>
              <a:rPr lang="nl-NL" sz="2400" dirty="0" err="1"/>
              <a:t>regressor</a:t>
            </a:r>
            <a:r>
              <a:rPr lang="nl-NL" sz="2400" dirty="0"/>
              <a:t> </a:t>
            </a:r>
          </a:p>
          <a:p>
            <a:pPr marL="342000" lvl="1" indent="0">
              <a:buNone/>
            </a:pPr>
            <a:r>
              <a:rPr lang="nl-NL" sz="2400" dirty="0">
                <a:solidFill>
                  <a:srgbClr val="271D6C"/>
                </a:solidFill>
              </a:rPr>
              <a:t> 	 </a:t>
            </a:r>
            <a:r>
              <a:rPr lang="nl-NL" sz="2000" dirty="0" err="1">
                <a:solidFill>
                  <a:srgbClr val="271D6C"/>
                </a:solidFill>
              </a:rPr>
              <a:t>If</a:t>
            </a:r>
            <a:r>
              <a:rPr lang="nl-NL" sz="2000" dirty="0">
                <a:solidFill>
                  <a:srgbClr val="271D6C"/>
                </a:solidFill>
              </a:rPr>
              <a:t> </a:t>
            </a:r>
            <a:r>
              <a:rPr lang="nl-NL" sz="2000" dirty="0" err="1">
                <a:solidFill>
                  <a:srgbClr val="271D6C"/>
                </a:solidFill>
              </a:rPr>
              <a:t>they</a:t>
            </a:r>
            <a:r>
              <a:rPr lang="nl-NL" sz="2000" dirty="0">
                <a:solidFill>
                  <a:srgbClr val="271D6C"/>
                </a:solidFill>
              </a:rPr>
              <a:t> </a:t>
            </a:r>
            <a:r>
              <a:rPr lang="nl-NL" sz="2000" dirty="0" err="1">
                <a:solidFill>
                  <a:srgbClr val="271D6C"/>
                </a:solidFill>
              </a:rPr>
              <a:t>give</a:t>
            </a:r>
            <a:r>
              <a:rPr lang="nl-NL" sz="2000" dirty="0">
                <a:solidFill>
                  <a:srgbClr val="271D6C"/>
                </a:solidFill>
              </a:rPr>
              <a:t> a </a:t>
            </a:r>
            <a:r>
              <a:rPr lang="nl-NL" sz="2000" dirty="0" err="1">
                <a:solidFill>
                  <a:srgbClr val="271D6C"/>
                </a:solidFill>
              </a:rPr>
              <a:t>partial</a:t>
            </a:r>
            <a:r>
              <a:rPr lang="nl-NL" sz="2000" dirty="0">
                <a:solidFill>
                  <a:srgbClr val="271D6C"/>
                </a:solidFill>
              </a:rPr>
              <a:t> </a:t>
            </a:r>
            <a:r>
              <a:rPr lang="nl-NL" sz="2000" dirty="0" err="1">
                <a:solidFill>
                  <a:srgbClr val="271D6C"/>
                </a:solidFill>
              </a:rPr>
              <a:t>explanation</a:t>
            </a:r>
            <a:r>
              <a:rPr lang="nl-NL" sz="2000" dirty="0">
                <a:solidFill>
                  <a:srgbClr val="271D6C"/>
                </a:solidFill>
              </a:rPr>
              <a:t> of target series</a:t>
            </a:r>
            <a:endParaRPr lang="nl-NL" sz="2400" dirty="0">
              <a:solidFill>
                <a:srgbClr val="271D6C"/>
              </a:solidFill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/>
              <a:t>In a </a:t>
            </a:r>
            <a:r>
              <a:rPr lang="nl-NL" sz="2400" dirty="0" err="1"/>
              <a:t>simultaneous</a:t>
            </a:r>
            <a:r>
              <a:rPr lang="nl-NL" sz="2400" dirty="0"/>
              <a:t> (bi-, multivariate) model</a:t>
            </a:r>
          </a:p>
          <a:p>
            <a:pPr marL="342000" lvl="1" indent="0">
              <a:buNone/>
            </a:pPr>
            <a:r>
              <a:rPr lang="nl-NL" sz="2400" dirty="0">
                <a:solidFill>
                  <a:srgbClr val="271D6C"/>
                </a:solidFill>
              </a:rPr>
              <a:t> 	 </a:t>
            </a:r>
            <a:r>
              <a:rPr lang="nl-NL" sz="2000" dirty="0" err="1">
                <a:solidFill>
                  <a:srgbClr val="271D6C"/>
                </a:solidFill>
              </a:rPr>
              <a:t>If</a:t>
            </a:r>
            <a:r>
              <a:rPr lang="nl-NL" sz="2000" dirty="0">
                <a:solidFill>
                  <a:srgbClr val="271D6C"/>
                </a:solidFill>
              </a:rPr>
              <a:t> </a:t>
            </a:r>
            <a:r>
              <a:rPr lang="nl-NL" sz="2000" dirty="0" err="1">
                <a:solidFill>
                  <a:srgbClr val="271D6C"/>
                </a:solidFill>
              </a:rPr>
              <a:t>they</a:t>
            </a:r>
            <a:r>
              <a:rPr lang="nl-NL" sz="2000" dirty="0">
                <a:solidFill>
                  <a:srgbClr val="271D6C"/>
                </a:solidFill>
              </a:rPr>
              <a:t> have a common time series component</a:t>
            </a:r>
            <a:endParaRPr lang="nl-NL" sz="2400" dirty="0">
              <a:solidFill>
                <a:srgbClr val="271D6C"/>
              </a:solidFill>
            </a:endParaRPr>
          </a:p>
          <a:p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82E12B2-7B9B-7EE8-8A24-0A61D1805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947" y="1028734"/>
            <a:ext cx="5803599" cy="203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90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982CB58A-6A9E-4C31-9592-350A007B4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Model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explanatory</a:t>
            </a:r>
            <a:r>
              <a:rPr lang="nl-NL" dirty="0"/>
              <a:t> variabele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30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marL="342000" lvl="1" indent="0">
              <a:buNone/>
            </a:pPr>
            <a:endParaRPr lang="nl-NL" sz="2667" dirty="0"/>
          </a:p>
          <a:p>
            <a:pPr marL="342000" lvl="1" indent="0">
              <a:buNone/>
            </a:pPr>
            <a:r>
              <a:rPr lang="nl-NL" sz="2667" dirty="0"/>
              <a:t>  : </a:t>
            </a:r>
            <a:r>
              <a:rPr lang="nl-NL" sz="2667" dirty="0" err="1"/>
              <a:t>regressors</a:t>
            </a:r>
            <a:r>
              <a:rPr lang="nl-NL" sz="2667" dirty="0"/>
              <a:t>, </a:t>
            </a:r>
            <a:r>
              <a:rPr lang="nl-NL" sz="2667" dirty="0" err="1"/>
              <a:t>outliers</a:t>
            </a:r>
            <a:r>
              <a:rPr lang="nl-NL" sz="2667" dirty="0"/>
              <a:t>, breaks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004901" y="4005064"/>
          <a:ext cx="425760" cy="50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2" imgW="203040" imgH="241200" progId="Equation.3">
                  <p:embed/>
                </p:oleObj>
              </mc:Choice>
              <mc:Fallback>
                <p:oleObj name="Vergelijking" r:id="rId2" imgW="203040" imgH="24120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901" y="4005064"/>
                        <a:ext cx="425760" cy="50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/>
              <p:cNvSpPr txBox="1"/>
              <p:nvPr/>
            </p:nvSpPr>
            <p:spPr>
              <a:xfrm>
                <a:off x="911424" y="1796819"/>
                <a:ext cx="8696676" cy="17440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544150"/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nl-NL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nl-NL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</m:e>
                        <m:e>
                          <m:sSub>
                            <m:sSubPr>
                              <m:ctrlP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lang="nl-NL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𝑗</m:t>
                              </m:r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𝑗𝑡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𝑗𝑡</m:t>
                                  </m:r>
                                </m:sub>
                              </m:sSub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e>
                        <m:e>
                          <m:sSub>
                            <m:sSubPr>
                              <m:ctrlP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lang="nl-NL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~</m:t>
                          </m:r>
                          <m:r>
                            <a:rPr lang="nl-NL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𝑁𝐼𝐷</m:t>
                          </m:r>
                          <m:d>
                            <m:dPr>
                              <m:ctrlP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0,</m:t>
                              </m:r>
                              <m:sSubSup>
                                <m:sSubSupPr>
                                  <m:ctrlP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𝜀</m:t>
                                  </m:r>
                                </m:sub>
                                <m:sup>
                                  <m: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+1</m:t>
                              </m:r>
                            </m:sub>
                          </m:sSub>
                        </m:e>
                        <m:e>
                          <m:r>
                            <a:rPr lang="nl-NL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</m:e>
                        <m:e>
                          <m:sSub>
                            <m:sSubPr>
                              <m:ctrlP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lang="nl-NL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lang="nl-NL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~</m:t>
                          </m:r>
                          <m:r>
                            <a:rPr lang="nl-NL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𝑁𝐼𝐷</m:t>
                          </m:r>
                          <m:d>
                            <m:dPr>
                              <m:ctrlP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0,</m:t>
                              </m:r>
                              <m:sSubSup>
                                <m:sSubSupPr>
                                  <m:ctrlP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𝜂</m:t>
                                  </m:r>
                                </m:sub>
                                <m:sup>
                                  <m: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𝑗𝑡</m:t>
                              </m:r>
                            </m:sub>
                          </m:sSub>
                        </m:e>
                        <m:e>
                          <m:r>
                            <a:rPr lang="nl-NL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</m:e>
                        <m:e>
                          <m:sSub>
                            <m:sSubPr>
                              <m:ctrlP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𝑗𝑡</m:t>
                              </m:r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  <m:r>
                            <a:rPr lang="nl-NL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𝑗𝑡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𝑗𝑡</m:t>
                              </m:r>
                            </m:sub>
                          </m:sSub>
                          <m:r>
                            <a:rPr lang="nl-NL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~</m:t>
                          </m:r>
                          <m:r>
                            <a:rPr lang="nl-NL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𝑁𝐼𝐷</m:t>
                          </m:r>
                          <m:d>
                            <m:dPr>
                              <m:ctrlP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nl-NL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0,</m:t>
                              </m:r>
                              <m:sSubSup>
                                <m:sSubSupPr>
                                  <m:ctrlP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𝜌</m:t>
                                  </m:r>
                                </m:sub>
                                <m:sup>
                                  <m:r>
                                    <a:rPr lang="nl-NL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mr>
                      <m:mr>
                        <m:e>
                          <m:r>
                            <a:rPr lang="nl-NL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⋮</m:t>
                          </m:r>
                        </m:e>
                        <m:e/>
                        <m:e/>
                        <m:e/>
                      </m:mr>
                    </m:m>
                  </m:oMath>
                </a14:m>
                <a:r>
                  <a:rPr lang="nl-NL" sz="2400" dirty="0">
                    <a:solidFill>
                      <a:prstClr val="black"/>
                    </a:solidFill>
                    <a:latin typeface="Calibri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lang="nl-NL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𝑡</m:t>
                    </m:r>
                    <m:r>
                      <a:rPr lang="nl-NL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=1,…,</m:t>
                    </m:r>
                    <m:r>
                      <a:rPr lang="nl-NL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</m:oMath>
                </a14:m>
                <a:r>
                  <a:rPr lang="nl-NL" sz="2400" dirty="0">
                    <a:solidFill>
                      <a:prstClr val="black"/>
                    </a:solidFill>
                    <a:latin typeface="Calibri"/>
                    <a:cs typeface="+mn-cs"/>
                  </a:rPr>
                  <a:t>         </a:t>
                </a:r>
              </a:p>
            </p:txBody>
          </p:sp>
        </mc:Choice>
        <mc:Fallback xmlns="">
          <p:sp>
            <p:nvSpPr>
              <p:cNvPr id="6" name="Tekstvak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24" y="1796819"/>
                <a:ext cx="8696676" cy="1744004"/>
              </a:xfrm>
              <a:prstGeom prst="rect">
                <a:avLst/>
              </a:prstGeom>
              <a:blipFill>
                <a:blip r:embed="rId4"/>
                <a:stretch>
                  <a:fillRect l="-7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75195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98150F8-5E77-68A1-C287-E6F9007BD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Example</a:t>
            </a:r>
            <a:r>
              <a:rPr lang="nl-NL" dirty="0"/>
              <a:t>: </a:t>
            </a:r>
            <a:r>
              <a:rPr lang="nl-NL" dirty="0" err="1"/>
              <a:t>bivariate</a:t>
            </a:r>
            <a:r>
              <a:rPr lang="nl-NL" dirty="0"/>
              <a:t> model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31</a:t>
            </a:fld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hthoek 4"/>
              <p:cNvSpPr/>
              <p:nvPr/>
            </p:nvSpPr>
            <p:spPr>
              <a:xfrm>
                <a:off x="815414" y="1700809"/>
                <a:ext cx="8455071" cy="9407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54415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nl-NL" sz="2133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t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t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nl-NL" sz="2133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t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t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nl-NL" sz="2133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d>
                        <m:d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ε</m:t>
                                    </m:r>
                                  </m:e>
                                  <m:sub>
                                    <m: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t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ε</m:t>
                                    </m:r>
                                  </m:e>
                                  <m:sub>
                                    <m: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t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nl-NL" sz="213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                                  </m:t>
                      </m:r>
                      <m:sSub>
                        <m:sSub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𝜀</m:t>
                          </m:r>
                        </m:e>
                        <m:sub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nl-NL" sz="2133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 ~</m:t>
                      </m:r>
                      <m:r>
                        <a:rPr lang="nl-NL" sz="213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𝑁𝐼𝐷</m:t>
                      </m:r>
                      <m:d>
                        <m:d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d>
                            <m:dPr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nl-NL" sz="2133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nl-NL" sz="2133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nl-NL" sz="2133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1,</m:t>
                                        </m:r>
                                        <m:r>
                                          <a:rPr lang="nl-NL" sz="2133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𝜀</m:t>
                                        </m:r>
                                        <m:r>
                                          <a:rPr lang="nl-NL" sz="2133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 </m:t>
                                        </m:r>
                                      </m:sub>
                                      <m:sup>
                                        <m:r>
                                          <a:rPr lang="nl-NL" sz="2133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nl-NL" sz="2133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nl-NL" sz="2133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nl-NL" sz="2133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1,</m:t>
                                        </m:r>
                                        <m:r>
                                          <a:rPr lang="nl-NL" sz="2133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𝜀</m:t>
                                        </m:r>
                                        <m:r>
                                          <a:rPr lang="nl-NL" sz="2133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 </m:t>
                                        </m:r>
                                      </m:sub>
                                      <m:sup>
                                        <m:r>
                                          <a:rPr lang="nl-NL" sz="2133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nl-NL" sz="2133" dirty="0">
                  <a:solidFill>
                    <a:prstClr val="black"/>
                  </a:solidFill>
                  <a:latin typeface="Calibri"/>
                  <a:cs typeface="+mn-cs"/>
                </a:endParaRPr>
              </a:p>
            </p:txBody>
          </p:sp>
        </mc:Choice>
        <mc:Fallback xmlns="">
          <p:sp>
            <p:nvSpPr>
              <p:cNvPr id="5" name="Rechthoek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14" y="1700809"/>
                <a:ext cx="8455071" cy="9407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hthoek 5"/>
              <p:cNvSpPr/>
              <p:nvPr/>
            </p:nvSpPr>
            <p:spPr>
              <a:xfrm>
                <a:off x="748900" y="2672444"/>
                <a:ext cx="8482771" cy="11490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54415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t</m:t>
                                    </m:r>
                                    <m: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t</m:t>
                                    </m:r>
                                    <m: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nl-NL" sz="2133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t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t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nl-NL" sz="2133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d>
                        <m:d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t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t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nl-NL" sz="213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d>
                        <m:d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t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nl-NL" sz="2133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t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nl-NL" sz="213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             </m:t>
                      </m:r>
                      <m:sSub>
                        <m:sSub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η</m:t>
                          </m:r>
                        </m:e>
                        <m:sub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nl-NL" sz="2133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 ~</m:t>
                      </m:r>
                      <m:r>
                        <a:rPr lang="nl-NL" sz="213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𝑁𝐼𝐷</m:t>
                      </m:r>
                      <m:d>
                        <m:d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d>
                            <m:dPr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nl-NL" sz="2133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nl-NL" sz="2133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nl-NL" sz="2133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1,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l-GR" sz="2133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η</m:t>
                                        </m:r>
                                      </m:sub>
                                      <m:sup>
                                        <m:r>
                                          <a:rPr lang="nl-NL" sz="2133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  <m:e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nl-NL" sz="2133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nl-NL" sz="2133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nl-NL" sz="2133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2,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l-GR" sz="2133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η</m:t>
                                        </m:r>
                                      </m:sub>
                                      <m:sup>
                                        <m:r>
                                          <a:rPr lang="nl-NL" sz="2133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nl-NL" sz="2133" dirty="0">
                  <a:solidFill>
                    <a:prstClr val="black"/>
                  </a:solidFill>
                  <a:latin typeface="Calibri"/>
                  <a:cs typeface="+mn-cs"/>
                </a:endParaRPr>
              </a:p>
            </p:txBody>
          </p:sp>
        </mc:Choice>
        <mc:Fallback xmlns="">
          <p:sp>
            <p:nvSpPr>
              <p:cNvPr id="6" name="Rechthoek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900" y="2672444"/>
                <a:ext cx="8482771" cy="11490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hthoek 6"/>
              <p:cNvSpPr/>
              <p:nvPr/>
            </p:nvSpPr>
            <p:spPr>
              <a:xfrm>
                <a:off x="904003" y="3852510"/>
                <a:ext cx="10432828" cy="11490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544150"/>
                <a14:m>
                  <m:oMath xmlns:m="http://schemas.openxmlformats.org/officeDocument/2006/math">
                    <m:d>
                      <m:dPr>
                        <m:ctrlPr>
                          <a:rPr lang="nl-NL" sz="2133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nl-NL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1,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t</m:t>
                                  </m:r>
                                  <m: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2,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t</m:t>
                                  </m:r>
                                  <m: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nl-NL" sz="2133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d>
                      <m:dPr>
                        <m:ctrlPr>
                          <a:rPr lang="nl-NL" sz="2133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nl-NL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1,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t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2,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t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nl-NL" sz="2133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d>
                      <m:dPr>
                        <m:ctrlPr>
                          <a:rPr lang="nl-NL" sz="2133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nl-NL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l-GR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𝜍</m:t>
                                  </m:r>
                                </m:e>
                                <m: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1,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t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l-GR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𝜍</m:t>
                                  </m:r>
                                </m:e>
                                <m: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2,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t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nl-NL" sz="2133" dirty="0">
                    <a:solidFill>
                      <a:prstClr val="black"/>
                    </a:solidFill>
                    <a:latin typeface="Calibri"/>
                    <a:cs typeface="+mn-cs"/>
                  </a:rPr>
                  <a:t>                            </a:t>
                </a:r>
                <a14:m>
                  <m:oMath xmlns:m="http://schemas.openxmlformats.org/officeDocument/2006/math">
                    <m:r>
                      <a:rPr lang="nl-NL" sz="2133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sSub>
                      <m:sSubPr>
                        <m:ctrlPr>
                          <a:rPr lang="nl-NL" sz="2133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el-GR" sz="2133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𝜍</m:t>
                        </m:r>
                      </m:e>
                      <m:sub>
                        <m:r>
                          <a:rPr lang="nl-NL" sz="2133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𝑡</m:t>
                        </m:r>
                      </m:sub>
                    </m:sSub>
                    <m:r>
                      <a:rPr lang="nl-NL" sz="2133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 ~</m:t>
                    </m:r>
                    <m:r>
                      <a:rPr lang="nl-NL" sz="2133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𝑁𝐼𝐷</m:t>
                    </m:r>
                    <m:d>
                      <m:dPr>
                        <m:ctrlPr>
                          <a:rPr lang="nl-NL" sz="2133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nl-NL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nl-NL" sz="2133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d>
                          <m:dPr>
                            <m:ctrlPr>
                              <a:rPr lang="nl-NL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sSubSup>
                                    <m:sSubSup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1,</m:t>
                                      </m:r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𝜍</m:t>
                                      </m:r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 </m:t>
                                      </m:r>
                                    </m:sub>
                                    <m:sup>
                                      <m: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ρ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ζ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1,</m:t>
                                      </m:r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𝜍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2,</m:t>
                                      </m:r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𝜍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ρ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ζ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1,</m:t>
                                      </m:r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𝜍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2,</m:t>
                                      </m:r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𝜍</m:t>
                                      </m:r>
                                    </m:sub>
                                  </m:sSub>
                                </m:e>
                                <m:e>
                                  <m:sSubSup>
                                    <m:sSubSup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2,</m:t>
                                      </m:r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𝜍</m:t>
                                      </m:r>
                                    </m:sub>
                                    <m:sup>
                                      <m: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mr>
                            </m:m>
                          </m:e>
                        </m:d>
                      </m:e>
                    </m:d>
                  </m:oMath>
                </a14:m>
                <a:endParaRPr lang="nl-NL" sz="2133" dirty="0">
                  <a:solidFill>
                    <a:prstClr val="black"/>
                  </a:solidFill>
                  <a:latin typeface="Calibri"/>
                  <a:cs typeface="+mn-cs"/>
                </a:endParaRPr>
              </a:p>
            </p:txBody>
          </p:sp>
        </mc:Choice>
        <mc:Fallback xmlns="">
          <p:sp>
            <p:nvSpPr>
              <p:cNvPr id="7" name="Rechthoek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003" y="3852510"/>
                <a:ext cx="10432828" cy="11490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55064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B1D9FF42-3D69-6364-CCCD-06E29209C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787" y="1604798"/>
            <a:ext cx="3654187" cy="2217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26B1F76F-642E-54E7-ED0E-8B0C233A8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Outliers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breaks</a:t>
            </a:r>
            <a:br>
              <a:rPr lang="nl-NL" dirty="0"/>
            </a:b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F7662EB-0932-D1F6-8445-BC1EAA1185B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 baseline="0">
                <a:solidFill>
                  <a:srgbClr val="271D6C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45CA951-4815-4987-9CD6-BB5D6648C0B5}" type="slidenum">
              <a:rPr lang="nl-NL" sz="1200" smtClean="0"/>
              <a:pPr algn="ctr"/>
              <a:t>32</a:t>
            </a:fld>
            <a:endParaRPr lang="nl-NL" sz="16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8C2AE2C-F5B4-854B-FBBA-D1769C101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096" y="1391803"/>
            <a:ext cx="10515597" cy="4194176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Additive </a:t>
            </a:r>
            <a:r>
              <a:rPr lang="nl-NL" dirty="0" err="1"/>
              <a:t>outlier</a:t>
            </a:r>
            <a:r>
              <a:rPr lang="nl-NL" dirty="0"/>
              <a:t>    		 Level shift</a:t>
            </a:r>
          </a:p>
          <a:p>
            <a:endParaRPr lang="nl-NL" dirty="0"/>
          </a:p>
          <a:p>
            <a:endParaRPr lang="nl-NL" dirty="0"/>
          </a:p>
          <a:p>
            <a:endParaRPr lang="nl-NL" sz="1333" dirty="0"/>
          </a:p>
          <a:p>
            <a:endParaRPr lang="nl-NL" sz="1333" dirty="0"/>
          </a:p>
          <a:p>
            <a:endParaRPr lang="nl-NL" sz="1333" dirty="0"/>
          </a:p>
          <a:p>
            <a:endParaRPr lang="nl-NL" sz="1333" dirty="0"/>
          </a:p>
          <a:p>
            <a:pPr marL="0" indent="0">
              <a:buNone/>
            </a:pPr>
            <a:r>
              <a:rPr lang="nl-NL" dirty="0" err="1"/>
              <a:t>Transitory</a:t>
            </a:r>
            <a:r>
              <a:rPr lang="nl-NL" dirty="0"/>
              <a:t> change        		</a:t>
            </a:r>
            <a:r>
              <a:rPr lang="nl-NL" dirty="0" err="1"/>
              <a:t>Seasonal</a:t>
            </a:r>
            <a:r>
              <a:rPr lang="nl-NL" dirty="0"/>
              <a:t> break 		Ramp</a:t>
            </a:r>
          </a:p>
          <a:p>
            <a:endParaRPr lang="nl-NL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AA9995E-3CA5-EDAD-EC7E-6DF0BC0DF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50" y="1700809"/>
            <a:ext cx="3654185" cy="2217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7FEB2F20-2507-BE8B-C1FB-8D7533027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097" y="4512786"/>
            <a:ext cx="4320480" cy="1389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2341E7A1-5BFD-0EFC-07AA-B8DF62400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05" y="4134969"/>
            <a:ext cx="3764392" cy="2284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A344EB1E-41B0-5130-1D32-7982E21DA3DB}"/>
              </a:ext>
            </a:extLst>
          </p:cNvPr>
          <p:cNvSpPr txBox="1"/>
          <p:nvPr/>
        </p:nvSpPr>
        <p:spPr>
          <a:xfrm>
            <a:off x="8359316" y="187017"/>
            <a:ext cx="3506545" cy="3949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Examples of </a:t>
            </a:r>
          </a:p>
          <a:p>
            <a:r>
              <a:rPr lang="en-GB" sz="2400" dirty="0"/>
              <a:t>real world impacts</a:t>
            </a:r>
            <a:br>
              <a:rPr lang="en-GB" sz="2400" dirty="0"/>
            </a:br>
            <a:endParaRPr lang="en-GB" sz="2400" dirty="0"/>
          </a:p>
          <a:p>
            <a:pPr marL="457189" indent="-457189">
              <a:buAutoNum type="arabicPeriod"/>
            </a:pPr>
            <a:r>
              <a:rPr lang="en-GB" sz="2400" dirty="0"/>
              <a:t>Change in tax reporting</a:t>
            </a:r>
          </a:p>
          <a:p>
            <a:pPr marL="457189" indent="-457189">
              <a:buAutoNum type="arabicPeriod"/>
            </a:pPr>
            <a:r>
              <a:rPr lang="en-GB" sz="2400" dirty="0"/>
              <a:t>Impact of COVID-19</a:t>
            </a:r>
          </a:p>
          <a:p>
            <a:pPr marL="457189" indent="-457189">
              <a:buAutoNum type="arabicPeriod"/>
            </a:pPr>
            <a:r>
              <a:rPr lang="en-GB" sz="2400" dirty="0"/>
              <a:t>Change in coverage</a:t>
            </a:r>
          </a:p>
          <a:p>
            <a:pPr marL="457189" indent="-457189">
              <a:buAutoNum type="arabicPeriod"/>
            </a:pPr>
            <a:r>
              <a:rPr lang="en-GB" sz="2400" dirty="0"/>
              <a:t>One-off impact, e.g. weather related</a:t>
            </a:r>
          </a:p>
          <a:p>
            <a:pPr marL="457189" indent="-457189">
              <a:buAutoNum type="arabicPeriod"/>
            </a:pPr>
            <a:endParaRPr lang="en-GB" sz="3200" dirty="0"/>
          </a:p>
        </p:txBody>
      </p:sp>
      <p:grpSp>
        <p:nvGrpSpPr>
          <p:cNvPr id="12" name="Groep 11">
            <a:extLst>
              <a:ext uri="{FF2B5EF4-FFF2-40B4-BE49-F238E27FC236}">
                <a16:creationId xmlns:a16="http://schemas.microsoft.com/office/drawing/2014/main" id="{C37A48E6-6724-0611-8CC4-FCD2F395137E}"/>
              </a:ext>
            </a:extLst>
          </p:cNvPr>
          <p:cNvGrpSpPr/>
          <p:nvPr/>
        </p:nvGrpSpPr>
        <p:grpSpPr>
          <a:xfrm>
            <a:off x="8303108" y="4185635"/>
            <a:ext cx="3745551" cy="2208244"/>
            <a:chOff x="2050868" y="1275607"/>
            <a:chExt cx="4496324" cy="2685946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A59FF880-F420-FB46-DB6C-57D73B0B5F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1673" y="1275607"/>
              <a:ext cx="4425519" cy="26859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2538FB85-7D3A-E9D4-231D-AF66E1AA14A4}"/>
                </a:ext>
              </a:extLst>
            </p:cNvPr>
            <p:cNvSpPr/>
            <p:nvPr/>
          </p:nvSpPr>
          <p:spPr>
            <a:xfrm>
              <a:off x="2050868" y="1629183"/>
              <a:ext cx="424544" cy="20312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7600">
                <a:solidFill>
                  <a:schemeClr val="tx1"/>
                </a:solidFill>
              </a:endParaRP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B77BB2F6-F492-7F2C-B05A-3FCB35E7114F}"/>
                </a:ext>
              </a:extLst>
            </p:cNvPr>
            <p:cNvSpPr/>
            <p:nvPr/>
          </p:nvSpPr>
          <p:spPr>
            <a:xfrm rot="5400000">
              <a:off x="4341766" y="1813697"/>
              <a:ext cx="424544" cy="369352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760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AA817F19-C324-3B0C-3DAC-EE844E769AFB}"/>
                </a:ext>
              </a:extLst>
            </p:cNvPr>
            <p:cNvSpPr/>
            <p:nvPr/>
          </p:nvSpPr>
          <p:spPr>
            <a:xfrm>
              <a:off x="2707278" y="1981881"/>
              <a:ext cx="3445328" cy="12899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7600"/>
            </a:p>
          </p:txBody>
        </p:sp>
        <p:sp>
          <p:nvSpPr>
            <p:cNvPr id="17" name="Tekstvak 16">
              <a:extLst>
                <a:ext uri="{FF2B5EF4-FFF2-40B4-BE49-F238E27FC236}">
                  <a16:creationId xmlns:a16="http://schemas.microsoft.com/office/drawing/2014/main" id="{32EF5166-3EDB-6028-C73E-AA0AF0A6B6F7}"/>
                </a:ext>
              </a:extLst>
            </p:cNvPr>
            <p:cNvSpPr txBox="1"/>
            <p:nvPr/>
          </p:nvSpPr>
          <p:spPr>
            <a:xfrm rot="16200000">
              <a:off x="1596113" y="2194876"/>
              <a:ext cx="1482634" cy="443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900" dirty="0">
                  <a:solidFill>
                    <a:schemeClr val="tx1"/>
                  </a:solidFill>
                </a:rPr>
                <a:t>0                           1	       </a:t>
              </a:r>
            </a:p>
          </p:txBody>
        </p:sp>
        <p:cxnSp>
          <p:nvCxnSpPr>
            <p:cNvPr id="18" name="Rechte verbindingslijn 17">
              <a:extLst>
                <a:ext uri="{FF2B5EF4-FFF2-40B4-BE49-F238E27FC236}">
                  <a16:creationId xmlns:a16="http://schemas.microsoft.com/office/drawing/2014/main" id="{D82EAE54-5DAA-2BB3-4B92-F22B898FF1E3}"/>
                </a:ext>
              </a:extLst>
            </p:cNvPr>
            <p:cNvCxnSpPr/>
            <p:nvPr/>
          </p:nvCxnSpPr>
          <p:spPr>
            <a:xfrm>
              <a:off x="2707277" y="3079161"/>
              <a:ext cx="1205049" cy="653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Rechte verbindingslijn 18">
              <a:extLst>
                <a:ext uri="{FF2B5EF4-FFF2-40B4-BE49-F238E27FC236}">
                  <a16:creationId xmlns:a16="http://schemas.microsoft.com/office/drawing/2014/main" id="{C36D9002-A019-86AD-EDAC-32458DEA0E4E}"/>
                </a:ext>
              </a:extLst>
            </p:cNvPr>
            <p:cNvCxnSpPr/>
            <p:nvPr/>
          </p:nvCxnSpPr>
          <p:spPr>
            <a:xfrm>
              <a:off x="4533765" y="2246403"/>
              <a:ext cx="1205049" cy="653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Rechte verbindingslijn 19">
              <a:extLst>
                <a:ext uri="{FF2B5EF4-FFF2-40B4-BE49-F238E27FC236}">
                  <a16:creationId xmlns:a16="http://schemas.microsoft.com/office/drawing/2014/main" id="{8874D2B2-4D9E-1498-611E-C8C669FD394F}"/>
                </a:ext>
              </a:extLst>
            </p:cNvPr>
            <p:cNvCxnSpPr/>
            <p:nvPr/>
          </p:nvCxnSpPr>
          <p:spPr>
            <a:xfrm flipV="1">
              <a:off x="3912325" y="2246403"/>
              <a:ext cx="621440" cy="83275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054531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EBBA9538-E187-143C-D0D8-A4ACF6D46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Example</a:t>
            </a:r>
            <a:r>
              <a:rPr lang="nl-NL" dirty="0"/>
              <a:t> additive </a:t>
            </a:r>
            <a:r>
              <a:rPr lang="nl-NL" dirty="0" err="1"/>
              <a:t>outliers</a:t>
            </a:r>
            <a:br>
              <a:rPr lang="nl-NL" dirty="0"/>
            </a:b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A831B14C-0D3E-E7DE-7A60-A279DB3F535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 baseline="0">
                <a:solidFill>
                  <a:srgbClr val="271D6C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45CA951-4815-4987-9CD6-BB5D6648C0B5}" type="slidenum">
              <a:rPr lang="nl-NL" sz="1200" smtClean="0"/>
              <a:pPr algn="ctr"/>
              <a:t>33</a:t>
            </a:fld>
            <a:endParaRPr lang="nl-NL" sz="1600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90B2D19-DCC3-E2FF-44D1-F55F2D25B4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D66AF3B-AE13-508E-4852-2C6B1BCFD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1530835"/>
            <a:ext cx="6607768" cy="401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Vrije vorm 10">
            <a:extLst>
              <a:ext uri="{FF2B5EF4-FFF2-40B4-BE49-F238E27FC236}">
                <a16:creationId xmlns:a16="http://schemas.microsoft.com/office/drawing/2014/main" id="{CE055D64-48ED-6A7A-2F8E-6D8EB3308ECA}"/>
              </a:ext>
            </a:extLst>
          </p:cNvPr>
          <p:cNvSpPr/>
          <p:nvPr/>
        </p:nvSpPr>
        <p:spPr>
          <a:xfrm>
            <a:off x="3063182" y="2714774"/>
            <a:ext cx="5356023" cy="1087820"/>
          </a:xfrm>
          <a:custGeom>
            <a:avLst/>
            <a:gdLst>
              <a:gd name="connsiteX0" fmla="*/ 0 w 5644055"/>
              <a:gd name="connsiteY0" fmla="*/ 1087820 h 1087820"/>
              <a:gd name="connsiteX1" fmla="*/ 2081048 w 5644055"/>
              <a:gd name="connsiteY1" fmla="*/ 914400 h 1087820"/>
              <a:gd name="connsiteX2" fmla="*/ 3042745 w 5644055"/>
              <a:gd name="connsiteY2" fmla="*/ 268013 h 1087820"/>
              <a:gd name="connsiteX3" fmla="*/ 4587766 w 5644055"/>
              <a:gd name="connsiteY3" fmla="*/ 835572 h 1087820"/>
              <a:gd name="connsiteX4" fmla="*/ 5596759 w 5644055"/>
              <a:gd name="connsiteY4" fmla="*/ 0 h 1087820"/>
              <a:gd name="connsiteX5" fmla="*/ 5596759 w 5644055"/>
              <a:gd name="connsiteY5" fmla="*/ 0 h 1087820"/>
              <a:gd name="connsiteX6" fmla="*/ 5644055 w 5644055"/>
              <a:gd name="connsiteY6" fmla="*/ 0 h 1087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44055" h="1087820">
                <a:moveTo>
                  <a:pt x="0" y="1087820"/>
                </a:moveTo>
                <a:cubicBezTo>
                  <a:pt x="786962" y="1069427"/>
                  <a:pt x="1573924" y="1051034"/>
                  <a:pt x="2081048" y="914400"/>
                </a:cubicBezTo>
                <a:cubicBezTo>
                  <a:pt x="2588172" y="777765"/>
                  <a:pt x="2624959" y="281151"/>
                  <a:pt x="3042745" y="268013"/>
                </a:cubicBezTo>
                <a:cubicBezTo>
                  <a:pt x="3460531" y="254875"/>
                  <a:pt x="4162097" y="880241"/>
                  <a:pt x="4587766" y="835572"/>
                </a:cubicBezTo>
                <a:cubicBezTo>
                  <a:pt x="5013435" y="790903"/>
                  <a:pt x="5596759" y="0"/>
                  <a:pt x="5596759" y="0"/>
                </a:cubicBezTo>
                <a:lnTo>
                  <a:pt x="5596759" y="0"/>
                </a:lnTo>
                <a:lnTo>
                  <a:pt x="564405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7600"/>
          </a:p>
        </p:txBody>
      </p:sp>
      <p:sp>
        <p:nvSpPr>
          <p:cNvPr id="7" name="Boog 6">
            <a:extLst>
              <a:ext uri="{FF2B5EF4-FFF2-40B4-BE49-F238E27FC236}">
                <a16:creationId xmlns:a16="http://schemas.microsoft.com/office/drawing/2014/main" id="{024FD605-1977-BD32-7983-71A788FA6137}"/>
              </a:ext>
            </a:extLst>
          </p:cNvPr>
          <p:cNvSpPr/>
          <p:nvPr/>
        </p:nvSpPr>
        <p:spPr>
          <a:xfrm rot="10268063">
            <a:off x="2468112" y="3069568"/>
            <a:ext cx="5863037" cy="520441"/>
          </a:xfrm>
          <a:prstGeom prst="arc">
            <a:avLst>
              <a:gd name="adj1" fmla="val 10820192"/>
              <a:gd name="adj2" fmla="val 21312527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 sz="7600"/>
          </a:p>
        </p:txBody>
      </p:sp>
      <p:sp>
        <p:nvSpPr>
          <p:cNvPr id="8" name="Rechthoekige toelichting 8">
            <a:extLst>
              <a:ext uri="{FF2B5EF4-FFF2-40B4-BE49-F238E27FC236}">
                <a16:creationId xmlns:a16="http://schemas.microsoft.com/office/drawing/2014/main" id="{AF8CD1FE-BD86-8B67-B74E-3E101624482F}"/>
              </a:ext>
            </a:extLst>
          </p:cNvPr>
          <p:cNvSpPr/>
          <p:nvPr/>
        </p:nvSpPr>
        <p:spPr>
          <a:xfrm>
            <a:off x="6295056" y="2205622"/>
            <a:ext cx="1440160" cy="473148"/>
          </a:xfrm>
          <a:prstGeom prst="wedgeRectCallout">
            <a:avLst>
              <a:gd name="adj1" fmla="val -55864"/>
              <a:gd name="adj2" fmla="val 11914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dirty="0">
                <a:solidFill>
                  <a:schemeClr val="tx1"/>
                </a:solidFill>
              </a:rPr>
              <a:t>trend</a:t>
            </a:r>
          </a:p>
        </p:txBody>
      </p:sp>
    </p:spTree>
    <p:extLst>
      <p:ext uri="{BB962C8B-B14F-4D97-AF65-F5344CB8AC3E}">
        <p14:creationId xmlns:p14="http://schemas.microsoft.com/office/powerpoint/2010/main" val="84018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C39AA08-6944-8B6C-443D-6BC9C4E87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Example</a:t>
            </a:r>
            <a:r>
              <a:rPr lang="nl-NL" dirty="0"/>
              <a:t>: additive </a:t>
            </a:r>
            <a:r>
              <a:rPr lang="nl-NL" dirty="0" err="1"/>
              <a:t>outlier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34</a:t>
            </a:fld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 err="1"/>
              <a:t>Example</a:t>
            </a:r>
            <a:r>
              <a:rPr lang="nl-NL" dirty="0"/>
              <a:t>: additive </a:t>
            </a:r>
            <a:r>
              <a:rPr lang="nl-NL" dirty="0" err="1"/>
              <a:t>outlier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48" y="1195955"/>
            <a:ext cx="9458619" cy="529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5411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90EAC31-2023-285A-7797-DC6726CC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Example</a:t>
            </a:r>
            <a:r>
              <a:rPr lang="nl-NL" dirty="0"/>
              <a:t> </a:t>
            </a:r>
            <a:r>
              <a:rPr lang="nl-NL" dirty="0" err="1"/>
              <a:t>regressor</a:t>
            </a:r>
            <a:r>
              <a:rPr lang="nl-NL" dirty="0"/>
              <a:t> </a:t>
            </a:r>
            <a:r>
              <a:rPr lang="nl-NL" dirty="0" err="1"/>
              <a:t>creation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35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/>
              <a:t>Level shift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Additive </a:t>
            </a:r>
            <a:r>
              <a:rPr lang="nl-NL" dirty="0" err="1"/>
              <a:t>outlier</a:t>
            </a:r>
            <a:endParaRPr lang="nl-NL" dirty="0"/>
          </a:p>
          <a:p>
            <a:endParaRPr lang="nl-NL" dirty="0"/>
          </a:p>
          <a:p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hthoek 4"/>
              <p:cNvSpPr/>
              <p:nvPr/>
            </p:nvSpPr>
            <p:spPr>
              <a:xfrm>
                <a:off x="1182720" y="2269762"/>
                <a:ext cx="9409045" cy="824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5441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lang="en-GB" sz="2133" i="1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  <a:cs typeface="+mn-cs"/>
                            </a:rPr>
                            <m:t>𝛿</m:t>
                          </m:r>
                        </m:e>
                        <m:sub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/>
                              <a:cs typeface="+mn-cs"/>
                            </a:rPr>
                            <m:t>𝑗</m:t>
                          </m:r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/>
                              <a:cs typeface="+mn-cs"/>
                            </a:rPr>
                            <m:t>,</m:t>
                          </m:r>
                          <m:r>
                            <a:rPr lang="en-GB" sz="2133" i="1">
                              <a:solidFill>
                                <a:prstClr val="black"/>
                              </a:solidFill>
                              <a:latin typeface="Cambria Math"/>
                              <a:cs typeface="+mn-cs"/>
                            </a:rPr>
                            <m:t>𝑡</m:t>
                          </m:r>
                        </m:sub>
                        <m:sup/>
                      </m:sSubSup>
                      <m:r>
                        <a:rPr lang="nl-NL" sz="2133" i="1">
                          <a:solidFill>
                            <a:prstClr val="black"/>
                          </a:solidFill>
                          <a:latin typeface="Cambria Math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for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every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period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 ≥</m:t>
                                </m:r>
                                <m:r>
                                  <a:rPr lang="en-GB" sz="2133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𝑡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from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the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period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in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which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the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break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occurs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.</m:t>
                                </m:r>
                              </m:e>
                            </m:mr>
                            <m:mr>
                              <m:e>
                                <m: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for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all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other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periods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                                                                    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nl-NL" sz="2133" dirty="0">
                  <a:solidFill>
                    <a:prstClr val="black"/>
                  </a:solidFill>
                  <a:latin typeface="Calibri"/>
                  <a:cs typeface="+mn-cs"/>
                </a:endParaRPr>
              </a:p>
            </p:txBody>
          </p:sp>
        </mc:Choice>
        <mc:Fallback xmlns="">
          <p:sp>
            <p:nvSpPr>
              <p:cNvPr id="5" name="Rechthoek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720" y="2269762"/>
                <a:ext cx="9409045" cy="8245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hthoek 5"/>
              <p:cNvSpPr/>
              <p:nvPr/>
            </p:nvSpPr>
            <p:spPr>
              <a:xfrm>
                <a:off x="-144693" y="4129120"/>
                <a:ext cx="9409045" cy="824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54415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lang="en-GB" sz="2133" i="1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  <a:cs typeface="+mn-cs"/>
                            </a:rPr>
                            <m:t>𝛿</m:t>
                          </m:r>
                        </m:e>
                        <m:sub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/>
                              <a:cs typeface="+mn-cs"/>
                            </a:rPr>
                            <m:t>𝑗</m:t>
                          </m:r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/>
                              <a:cs typeface="+mn-cs"/>
                            </a:rPr>
                            <m:t>,</m:t>
                          </m:r>
                          <m:r>
                            <a:rPr lang="en-GB" sz="2133" i="1">
                              <a:solidFill>
                                <a:prstClr val="black"/>
                              </a:solidFill>
                              <a:latin typeface="Cambria Math"/>
                              <a:cs typeface="+mn-cs"/>
                            </a:rPr>
                            <m:t>𝑡</m:t>
                          </m:r>
                        </m:sub>
                        <m:sup/>
                      </m:sSubSup>
                      <m:r>
                        <a:rPr lang="nl-NL" sz="2133" i="1">
                          <a:solidFill>
                            <a:prstClr val="black"/>
                          </a:solidFill>
                          <a:latin typeface="Cambria Math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for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the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period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in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which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the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outlier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occurs</m:t>
                                </m:r>
                              </m:e>
                            </m:mr>
                            <m:mr>
                              <m:e>
                                <m: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for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all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other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periods</m:t>
                                </m:r>
                                <m:r>
                                  <a:rPr lang="nl-NL" sz="2133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                        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nl-NL" sz="2133" dirty="0">
                  <a:solidFill>
                    <a:prstClr val="black"/>
                  </a:solidFill>
                  <a:latin typeface="Calibri"/>
                  <a:cs typeface="+mn-cs"/>
                </a:endParaRPr>
              </a:p>
            </p:txBody>
          </p:sp>
        </mc:Choice>
        <mc:Fallback xmlns="">
          <p:sp>
            <p:nvSpPr>
              <p:cNvPr id="6" name="Rechthoek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4693" y="4129120"/>
                <a:ext cx="9409045" cy="8245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8062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83C7A42E-3FD7-CA31-95DF-156E49ED8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A882993-2C1F-F0C1-B7AE-61E670FDAB2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 baseline="0">
                <a:solidFill>
                  <a:srgbClr val="271D6C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45CA951-4815-4987-9CD6-BB5D6648C0B5}" type="slidenum">
              <a:rPr lang="nl-NL" sz="1200" smtClean="0"/>
              <a:pPr algn="ctr"/>
              <a:t>36</a:t>
            </a:fld>
            <a:endParaRPr lang="nl-NL" sz="1600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7C6BF59-DEED-E7B1-DBB9-095F059CA5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 err="1"/>
              <a:t>Outlier</a:t>
            </a:r>
            <a:r>
              <a:rPr lang="nl-NL" dirty="0"/>
              <a:t> </a:t>
            </a:r>
            <a:r>
              <a:rPr lang="nl-NL" dirty="0" err="1"/>
              <a:t>creation</a:t>
            </a:r>
            <a:endParaRPr lang="nl-NL" dirty="0"/>
          </a:p>
        </p:txBody>
      </p:sp>
      <p:graphicFrame>
        <p:nvGraphicFramePr>
          <p:cNvPr id="14" name="Tijdelijke aanduiding voor inhoud 7">
            <a:extLst>
              <a:ext uri="{FF2B5EF4-FFF2-40B4-BE49-F238E27FC236}">
                <a16:creationId xmlns:a16="http://schemas.microsoft.com/office/drawing/2014/main" id="{BFE02098-133F-7E76-ACE5-6C19D1D91A48}"/>
              </a:ext>
            </a:extLst>
          </p:cNvPr>
          <p:cNvGraphicFramePr>
            <a:graphicFrameLocks/>
          </p:cNvGraphicFramePr>
          <p:nvPr/>
        </p:nvGraphicFramePr>
        <p:xfrm>
          <a:off x="3983765" y="1604797"/>
          <a:ext cx="4032448" cy="4137843"/>
        </p:xfrm>
        <a:graphic>
          <a:graphicData uri="http://schemas.openxmlformats.org/drawingml/2006/table">
            <a:tbl>
              <a:tblPr firstRow="1" bandRow="1"/>
              <a:tblGrid>
                <a:gridCol w="118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0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NL" sz="16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Period</a:t>
                      </a:r>
                      <a:r>
                        <a:rPr lang="nl-NL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NL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Additive </a:t>
                      </a:r>
                      <a:r>
                        <a:rPr lang="nl-NL" sz="1600" b="1" kern="1200" baseline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NL" sz="1600" b="1" kern="1200" baseline="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outlier</a:t>
                      </a:r>
                      <a:endParaRPr lang="nl-NL" sz="16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NL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Level shift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2017 Q3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2017 Q4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2018 Q1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2018 Q2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2018 Q3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2018 Q4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2019 Q2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2019 Q2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2019 Q3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2019 Q4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2020 Q1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2020 Q2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2020 Q3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2020 Q4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6099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C48173B5-88A5-95D0-727E-26D913FC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State </a:t>
            </a:r>
            <a:r>
              <a:rPr lang="nl-NL" dirty="0" err="1"/>
              <a:t>space</a:t>
            </a:r>
            <a:r>
              <a:rPr lang="nl-NL" dirty="0"/>
              <a:t> form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37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 err="1"/>
              <a:t>Univariate</a:t>
            </a:r>
            <a:endParaRPr lang="nl-NL" sz="2400" dirty="0"/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2400" dirty="0"/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2400" dirty="0"/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24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/>
              <a:t>Multivariate</a:t>
            </a:r>
          </a:p>
          <a:p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hthoek 4"/>
              <p:cNvSpPr/>
              <p:nvPr/>
            </p:nvSpPr>
            <p:spPr>
              <a:xfrm>
                <a:off x="1583499" y="2276872"/>
                <a:ext cx="9782871" cy="7664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54415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=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𝑧</m:t>
                                          </m:r>
                                        </m:e>
                                        <m:sup>
                                          <m:r>
                                            <a:rPr lang="nl-NL" sz="2133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  <m: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=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r>
                              <a:rPr lang="nl-NL" sz="2133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~</m:t>
                                  </m:r>
                                  <m: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𝑁𝐼𝐷</m:t>
                                  </m:r>
                                  <m:d>
                                    <m:d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0,</m:t>
                                      </m:r>
                                      <m:sSubSup>
                                        <m:sSubSupPr>
                                          <m:ctrlP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𝜀</m:t>
                                          </m:r>
                                        </m:sub>
                                        <m:sup>
                                          <m:r>
                                            <a:rPr lang="nl-NL" sz="2133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  <m: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 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~</m:t>
                                  </m:r>
                                  <m: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𝑁𝐼𝐷</m:t>
                                  </m:r>
                                  <m:d>
                                    <m:d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0,</m:t>
                                      </m:r>
                                      <m:sSub>
                                        <m:sSubPr>
                                          <m:ctrlP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𝑄</m:t>
                                          </m:r>
                                        </m:e>
                                        <m:sub>
                                          <m: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</m:m>
                            <m:r>
                              <a:rPr lang="nl-NL" sz="2133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   </m:t>
                            </m:r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nor/>
                                    </m:r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observation</m:t>
                                  </m:r>
                                  <m:r>
                                    <m:rPr>
                                      <m:nor/>
                                    </m:r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/</m:t>
                                  </m:r>
                                  <m:r>
                                    <m:rPr>
                                      <m:nor/>
                                    </m:r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measurement</m:t>
                                  </m:r>
                                  <m:r>
                                    <m:rPr>
                                      <m:nor/>
                                    </m:r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equation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nor/>
                                    </m:r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transition</m:t>
                                  </m:r>
                                  <m:r>
                                    <m:rPr>
                                      <m:nor/>
                                    </m:r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/</m:t>
                                  </m:r>
                                  <m:r>
                                    <m:rPr>
                                      <m:nor/>
                                    </m:r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state</m:t>
                                  </m:r>
                                  <m:r>
                                    <m:rPr>
                                      <m:nor/>
                                    </m:r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equation</m:t>
                                  </m:r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lang="nl-NL" sz="2133" dirty="0">
                  <a:solidFill>
                    <a:prstClr val="black"/>
                  </a:solidFill>
                  <a:latin typeface="Calibri"/>
                  <a:cs typeface="+mn-cs"/>
                </a:endParaRPr>
              </a:p>
            </p:txBody>
          </p:sp>
        </mc:Choice>
        <mc:Fallback xmlns="">
          <p:sp>
            <p:nvSpPr>
              <p:cNvPr id="5" name="Rechthoek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499" y="2276872"/>
                <a:ext cx="9782871" cy="7664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hthoek 5"/>
              <p:cNvSpPr/>
              <p:nvPr/>
            </p:nvSpPr>
            <p:spPr>
              <a:xfrm>
                <a:off x="1583499" y="4136368"/>
                <a:ext cx="5796202" cy="7447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54415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=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  <m: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=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r>
                              <a:rPr lang="nl-NL" sz="2133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~</m:t>
                                  </m:r>
                                  <m: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𝑁𝐼𝐷</m:t>
                                  </m:r>
                                  <m:d>
                                    <m:d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0,</m:t>
                                      </m:r>
                                      <m:sSub>
                                        <m:sSubPr>
                                          <m:ctrlPr>
                                            <a:rPr lang="nl-NL" sz="2133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l-NL" sz="2133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nl-NL" sz="2133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  <m: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 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~</m:t>
                                  </m:r>
                                  <m: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𝑁𝐼𝐷</m:t>
                                  </m:r>
                                  <m:d>
                                    <m:d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0,</m:t>
                                      </m:r>
                                      <m:sSub>
                                        <m:sSubPr>
                                          <m:ctrlPr>
                                            <a:rPr lang="nl-NL" sz="2133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l-NL" sz="2133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𝑄</m:t>
                                          </m:r>
                                        </m:e>
                                        <m:sub>
                                          <m:r>
                                            <a:rPr lang="nl-NL" sz="2133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</m:m>
                            <m:r>
                              <a:rPr lang="nl-NL" sz="2133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   </m:t>
                            </m:r>
                          </m:e>
                          <m:e/>
                        </m:mr>
                      </m:m>
                    </m:oMath>
                  </m:oMathPara>
                </a14:m>
                <a:endParaRPr lang="nl-NL" sz="2133" dirty="0">
                  <a:solidFill>
                    <a:prstClr val="black"/>
                  </a:solidFill>
                  <a:latin typeface="Calibri"/>
                  <a:cs typeface="+mn-cs"/>
                </a:endParaRPr>
              </a:p>
            </p:txBody>
          </p:sp>
        </mc:Choice>
        <mc:Fallback xmlns="">
          <p:sp>
            <p:nvSpPr>
              <p:cNvPr id="6" name="Rechthoek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499" y="4136368"/>
                <a:ext cx="5796202" cy="7447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8880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DEC379C9-C5A3-371A-FE74-7C2DE5CEB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Example</a:t>
            </a:r>
            <a:r>
              <a:rPr lang="nl-NL" dirty="0"/>
              <a:t>: 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38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>
          <a:xfrm>
            <a:off x="970722" y="1456623"/>
            <a:ext cx="10515597" cy="43982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 err="1"/>
              <a:t>Local</a:t>
            </a:r>
            <a:r>
              <a:rPr lang="nl-NL" dirty="0"/>
              <a:t> level model: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State </a:t>
            </a:r>
            <a:r>
              <a:rPr lang="nl-NL" dirty="0" err="1"/>
              <a:t>space</a:t>
            </a:r>
            <a:r>
              <a:rPr lang="nl-NL" dirty="0"/>
              <a:t> form:</a:t>
            </a:r>
          </a:p>
          <a:p>
            <a:endParaRPr lang="nl-NL" sz="3200" dirty="0"/>
          </a:p>
          <a:p>
            <a:endParaRPr lang="nl-NL" dirty="0"/>
          </a:p>
          <a:p>
            <a:pPr marL="0" indent="0">
              <a:buNone/>
            </a:pPr>
            <a:r>
              <a:rPr lang="nl-NL" dirty="0" err="1"/>
              <a:t>With</a:t>
            </a:r>
            <a:r>
              <a:rPr lang="nl-NL" dirty="0"/>
              <a:t>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hthoek 4"/>
              <p:cNvSpPr/>
              <p:nvPr/>
            </p:nvSpPr>
            <p:spPr>
              <a:xfrm>
                <a:off x="1216864" y="3947077"/>
                <a:ext cx="5755550" cy="7664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54415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=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sSup>
                                        <m:sSupPr>
                                          <m:ctrlP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𝑧</m:t>
                                          </m:r>
                                        </m:e>
                                        <m:sup>
                                          <m:r>
                                            <a:rPr lang="nl-NL" sz="2133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  <m: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=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r>
                              <a:rPr lang="nl-NL" sz="2133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~</m:t>
                                  </m:r>
                                  <m: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𝑁𝐼𝐷</m:t>
                                  </m:r>
                                  <m:d>
                                    <m:d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0,</m:t>
                                      </m:r>
                                      <m:sSubSup>
                                        <m:sSubSupPr>
                                          <m:ctrlP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𝜀</m:t>
                                          </m:r>
                                        </m:sub>
                                        <m:sup>
                                          <m:r>
                                            <a:rPr lang="nl-NL" sz="2133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𝜉</m:t>
                                      </m:r>
                                    </m:e>
                                    <m:sub>
                                      <m: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𝑡</m:t>
                                      </m:r>
                                      <m: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 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~</m:t>
                                  </m:r>
                                  <m: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𝑁𝐼𝐷</m:t>
                                  </m:r>
                                  <m:d>
                                    <m:d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0,</m:t>
                                      </m:r>
                                      <m:sSub>
                                        <m:sSubPr>
                                          <m:ctrlP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𝑄</m:t>
                                          </m:r>
                                        </m:e>
                                        <m:sub>
                                          <m: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</m:m>
                            <m:r>
                              <a:rPr lang="nl-NL" sz="2133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   </m:t>
                            </m:r>
                          </m:e>
                          <m:e/>
                        </m:mr>
                      </m:m>
                    </m:oMath>
                  </m:oMathPara>
                </a14:m>
                <a:endParaRPr lang="nl-NL" sz="2133" dirty="0">
                  <a:solidFill>
                    <a:prstClr val="black"/>
                  </a:solidFill>
                  <a:latin typeface="Calibri"/>
                  <a:cs typeface="+mn-cs"/>
                </a:endParaRPr>
              </a:p>
            </p:txBody>
          </p:sp>
        </mc:Choice>
        <mc:Fallback xmlns="">
          <p:sp>
            <p:nvSpPr>
              <p:cNvPr id="5" name="Rechthoek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864" y="3947077"/>
                <a:ext cx="5755550" cy="7664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363675" y="1971623"/>
          <a:ext cx="6627092" cy="1376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3" imgW="3429000" imgH="711000" progId="Equation.3">
                  <p:embed/>
                </p:oleObj>
              </mc:Choice>
              <mc:Fallback>
                <p:oleObj name="Vergelijking" r:id="rId3" imgW="3429000" imgH="7110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675" y="1971623"/>
                        <a:ext cx="6627092" cy="13767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hthoek 6"/>
              <p:cNvSpPr/>
              <p:nvPr/>
            </p:nvSpPr>
            <p:spPr>
              <a:xfrm>
                <a:off x="988022" y="5370470"/>
                <a:ext cx="1264192" cy="639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l-NL" sz="213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nl-NL" sz="2133" dirty="0"/>
              </a:p>
            </p:txBody>
          </p:sp>
        </mc:Choice>
        <mc:Fallback xmlns="">
          <p:sp>
            <p:nvSpPr>
              <p:cNvPr id="7" name="Rechthoek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022" y="5370470"/>
                <a:ext cx="1264192" cy="6399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hthoek 7"/>
              <p:cNvSpPr/>
              <p:nvPr/>
            </p:nvSpPr>
            <p:spPr>
              <a:xfrm>
                <a:off x="2586523" y="5389256"/>
                <a:ext cx="1407821" cy="6387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l-NL" sz="213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nl-NL" sz="2133" dirty="0"/>
              </a:p>
            </p:txBody>
          </p:sp>
        </mc:Choice>
        <mc:Fallback xmlns="">
          <p:sp>
            <p:nvSpPr>
              <p:cNvPr id="8" name="Rechthoek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523" y="5389256"/>
                <a:ext cx="1407821" cy="6387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hthoek 8"/>
              <p:cNvSpPr/>
              <p:nvPr/>
            </p:nvSpPr>
            <p:spPr>
              <a:xfrm>
                <a:off x="4185025" y="5389255"/>
                <a:ext cx="1629613" cy="639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l-NL" sz="213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nl-NL" sz="2133" dirty="0"/>
              </a:p>
            </p:txBody>
          </p:sp>
        </mc:Choice>
        <mc:Fallback xmlns="">
          <p:sp>
            <p:nvSpPr>
              <p:cNvPr id="9" name="Rechthoek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025" y="5389255"/>
                <a:ext cx="1629613" cy="6399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hthoek 9"/>
              <p:cNvSpPr/>
              <p:nvPr/>
            </p:nvSpPr>
            <p:spPr>
              <a:xfrm>
                <a:off x="6066816" y="5331291"/>
                <a:ext cx="1665584" cy="639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l-NL" sz="213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nl-NL" sz="2133" dirty="0"/>
              </a:p>
            </p:txBody>
          </p:sp>
        </mc:Choice>
        <mc:Fallback xmlns="">
          <p:sp>
            <p:nvSpPr>
              <p:cNvPr id="10" name="Rechthoek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6816" y="5331291"/>
                <a:ext cx="1665584" cy="6399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hthoek 10"/>
              <p:cNvSpPr/>
              <p:nvPr/>
            </p:nvSpPr>
            <p:spPr>
              <a:xfrm>
                <a:off x="8075621" y="5205871"/>
                <a:ext cx="1986121" cy="8907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l-NL" sz="213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𝜂</m:t>
                                    </m:r>
                                  </m:sub>
                                  <m:sup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nl-NL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𝜁</m:t>
                                    </m:r>
                                  </m:sub>
                                  <m:sup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nl-NL" sz="2133" dirty="0"/>
              </a:p>
            </p:txBody>
          </p:sp>
        </mc:Choice>
        <mc:Fallback xmlns="">
          <p:sp>
            <p:nvSpPr>
              <p:cNvPr id="11" name="Rechthoek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621" y="5205871"/>
                <a:ext cx="1986121" cy="89075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hthoek 11"/>
              <p:cNvSpPr/>
              <p:nvPr/>
            </p:nvSpPr>
            <p:spPr>
              <a:xfrm>
                <a:off x="10482449" y="5331291"/>
                <a:ext cx="1358641" cy="6494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l-NL" sz="213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  <m:sub>
                                    <m:r>
                                      <a:rPr lang="nl-NL" sz="2133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nl-NL" sz="2133" dirty="0"/>
              </a:p>
            </p:txBody>
          </p:sp>
        </mc:Choice>
        <mc:Fallback xmlns="">
          <p:sp>
            <p:nvSpPr>
              <p:cNvPr id="12" name="Rechthoek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2449" y="5331291"/>
                <a:ext cx="1358641" cy="64947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89264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DF7E3C2-41D2-86B7-B99A-F9EA6F7AF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Variable</a:t>
            </a:r>
            <a:r>
              <a:rPr lang="nl-NL" dirty="0"/>
              <a:t> </a:t>
            </a:r>
            <a:r>
              <a:rPr lang="nl-NL" dirty="0" err="1"/>
              <a:t>selection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39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400" dirty="0" err="1"/>
              <a:t>If</a:t>
            </a:r>
            <a:r>
              <a:rPr lang="nl-NL" sz="2400" dirty="0"/>
              <a:t> </a:t>
            </a:r>
            <a:r>
              <a:rPr lang="nl-NL" sz="2400" dirty="0" err="1"/>
              <a:t>there</a:t>
            </a:r>
            <a:r>
              <a:rPr lang="nl-NL" sz="2400" dirty="0"/>
              <a:t> is a large </a:t>
            </a:r>
            <a:r>
              <a:rPr lang="nl-NL" sz="2400" dirty="0" err="1"/>
              <a:t>number</a:t>
            </a:r>
            <a:r>
              <a:rPr lang="nl-NL" sz="2400" dirty="0"/>
              <a:t>, </a:t>
            </a:r>
            <a:r>
              <a:rPr lang="nl-NL" sz="2400" dirty="0" err="1"/>
              <a:t>selection</a:t>
            </a:r>
            <a:r>
              <a:rPr lang="nl-NL" sz="2400" dirty="0"/>
              <a:t> </a:t>
            </a:r>
            <a:r>
              <a:rPr lang="nl-NL" sz="2400" dirty="0" err="1"/>
              <a:t>based</a:t>
            </a:r>
            <a:r>
              <a:rPr lang="nl-NL" sz="2400" dirty="0"/>
              <a:t> on: 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 err="1"/>
              <a:t>Highest</a:t>
            </a:r>
            <a:r>
              <a:rPr lang="nl-NL" sz="2400" dirty="0"/>
              <a:t> </a:t>
            </a:r>
            <a:r>
              <a:rPr lang="nl-NL" sz="2400" dirty="0" err="1"/>
              <a:t>correlation</a:t>
            </a:r>
            <a:r>
              <a:rPr lang="nl-NL" sz="2400" dirty="0"/>
              <a:t> </a:t>
            </a:r>
            <a:r>
              <a:rPr lang="nl-NL" sz="2400" dirty="0" err="1"/>
              <a:t>with</a:t>
            </a:r>
            <a:r>
              <a:rPr lang="nl-NL" sz="2400" dirty="0"/>
              <a:t> target </a:t>
            </a:r>
            <a:r>
              <a:rPr lang="nl-NL" sz="2400" dirty="0" err="1"/>
              <a:t>variable</a:t>
            </a:r>
            <a:endParaRPr lang="nl-NL" sz="24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 err="1"/>
              <a:t>Socio-economic</a:t>
            </a:r>
            <a:r>
              <a:rPr lang="nl-NL" sz="2400" dirty="0"/>
              <a:t> </a:t>
            </a:r>
            <a:r>
              <a:rPr lang="nl-NL" sz="2400" dirty="0" err="1"/>
              <a:t>relation</a:t>
            </a:r>
            <a:r>
              <a:rPr lang="nl-NL" sz="2400" dirty="0"/>
              <a:t> </a:t>
            </a:r>
            <a:r>
              <a:rPr lang="nl-NL" sz="2400" dirty="0" err="1"/>
              <a:t>with</a:t>
            </a:r>
            <a:r>
              <a:rPr lang="nl-NL" sz="2400" dirty="0"/>
              <a:t> target </a:t>
            </a:r>
            <a:r>
              <a:rPr lang="nl-NL" sz="2400" dirty="0" err="1"/>
              <a:t>variable</a:t>
            </a:r>
            <a:endParaRPr lang="nl-NL" sz="24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 err="1"/>
              <a:t>Manually</a:t>
            </a:r>
            <a:r>
              <a:rPr lang="nl-NL" sz="2400" dirty="0"/>
              <a:t> </a:t>
            </a:r>
            <a:r>
              <a:rPr lang="nl-NL" sz="2400" dirty="0" err="1"/>
              <a:t>compare</a:t>
            </a:r>
            <a:r>
              <a:rPr lang="nl-NL" sz="2400" dirty="0"/>
              <a:t> </a:t>
            </a:r>
            <a:r>
              <a:rPr lang="nl-NL" sz="2400" dirty="0" err="1"/>
              <a:t>several</a:t>
            </a:r>
            <a:r>
              <a:rPr lang="nl-NL" sz="2400" dirty="0"/>
              <a:t> model-regressor </a:t>
            </a:r>
            <a:r>
              <a:rPr lang="nl-NL" sz="2400" dirty="0" err="1"/>
              <a:t>combinations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select </a:t>
            </a:r>
            <a:r>
              <a:rPr lang="nl-NL" sz="2400" dirty="0" err="1"/>
              <a:t>based</a:t>
            </a:r>
            <a:r>
              <a:rPr lang="nl-NL" sz="2400" dirty="0"/>
              <a:t> on </a:t>
            </a:r>
            <a:r>
              <a:rPr lang="nl-NL" sz="2400" dirty="0" err="1"/>
              <a:t>some</a:t>
            </a:r>
            <a:r>
              <a:rPr lang="nl-NL" sz="2400" dirty="0"/>
              <a:t> </a:t>
            </a:r>
            <a:r>
              <a:rPr lang="nl-NL" sz="2400" dirty="0" err="1"/>
              <a:t>criterion</a:t>
            </a:r>
            <a:endParaRPr lang="nl-NL" sz="24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 err="1"/>
              <a:t>Techniques</a:t>
            </a:r>
            <a:r>
              <a:rPr lang="nl-NL" sz="2400" dirty="0"/>
              <a:t>: </a:t>
            </a:r>
          </a:p>
          <a:p>
            <a:pPr lvl="1">
              <a:buFontTx/>
              <a:buChar char="-"/>
            </a:pPr>
            <a:r>
              <a:rPr lang="nl-NL" sz="2400" spc="53" dirty="0">
                <a:solidFill>
                  <a:srgbClr val="271D6C"/>
                </a:solidFill>
                <a:latin typeface="Calibri" pitchFamily="34" charset="0"/>
              </a:rPr>
              <a:t>Subset </a:t>
            </a:r>
            <a:r>
              <a:rPr lang="nl-NL" sz="2400" spc="53" dirty="0" err="1">
                <a:solidFill>
                  <a:srgbClr val="271D6C"/>
                </a:solidFill>
                <a:latin typeface="Calibri" pitchFamily="34" charset="0"/>
              </a:rPr>
              <a:t>selection</a:t>
            </a:r>
            <a:r>
              <a:rPr lang="nl-NL" sz="2400" spc="53" dirty="0">
                <a:solidFill>
                  <a:srgbClr val="271D6C"/>
                </a:solidFill>
                <a:latin typeface="Calibri" pitchFamily="34" charset="0"/>
              </a:rPr>
              <a:t> (</a:t>
            </a:r>
            <a:r>
              <a:rPr lang="nl-NL" sz="2400" spc="53" dirty="0" err="1">
                <a:solidFill>
                  <a:srgbClr val="271D6C"/>
                </a:solidFill>
                <a:latin typeface="Calibri" pitchFamily="34" charset="0"/>
              </a:rPr>
              <a:t>Stepwise</a:t>
            </a:r>
            <a:r>
              <a:rPr lang="nl-NL" sz="2400" spc="53" dirty="0">
                <a:solidFill>
                  <a:srgbClr val="271D6C"/>
                </a:solidFill>
                <a:latin typeface="Calibri" pitchFamily="34" charset="0"/>
              </a:rPr>
              <a:t> </a:t>
            </a:r>
            <a:r>
              <a:rPr lang="nl-NL" sz="2400" spc="53" dirty="0" err="1">
                <a:solidFill>
                  <a:srgbClr val="271D6C"/>
                </a:solidFill>
                <a:latin typeface="Calibri" pitchFamily="34" charset="0"/>
              </a:rPr>
              <a:t>regression</a:t>
            </a:r>
            <a:r>
              <a:rPr lang="nl-NL" sz="2400" spc="53" dirty="0">
                <a:solidFill>
                  <a:srgbClr val="271D6C"/>
                </a:solidFill>
                <a:latin typeface="Calibri" pitchFamily="34" charset="0"/>
              </a:rPr>
              <a:t>)</a:t>
            </a:r>
          </a:p>
          <a:p>
            <a:pPr lvl="1">
              <a:buFontTx/>
              <a:buChar char="-"/>
            </a:pPr>
            <a:r>
              <a:rPr lang="nl-NL" sz="2400" spc="53" dirty="0" err="1">
                <a:solidFill>
                  <a:srgbClr val="271D6C"/>
                </a:solidFill>
                <a:latin typeface="Calibri" pitchFamily="34" charset="0"/>
              </a:rPr>
              <a:t>Shrinkage</a:t>
            </a:r>
            <a:r>
              <a:rPr lang="nl-NL" sz="2400" spc="53" dirty="0">
                <a:solidFill>
                  <a:srgbClr val="271D6C"/>
                </a:solidFill>
                <a:latin typeface="Calibri" pitchFamily="34" charset="0"/>
              </a:rPr>
              <a:t> (Lasso, </a:t>
            </a:r>
            <a:r>
              <a:rPr lang="nl-NL" sz="2400" spc="53" dirty="0" err="1">
                <a:solidFill>
                  <a:srgbClr val="271D6C"/>
                </a:solidFill>
                <a:latin typeface="Calibri" pitchFamily="34" charset="0"/>
              </a:rPr>
              <a:t>elastic</a:t>
            </a:r>
            <a:r>
              <a:rPr lang="nl-NL" sz="2400" spc="53" dirty="0">
                <a:solidFill>
                  <a:srgbClr val="271D6C"/>
                </a:solidFill>
                <a:latin typeface="Calibri" pitchFamily="34" charset="0"/>
              </a:rPr>
              <a:t> net)</a:t>
            </a:r>
          </a:p>
          <a:p>
            <a:pPr lvl="1">
              <a:buFontTx/>
              <a:buChar char="-"/>
            </a:pPr>
            <a:r>
              <a:rPr lang="nl-NL" sz="2400" spc="53" dirty="0">
                <a:solidFill>
                  <a:srgbClr val="271D6C"/>
                </a:solidFill>
                <a:latin typeface="Calibri" pitchFamily="34" charset="0"/>
              </a:rPr>
              <a:t>Data </a:t>
            </a:r>
            <a:r>
              <a:rPr lang="nl-NL" sz="2400" spc="53" dirty="0" err="1">
                <a:solidFill>
                  <a:srgbClr val="271D6C"/>
                </a:solidFill>
                <a:latin typeface="Calibri" pitchFamily="34" charset="0"/>
              </a:rPr>
              <a:t>reduction</a:t>
            </a:r>
            <a:r>
              <a:rPr lang="nl-NL" sz="2400" spc="53" dirty="0">
                <a:solidFill>
                  <a:srgbClr val="271D6C"/>
                </a:solidFill>
                <a:latin typeface="Calibri" pitchFamily="34" charset="0"/>
              </a:rPr>
              <a:t> (PCA)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640413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el 62">
            <a:extLst>
              <a:ext uri="{FF2B5EF4-FFF2-40B4-BE49-F238E27FC236}">
                <a16:creationId xmlns:a16="http://schemas.microsoft.com/office/drawing/2014/main" id="{A462FD2E-DC56-675A-874B-660FD67E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Nowcasting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STM’s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40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 err="1"/>
              <a:t>Nowcasting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STM is in-sample: </a:t>
            </a:r>
          </a:p>
          <a:p>
            <a:r>
              <a:rPr lang="nl-NL" dirty="0"/>
              <a:t>missing data </a:t>
            </a:r>
            <a:r>
              <a:rPr lang="nl-NL" dirty="0" err="1"/>
              <a:t>problem</a:t>
            </a:r>
            <a:r>
              <a:rPr lang="nl-NL" dirty="0"/>
              <a:t> </a:t>
            </a:r>
            <a:r>
              <a:rPr lang="nl-NL" dirty="0" err="1"/>
              <a:t>instead</a:t>
            </a:r>
            <a:r>
              <a:rPr lang="nl-NL" dirty="0"/>
              <a:t> of </a:t>
            </a:r>
            <a:r>
              <a:rPr lang="nl-NL" dirty="0" err="1"/>
              <a:t>forecasting</a:t>
            </a:r>
            <a:r>
              <a:rPr lang="nl-NL" dirty="0"/>
              <a:t> -&gt; </a:t>
            </a:r>
            <a:r>
              <a:rPr lang="nl-NL" dirty="0" err="1"/>
              <a:t>Kalman</a:t>
            </a:r>
            <a:r>
              <a:rPr lang="nl-NL" dirty="0"/>
              <a:t> Filter</a:t>
            </a:r>
          </a:p>
          <a:p>
            <a:endParaRPr lang="nl-NL" dirty="0"/>
          </a:p>
        </p:txBody>
      </p:sp>
      <p:grpSp>
        <p:nvGrpSpPr>
          <p:cNvPr id="5" name="Groep 4"/>
          <p:cNvGrpSpPr/>
          <p:nvPr/>
        </p:nvGrpSpPr>
        <p:grpSpPr>
          <a:xfrm>
            <a:off x="5914038" y="1796819"/>
            <a:ext cx="5190029" cy="1785216"/>
            <a:chOff x="2375756" y="2277447"/>
            <a:chExt cx="5976664" cy="1871839"/>
          </a:xfrm>
        </p:grpSpPr>
        <p:cxnSp>
          <p:nvCxnSpPr>
            <p:cNvPr id="6" name="Rechte verbindingslijn 5"/>
            <p:cNvCxnSpPr/>
            <p:nvPr/>
          </p:nvCxnSpPr>
          <p:spPr>
            <a:xfrm>
              <a:off x="3023828" y="234945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7" name="Rechte verbindingslijn 6"/>
            <p:cNvCxnSpPr/>
            <p:nvPr/>
          </p:nvCxnSpPr>
          <p:spPr>
            <a:xfrm>
              <a:off x="3023828" y="2493471"/>
              <a:ext cx="4248472" cy="0"/>
            </a:xfrm>
            <a:prstGeom prst="line">
              <a:avLst/>
            </a:prstGeom>
            <a:noFill/>
            <a:ln w="1587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8" name="Rechte verbindingslijn 7"/>
            <p:cNvCxnSpPr/>
            <p:nvPr/>
          </p:nvCxnSpPr>
          <p:spPr>
            <a:xfrm flipV="1">
              <a:off x="3023828" y="3357567"/>
              <a:ext cx="4608512" cy="4192"/>
            </a:xfrm>
            <a:prstGeom prst="line">
              <a:avLst/>
            </a:prstGeom>
            <a:noFill/>
            <a:ln w="1587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9" name="Rechte verbindingslijn 8"/>
            <p:cNvCxnSpPr/>
            <p:nvPr/>
          </p:nvCxnSpPr>
          <p:spPr>
            <a:xfrm>
              <a:off x="3023828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0" name="Rechte verbindingslijn 9"/>
            <p:cNvCxnSpPr/>
            <p:nvPr/>
          </p:nvCxnSpPr>
          <p:spPr>
            <a:xfrm>
              <a:off x="763234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1" name="Rechte verbindingslijn 10"/>
            <p:cNvCxnSpPr/>
            <p:nvPr/>
          </p:nvCxnSpPr>
          <p:spPr>
            <a:xfrm>
              <a:off x="7272300" y="2493471"/>
              <a:ext cx="1080120" cy="0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dash"/>
            </a:ln>
            <a:effectLst/>
          </p:spPr>
        </p:cxnSp>
        <p:cxnSp>
          <p:nvCxnSpPr>
            <p:cNvPr id="12" name="Rechte verbindingslijn 11"/>
            <p:cNvCxnSpPr/>
            <p:nvPr/>
          </p:nvCxnSpPr>
          <p:spPr>
            <a:xfrm>
              <a:off x="8352420" y="234945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3" name="Rechte verbindingslijn 12"/>
            <p:cNvCxnSpPr/>
            <p:nvPr/>
          </p:nvCxnSpPr>
          <p:spPr>
            <a:xfrm>
              <a:off x="835242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4" name="Rechte verbindingslijn 13"/>
            <p:cNvCxnSpPr/>
            <p:nvPr/>
          </p:nvCxnSpPr>
          <p:spPr>
            <a:xfrm>
              <a:off x="727230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5" name="Rechte verbindingslijn 14"/>
            <p:cNvCxnSpPr/>
            <p:nvPr/>
          </p:nvCxnSpPr>
          <p:spPr>
            <a:xfrm>
              <a:off x="7272300" y="234945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6" name="Rechte verbindingslijn 15"/>
            <p:cNvCxnSpPr/>
            <p:nvPr/>
          </p:nvCxnSpPr>
          <p:spPr>
            <a:xfrm>
              <a:off x="799238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7" name="Rechte verbindingslijn 16"/>
            <p:cNvCxnSpPr/>
            <p:nvPr/>
          </p:nvCxnSpPr>
          <p:spPr>
            <a:xfrm>
              <a:off x="7632340" y="3357567"/>
              <a:ext cx="720080" cy="8384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dash"/>
            </a:ln>
            <a:effectLst/>
          </p:spPr>
        </p:cxnSp>
        <p:cxnSp>
          <p:nvCxnSpPr>
            <p:cNvPr id="18" name="Rechte verbindingslijn 17"/>
            <p:cNvCxnSpPr/>
            <p:nvPr/>
          </p:nvCxnSpPr>
          <p:spPr>
            <a:xfrm flipV="1">
              <a:off x="3311860" y="3933631"/>
              <a:ext cx="4680520" cy="8384"/>
            </a:xfrm>
            <a:prstGeom prst="line">
              <a:avLst/>
            </a:prstGeom>
            <a:noFill/>
            <a:ln w="1587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9" name="Rechte verbindingslijn 18"/>
            <p:cNvCxnSpPr/>
            <p:nvPr/>
          </p:nvCxnSpPr>
          <p:spPr>
            <a:xfrm>
              <a:off x="331186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20" name="Rechte verbindingslijn 19"/>
            <p:cNvCxnSpPr/>
            <p:nvPr/>
          </p:nvCxnSpPr>
          <p:spPr>
            <a:xfrm>
              <a:off x="763234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21" name="Rechte verbindingslijn 20"/>
            <p:cNvCxnSpPr/>
            <p:nvPr/>
          </p:nvCxnSpPr>
          <p:spPr>
            <a:xfrm>
              <a:off x="835242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22" name="Rechte verbindingslijn 21"/>
            <p:cNvCxnSpPr/>
            <p:nvPr/>
          </p:nvCxnSpPr>
          <p:spPr>
            <a:xfrm>
              <a:off x="727230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23" name="Rechte verbindingslijn 22"/>
            <p:cNvCxnSpPr/>
            <p:nvPr/>
          </p:nvCxnSpPr>
          <p:spPr>
            <a:xfrm>
              <a:off x="799238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24" name="Rechte verbindingslijn 23"/>
            <p:cNvCxnSpPr/>
            <p:nvPr/>
          </p:nvCxnSpPr>
          <p:spPr>
            <a:xfrm>
              <a:off x="7560332" y="3933631"/>
              <a:ext cx="792088" cy="8384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dash"/>
            </a:ln>
            <a:effectLst/>
          </p:spPr>
        </p:cxnSp>
        <p:sp>
          <p:nvSpPr>
            <p:cNvPr id="25" name="Tekstvak 24"/>
            <p:cNvSpPr txBox="1"/>
            <p:nvPr/>
          </p:nvSpPr>
          <p:spPr>
            <a:xfrm>
              <a:off x="2375756" y="2277447"/>
              <a:ext cx="504056" cy="440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544150">
                <a:buClrTx/>
                <a:defRPr/>
              </a:pPr>
              <a:r>
                <a:rPr lang="nl-NL" sz="2133" dirty="0">
                  <a:solidFill>
                    <a:prstClr val="black"/>
                  </a:solidFill>
                  <a:latin typeface="Calibri"/>
                  <a:cs typeface="+mn-cs"/>
                </a:rPr>
                <a:t>Q</a:t>
              </a:r>
            </a:p>
          </p:txBody>
        </p:sp>
        <p:sp>
          <p:nvSpPr>
            <p:cNvPr id="26" name="Tekstvak 25"/>
            <p:cNvSpPr txBox="1"/>
            <p:nvPr/>
          </p:nvSpPr>
          <p:spPr>
            <a:xfrm>
              <a:off x="2375756" y="3204258"/>
              <a:ext cx="504056" cy="440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544150">
                <a:buClrTx/>
                <a:defRPr/>
              </a:pPr>
              <a:r>
                <a:rPr lang="nl-NL" sz="2133" dirty="0">
                  <a:solidFill>
                    <a:prstClr val="black"/>
                  </a:solidFill>
                  <a:latin typeface="Calibri"/>
                  <a:cs typeface="+mn-cs"/>
                </a:rPr>
                <a:t>M</a:t>
              </a:r>
            </a:p>
          </p:txBody>
        </p:sp>
        <p:sp>
          <p:nvSpPr>
            <p:cNvPr id="27" name="Tekstvak 26"/>
            <p:cNvSpPr txBox="1"/>
            <p:nvPr/>
          </p:nvSpPr>
          <p:spPr>
            <a:xfrm>
              <a:off x="2375756" y="3708315"/>
              <a:ext cx="504056" cy="440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544150">
                <a:buClrTx/>
                <a:defRPr/>
              </a:pPr>
              <a:r>
                <a:rPr lang="nl-NL" sz="2133" dirty="0">
                  <a:solidFill>
                    <a:prstClr val="black"/>
                  </a:solidFill>
                  <a:latin typeface="Calibri"/>
                  <a:cs typeface="+mn-cs"/>
                </a:rPr>
                <a:t>M</a:t>
              </a:r>
            </a:p>
          </p:txBody>
        </p:sp>
        <p:cxnSp>
          <p:nvCxnSpPr>
            <p:cNvPr id="28" name="Rechte verbindingslijn 27"/>
            <p:cNvCxnSpPr/>
            <p:nvPr/>
          </p:nvCxnSpPr>
          <p:spPr>
            <a:xfrm flipH="1">
              <a:off x="7272300" y="2493471"/>
              <a:ext cx="1080120" cy="0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</a:ln>
            <a:effectLst/>
          </p:spPr>
        </p:cxnSp>
        <p:cxnSp>
          <p:nvCxnSpPr>
            <p:cNvPr id="29" name="Rechte verbindingslijn 28"/>
            <p:cNvCxnSpPr/>
            <p:nvPr/>
          </p:nvCxnSpPr>
          <p:spPr>
            <a:xfrm>
              <a:off x="6192180" y="234945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0" name="Rechte verbindingslijn 29"/>
            <p:cNvCxnSpPr/>
            <p:nvPr/>
          </p:nvCxnSpPr>
          <p:spPr>
            <a:xfrm>
              <a:off x="5112060" y="234945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1" name="Rechte verbindingslijn 30"/>
            <p:cNvCxnSpPr/>
            <p:nvPr/>
          </p:nvCxnSpPr>
          <p:spPr>
            <a:xfrm>
              <a:off x="4031940" y="234945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2" name="Rechte verbindingslijn 31"/>
            <p:cNvCxnSpPr/>
            <p:nvPr/>
          </p:nvCxnSpPr>
          <p:spPr>
            <a:xfrm>
              <a:off x="691226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3" name="Rechte verbindingslijn 32"/>
            <p:cNvCxnSpPr/>
            <p:nvPr/>
          </p:nvCxnSpPr>
          <p:spPr>
            <a:xfrm>
              <a:off x="691226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4" name="Rechte verbindingslijn 33"/>
            <p:cNvCxnSpPr/>
            <p:nvPr/>
          </p:nvCxnSpPr>
          <p:spPr>
            <a:xfrm>
              <a:off x="655222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5" name="Rechte verbindingslijn 34"/>
            <p:cNvCxnSpPr/>
            <p:nvPr/>
          </p:nvCxnSpPr>
          <p:spPr>
            <a:xfrm>
              <a:off x="727230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6" name="Rechte verbindingslijn 35"/>
            <p:cNvCxnSpPr/>
            <p:nvPr/>
          </p:nvCxnSpPr>
          <p:spPr>
            <a:xfrm>
              <a:off x="619218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7" name="Rechte verbindingslijn 36"/>
            <p:cNvCxnSpPr/>
            <p:nvPr/>
          </p:nvCxnSpPr>
          <p:spPr>
            <a:xfrm>
              <a:off x="583214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8" name="Rechte verbindingslijn 37"/>
            <p:cNvCxnSpPr/>
            <p:nvPr/>
          </p:nvCxnSpPr>
          <p:spPr>
            <a:xfrm>
              <a:off x="655222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9" name="Rechte verbindingslijn 38"/>
            <p:cNvCxnSpPr/>
            <p:nvPr/>
          </p:nvCxnSpPr>
          <p:spPr>
            <a:xfrm>
              <a:off x="547210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0" name="Rechte verbindingslijn 39"/>
            <p:cNvCxnSpPr/>
            <p:nvPr/>
          </p:nvCxnSpPr>
          <p:spPr>
            <a:xfrm>
              <a:off x="511206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1" name="Rechte verbindingslijn 40"/>
            <p:cNvCxnSpPr/>
            <p:nvPr/>
          </p:nvCxnSpPr>
          <p:spPr>
            <a:xfrm>
              <a:off x="583214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2" name="Rechte verbindingslijn 41"/>
            <p:cNvCxnSpPr/>
            <p:nvPr/>
          </p:nvCxnSpPr>
          <p:spPr>
            <a:xfrm>
              <a:off x="475202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3" name="Rechte verbindingslijn 42"/>
            <p:cNvCxnSpPr/>
            <p:nvPr/>
          </p:nvCxnSpPr>
          <p:spPr>
            <a:xfrm>
              <a:off x="439198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4" name="Rechte verbindingslijn 43"/>
            <p:cNvCxnSpPr/>
            <p:nvPr/>
          </p:nvCxnSpPr>
          <p:spPr>
            <a:xfrm>
              <a:off x="511206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5" name="Rechte verbindingslijn 44"/>
            <p:cNvCxnSpPr/>
            <p:nvPr/>
          </p:nvCxnSpPr>
          <p:spPr>
            <a:xfrm>
              <a:off x="403194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6" name="Rechte verbindingslijn 45"/>
            <p:cNvCxnSpPr/>
            <p:nvPr/>
          </p:nvCxnSpPr>
          <p:spPr>
            <a:xfrm>
              <a:off x="367190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7" name="Rechte verbindingslijn 46"/>
            <p:cNvCxnSpPr/>
            <p:nvPr/>
          </p:nvCxnSpPr>
          <p:spPr>
            <a:xfrm>
              <a:off x="439198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8" name="Rechte verbindingslijn 47"/>
            <p:cNvCxnSpPr/>
            <p:nvPr/>
          </p:nvCxnSpPr>
          <p:spPr>
            <a:xfrm>
              <a:off x="691226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9" name="Rechte verbindingslijn 48"/>
            <p:cNvCxnSpPr/>
            <p:nvPr/>
          </p:nvCxnSpPr>
          <p:spPr>
            <a:xfrm>
              <a:off x="727230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0" name="Rechte verbindingslijn 49"/>
            <p:cNvCxnSpPr/>
            <p:nvPr/>
          </p:nvCxnSpPr>
          <p:spPr>
            <a:xfrm>
              <a:off x="619218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1" name="Rechte verbindingslijn 50"/>
            <p:cNvCxnSpPr/>
            <p:nvPr/>
          </p:nvCxnSpPr>
          <p:spPr>
            <a:xfrm>
              <a:off x="655222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2" name="Rechte verbindingslijn 51"/>
            <p:cNvCxnSpPr/>
            <p:nvPr/>
          </p:nvCxnSpPr>
          <p:spPr>
            <a:xfrm>
              <a:off x="547210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3" name="Rechte verbindingslijn 52"/>
            <p:cNvCxnSpPr/>
            <p:nvPr/>
          </p:nvCxnSpPr>
          <p:spPr>
            <a:xfrm>
              <a:off x="583214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4" name="Rechte verbindingslijn 53"/>
            <p:cNvCxnSpPr/>
            <p:nvPr/>
          </p:nvCxnSpPr>
          <p:spPr>
            <a:xfrm>
              <a:off x="475202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5" name="Rechte verbindingslijn 54"/>
            <p:cNvCxnSpPr/>
            <p:nvPr/>
          </p:nvCxnSpPr>
          <p:spPr>
            <a:xfrm>
              <a:off x="439198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6" name="Rechte verbindingslijn 55"/>
            <p:cNvCxnSpPr/>
            <p:nvPr/>
          </p:nvCxnSpPr>
          <p:spPr>
            <a:xfrm>
              <a:off x="511206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7" name="Rechte verbindingslijn 56"/>
            <p:cNvCxnSpPr/>
            <p:nvPr/>
          </p:nvCxnSpPr>
          <p:spPr>
            <a:xfrm>
              <a:off x="439198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8" name="Rechte verbindingslijn 57"/>
            <p:cNvCxnSpPr/>
            <p:nvPr/>
          </p:nvCxnSpPr>
          <p:spPr>
            <a:xfrm>
              <a:off x="403194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9" name="Rechte verbindingslijn 58"/>
            <p:cNvCxnSpPr/>
            <p:nvPr/>
          </p:nvCxnSpPr>
          <p:spPr>
            <a:xfrm>
              <a:off x="403194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60" name="Rechte verbindingslijn 59"/>
            <p:cNvCxnSpPr/>
            <p:nvPr/>
          </p:nvCxnSpPr>
          <p:spPr>
            <a:xfrm>
              <a:off x="3671900" y="378961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61" name="Rechte verbindingslijn 60"/>
            <p:cNvCxnSpPr/>
            <p:nvPr/>
          </p:nvCxnSpPr>
          <p:spPr>
            <a:xfrm>
              <a:off x="331186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62" name="Rechte verbindingslijn 61"/>
            <p:cNvCxnSpPr/>
            <p:nvPr/>
          </p:nvCxnSpPr>
          <p:spPr>
            <a:xfrm>
              <a:off x="3671900" y="321355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943004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F845539-7C2B-78A7-5BE9-82342C2EF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Cross-</a:t>
            </a:r>
            <a:r>
              <a:rPr lang="nl-NL" dirty="0" err="1"/>
              <a:t>validation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41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/>
              <a:t>Machine </a:t>
            </a:r>
            <a:r>
              <a:rPr lang="nl-NL" sz="2400" dirty="0" err="1"/>
              <a:t>learning</a:t>
            </a:r>
            <a:endParaRPr lang="nl-NL" sz="2400" dirty="0"/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2400" dirty="0"/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sz="2400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sz="2400" dirty="0" err="1"/>
              <a:t>Nowcasting</a:t>
            </a:r>
            <a:endParaRPr lang="nl-NL" sz="2400" dirty="0"/>
          </a:p>
        </p:txBody>
      </p:sp>
      <p:cxnSp>
        <p:nvCxnSpPr>
          <p:cNvPr id="41" name="Rechte verbindingslijn 40"/>
          <p:cNvCxnSpPr/>
          <p:nvPr/>
        </p:nvCxnSpPr>
        <p:spPr>
          <a:xfrm>
            <a:off x="2159563" y="4108259"/>
            <a:ext cx="0" cy="384043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42" name="Rechte verbindingslijn 41"/>
          <p:cNvCxnSpPr/>
          <p:nvPr/>
        </p:nvCxnSpPr>
        <p:spPr>
          <a:xfrm>
            <a:off x="2159563" y="4300280"/>
            <a:ext cx="7104789" cy="0"/>
          </a:xfrm>
          <a:prstGeom prst="line">
            <a:avLst/>
          </a:prstGeom>
          <a:noFill/>
          <a:ln w="1587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43" name="Rechte verbindingslijn 42"/>
          <p:cNvCxnSpPr/>
          <p:nvPr/>
        </p:nvCxnSpPr>
        <p:spPr>
          <a:xfrm>
            <a:off x="9264352" y="4108259"/>
            <a:ext cx="0" cy="384043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44" name="Rechte verbindingslijn 43"/>
          <p:cNvCxnSpPr/>
          <p:nvPr/>
        </p:nvCxnSpPr>
        <p:spPr>
          <a:xfrm>
            <a:off x="2153093" y="2581672"/>
            <a:ext cx="0" cy="384043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45" name="Rechte verbindingslijn 44"/>
          <p:cNvCxnSpPr/>
          <p:nvPr/>
        </p:nvCxnSpPr>
        <p:spPr>
          <a:xfrm>
            <a:off x="2153093" y="2773693"/>
            <a:ext cx="7111259" cy="0"/>
          </a:xfrm>
          <a:prstGeom prst="line">
            <a:avLst/>
          </a:prstGeom>
          <a:noFill/>
          <a:ln w="1587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46" name="Rechte verbindingslijn 45"/>
          <p:cNvCxnSpPr/>
          <p:nvPr/>
        </p:nvCxnSpPr>
        <p:spPr>
          <a:xfrm>
            <a:off x="9257883" y="2581672"/>
            <a:ext cx="0" cy="384043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47" name="Rechte verbindingslijn 46"/>
          <p:cNvCxnSpPr/>
          <p:nvPr/>
        </p:nvCxnSpPr>
        <p:spPr>
          <a:xfrm>
            <a:off x="8066219" y="2581672"/>
            <a:ext cx="0" cy="384043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48" name="Rechte verbindingslijn 47"/>
          <p:cNvCxnSpPr/>
          <p:nvPr/>
        </p:nvCxnSpPr>
        <p:spPr>
          <a:xfrm>
            <a:off x="6991043" y="2581672"/>
            <a:ext cx="0" cy="384043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49" name="Tekstvak 48"/>
          <p:cNvSpPr txBox="1"/>
          <p:nvPr/>
        </p:nvSpPr>
        <p:spPr>
          <a:xfrm>
            <a:off x="3593253" y="2389651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4150"/>
            <a:r>
              <a:rPr lang="nl-NL" sz="1600" dirty="0">
                <a:solidFill>
                  <a:prstClr val="black"/>
                </a:solidFill>
                <a:latin typeface="Calibri"/>
                <a:cs typeface="+mn-cs"/>
              </a:rPr>
              <a:t>Training</a:t>
            </a:r>
          </a:p>
        </p:txBody>
      </p:sp>
      <p:sp>
        <p:nvSpPr>
          <p:cNvPr id="50" name="Tekstvak 49"/>
          <p:cNvSpPr txBox="1"/>
          <p:nvPr/>
        </p:nvSpPr>
        <p:spPr>
          <a:xfrm>
            <a:off x="7276259" y="2404362"/>
            <a:ext cx="1152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4150"/>
            <a:r>
              <a:rPr lang="nl-NL" sz="1600" dirty="0">
                <a:solidFill>
                  <a:prstClr val="black"/>
                </a:solidFill>
                <a:latin typeface="Calibri"/>
                <a:cs typeface="+mn-cs"/>
              </a:rPr>
              <a:t>Test</a:t>
            </a:r>
          </a:p>
        </p:txBody>
      </p:sp>
      <p:sp>
        <p:nvSpPr>
          <p:cNvPr id="51" name="Tekstvak 50"/>
          <p:cNvSpPr txBox="1"/>
          <p:nvPr/>
        </p:nvSpPr>
        <p:spPr>
          <a:xfrm>
            <a:off x="8232722" y="2397893"/>
            <a:ext cx="1152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4150"/>
            <a:r>
              <a:rPr lang="nl-NL" sz="1600" dirty="0" err="1">
                <a:solidFill>
                  <a:prstClr val="black"/>
                </a:solidFill>
                <a:latin typeface="Calibri"/>
                <a:cs typeface="+mn-cs"/>
              </a:rPr>
              <a:t>Validation</a:t>
            </a:r>
            <a:endParaRPr lang="nl-NL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52" name="Tekstvak 51"/>
          <p:cNvSpPr txBox="1"/>
          <p:nvPr/>
        </p:nvSpPr>
        <p:spPr>
          <a:xfrm>
            <a:off x="3602320" y="2771456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4150"/>
            <a:r>
              <a:rPr lang="nl-NL" sz="1600" dirty="0">
                <a:solidFill>
                  <a:prstClr val="black"/>
                </a:solidFill>
                <a:latin typeface="Calibri"/>
                <a:cs typeface="+mn-cs"/>
              </a:rPr>
              <a:t>70%</a:t>
            </a:r>
          </a:p>
        </p:txBody>
      </p:sp>
      <p:sp>
        <p:nvSpPr>
          <p:cNvPr id="53" name="Tekstvak 52"/>
          <p:cNvSpPr txBox="1"/>
          <p:nvPr/>
        </p:nvSpPr>
        <p:spPr>
          <a:xfrm>
            <a:off x="7276747" y="2772746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4150"/>
            <a:r>
              <a:rPr lang="nl-NL" sz="1600" dirty="0">
                <a:solidFill>
                  <a:prstClr val="black"/>
                </a:solidFill>
                <a:latin typeface="Calibri"/>
                <a:cs typeface="+mn-cs"/>
              </a:rPr>
              <a:t>15%</a:t>
            </a:r>
          </a:p>
        </p:txBody>
      </p:sp>
      <p:sp>
        <p:nvSpPr>
          <p:cNvPr id="54" name="Tekstvak 53"/>
          <p:cNvSpPr txBox="1"/>
          <p:nvPr/>
        </p:nvSpPr>
        <p:spPr>
          <a:xfrm>
            <a:off x="8372987" y="2774039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4150"/>
            <a:r>
              <a:rPr lang="nl-NL" sz="1600" dirty="0">
                <a:solidFill>
                  <a:prstClr val="black"/>
                </a:solidFill>
                <a:latin typeface="Calibri"/>
                <a:cs typeface="+mn-cs"/>
              </a:rPr>
              <a:t>15%</a:t>
            </a:r>
          </a:p>
        </p:txBody>
      </p:sp>
      <p:sp>
        <p:nvSpPr>
          <p:cNvPr id="55" name="Tekstvak 54"/>
          <p:cNvSpPr txBox="1"/>
          <p:nvPr/>
        </p:nvSpPr>
        <p:spPr>
          <a:xfrm>
            <a:off x="5031409" y="5131784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4150"/>
            <a:r>
              <a:rPr lang="nl-NL" sz="1600" dirty="0">
                <a:solidFill>
                  <a:prstClr val="black"/>
                </a:solidFill>
                <a:latin typeface="Calibri"/>
                <a:cs typeface="+mn-cs"/>
                <a:sym typeface="Wingdings" panose="05000000000000000000" pitchFamily="2" charset="2"/>
              </a:rPr>
              <a:t> → time</a:t>
            </a:r>
            <a:endParaRPr lang="nl-NL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56" name="Tekstvak 55"/>
          <p:cNvSpPr txBox="1"/>
          <p:nvPr/>
        </p:nvSpPr>
        <p:spPr>
          <a:xfrm>
            <a:off x="3641134" y="3903291"/>
            <a:ext cx="1623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4150"/>
            <a:r>
              <a:rPr lang="nl-NL" sz="1600" dirty="0">
                <a:solidFill>
                  <a:prstClr val="black"/>
                </a:solidFill>
                <a:latin typeface="Calibri"/>
                <a:cs typeface="+mn-cs"/>
              </a:rPr>
              <a:t>Fitting</a:t>
            </a:r>
          </a:p>
        </p:txBody>
      </p:sp>
      <p:cxnSp>
        <p:nvCxnSpPr>
          <p:cNvPr id="57" name="Rechte verbindingslijn 56"/>
          <p:cNvCxnSpPr/>
          <p:nvPr/>
        </p:nvCxnSpPr>
        <p:spPr>
          <a:xfrm>
            <a:off x="8063991" y="4110843"/>
            <a:ext cx="0" cy="384043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58" name="Tekstvak 57"/>
          <p:cNvSpPr txBox="1"/>
          <p:nvPr/>
        </p:nvSpPr>
        <p:spPr>
          <a:xfrm>
            <a:off x="8208603" y="3912356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4150"/>
            <a:r>
              <a:rPr lang="nl-NL" sz="1600" dirty="0" err="1">
                <a:solidFill>
                  <a:prstClr val="black"/>
                </a:solidFill>
                <a:latin typeface="Calibri"/>
                <a:cs typeface="+mn-cs"/>
              </a:rPr>
              <a:t>Holdout</a:t>
            </a:r>
            <a:endParaRPr lang="nl-NL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2775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el 130">
            <a:extLst>
              <a:ext uri="{FF2B5EF4-FFF2-40B4-BE49-F238E27FC236}">
                <a16:creationId xmlns:a16="http://schemas.microsoft.com/office/drawing/2014/main" id="{2B08D9A4-F934-451C-DDFE-74B5A7F30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Cross-</a:t>
            </a:r>
            <a:r>
              <a:rPr lang="nl-NL" dirty="0" err="1"/>
              <a:t>validation</a:t>
            </a:r>
            <a:r>
              <a:rPr lang="nl-NL" dirty="0"/>
              <a:t>: rolling forecast horizon</a:t>
            </a:r>
            <a:br>
              <a:rPr lang="nl-NL" dirty="0"/>
            </a:b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6E74E8C-0CA9-B61F-E7D3-7BCDA5D5B60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 baseline="0">
                <a:solidFill>
                  <a:srgbClr val="271D6C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45CA951-4815-4987-9CD6-BB5D6648C0B5}" type="slidenum">
              <a:rPr lang="nl-NL" sz="1200" smtClean="0"/>
              <a:pPr algn="ctr"/>
              <a:t>42</a:t>
            </a:fld>
            <a:endParaRPr lang="nl-NL" sz="1600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6A28285-2F94-53B0-9710-58940A81D5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/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AF3F4AAC-88BB-B48C-D952-0B7C47CF9CE2}"/>
              </a:ext>
            </a:extLst>
          </p:cNvPr>
          <p:cNvCxnSpPr/>
          <p:nvPr/>
        </p:nvCxnSpPr>
        <p:spPr>
          <a:xfrm flipV="1">
            <a:off x="2077229" y="3543871"/>
            <a:ext cx="5600" cy="800100"/>
          </a:xfrm>
          <a:prstGeom prst="line">
            <a:avLst/>
          </a:prstGeom>
          <a:noFill/>
          <a:ln w="6350" cap="flat" cmpd="sng" algn="ctr">
            <a:solidFill>
              <a:srgbClr val="4F81BD">
                <a:shade val="95000"/>
                <a:satMod val="105000"/>
              </a:srgbClr>
            </a:solidFill>
            <a:prstDash val="dash"/>
          </a:ln>
          <a:effectLst/>
        </p:spPr>
      </p:cxn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33A280C2-C9DD-33F7-7748-40A6324DFB14}"/>
              </a:ext>
            </a:extLst>
          </p:cNvPr>
          <p:cNvCxnSpPr/>
          <p:nvPr/>
        </p:nvCxnSpPr>
        <p:spPr>
          <a:xfrm flipH="1" flipV="1">
            <a:off x="6883292" y="3415426"/>
            <a:ext cx="1889744" cy="874895"/>
          </a:xfrm>
          <a:prstGeom prst="line">
            <a:avLst/>
          </a:prstGeom>
          <a:noFill/>
          <a:ln w="6350" cap="flat" cmpd="sng" algn="ctr">
            <a:solidFill>
              <a:srgbClr val="4F81BD">
                <a:shade val="95000"/>
                <a:satMod val="105000"/>
              </a:srgbClr>
            </a:solidFill>
            <a:prstDash val="dash"/>
          </a:ln>
          <a:effectLst/>
        </p:spPr>
      </p:cxnSp>
      <p:grpSp>
        <p:nvGrpSpPr>
          <p:cNvPr id="7" name="Groep 6">
            <a:extLst>
              <a:ext uri="{FF2B5EF4-FFF2-40B4-BE49-F238E27FC236}">
                <a16:creationId xmlns:a16="http://schemas.microsoft.com/office/drawing/2014/main" id="{CA016BF5-02E4-BD07-4326-718099864CE0}"/>
              </a:ext>
            </a:extLst>
          </p:cNvPr>
          <p:cNvGrpSpPr/>
          <p:nvPr/>
        </p:nvGrpSpPr>
        <p:grpSpPr>
          <a:xfrm>
            <a:off x="1206867" y="2272572"/>
            <a:ext cx="5162389" cy="492609"/>
            <a:chOff x="1206866" y="2272570"/>
            <a:chExt cx="5162389" cy="492609"/>
          </a:xfrm>
        </p:grpSpPr>
        <p:cxnSp>
          <p:nvCxnSpPr>
            <p:cNvPr id="8" name="Rechte verbindingslijn 7">
              <a:extLst>
                <a:ext uri="{FF2B5EF4-FFF2-40B4-BE49-F238E27FC236}">
                  <a16:creationId xmlns:a16="http://schemas.microsoft.com/office/drawing/2014/main" id="{E7962E80-A04A-6149-05C9-933A7D4F0B37}"/>
                </a:ext>
              </a:extLst>
            </p:cNvPr>
            <p:cNvCxnSpPr/>
            <p:nvPr/>
          </p:nvCxnSpPr>
          <p:spPr>
            <a:xfrm flipV="1">
              <a:off x="2786104" y="2614365"/>
              <a:ext cx="3240360" cy="6798"/>
            </a:xfrm>
            <a:prstGeom prst="line">
              <a:avLst/>
            </a:prstGeom>
            <a:noFill/>
            <a:ln w="1587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AB25A0F0-52A1-FFB2-C0B7-BF50B58ECB6F}"/>
                </a:ext>
              </a:extLst>
            </p:cNvPr>
            <p:cNvCxnSpPr/>
            <p:nvPr/>
          </p:nvCxnSpPr>
          <p:spPr>
            <a:xfrm>
              <a:off x="6266003" y="2466467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0" name="Rechte verbindingslijn 9">
              <a:extLst>
                <a:ext uri="{FF2B5EF4-FFF2-40B4-BE49-F238E27FC236}">
                  <a16:creationId xmlns:a16="http://schemas.microsoft.com/office/drawing/2014/main" id="{328F926C-0C92-3DAC-793B-390880761E19}"/>
                </a:ext>
              </a:extLst>
            </p:cNvPr>
            <p:cNvCxnSpPr/>
            <p:nvPr/>
          </p:nvCxnSpPr>
          <p:spPr>
            <a:xfrm>
              <a:off x="6026464" y="2470349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1" name="Rechte verbindingslijn 10">
              <a:extLst>
                <a:ext uri="{FF2B5EF4-FFF2-40B4-BE49-F238E27FC236}">
                  <a16:creationId xmlns:a16="http://schemas.microsoft.com/office/drawing/2014/main" id="{9478343A-3EFE-DB50-C385-7918E4896722}"/>
                </a:ext>
              </a:extLst>
            </p:cNvPr>
            <p:cNvCxnSpPr/>
            <p:nvPr/>
          </p:nvCxnSpPr>
          <p:spPr>
            <a:xfrm flipH="1">
              <a:off x="6026465" y="2614683"/>
              <a:ext cx="237380" cy="1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</a:ln>
            <a:effectLst/>
          </p:spPr>
        </p:cxnSp>
        <p:cxnSp>
          <p:nvCxnSpPr>
            <p:cNvPr id="12" name="Rechte verbindingslijn 11">
              <a:extLst>
                <a:ext uri="{FF2B5EF4-FFF2-40B4-BE49-F238E27FC236}">
                  <a16:creationId xmlns:a16="http://schemas.microsoft.com/office/drawing/2014/main" id="{F99BC13F-089F-DC94-5A7F-599005EA958D}"/>
                </a:ext>
              </a:extLst>
            </p:cNvPr>
            <p:cNvCxnSpPr/>
            <p:nvPr/>
          </p:nvCxnSpPr>
          <p:spPr>
            <a:xfrm>
              <a:off x="4945549" y="2470349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3" name="Rechte verbindingslijn 12">
              <a:extLst>
                <a:ext uri="{FF2B5EF4-FFF2-40B4-BE49-F238E27FC236}">
                  <a16:creationId xmlns:a16="http://schemas.microsoft.com/office/drawing/2014/main" id="{01FAFB8B-6F14-57DC-C29E-5887FBC34CFA}"/>
                </a:ext>
              </a:extLst>
            </p:cNvPr>
            <p:cNvCxnSpPr/>
            <p:nvPr/>
          </p:nvCxnSpPr>
          <p:spPr>
            <a:xfrm>
              <a:off x="3853000" y="2470349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4" name="Rechte verbindingslijn 13">
              <a:extLst>
                <a:ext uri="{FF2B5EF4-FFF2-40B4-BE49-F238E27FC236}">
                  <a16:creationId xmlns:a16="http://schemas.microsoft.com/office/drawing/2014/main" id="{C6BB3C14-2781-5066-5C63-108F50A2FF7B}"/>
                </a:ext>
              </a:extLst>
            </p:cNvPr>
            <p:cNvCxnSpPr/>
            <p:nvPr/>
          </p:nvCxnSpPr>
          <p:spPr>
            <a:xfrm>
              <a:off x="2786104" y="2470349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5" name="Rechte verbindingslijn 14">
              <a:extLst>
                <a:ext uri="{FF2B5EF4-FFF2-40B4-BE49-F238E27FC236}">
                  <a16:creationId xmlns:a16="http://schemas.microsoft.com/office/drawing/2014/main" id="{29A119B7-6641-AD61-F2EF-23C5A2001215}"/>
                </a:ext>
              </a:extLst>
            </p:cNvPr>
            <p:cNvCxnSpPr/>
            <p:nvPr/>
          </p:nvCxnSpPr>
          <p:spPr>
            <a:xfrm>
              <a:off x="3049167" y="246656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6" name="Rechte verbindingslijn 15">
              <a:extLst>
                <a:ext uri="{FF2B5EF4-FFF2-40B4-BE49-F238E27FC236}">
                  <a16:creationId xmlns:a16="http://schemas.microsoft.com/office/drawing/2014/main" id="{A91CAA78-64C0-01E9-F147-D353F8922EDC}"/>
                </a:ext>
              </a:extLst>
            </p:cNvPr>
            <p:cNvCxnSpPr/>
            <p:nvPr/>
          </p:nvCxnSpPr>
          <p:spPr>
            <a:xfrm>
              <a:off x="3318689" y="2471320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7" name="Rechte verbindingslijn 16">
              <a:extLst>
                <a:ext uri="{FF2B5EF4-FFF2-40B4-BE49-F238E27FC236}">
                  <a16:creationId xmlns:a16="http://schemas.microsoft.com/office/drawing/2014/main" id="{B10B8484-68CC-5ABA-BBF6-6E2357259ED7}"/>
                </a:ext>
              </a:extLst>
            </p:cNvPr>
            <p:cNvCxnSpPr/>
            <p:nvPr/>
          </p:nvCxnSpPr>
          <p:spPr>
            <a:xfrm>
              <a:off x="3600632" y="2477147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8" name="Rechte verbindingslijn 17">
              <a:extLst>
                <a:ext uri="{FF2B5EF4-FFF2-40B4-BE49-F238E27FC236}">
                  <a16:creationId xmlns:a16="http://schemas.microsoft.com/office/drawing/2014/main" id="{C2AA59B6-36EE-CFB9-718D-2D239AAF8B7E}"/>
                </a:ext>
              </a:extLst>
            </p:cNvPr>
            <p:cNvCxnSpPr/>
            <p:nvPr/>
          </p:nvCxnSpPr>
          <p:spPr>
            <a:xfrm>
              <a:off x="4127612" y="2466467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9" name="Rechte verbindingslijn 18">
              <a:extLst>
                <a:ext uri="{FF2B5EF4-FFF2-40B4-BE49-F238E27FC236}">
                  <a16:creationId xmlns:a16="http://schemas.microsoft.com/office/drawing/2014/main" id="{A64A38A4-0C9F-A218-C92D-787E4B9B1B09}"/>
                </a:ext>
              </a:extLst>
            </p:cNvPr>
            <p:cNvCxnSpPr/>
            <p:nvPr/>
          </p:nvCxnSpPr>
          <p:spPr>
            <a:xfrm>
              <a:off x="4409043" y="2464340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20" name="Rechte verbindingslijn 19">
              <a:extLst>
                <a:ext uri="{FF2B5EF4-FFF2-40B4-BE49-F238E27FC236}">
                  <a16:creationId xmlns:a16="http://schemas.microsoft.com/office/drawing/2014/main" id="{B4DD4A64-6666-0A6D-0A0B-F2D90E5BE310}"/>
                </a:ext>
              </a:extLst>
            </p:cNvPr>
            <p:cNvCxnSpPr/>
            <p:nvPr/>
          </p:nvCxnSpPr>
          <p:spPr>
            <a:xfrm>
              <a:off x="4683043" y="2460643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21" name="Rechte verbindingslijn 20">
              <a:extLst>
                <a:ext uri="{FF2B5EF4-FFF2-40B4-BE49-F238E27FC236}">
                  <a16:creationId xmlns:a16="http://schemas.microsoft.com/office/drawing/2014/main" id="{5DD0E930-0A1E-2AC5-47F1-F2F70093A53D}"/>
                </a:ext>
              </a:extLst>
            </p:cNvPr>
            <p:cNvCxnSpPr/>
            <p:nvPr/>
          </p:nvCxnSpPr>
          <p:spPr>
            <a:xfrm>
              <a:off x="5214874" y="2460643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22" name="Rechte verbindingslijn 21">
              <a:extLst>
                <a:ext uri="{FF2B5EF4-FFF2-40B4-BE49-F238E27FC236}">
                  <a16:creationId xmlns:a16="http://schemas.microsoft.com/office/drawing/2014/main" id="{3442B0F5-1234-C932-55BD-63604D0388E5}"/>
                </a:ext>
              </a:extLst>
            </p:cNvPr>
            <p:cNvCxnSpPr/>
            <p:nvPr/>
          </p:nvCxnSpPr>
          <p:spPr>
            <a:xfrm>
              <a:off x="5496305" y="2463278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23" name="Rechte verbindingslijn 22">
              <a:extLst>
                <a:ext uri="{FF2B5EF4-FFF2-40B4-BE49-F238E27FC236}">
                  <a16:creationId xmlns:a16="http://schemas.microsoft.com/office/drawing/2014/main" id="{34343EA7-A7FA-198D-C68D-4B7E343A27DE}"/>
                </a:ext>
              </a:extLst>
            </p:cNvPr>
            <p:cNvCxnSpPr/>
            <p:nvPr/>
          </p:nvCxnSpPr>
          <p:spPr>
            <a:xfrm>
              <a:off x="5775865" y="2460643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24" name="Rechte verbindingslijn 23">
              <a:extLst>
                <a:ext uri="{FF2B5EF4-FFF2-40B4-BE49-F238E27FC236}">
                  <a16:creationId xmlns:a16="http://schemas.microsoft.com/office/drawing/2014/main" id="{62145FE5-39C1-9002-773A-210E6125DC4B}"/>
                </a:ext>
              </a:extLst>
            </p:cNvPr>
            <p:cNvCxnSpPr/>
            <p:nvPr/>
          </p:nvCxnSpPr>
          <p:spPr>
            <a:xfrm flipV="1">
              <a:off x="2059778" y="2624114"/>
              <a:ext cx="718716" cy="12172"/>
            </a:xfrm>
            <a:prstGeom prst="line">
              <a:avLst/>
            </a:prstGeom>
            <a:noFill/>
            <a:ln w="15875" cap="flat" cmpd="sng" algn="ctr">
              <a:solidFill>
                <a:srgbClr val="4F81BD">
                  <a:shade val="95000"/>
                  <a:satMod val="105000"/>
                </a:srgbClr>
              </a:solidFill>
              <a:prstDash val="dash"/>
            </a:ln>
            <a:effectLst/>
          </p:spPr>
        </p:cxnSp>
        <p:cxnSp>
          <p:nvCxnSpPr>
            <p:cNvPr id="25" name="Rechte verbindingslijn 24">
              <a:extLst>
                <a:ext uri="{FF2B5EF4-FFF2-40B4-BE49-F238E27FC236}">
                  <a16:creationId xmlns:a16="http://schemas.microsoft.com/office/drawing/2014/main" id="{F7F00F15-5D68-212E-7AA2-E354A6BD71F4}"/>
                </a:ext>
              </a:extLst>
            </p:cNvPr>
            <p:cNvCxnSpPr/>
            <p:nvPr/>
          </p:nvCxnSpPr>
          <p:spPr>
            <a:xfrm>
              <a:off x="2062204" y="2476699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hthoek 25">
                  <a:extLst>
                    <a:ext uri="{FF2B5EF4-FFF2-40B4-BE49-F238E27FC236}">
                      <a16:creationId xmlns:a16="http://schemas.microsoft.com/office/drawing/2014/main" id="{1F62B7B2-6776-F44F-60F5-2814F0542730}"/>
                    </a:ext>
                  </a:extLst>
                </p:cNvPr>
                <p:cNvSpPr/>
                <p:nvPr/>
              </p:nvSpPr>
              <p:spPr>
                <a:xfrm>
                  <a:off x="5943561" y="2272570"/>
                  <a:ext cx="425694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408112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nl-NL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nl-NL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</m:acc>
                          </m:e>
                          <m:sub>
                            <m:r>
                              <a:rPr lang="nl-NL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nl-NL" sz="16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26" name="Rechthoek 25">
                  <a:extLst>
                    <a:ext uri="{FF2B5EF4-FFF2-40B4-BE49-F238E27FC236}">
                      <a16:creationId xmlns:a16="http://schemas.microsoft.com/office/drawing/2014/main" id="{1F62B7B2-6776-F44F-60F5-2814F05427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561" y="2272570"/>
                  <a:ext cx="425694" cy="338554"/>
                </a:xfrm>
                <a:prstGeom prst="rect">
                  <a:avLst/>
                </a:prstGeom>
                <a:blipFill>
                  <a:blip r:embed="rId2"/>
                  <a:stretch>
                    <a:fillRect r="-4286" b="-3636"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kstvak 26">
              <a:extLst>
                <a:ext uri="{FF2B5EF4-FFF2-40B4-BE49-F238E27FC236}">
                  <a16:creationId xmlns:a16="http://schemas.microsoft.com/office/drawing/2014/main" id="{953A2444-172D-6490-E2DF-0FC9A8088BF2}"/>
                </a:ext>
              </a:extLst>
            </p:cNvPr>
            <p:cNvSpPr txBox="1"/>
            <p:nvPr/>
          </p:nvSpPr>
          <p:spPr>
            <a:xfrm>
              <a:off x="1206866" y="2423927"/>
              <a:ext cx="6614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08112"/>
              <a:r>
                <a:rPr lang="nl-NL" sz="1600" dirty="0">
                  <a:solidFill>
                    <a:prstClr val="black"/>
                  </a:solidFill>
                  <a:latin typeface="Calibri"/>
                </a:rPr>
                <a:t>t = 0</a:t>
              </a:r>
            </a:p>
          </p:txBody>
        </p:sp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58BA64E7-0559-DC3B-8C55-1ADDC26B4247}"/>
              </a:ext>
            </a:extLst>
          </p:cNvPr>
          <p:cNvGrpSpPr/>
          <p:nvPr/>
        </p:nvGrpSpPr>
        <p:grpSpPr>
          <a:xfrm>
            <a:off x="1228399" y="2922540"/>
            <a:ext cx="5399399" cy="550522"/>
            <a:chOff x="1228398" y="2922542"/>
            <a:chExt cx="5399399" cy="550523"/>
          </a:xfrm>
        </p:grpSpPr>
        <p:cxnSp>
          <p:nvCxnSpPr>
            <p:cNvPr id="29" name="Rechte verbindingslijn 28">
              <a:extLst>
                <a:ext uri="{FF2B5EF4-FFF2-40B4-BE49-F238E27FC236}">
                  <a16:creationId xmlns:a16="http://schemas.microsoft.com/office/drawing/2014/main" id="{3E5F8580-B946-5145-3D8B-8E92A7F62B56}"/>
                </a:ext>
              </a:extLst>
            </p:cNvPr>
            <p:cNvCxnSpPr/>
            <p:nvPr/>
          </p:nvCxnSpPr>
          <p:spPr>
            <a:xfrm flipV="1">
              <a:off x="2770692" y="3281115"/>
              <a:ext cx="3503422" cy="3399"/>
            </a:xfrm>
            <a:prstGeom prst="line">
              <a:avLst/>
            </a:prstGeom>
            <a:noFill/>
            <a:ln w="1587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0" name="Rechte verbindingslijn 29">
              <a:extLst>
                <a:ext uri="{FF2B5EF4-FFF2-40B4-BE49-F238E27FC236}">
                  <a16:creationId xmlns:a16="http://schemas.microsoft.com/office/drawing/2014/main" id="{18B1EFA3-C6EB-FA7A-460F-32ABBDFFCAFF}"/>
                </a:ext>
              </a:extLst>
            </p:cNvPr>
            <p:cNvCxnSpPr/>
            <p:nvPr/>
          </p:nvCxnSpPr>
          <p:spPr>
            <a:xfrm>
              <a:off x="6513653" y="3133217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1" name="Rechte verbindingslijn 30">
              <a:extLst>
                <a:ext uri="{FF2B5EF4-FFF2-40B4-BE49-F238E27FC236}">
                  <a16:creationId xmlns:a16="http://schemas.microsoft.com/office/drawing/2014/main" id="{9D70C796-2C5C-96F1-B4AA-2379E59452DF}"/>
                </a:ext>
              </a:extLst>
            </p:cNvPr>
            <p:cNvCxnSpPr/>
            <p:nvPr/>
          </p:nvCxnSpPr>
          <p:spPr>
            <a:xfrm>
              <a:off x="6274114" y="3137099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2" name="Rechte verbindingslijn 31">
              <a:extLst>
                <a:ext uri="{FF2B5EF4-FFF2-40B4-BE49-F238E27FC236}">
                  <a16:creationId xmlns:a16="http://schemas.microsoft.com/office/drawing/2014/main" id="{F5E9CEE1-E8BC-8BC0-4933-18E8EF872FC1}"/>
                </a:ext>
              </a:extLst>
            </p:cNvPr>
            <p:cNvCxnSpPr/>
            <p:nvPr/>
          </p:nvCxnSpPr>
          <p:spPr>
            <a:xfrm flipH="1">
              <a:off x="6274115" y="3281433"/>
              <a:ext cx="237380" cy="1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</a:ln>
            <a:effectLst/>
          </p:spPr>
        </p:cxnSp>
        <p:cxnSp>
          <p:nvCxnSpPr>
            <p:cNvPr id="33" name="Rechte verbindingslijn 32">
              <a:extLst>
                <a:ext uri="{FF2B5EF4-FFF2-40B4-BE49-F238E27FC236}">
                  <a16:creationId xmlns:a16="http://schemas.microsoft.com/office/drawing/2014/main" id="{AF1389D4-789E-1989-81A8-1E0100C19D45}"/>
                </a:ext>
              </a:extLst>
            </p:cNvPr>
            <p:cNvCxnSpPr/>
            <p:nvPr/>
          </p:nvCxnSpPr>
          <p:spPr>
            <a:xfrm>
              <a:off x="5205899" y="3137099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4" name="Rechte verbindingslijn 33">
              <a:extLst>
                <a:ext uri="{FF2B5EF4-FFF2-40B4-BE49-F238E27FC236}">
                  <a16:creationId xmlns:a16="http://schemas.microsoft.com/office/drawing/2014/main" id="{CF579784-FD79-265F-F655-261E9392E558}"/>
                </a:ext>
              </a:extLst>
            </p:cNvPr>
            <p:cNvCxnSpPr/>
            <p:nvPr/>
          </p:nvCxnSpPr>
          <p:spPr>
            <a:xfrm>
              <a:off x="4113350" y="3137099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5" name="Rechte verbindingslijn 34">
              <a:extLst>
                <a:ext uri="{FF2B5EF4-FFF2-40B4-BE49-F238E27FC236}">
                  <a16:creationId xmlns:a16="http://schemas.microsoft.com/office/drawing/2014/main" id="{A5C34F84-4718-B270-8F0F-B95002018DF2}"/>
                </a:ext>
              </a:extLst>
            </p:cNvPr>
            <p:cNvCxnSpPr/>
            <p:nvPr/>
          </p:nvCxnSpPr>
          <p:spPr>
            <a:xfrm>
              <a:off x="3040104" y="3137099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6" name="Rechte verbindingslijn 35">
              <a:extLst>
                <a:ext uri="{FF2B5EF4-FFF2-40B4-BE49-F238E27FC236}">
                  <a16:creationId xmlns:a16="http://schemas.microsoft.com/office/drawing/2014/main" id="{7AE0260A-1D3E-E0A8-36CD-E56D1F004996}"/>
                </a:ext>
              </a:extLst>
            </p:cNvPr>
            <p:cNvCxnSpPr/>
            <p:nvPr/>
          </p:nvCxnSpPr>
          <p:spPr>
            <a:xfrm>
              <a:off x="3309517" y="313331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7" name="Rechte verbindingslijn 36">
              <a:extLst>
                <a:ext uri="{FF2B5EF4-FFF2-40B4-BE49-F238E27FC236}">
                  <a16:creationId xmlns:a16="http://schemas.microsoft.com/office/drawing/2014/main" id="{E4FE60DE-8154-3DEA-C428-7F54D36CF58B}"/>
                </a:ext>
              </a:extLst>
            </p:cNvPr>
            <p:cNvCxnSpPr/>
            <p:nvPr/>
          </p:nvCxnSpPr>
          <p:spPr>
            <a:xfrm>
              <a:off x="3585389" y="3138070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8" name="Rechte verbindingslijn 37">
              <a:extLst>
                <a:ext uri="{FF2B5EF4-FFF2-40B4-BE49-F238E27FC236}">
                  <a16:creationId xmlns:a16="http://schemas.microsoft.com/office/drawing/2014/main" id="{7D354F12-11AE-6515-1BB7-960F029D6E66}"/>
                </a:ext>
              </a:extLst>
            </p:cNvPr>
            <p:cNvCxnSpPr/>
            <p:nvPr/>
          </p:nvCxnSpPr>
          <p:spPr>
            <a:xfrm>
              <a:off x="3848282" y="3143897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9" name="Rechte verbindingslijn 38">
              <a:extLst>
                <a:ext uri="{FF2B5EF4-FFF2-40B4-BE49-F238E27FC236}">
                  <a16:creationId xmlns:a16="http://schemas.microsoft.com/office/drawing/2014/main" id="{C829A481-17FB-529C-29BD-B2AE4334D78A}"/>
                </a:ext>
              </a:extLst>
            </p:cNvPr>
            <p:cNvCxnSpPr/>
            <p:nvPr/>
          </p:nvCxnSpPr>
          <p:spPr>
            <a:xfrm>
              <a:off x="4394312" y="3133217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0" name="Rechte verbindingslijn 39">
              <a:extLst>
                <a:ext uri="{FF2B5EF4-FFF2-40B4-BE49-F238E27FC236}">
                  <a16:creationId xmlns:a16="http://schemas.microsoft.com/office/drawing/2014/main" id="{B281D47F-CF98-EB4A-FA08-AE68CC70D35A}"/>
                </a:ext>
              </a:extLst>
            </p:cNvPr>
            <p:cNvCxnSpPr/>
            <p:nvPr/>
          </p:nvCxnSpPr>
          <p:spPr>
            <a:xfrm>
              <a:off x="4682093" y="3131090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1" name="Rechte verbindingslijn 40">
              <a:extLst>
                <a:ext uri="{FF2B5EF4-FFF2-40B4-BE49-F238E27FC236}">
                  <a16:creationId xmlns:a16="http://schemas.microsoft.com/office/drawing/2014/main" id="{3AA2137C-105F-9372-04F9-4524BDE771C6}"/>
                </a:ext>
              </a:extLst>
            </p:cNvPr>
            <p:cNvCxnSpPr/>
            <p:nvPr/>
          </p:nvCxnSpPr>
          <p:spPr>
            <a:xfrm>
              <a:off x="4943393" y="3127393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2" name="Rechte verbindingslijn 41">
              <a:extLst>
                <a:ext uri="{FF2B5EF4-FFF2-40B4-BE49-F238E27FC236}">
                  <a16:creationId xmlns:a16="http://schemas.microsoft.com/office/drawing/2014/main" id="{AE86C81D-6699-80CE-F5F0-6F5979AACF1C}"/>
                </a:ext>
              </a:extLst>
            </p:cNvPr>
            <p:cNvCxnSpPr/>
            <p:nvPr/>
          </p:nvCxnSpPr>
          <p:spPr>
            <a:xfrm>
              <a:off x="5487924" y="3127393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3" name="Rechte verbindingslijn 42">
              <a:extLst>
                <a:ext uri="{FF2B5EF4-FFF2-40B4-BE49-F238E27FC236}">
                  <a16:creationId xmlns:a16="http://schemas.microsoft.com/office/drawing/2014/main" id="{AD454D3E-6035-0C3A-4FEE-AC70B16431B9}"/>
                </a:ext>
              </a:extLst>
            </p:cNvPr>
            <p:cNvCxnSpPr/>
            <p:nvPr/>
          </p:nvCxnSpPr>
          <p:spPr>
            <a:xfrm>
              <a:off x="5763005" y="3130028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4" name="Rechte verbindingslijn 43">
              <a:extLst>
                <a:ext uri="{FF2B5EF4-FFF2-40B4-BE49-F238E27FC236}">
                  <a16:creationId xmlns:a16="http://schemas.microsoft.com/office/drawing/2014/main" id="{E8AC75C0-A64D-BB74-A79B-E17728A87C16}"/>
                </a:ext>
              </a:extLst>
            </p:cNvPr>
            <p:cNvCxnSpPr/>
            <p:nvPr/>
          </p:nvCxnSpPr>
          <p:spPr>
            <a:xfrm>
              <a:off x="6017165" y="3133743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5" name="Rechte verbindingslijn 44">
              <a:extLst>
                <a:ext uri="{FF2B5EF4-FFF2-40B4-BE49-F238E27FC236}">
                  <a16:creationId xmlns:a16="http://schemas.microsoft.com/office/drawing/2014/main" id="{F0224866-0776-D436-5853-83AAE94E4ECA}"/>
                </a:ext>
              </a:extLst>
            </p:cNvPr>
            <p:cNvCxnSpPr/>
            <p:nvPr/>
          </p:nvCxnSpPr>
          <p:spPr>
            <a:xfrm flipV="1">
              <a:off x="2056603" y="3284514"/>
              <a:ext cx="718716" cy="12172"/>
            </a:xfrm>
            <a:prstGeom prst="line">
              <a:avLst/>
            </a:prstGeom>
            <a:noFill/>
            <a:ln w="15875" cap="flat" cmpd="sng" algn="ctr">
              <a:solidFill>
                <a:srgbClr val="4F81BD">
                  <a:shade val="95000"/>
                  <a:satMod val="105000"/>
                </a:srgbClr>
              </a:solidFill>
              <a:prstDash val="dash"/>
            </a:ln>
            <a:effectLst/>
          </p:spPr>
        </p:cxnSp>
        <p:cxnSp>
          <p:nvCxnSpPr>
            <p:cNvPr id="46" name="Rechte verbindingslijn 45">
              <a:extLst>
                <a:ext uri="{FF2B5EF4-FFF2-40B4-BE49-F238E27FC236}">
                  <a16:creationId xmlns:a16="http://schemas.microsoft.com/office/drawing/2014/main" id="{9FA04413-B5CB-E657-DEBE-3551225252F2}"/>
                </a:ext>
              </a:extLst>
            </p:cNvPr>
            <p:cNvCxnSpPr/>
            <p:nvPr/>
          </p:nvCxnSpPr>
          <p:spPr>
            <a:xfrm>
              <a:off x="2058662" y="3130749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7" name="Rechte verbindingslijn 46">
              <a:extLst>
                <a:ext uri="{FF2B5EF4-FFF2-40B4-BE49-F238E27FC236}">
                  <a16:creationId xmlns:a16="http://schemas.microsoft.com/office/drawing/2014/main" id="{F86E87DA-2DB8-9383-9DB1-E13E201F73A2}"/>
                </a:ext>
              </a:extLst>
            </p:cNvPr>
            <p:cNvCxnSpPr/>
            <p:nvPr/>
          </p:nvCxnSpPr>
          <p:spPr>
            <a:xfrm>
              <a:off x="2786104" y="3134512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Rechthoek 47">
                  <a:extLst>
                    <a:ext uri="{FF2B5EF4-FFF2-40B4-BE49-F238E27FC236}">
                      <a16:creationId xmlns:a16="http://schemas.microsoft.com/office/drawing/2014/main" id="{D68A340C-59D1-403C-40AA-2C6FB2A68C2B}"/>
                    </a:ext>
                  </a:extLst>
                </p:cNvPr>
                <p:cNvSpPr/>
                <p:nvPr/>
              </p:nvSpPr>
              <p:spPr>
                <a:xfrm>
                  <a:off x="6197359" y="2922542"/>
                  <a:ext cx="430438" cy="3385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408112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nl-NL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nl-NL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</m:acc>
                          </m:e>
                          <m:sub>
                            <m:r>
                              <a:rPr lang="nl-NL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nl-NL" sz="16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48" name="Rechthoek 47">
                  <a:extLst>
                    <a:ext uri="{FF2B5EF4-FFF2-40B4-BE49-F238E27FC236}">
                      <a16:creationId xmlns:a16="http://schemas.microsoft.com/office/drawing/2014/main" id="{D68A340C-59D1-403C-40AA-2C6FB2A68C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7359" y="2922542"/>
                  <a:ext cx="430438" cy="338555"/>
                </a:xfrm>
                <a:prstGeom prst="rect">
                  <a:avLst/>
                </a:prstGeom>
                <a:blipFill>
                  <a:blip r:embed="rId3"/>
                  <a:stretch>
                    <a:fillRect r="-4286" b="-3571"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Tekstvak 48">
              <a:extLst>
                <a:ext uri="{FF2B5EF4-FFF2-40B4-BE49-F238E27FC236}">
                  <a16:creationId xmlns:a16="http://schemas.microsoft.com/office/drawing/2014/main" id="{328D76D9-0A30-48BE-EC0D-BA3750C4AEF5}"/>
                </a:ext>
              </a:extLst>
            </p:cNvPr>
            <p:cNvSpPr txBox="1"/>
            <p:nvPr/>
          </p:nvSpPr>
          <p:spPr>
            <a:xfrm>
              <a:off x="1228398" y="3134510"/>
              <a:ext cx="661457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08112"/>
              <a:r>
                <a:rPr lang="nl-NL" sz="1600" dirty="0">
                  <a:solidFill>
                    <a:prstClr val="black"/>
                  </a:solidFill>
                  <a:latin typeface="Calibri"/>
                </a:rPr>
                <a:t>t = 1</a:t>
              </a:r>
            </a:p>
          </p:txBody>
        </p:sp>
      </p:grpSp>
      <p:grpSp>
        <p:nvGrpSpPr>
          <p:cNvPr id="50" name="Groep 49">
            <a:extLst>
              <a:ext uri="{FF2B5EF4-FFF2-40B4-BE49-F238E27FC236}">
                <a16:creationId xmlns:a16="http://schemas.microsoft.com/office/drawing/2014/main" id="{6913B7BC-E0C0-FA93-94C7-A77D76C8D1DE}"/>
              </a:ext>
            </a:extLst>
          </p:cNvPr>
          <p:cNvGrpSpPr/>
          <p:nvPr/>
        </p:nvGrpSpPr>
        <p:grpSpPr>
          <a:xfrm>
            <a:off x="1229120" y="4265051"/>
            <a:ext cx="8163194" cy="551334"/>
            <a:chOff x="1229120" y="4265050"/>
            <a:chExt cx="8163194" cy="551334"/>
          </a:xfrm>
        </p:grpSpPr>
        <p:cxnSp>
          <p:nvCxnSpPr>
            <p:cNvPr id="51" name="Rechte verbindingslijn 50">
              <a:extLst>
                <a:ext uri="{FF2B5EF4-FFF2-40B4-BE49-F238E27FC236}">
                  <a16:creationId xmlns:a16="http://schemas.microsoft.com/office/drawing/2014/main" id="{7E395275-2332-EB52-FD1C-E3E482D789CD}"/>
                </a:ext>
              </a:extLst>
            </p:cNvPr>
            <p:cNvCxnSpPr/>
            <p:nvPr/>
          </p:nvCxnSpPr>
          <p:spPr>
            <a:xfrm flipV="1">
              <a:off x="2770692" y="4627721"/>
              <a:ext cx="6252943" cy="15570"/>
            </a:xfrm>
            <a:prstGeom prst="line">
              <a:avLst/>
            </a:prstGeom>
            <a:noFill/>
            <a:ln w="1587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2" name="Rechte verbindingslijn 51">
              <a:extLst>
                <a:ext uri="{FF2B5EF4-FFF2-40B4-BE49-F238E27FC236}">
                  <a16:creationId xmlns:a16="http://schemas.microsoft.com/office/drawing/2014/main" id="{85752B1F-73FC-DCCB-3484-F3D5014A6187}"/>
                </a:ext>
              </a:extLst>
            </p:cNvPr>
            <p:cNvCxnSpPr/>
            <p:nvPr/>
          </p:nvCxnSpPr>
          <p:spPr>
            <a:xfrm>
              <a:off x="9263174" y="4479822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3" name="Rechte verbindingslijn 52">
              <a:extLst>
                <a:ext uri="{FF2B5EF4-FFF2-40B4-BE49-F238E27FC236}">
                  <a16:creationId xmlns:a16="http://schemas.microsoft.com/office/drawing/2014/main" id="{0F79C800-76BC-32A2-C6EB-F74ED0127E0E}"/>
                </a:ext>
              </a:extLst>
            </p:cNvPr>
            <p:cNvCxnSpPr/>
            <p:nvPr/>
          </p:nvCxnSpPr>
          <p:spPr>
            <a:xfrm>
              <a:off x="9023635" y="4483704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4" name="Rechte verbindingslijn 53">
              <a:extLst>
                <a:ext uri="{FF2B5EF4-FFF2-40B4-BE49-F238E27FC236}">
                  <a16:creationId xmlns:a16="http://schemas.microsoft.com/office/drawing/2014/main" id="{BE409B29-E0F9-5FB1-8237-F3DABFC2C3DC}"/>
                </a:ext>
              </a:extLst>
            </p:cNvPr>
            <p:cNvCxnSpPr/>
            <p:nvPr/>
          </p:nvCxnSpPr>
          <p:spPr>
            <a:xfrm flipH="1">
              <a:off x="9023636" y="4628038"/>
              <a:ext cx="237380" cy="1"/>
            </a:xfrm>
            <a:prstGeom prst="line">
              <a:avLst/>
            </a:prstGeom>
            <a:noFill/>
            <a:ln w="15875" cap="flat" cmpd="sng" algn="ctr">
              <a:solidFill>
                <a:srgbClr val="FF0000"/>
              </a:solidFill>
              <a:prstDash val="solid"/>
            </a:ln>
            <a:effectLst/>
          </p:spPr>
        </p:cxnSp>
        <p:cxnSp>
          <p:nvCxnSpPr>
            <p:cNvPr id="55" name="Rechte verbindingslijn 54">
              <a:extLst>
                <a:ext uri="{FF2B5EF4-FFF2-40B4-BE49-F238E27FC236}">
                  <a16:creationId xmlns:a16="http://schemas.microsoft.com/office/drawing/2014/main" id="{57590A0A-633B-3931-EA50-57A01D8A2729}"/>
                </a:ext>
              </a:extLst>
            </p:cNvPr>
            <p:cNvCxnSpPr/>
            <p:nvPr/>
          </p:nvCxnSpPr>
          <p:spPr>
            <a:xfrm>
              <a:off x="7955420" y="4483704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6" name="Rechte verbindingslijn 55">
              <a:extLst>
                <a:ext uri="{FF2B5EF4-FFF2-40B4-BE49-F238E27FC236}">
                  <a16:creationId xmlns:a16="http://schemas.microsoft.com/office/drawing/2014/main" id="{3A794E96-F0B7-3AAC-7146-939369080B38}"/>
                </a:ext>
              </a:extLst>
            </p:cNvPr>
            <p:cNvCxnSpPr/>
            <p:nvPr/>
          </p:nvCxnSpPr>
          <p:spPr>
            <a:xfrm>
              <a:off x="6850171" y="4483704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7" name="Rechte verbindingslijn 56">
              <a:extLst>
                <a:ext uri="{FF2B5EF4-FFF2-40B4-BE49-F238E27FC236}">
                  <a16:creationId xmlns:a16="http://schemas.microsoft.com/office/drawing/2014/main" id="{7198A350-0FFD-4571-B54D-208C9E3A5F12}"/>
                </a:ext>
              </a:extLst>
            </p:cNvPr>
            <p:cNvCxnSpPr/>
            <p:nvPr/>
          </p:nvCxnSpPr>
          <p:spPr>
            <a:xfrm>
              <a:off x="5783275" y="4483704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9D09A087-2B54-7B17-CDA0-ECA3FEEAB1B7}"/>
                </a:ext>
              </a:extLst>
            </p:cNvPr>
            <p:cNvCxnSpPr/>
            <p:nvPr/>
          </p:nvCxnSpPr>
          <p:spPr>
            <a:xfrm>
              <a:off x="6046338" y="4479916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BA293AB7-0787-86F1-FDF3-7FD94BCED3CF}"/>
                </a:ext>
              </a:extLst>
            </p:cNvPr>
            <p:cNvCxnSpPr/>
            <p:nvPr/>
          </p:nvCxnSpPr>
          <p:spPr>
            <a:xfrm>
              <a:off x="6315860" y="448467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60" name="Rechte verbindingslijn 59">
              <a:extLst>
                <a:ext uri="{FF2B5EF4-FFF2-40B4-BE49-F238E27FC236}">
                  <a16:creationId xmlns:a16="http://schemas.microsoft.com/office/drawing/2014/main" id="{1BE3697E-A632-D6AA-89DE-A21469CF5571}"/>
                </a:ext>
              </a:extLst>
            </p:cNvPr>
            <p:cNvCxnSpPr/>
            <p:nvPr/>
          </p:nvCxnSpPr>
          <p:spPr>
            <a:xfrm>
              <a:off x="6597803" y="4490502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6ADFF08C-3345-B7CE-D32D-CE5BD0811EA7}"/>
                </a:ext>
              </a:extLst>
            </p:cNvPr>
            <p:cNvCxnSpPr/>
            <p:nvPr/>
          </p:nvCxnSpPr>
          <p:spPr>
            <a:xfrm>
              <a:off x="7124783" y="4479822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62" name="Rechte verbindingslijn 61">
              <a:extLst>
                <a:ext uri="{FF2B5EF4-FFF2-40B4-BE49-F238E27FC236}">
                  <a16:creationId xmlns:a16="http://schemas.microsoft.com/office/drawing/2014/main" id="{8806182D-B255-32B5-187F-025479691CB8}"/>
                </a:ext>
              </a:extLst>
            </p:cNvPr>
            <p:cNvCxnSpPr/>
            <p:nvPr/>
          </p:nvCxnSpPr>
          <p:spPr>
            <a:xfrm>
              <a:off x="7406214" y="447769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63" name="Rechte verbindingslijn 62">
              <a:extLst>
                <a:ext uri="{FF2B5EF4-FFF2-40B4-BE49-F238E27FC236}">
                  <a16:creationId xmlns:a16="http://schemas.microsoft.com/office/drawing/2014/main" id="{F8619308-3C6A-C163-DDA2-72689E55A353}"/>
                </a:ext>
              </a:extLst>
            </p:cNvPr>
            <p:cNvCxnSpPr/>
            <p:nvPr/>
          </p:nvCxnSpPr>
          <p:spPr>
            <a:xfrm>
              <a:off x="7692914" y="4473998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64" name="Rechte verbindingslijn 63">
              <a:extLst>
                <a:ext uri="{FF2B5EF4-FFF2-40B4-BE49-F238E27FC236}">
                  <a16:creationId xmlns:a16="http://schemas.microsoft.com/office/drawing/2014/main" id="{1DE71F57-0596-6789-D6D3-1EF28437031D}"/>
                </a:ext>
              </a:extLst>
            </p:cNvPr>
            <p:cNvCxnSpPr/>
            <p:nvPr/>
          </p:nvCxnSpPr>
          <p:spPr>
            <a:xfrm>
              <a:off x="8212045" y="4473998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65" name="Rechte verbindingslijn 64">
              <a:extLst>
                <a:ext uri="{FF2B5EF4-FFF2-40B4-BE49-F238E27FC236}">
                  <a16:creationId xmlns:a16="http://schemas.microsoft.com/office/drawing/2014/main" id="{3B81C40D-6613-7049-4641-C12ED7E59A21}"/>
                </a:ext>
              </a:extLst>
            </p:cNvPr>
            <p:cNvCxnSpPr/>
            <p:nvPr/>
          </p:nvCxnSpPr>
          <p:spPr>
            <a:xfrm>
              <a:off x="8493476" y="4476633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66" name="Rechte verbindingslijn 65">
              <a:extLst>
                <a:ext uri="{FF2B5EF4-FFF2-40B4-BE49-F238E27FC236}">
                  <a16:creationId xmlns:a16="http://schemas.microsoft.com/office/drawing/2014/main" id="{055B4464-AA19-1D30-B64E-8175742D2FE0}"/>
                </a:ext>
              </a:extLst>
            </p:cNvPr>
            <p:cNvCxnSpPr/>
            <p:nvPr/>
          </p:nvCxnSpPr>
          <p:spPr>
            <a:xfrm>
              <a:off x="8773036" y="4473998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67" name="Rechte verbindingslijn 66">
              <a:extLst>
                <a:ext uri="{FF2B5EF4-FFF2-40B4-BE49-F238E27FC236}">
                  <a16:creationId xmlns:a16="http://schemas.microsoft.com/office/drawing/2014/main" id="{8C0D9620-896D-ACF8-DB82-032FBE94C55A}"/>
                </a:ext>
              </a:extLst>
            </p:cNvPr>
            <p:cNvCxnSpPr/>
            <p:nvPr/>
          </p:nvCxnSpPr>
          <p:spPr>
            <a:xfrm flipV="1">
              <a:off x="2087208" y="4643291"/>
              <a:ext cx="683484" cy="12700"/>
            </a:xfrm>
            <a:prstGeom prst="line">
              <a:avLst/>
            </a:prstGeom>
            <a:noFill/>
            <a:ln w="15875" cap="flat" cmpd="sng" algn="ctr">
              <a:solidFill>
                <a:srgbClr val="4F81BD">
                  <a:shade val="95000"/>
                  <a:satMod val="105000"/>
                </a:srgbClr>
              </a:solidFill>
              <a:prstDash val="dash"/>
            </a:ln>
            <a:effectLst/>
          </p:spPr>
        </p:cxn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4DCE431C-1737-7139-EF4D-8B6F5D1F4D68}"/>
                </a:ext>
              </a:extLst>
            </p:cNvPr>
            <p:cNvCxnSpPr/>
            <p:nvPr/>
          </p:nvCxnSpPr>
          <p:spPr>
            <a:xfrm>
              <a:off x="2087208" y="4490054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69" name="Rechte verbindingslijn 68">
              <a:extLst>
                <a:ext uri="{FF2B5EF4-FFF2-40B4-BE49-F238E27FC236}">
                  <a16:creationId xmlns:a16="http://schemas.microsoft.com/office/drawing/2014/main" id="{61122DAE-1E35-9DE2-59C6-E5BE0EE94D30}"/>
                </a:ext>
              </a:extLst>
            </p:cNvPr>
            <p:cNvCxnSpPr/>
            <p:nvPr/>
          </p:nvCxnSpPr>
          <p:spPr>
            <a:xfrm>
              <a:off x="5535625" y="4481117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EC04065A-55DA-A0EB-CB69-697F54C04A91}"/>
                </a:ext>
              </a:extLst>
            </p:cNvPr>
            <p:cNvCxnSpPr/>
            <p:nvPr/>
          </p:nvCxnSpPr>
          <p:spPr>
            <a:xfrm>
              <a:off x="4722854" y="4470823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2D53E6E7-FFD3-F3F5-F3FC-411AD5A47F39}"/>
                </a:ext>
              </a:extLst>
            </p:cNvPr>
            <p:cNvCxnSpPr/>
            <p:nvPr/>
          </p:nvCxnSpPr>
          <p:spPr>
            <a:xfrm>
              <a:off x="4985917" y="4470210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58E3B6E7-DB07-306F-F437-076AB3A90767}"/>
                </a:ext>
              </a:extLst>
            </p:cNvPr>
            <p:cNvCxnSpPr/>
            <p:nvPr/>
          </p:nvCxnSpPr>
          <p:spPr>
            <a:xfrm>
              <a:off x="5255439" y="4474969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4A31C787-B310-49F7-F9B0-9442C9645F51}"/>
                </a:ext>
              </a:extLst>
            </p:cNvPr>
            <p:cNvCxnSpPr/>
            <p:nvPr/>
          </p:nvCxnSpPr>
          <p:spPr>
            <a:xfrm>
              <a:off x="5537382" y="4480796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74" name="Rechte verbindingslijn 73">
              <a:extLst>
                <a:ext uri="{FF2B5EF4-FFF2-40B4-BE49-F238E27FC236}">
                  <a16:creationId xmlns:a16="http://schemas.microsoft.com/office/drawing/2014/main" id="{08B97D8B-0EDC-B1E2-E21F-F4402EE73619}"/>
                </a:ext>
              </a:extLst>
            </p:cNvPr>
            <p:cNvCxnSpPr/>
            <p:nvPr/>
          </p:nvCxnSpPr>
          <p:spPr>
            <a:xfrm>
              <a:off x="4475204" y="447776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75" name="Rechte verbindingslijn 74">
              <a:extLst>
                <a:ext uri="{FF2B5EF4-FFF2-40B4-BE49-F238E27FC236}">
                  <a16:creationId xmlns:a16="http://schemas.microsoft.com/office/drawing/2014/main" id="{0266957D-C93A-45B6-54CB-CB5D25B3730B}"/>
                </a:ext>
              </a:extLst>
            </p:cNvPr>
            <p:cNvCxnSpPr/>
            <p:nvPr/>
          </p:nvCxnSpPr>
          <p:spPr>
            <a:xfrm>
              <a:off x="3631924" y="4467648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76" name="Rechte verbindingslijn 75">
              <a:extLst>
                <a:ext uri="{FF2B5EF4-FFF2-40B4-BE49-F238E27FC236}">
                  <a16:creationId xmlns:a16="http://schemas.microsoft.com/office/drawing/2014/main" id="{8C223509-A1B1-B4B2-1AEE-502A9A11EFCC}"/>
                </a:ext>
              </a:extLst>
            </p:cNvPr>
            <p:cNvCxnSpPr/>
            <p:nvPr/>
          </p:nvCxnSpPr>
          <p:spPr>
            <a:xfrm>
              <a:off x="3925467" y="4471480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77" name="Rechte verbindingslijn 76">
              <a:extLst>
                <a:ext uri="{FF2B5EF4-FFF2-40B4-BE49-F238E27FC236}">
                  <a16:creationId xmlns:a16="http://schemas.microsoft.com/office/drawing/2014/main" id="{752E154B-5F79-3B62-A77B-0691CE283DBF}"/>
                </a:ext>
              </a:extLst>
            </p:cNvPr>
            <p:cNvCxnSpPr/>
            <p:nvPr/>
          </p:nvCxnSpPr>
          <p:spPr>
            <a:xfrm>
              <a:off x="4194989" y="4468619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78" name="Rechte verbindingslijn 77">
              <a:extLst>
                <a:ext uri="{FF2B5EF4-FFF2-40B4-BE49-F238E27FC236}">
                  <a16:creationId xmlns:a16="http://schemas.microsoft.com/office/drawing/2014/main" id="{9EE90137-14FA-770A-4A00-2EE0D46C0C6B}"/>
                </a:ext>
              </a:extLst>
            </p:cNvPr>
            <p:cNvCxnSpPr/>
            <p:nvPr/>
          </p:nvCxnSpPr>
          <p:spPr>
            <a:xfrm>
              <a:off x="4476932" y="4466826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79" name="Rechte verbindingslijn 78">
              <a:extLst>
                <a:ext uri="{FF2B5EF4-FFF2-40B4-BE49-F238E27FC236}">
                  <a16:creationId xmlns:a16="http://schemas.microsoft.com/office/drawing/2014/main" id="{001D41FD-2240-4DAD-D557-8ABA71027348}"/>
                </a:ext>
              </a:extLst>
            </p:cNvPr>
            <p:cNvCxnSpPr/>
            <p:nvPr/>
          </p:nvCxnSpPr>
          <p:spPr>
            <a:xfrm>
              <a:off x="3060924" y="4483704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80" name="Rechte verbindingslijn 79">
              <a:extLst>
                <a:ext uri="{FF2B5EF4-FFF2-40B4-BE49-F238E27FC236}">
                  <a16:creationId xmlns:a16="http://schemas.microsoft.com/office/drawing/2014/main" id="{07D6A879-EF33-1B4B-D701-B6D61DBB34D3}"/>
                </a:ext>
              </a:extLst>
            </p:cNvPr>
            <p:cNvCxnSpPr/>
            <p:nvPr/>
          </p:nvCxnSpPr>
          <p:spPr>
            <a:xfrm>
              <a:off x="3341549" y="4477830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81" name="Rechte verbindingslijn 80">
              <a:extLst>
                <a:ext uri="{FF2B5EF4-FFF2-40B4-BE49-F238E27FC236}">
                  <a16:creationId xmlns:a16="http://schemas.microsoft.com/office/drawing/2014/main" id="{EA70FDC9-0B81-B65F-F0CB-F9B6C6458CFB}"/>
                </a:ext>
              </a:extLst>
            </p:cNvPr>
            <p:cNvCxnSpPr/>
            <p:nvPr/>
          </p:nvCxnSpPr>
          <p:spPr>
            <a:xfrm>
              <a:off x="2777368" y="4490502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0EF63993-7894-F9B4-6AB6-BB5D7F1050F8}"/>
                    </a:ext>
                  </a:extLst>
                </p:cNvPr>
                <p:cNvSpPr/>
                <p:nvPr/>
              </p:nvSpPr>
              <p:spPr>
                <a:xfrm>
                  <a:off x="8931097" y="4265050"/>
                  <a:ext cx="461217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408112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nl-NL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nl-NL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</m:acc>
                          </m:e>
                          <m:sub>
                            <m:r>
                              <a:rPr lang="nl-NL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nl-NL" sz="16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0EF63993-7894-F9B4-6AB6-BB5D7F1050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1097" y="4265050"/>
                  <a:ext cx="461217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5263" b="-3636"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3" name="Tekstvak 82">
              <a:extLst>
                <a:ext uri="{FF2B5EF4-FFF2-40B4-BE49-F238E27FC236}">
                  <a16:creationId xmlns:a16="http://schemas.microsoft.com/office/drawing/2014/main" id="{FA324EBA-0BC1-708C-9487-115226093764}"/>
                </a:ext>
              </a:extLst>
            </p:cNvPr>
            <p:cNvSpPr txBox="1"/>
            <p:nvPr/>
          </p:nvSpPr>
          <p:spPr>
            <a:xfrm>
              <a:off x="1229120" y="4477830"/>
              <a:ext cx="8578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08112"/>
              <a:r>
                <a:rPr lang="nl-NL" sz="1600" dirty="0">
                  <a:solidFill>
                    <a:prstClr val="black"/>
                  </a:solidFill>
                  <a:latin typeface="Calibri"/>
                </a:rPr>
                <a:t>t = N-1</a:t>
              </a:r>
            </a:p>
          </p:txBody>
        </p:sp>
      </p:grpSp>
      <p:grpSp>
        <p:nvGrpSpPr>
          <p:cNvPr id="84" name="Groep 83">
            <a:extLst>
              <a:ext uri="{FF2B5EF4-FFF2-40B4-BE49-F238E27FC236}">
                <a16:creationId xmlns:a16="http://schemas.microsoft.com/office/drawing/2014/main" id="{238D9A6F-98EB-58ED-F1E9-F6F79BDC8301}"/>
              </a:ext>
            </a:extLst>
          </p:cNvPr>
          <p:cNvGrpSpPr/>
          <p:nvPr/>
        </p:nvGrpSpPr>
        <p:grpSpPr>
          <a:xfrm>
            <a:off x="1244475" y="4855618"/>
            <a:ext cx="8147840" cy="494700"/>
            <a:chOff x="1244474" y="4855617"/>
            <a:chExt cx="8147840" cy="494700"/>
          </a:xfrm>
        </p:grpSpPr>
        <p:cxnSp>
          <p:nvCxnSpPr>
            <p:cNvPr id="85" name="Rechte verbindingslijn 84">
              <a:extLst>
                <a:ext uri="{FF2B5EF4-FFF2-40B4-BE49-F238E27FC236}">
                  <a16:creationId xmlns:a16="http://schemas.microsoft.com/office/drawing/2014/main" id="{A0E6DA4E-0625-828C-5A26-10DF97A0A887}"/>
                </a:ext>
              </a:extLst>
            </p:cNvPr>
            <p:cNvCxnSpPr/>
            <p:nvPr/>
          </p:nvCxnSpPr>
          <p:spPr>
            <a:xfrm flipV="1">
              <a:off x="2771841" y="5199504"/>
              <a:ext cx="6492482" cy="15570"/>
            </a:xfrm>
            <a:prstGeom prst="line">
              <a:avLst/>
            </a:prstGeom>
            <a:noFill/>
            <a:ln w="1587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86" name="Rechte verbindingslijn 85">
              <a:extLst>
                <a:ext uri="{FF2B5EF4-FFF2-40B4-BE49-F238E27FC236}">
                  <a16:creationId xmlns:a16="http://schemas.microsoft.com/office/drawing/2014/main" id="{DB1D5DF2-5B61-0B7E-27D8-B5A580059D75}"/>
                </a:ext>
              </a:extLst>
            </p:cNvPr>
            <p:cNvCxnSpPr/>
            <p:nvPr/>
          </p:nvCxnSpPr>
          <p:spPr>
            <a:xfrm>
              <a:off x="9264323" y="505160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87" name="Rechte verbindingslijn 86">
              <a:extLst>
                <a:ext uri="{FF2B5EF4-FFF2-40B4-BE49-F238E27FC236}">
                  <a16:creationId xmlns:a16="http://schemas.microsoft.com/office/drawing/2014/main" id="{ED119B18-0FB2-59BA-233C-B4B68A7E03A4}"/>
                </a:ext>
              </a:extLst>
            </p:cNvPr>
            <p:cNvCxnSpPr/>
            <p:nvPr/>
          </p:nvCxnSpPr>
          <p:spPr>
            <a:xfrm>
              <a:off x="9024784" y="5055487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88" name="Rechte verbindingslijn 87">
              <a:extLst>
                <a:ext uri="{FF2B5EF4-FFF2-40B4-BE49-F238E27FC236}">
                  <a16:creationId xmlns:a16="http://schemas.microsoft.com/office/drawing/2014/main" id="{313EAD17-DD26-EFA4-5EB2-CFC14740C5BE}"/>
                </a:ext>
              </a:extLst>
            </p:cNvPr>
            <p:cNvCxnSpPr/>
            <p:nvPr/>
          </p:nvCxnSpPr>
          <p:spPr>
            <a:xfrm>
              <a:off x="7956569" y="5055487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89" name="Rechte verbindingslijn 88">
              <a:extLst>
                <a:ext uri="{FF2B5EF4-FFF2-40B4-BE49-F238E27FC236}">
                  <a16:creationId xmlns:a16="http://schemas.microsoft.com/office/drawing/2014/main" id="{9B43F6F3-0967-78CF-0054-90CD0CCA6BFB}"/>
                </a:ext>
              </a:extLst>
            </p:cNvPr>
            <p:cNvCxnSpPr/>
            <p:nvPr/>
          </p:nvCxnSpPr>
          <p:spPr>
            <a:xfrm>
              <a:off x="6851320" y="5055487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90" name="Rechte verbindingslijn 89">
              <a:extLst>
                <a:ext uri="{FF2B5EF4-FFF2-40B4-BE49-F238E27FC236}">
                  <a16:creationId xmlns:a16="http://schemas.microsoft.com/office/drawing/2014/main" id="{EB3F161D-15ED-3976-0136-EC8177F22A55}"/>
                </a:ext>
              </a:extLst>
            </p:cNvPr>
            <p:cNvCxnSpPr/>
            <p:nvPr/>
          </p:nvCxnSpPr>
          <p:spPr>
            <a:xfrm>
              <a:off x="5784424" y="5055487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91" name="Rechte verbindingslijn 90">
              <a:extLst>
                <a:ext uri="{FF2B5EF4-FFF2-40B4-BE49-F238E27FC236}">
                  <a16:creationId xmlns:a16="http://schemas.microsoft.com/office/drawing/2014/main" id="{531BDA83-4D05-5606-C59A-48C3666DEAD6}"/>
                </a:ext>
              </a:extLst>
            </p:cNvPr>
            <p:cNvCxnSpPr/>
            <p:nvPr/>
          </p:nvCxnSpPr>
          <p:spPr>
            <a:xfrm>
              <a:off x="6047487" y="5051699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92" name="Rechte verbindingslijn 91">
              <a:extLst>
                <a:ext uri="{FF2B5EF4-FFF2-40B4-BE49-F238E27FC236}">
                  <a16:creationId xmlns:a16="http://schemas.microsoft.com/office/drawing/2014/main" id="{B29ABD5D-C7F6-020C-5DF7-337BC731F7D2}"/>
                </a:ext>
              </a:extLst>
            </p:cNvPr>
            <p:cNvCxnSpPr/>
            <p:nvPr/>
          </p:nvCxnSpPr>
          <p:spPr>
            <a:xfrm>
              <a:off x="6317009" y="5056458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93" name="Rechte verbindingslijn 92">
              <a:extLst>
                <a:ext uri="{FF2B5EF4-FFF2-40B4-BE49-F238E27FC236}">
                  <a16:creationId xmlns:a16="http://schemas.microsoft.com/office/drawing/2014/main" id="{9E30AB43-DF23-2E61-8747-1CB347577697}"/>
                </a:ext>
              </a:extLst>
            </p:cNvPr>
            <p:cNvCxnSpPr/>
            <p:nvPr/>
          </p:nvCxnSpPr>
          <p:spPr>
            <a:xfrm>
              <a:off x="6598952" y="506228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94" name="Rechte verbindingslijn 93">
              <a:extLst>
                <a:ext uri="{FF2B5EF4-FFF2-40B4-BE49-F238E27FC236}">
                  <a16:creationId xmlns:a16="http://schemas.microsoft.com/office/drawing/2014/main" id="{4D889179-3061-75A6-6E4D-6481DB766527}"/>
                </a:ext>
              </a:extLst>
            </p:cNvPr>
            <p:cNvCxnSpPr/>
            <p:nvPr/>
          </p:nvCxnSpPr>
          <p:spPr>
            <a:xfrm>
              <a:off x="7125932" y="505160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6810E12C-8E20-83E7-D008-7A553D9074BB}"/>
                </a:ext>
              </a:extLst>
            </p:cNvPr>
            <p:cNvCxnSpPr/>
            <p:nvPr/>
          </p:nvCxnSpPr>
          <p:spPr>
            <a:xfrm>
              <a:off x="7407363" y="5049478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96" name="Rechte verbindingslijn 95">
              <a:extLst>
                <a:ext uri="{FF2B5EF4-FFF2-40B4-BE49-F238E27FC236}">
                  <a16:creationId xmlns:a16="http://schemas.microsoft.com/office/drawing/2014/main" id="{B88481FB-4D0E-31EE-FCFC-5876D0687201}"/>
                </a:ext>
              </a:extLst>
            </p:cNvPr>
            <p:cNvCxnSpPr/>
            <p:nvPr/>
          </p:nvCxnSpPr>
          <p:spPr>
            <a:xfrm>
              <a:off x="7694063" y="504578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97" name="Rechte verbindingslijn 96">
              <a:extLst>
                <a:ext uri="{FF2B5EF4-FFF2-40B4-BE49-F238E27FC236}">
                  <a16:creationId xmlns:a16="http://schemas.microsoft.com/office/drawing/2014/main" id="{C9AE80A0-A732-732B-CB10-393C01C0B78D}"/>
                </a:ext>
              </a:extLst>
            </p:cNvPr>
            <p:cNvCxnSpPr/>
            <p:nvPr/>
          </p:nvCxnSpPr>
          <p:spPr>
            <a:xfrm>
              <a:off x="8213194" y="504578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849A058C-BD08-FA11-DB6E-F7DDEFF799C4}"/>
                </a:ext>
              </a:extLst>
            </p:cNvPr>
            <p:cNvCxnSpPr/>
            <p:nvPr/>
          </p:nvCxnSpPr>
          <p:spPr>
            <a:xfrm>
              <a:off x="8494625" y="5048416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99" name="Rechte verbindingslijn 98">
              <a:extLst>
                <a:ext uri="{FF2B5EF4-FFF2-40B4-BE49-F238E27FC236}">
                  <a16:creationId xmlns:a16="http://schemas.microsoft.com/office/drawing/2014/main" id="{07F14CA9-0BB0-1EE5-0BF6-0FA6589EDA90}"/>
                </a:ext>
              </a:extLst>
            </p:cNvPr>
            <p:cNvCxnSpPr/>
            <p:nvPr/>
          </p:nvCxnSpPr>
          <p:spPr>
            <a:xfrm>
              <a:off x="8774185" y="504578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00" name="Rechte verbindingslijn 99">
              <a:extLst>
                <a:ext uri="{FF2B5EF4-FFF2-40B4-BE49-F238E27FC236}">
                  <a16:creationId xmlns:a16="http://schemas.microsoft.com/office/drawing/2014/main" id="{1895AEC9-2384-0C78-D130-E96E600C2832}"/>
                </a:ext>
              </a:extLst>
            </p:cNvPr>
            <p:cNvCxnSpPr/>
            <p:nvPr/>
          </p:nvCxnSpPr>
          <p:spPr>
            <a:xfrm flipV="1">
              <a:off x="2088357" y="5215074"/>
              <a:ext cx="683484" cy="12700"/>
            </a:xfrm>
            <a:prstGeom prst="line">
              <a:avLst/>
            </a:prstGeom>
            <a:noFill/>
            <a:ln w="15875" cap="flat" cmpd="sng" algn="ctr">
              <a:solidFill>
                <a:srgbClr val="4F81BD">
                  <a:shade val="95000"/>
                  <a:satMod val="105000"/>
                </a:srgbClr>
              </a:solidFill>
              <a:prstDash val="dash"/>
            </a:ln>
            <a:effectLst/>
          </p:spPr>
        </p:cxnSp>
        <p:cxnSp>
          <p:nvCxnSpPr>
            <p:cNvPr id="101" name="Rechte verbindingslijn 100">
              <a:extLst>
                <a:ext uri="{FF2B5EF4-FFF2-40B4-BE49-F238E27FC236}">
                  <a16:creationId xmlns:a16="http://schemas.microsoft.com/office/drawing/2014/main" id="{43B4FE8B-7E32-3F7B-B460-99DDACB25EC8}"/>
                </a:ext>
              </a:extLst>
            </p:cNvPr>
            <p:cNvCxnSpPr/>
            <p:nvPr/>
          </p:nvCxnSpPr>
          <p:spPr>
            <a:xfrm>
              <a:off x="2088357" y="5061837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02" name="Rechte verbindingslijn 101">
              <a:extLst>
                <a:ext uri="{FF2B5EF4-FFF2-40B4-BE49-F238E27FC236}">
                  <a16:creationId xmlns:a16="http://schemas.microsoft.com/office/drawing/2014/main" id="{AC5390A7-877C-9538-B62E-562BCB0B86CD}"/>
                </a:ext>
              </a:extLst>
            </p:cNvPr>
            <p:cNvCxnSpPr/>
            <p:nvPr/>
          </p:nvCxnSpPr>
          <p:spPr>
            <a:xfrm>
              <a:off x="5536774" y="5052900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03" name="Rechte verbindingslijn 102">
              <a:extLst>
                <a:ext uri="{FF2B5EF4-FFF2-40B4-BE49-F238E27FC236}">
                  <a16:creationId xmlns:a16="http://schemas.microsoft.com/office/drawing/2014/main" id="{17FC185E-47C2-DB34-CD12-47C425BB506C}"/>
                </a:ext>
              </a:extLst>
            </p:cNvPr>
            <p:cNvCxnSpPr/>
            <p:nvPr/>
          </p:nvCxnSpPr>
          <p:spPr>
            <a:xfrm>
              <a:off x="4724003" y="5042606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04" name="Rechte verbindingslijn 103">
              <a:extLst>
                <a:ext uri="{FF2B5EF4-FFF2-40B4-BE49-F238E27FC236}">
                  <a16:creationId xmlns:a16="http://schemas.microsoft.com/office/drawing/2014/main" id="{5F950C84-58C7-3048-1FFD-01F36F1D1928}"/>
                </a:ext>
              </a:extLst>
            </p:cNvPr>
            <p:cNvCxnSpPr/>
            <p:nvPr/>
          </p:nvCxnSpPr>
          <p:spPr>
            <a:xfrm>
              <a:off x="4987066" y="5041993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05" name="Rechte verbindingslijn 104">
              <a:extLst>
                <a:ext uri="{FF2B5EF4-FFF2-40B4-BE49-F238E27FC236}">
                  <a16:creationId xmlns:a16="http://schemas.microsoft.com/office/drawing/2014/main" id="{65F55587-70F0-608D-A72D-72B1D9C735AD}"/>
                </a:ext>
              </a:extLst>
            </p:cNvPr>
            <p:cNvCxnSpPr/>
            <p:nvPr/>
          </p:nvCxnSpPr>
          <p:spPr>
            <a:xfrm>
              <a:off x="5256588" y="5046752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06" name="Rechte verbindingslijn 105">
              <a:extLst>
                <a:ext uri="{FF2B5EF4-FFF2-40B4-BE49-F238E27FC236}">
                  <a16:creationId xmlns:a16="http://schemas.microsoft.com/office/drawing/2014/main" id="{B475C9C8-D483-0648-9C66-CDF4804312F0}"/>
                </a:ext>
              </a:extLst>
            </p:cNvPr>
            <p:cNvCxnSpPr/>
            <p:nvPr/>
          </p:nvCxnSpPr>
          <p:spPr>
            <a:xfrm>
              <a:off x="5538531" y="5052579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07" name="Rechte verbindingslijn 106">
              <a:extLst>
                <a:ext uri="{FF2B5EF4-FFF2-40B4-BE49-F238E27FC236}">
                  <a16:creationId xmlns:a16="http://schemas.microsoft.com/office/drawing/2014/main" id="{69D45063-7053-2C42-71F4-EDEE00563A77}"/>
                </a:ext>
              </a:extLst>
            </p:cNvPr>
            <p:cNvCxnSpPr/>
            <p:nvPr/>
          </p:nvCxnSpPr>
          <p:spPr>
            <a:xfrm>
              <a:off x="4476353" y="5049544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08" name="Rechte verbindingslijn 107">
              <a:extLst>
                <a:ext uri="{FF2B5EF4-FFF2-40B4-BE49-F238E27FC236}">
                  <a16:creationId xmlns:a16="http://schemas.microsoft.com/office/drawing/2014/main" id="{097BC93E-F033-19F5-3E8B-4239F1C620EC}"/>
                </a:ext>
              </a:extLst>
            </p:cNvPr>
            <p:cNvCxnSpPr/>
            <p:nvPr/>
          </p:nvCxnSpPr>
          <p:spPr>
            <a:xfrm>
              <a:off x="3633073" y="5039431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09" name="Rechte verbindingslijn 108">
              <a:extLst>
                <a:ext uri="{FF2B5EF4-FFF2-40B4-BE49-F238E27FC236}">
                  <a16:creationId xmlns:a16="http://schemas.microsoft.com/office/drawing/2014/main" id="{8F05D76E-1100-5C93-F600-E8F4919868E6}"/>
                </a:ext>
              </a:extLst>
            </p:cNvPr>
            <p:cNvCxnSpPr/>
            <p:nvPr/>
          </p:nvCxnSpPr>
          <p:spPr>
            <a:xfrm>
              <a:off x="3926616" y="5043263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10" name="Rechte verbindingslijn 109">
              <a:extLst>
                <a:ext uri="{FF2B5EF4-FFF2-40B4-BE49-F238E27FC236}">
                  <a16:creationId xmlns:a16="http://schemas.microsoft.com/office/drawing/2014/main" id="{01539DF7-1999-681E-6077-C91C008F0CD2}"/>
                </a:ext>
              </a:extLst>
            </p:cNvPr>
            <p:cNvCxnSpPr/>
            <p:nvPr/>
          </p:nvCxnSpPr>
          <p:spPr>
            <a:xfrm>
              <a:off x="4196138" y="5040402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11" name="Rechte verbindingslijn 110">
              <a:extLst>
                <a:ext uri="{FF2B5EF4-FFF2-40B4-BE49-F238E27FC236}">
                  <a16:creationId xmlns:a16="http://schemas.microsoft.com/office/drawing/2014/main" id="{28F2EDED-AA10-6A88-7031-FD9396EAB20C}"/>
                </a:ext>
              </a:extLst>
            </p:cNvPr>
            <p:cNvCxnSpPr/>
            <p:nvPr/>
          </p:nvCxnSpPr>
          <p:spPr>
            <a:xfrm>
              <a:off x="4478081" y="5038609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12" name="Rechte verbindingslijn 111">
              <a:extLst>
                <a:ext uri="{FF2B5EF4-FFF2-40B4-BE49-F238E27FC236}">
                  <a16:creationId xmlns:a16="http://schemas.microsoft.com/office/drawing/2014/main" id="{2D4DF7C6-F3D2-1C1E-FD3E-EC0E4E9802DF}"/>
                </a:ext>
              </a:extLst>
            </p:cNvPr>
            <p:cNvCxnSpPr/>
            <p:nvPr/>
          </p:nvCxnSpPr>
          <p:spPr>
            <a:xfrm>
              <a:off x="3062073" y="5055487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13" name="Rechte verbindingslijn 112">
              <a:extLst>
                <a:ext uri="{FF2B5EF4-FFF2-40B4-BE49-F238E27FC236}">
                  <a16:creationId xmlns:a16="http://schemas.microsoft.com/office/drawing/2014/main" id="{5C06F11B-7D7C-802F-DA84-25C00847AB46}"/>
                </a:ext>
              </a:extLst>
            </p:cNvPr>
            <p:cNvCxnSpPr/>
            <p:nvPr/>
          </p:nvCxnSpPr>
          <p:spPr>
            <a:xfrm>
              <a:off x="3342698" y="5049613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14" name="Rechte verbindingslijn 113">
              <a:extLst>
                <a:ext uri="{FF2B5EF4-FFF2-40B4-BE49-F238E27FC236}">
                  <a16:creationId xmlns:a16="http://schemas.microsoft.com/office/drawing/2014/main" id="{71A7704F-E6AC-A1A3-07C7-37789C4E4A5A}"/>
                </a:ext>
              </a:extLst>
            </p:cNvPr>
            <p:cNvCxnSpPr/>
            <p:nvPr/>
          </p:nvCxnSpPr>
          <p:spPr>
            <a:xfrm>
              <a:off x="2778517" y="5062285"/>
              <a:ext cx="0" cy="288032"/>
            </a:xfrm>
            <a:prstGeom prst="line">
              <a:avLst/>
            </a:prstGeom>
            <a:noFill/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Rechthoek 114">
                  <a:extLst>
                    <a:ext uri="{FF2B5EF4-FFF2-40B4-BE49-F238E27FC236}">
                      <a16:creationId xmlns:a16="http://schemas.microsoft.com/office/drawing/2014/main" id="{883D7893-2868-6C46-1AF7-F40812590DC6}"/>
                    </a:ext>
                  </a:extLst>
                </p:cNvPr>
                <p:cNvSpPr/>
                <p:nvPr/>
              </p:nvSpPr>
              <p:spPr>
                <a:xfrm>
                  <a:off x="6024584" y="4870154"/>
                  <a:ext cx="425694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408112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nl-NL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nl-NL" sz="16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nl-NL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nl-NL" sz="16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115" name="Rechthoek 114">
                  <a:extLst>
                    <a:ext uri="{FF2B5EF4-FFF2-40B4-BE49-F238E27FC236}">
                      <a16:creationId xmlns:a16="http://schemas.microsoft.com/office/drawing/2014/main" id="{883D7893-2868-6C46-1AF7-F40812590D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4584" y="4870154"/>
                  <a:ext cx="425694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Rechthoek 115">
                  <a:extLst>
                    <a:ext uri="{FF2B5EF4-FFF2-40B4-BE49-F238E27FC236}">
                      <a16:creationId xmlns:a16="http://schemas.microsoft.com/office/drawing/2014/main" id="{15C68877-D456-E21C-E070-0C8C462D4656}"/>
                    </a:ext>
                  </a:extLst>
                </p:cNvPr>
                <p:cNvSpPr/>
                <p:nvPr/>
              </p:nvSpPr>
              <p:spPr>
                <a:xfrm>
                  <a:off x="6276373" y="4876782"/>
                  <a:ext cx="430438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408112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nl-NL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nl-NL" sz="16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nl-NL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nl-NL" sz="16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116" name="Rechthoek 115">
                  <a:extLst>
                    <a:ext uri="{FF2B5EF4-FFF2-40B4-BE49-F238E27FC236}">
                      <a16:creationId xmlns:a16="http://schemas.microsoft.com/office/drawing/2014/main" id="{15C68877-D456-E21C-E070-0C8C462D46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6373" y="4876782"/>
                  <a:ext cx="430438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1786"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Rechthoek 116">
                  <a:extLst>
                    <a:ext uri="{FF2B5EF4-FFF2-40B4-BE49-F238E27FC236}">
                      <a16:creationId xmlns:a16="http://schemas.microsoft.com/office/drawing/2014/main" id="{140D2F50-57A2-11F1-9635-BD793CA41C90}"/>
                    </a:ext>
                  </a:extLst>
                </p:cNvPr>
                <p:cNvSpPr/>
                <p:nvPr/>
              </p:nvSpPr>
              <p:spPr>
                <a:xfrm>
                  <a:off x="8931097" y="4855617"/>
                  <a:ext cx="461217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408112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nl-NL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nl-NL" sz="16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nl-NL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nl-NL" sz="16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117" name="Rechthoek 116">
                  <a:extLst>
                    <a:ext uri="{FF2B5EF4-FFF2-40B4-BE49-F238E27FC236}">
                      <a16:creationId xmlns:a16="http://schemas.microsoft.com/office/drawing/2014/main" id="{140D2F50-57A2-11F1-9635-BD793CA41C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1097" y="4855617"/>
                  <a:ext cx="461217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8" name="Tekstvak 117">
              <a:extLst>
                <a:ext uri="{FF2B5EF4-FFF2-40B4-BE49-F238E27FC236}">
                  <a16:creationId xmlns:a16="http://schemas.microsoft.com/office/drawing/2014/main" id="{4638DE80-8167-C2E7-4F9A-63AA81BB2683}"/>
                </a:ext>
              </a:extLst>
            </p:cNvPr>
            <p:cNvSpPr txBox="1"/>
            <p:nvPr/>
          </p:nvSpPr>
          <p:spPr>
            <a:xfrm>
              <a:off x="1244474" y="4983793"/>
              <a:ext cx="6614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08112"/>
              <a:r>
                <a:rPr lang="nl-NL" sz="1600" dirty="0">
                  <a:solidFill>
                    <a:prstClr val="black"/>
                  </a:solidFill>
                  <a:latin typeface="Calibri"/>
                </a:rPr>
                <a:t>t = N</a:t>
              </a:r>
            </a:p>
          </p:txBody>
        </p:sp>
      </p:grpSp>
      <p:cxnSp>
        <p:nvCxnSpPr>
          <p:cNvPr id="119" name="Rechte verbindingslijn 118">
            <a:extLst>
              <a:ext uri="{FF2B5EF4-FFF2-40B4-BE49-F238E27FC236}">
                <a16:creationId xmlns:a16="http://schemas.microsoft.com/office/drawing/2014/main" id="{21AA6DD1-BD53-785F-D0FA-904F4050C9A9}"/>
              </a:ext>
            </a:extLst>
          </p:cNvPr>
          <p:cNvCxnSpPr/>
          <p:nvPr/>
        </p:nvCxnSpPr>
        <p:spPr>
          <a:xfrm>
            <a:off x="2042295" y="1600417"/>
            <a:ext cx="0" cy="288032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20" name="Rechte verbindingslijn 119">
            <a:extLst>
              <a:ext uri="{FF2B5EF4-FFF2-40B4-BE49-F238E27FC236}">
                <a16:creationId xmlns:a16="http://schemas.microsoft.com/office/drawing/2014/main" id="{9D4B247A-2A52-224B-9446-1290906AC251}"/>
              </a:ext>
            </a:extLst>
          </p:cNvPr>
          <p:cNvCxnSpPr/>
          <p:nvPr/>
        </p:nvCxnSpPr>
        <p:spPr>
          <a:xfrm flipV="1">
            <a:off x="2770692" y="1736945"/>
            <a:ext cx="3260800" cy="1995"/>
          </a:xfrm>
          <a:prstGeom prst="line">
            <a:avLst/>
          </a:prstGeom>
          <a:noFill/>
          <a:ln w="1587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21" name="Rechte verbindingslijn 120">
            <a:extLst>
              <a:ext uri="{FF2B5EF4-FFF2-40B4-BE49-F238E27FC236}">
                <a16:creationId xmlns:a16="http://schemas.microsoft.com/office/drawing/2014/main" id="{6346FFC6-3128-BD3D-31DA-7D7522CAC2F9}"/>
              </a:ext>
            </a:extLst>
          </p:cNvPr>
          <p:cNvCxnSpPr/>
          <p:nvPr/>
        </p:nvCxnSpPr>
        <p:spPr>
          <a:xfrm>
            <a:off x="9205135" y="1600417"/>
            <a:ext cx="0" cy="288032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122" name="Tekstvak 121">
            <a:extLst>
              <a:ext uri="{FF2B5EF4-FFF2-40B4-BE49-F238E27FC236}">
                <a16:creationId xmlns:a16="http://schemas.microsoft.com/office/drawing/2014/main" id="{5D405055-66A9-3965-00D2-7A00BE505140}"/>
              </a:ext>
            </a:extLst>
          </p:cNvPr>
          <p:cNvSpPr txBox="1"/>
          <p:nvPr/>
        </p:nvSpPr>
        <p:spPr>
          <a:xfrm>
            <a:off x="3287038" y="1446691"/>
            <a:ext cx="1217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08112"/>
            <a:r>
              <a:rPr lang="nl-NL" sz="1200" dirty="0">
                <a:solidFill>
                  <a:prstClr val="black"/>
                </a:solidFill>
                <a:latin typeface="Calibri"/>
              </a:rPr>
              <a:t>Fitting</a:t>
            </a:r>
          </a:p>
        </p:txBody>
      </p:sp>
      <p:cxnSp>
        <p:nvCxnSpPr>
          <p:cNvPr id="123" name="Rechte verbindingslijn 122">
            <a:extLst>
              <a:ext uri="{FF2B5EF4-FFF2-40B4-BE49-F238E27FC236}">
                <a16:creationId xmlns:a16="http://schemas.microsoft.com/office/drawing/2014/main" id="{A40D2FB6-92F3-401B-76BD-AD49E087DF8E}"/>
              </a:ext>
            </a:extLst>
          </p:cNvPr>
          <p:cNvCxnSpPr/>
          <p:nvPr/>
        </p:nvCxnSpPr>
        <p:spPr>
          <a:xfrm>
            <a:off x="6039103" y="1602355"/>
            <a:ext cx="0" cy="288032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124" name="Tekstvak 123">
            <a:extLst>
              <a:ext uri="{FF2B5EF4-FFF2-40B4-BE49-F238E27FC236}">
                <a16:creationId xmlns:a16="http://schemas.microsoft.com/office/drawing/2014/main" id="{7C59377A-B4C8-F277-C619-D7F9EBE85FBD}"/>
              </a:ext>
            </a:extLst>
          </p:cNvPr>
          <p:cNvSpPr txBox="1"/>
          <p:nvPr/>
        </p:nvSpPr>
        <p:spPr>
          <a:xfrm>
            <a:off x="7000563" y="1453492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08112"/>
            <a:r>
              <a:rPr lang="nl-NL" sz="1200" dirty="0" err="1">
                <a:solidFill>
                  <a:prstClr val="black"/>
                </a:solidFill>
                <a:latin typeface="Calibri"/>
              </a:rPr>
              <a:t>Holdout</a:t>
            </a:r>
            <a:endParaRPr lang="nl-NL" sz="12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25" name="Rechte verbindingslijn 124">
            <a:extLst>
              <a:ext uri="{FF2B5EF4-FFF2-40B4-BE49-F238E27FC236}">
                <a16:creationId xmlns:a16="http://schemas.microsoft.com/office/drawing/2014/main" id="{DF564D5E-3A2A-9CF9-0F02-47584274B1CC}"/>
              </a:ext>
            </a:extLst>
          </p:cNvPr>
          <p:cNvCxnSpPr/>
          <p:nvPr/>
        </p:nvCxnSpPr>
        <p:spPr>
          <a:xfrm>
            <a:off x="6039105" y="1740899"/>
            <a:ext cx="3166031" cy="8869"/>
          </a:xfrm>
          <a:prstGeom prst="line">
            <a:avLst/>
          </a:prstGeom>
          <a:noFill/>
          <a:ln w="15875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126" name="Tekstvak 125">
            <a:extLst>
              <a:ext uri="{FF2B5EF4-FFF2-40B4-BE49-F238E27FC236}">
                <a16:creationId xmlns:a16="http://schemas.microsoft.com/office/drawing/2014/main" id="{D8700228-8005-D9FD-3EA6-C4EB0EA5EEB1}"/>
              </a:ext>
            </a:extLst>
          </p:cNvPr>
          <p:cNvSpPr txBox="1"/>
          <p:nvPr/>
        </p:nvSpPr>
        <p:spPr>
          <a:xfrm>
            <a:off x="9908587" y="4920205"/>
            <a:ext cx="1217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08112"/>
            <a:r>
              <a:rPr lang="nl-NL" sz="1600" dirty="0" err="1">
                <a:solidFill>
                  <a:prstClr val="black"/>
                </a:solidFill>
                <a:latin typeface="Calibri"/>
              </a:rPr>
              <a:t>Actual</a:t>
            </a:r>
            <a:r>
              <a:rPr lang="nl-NL" sz="1200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sp>
        <p:nvSpPr>
          <p:cNvPr id="127" name="Tekstvak 126">
            <a:extLst>
              <a:ext uri="{FF2B5EF4-FFF2-40B4-BE49-F238E27FC236}">
                <a16:creationId xmlns:a16="http://schemas.microsoft.com/office/drawing/2014/main" id="{2F5DBE23-199D-E657-F32D-F13568B460A9}"/>
              </a:ext>
            </a:extLst>
          </p:cNvPr>
          <p:cNvSpPr txBox="1"/>
          <p:nvPr/>
        </p:nvSpPr>
        <p:spPr>
          <a:xfrm>
            <a:off x="9888075" y="4451839"/>
            <a:ext cx="1217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08112"/>
            <a:r>
              <a:rPr lang="nl-NL" sz="1600" dirty="0" err="1">
                <a:solidFill>
                  <a:prstClr val="black"/>
                </a:solidFill>
                <a:latin typeface="Calibri"/>
              </a:rPr>
              <a:t>Estimate</a:t>
            </a:r>
            <a:r>
              <a:rPr lang="nl-NL" sz="1200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sp>
        <p:nvSpPr>
          <p:cNvPr id="128" name="Tekstvak 127">
            <a:extLst>
              <a:ext uri="{FF2B5EF4-FFF2-40B4-BE49-F238E27FC236}">
                <a16:creationId xmlns:a16="http://schemas.microsoft.com/office/drawing/2014/main" id="{FDE705AA-FC7A-3F80-A211-BB96C021796B}"/>
              </a:ext>
            </a:extLst>
          </p:cNvPr>
          <p:cNvSpPr txBox="1"/>
          <p:nvPr/>
        </p:nvSpPr>
        <p:spPr>
          <a:xfrm>
            <a:off x="9835514" y="2448875"/>
            <a:ext cx="1217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08112"/>
            <a:r>
              <a:rPr lang="nl-NL" sz="1600" dirty="0" err="1">
                <a:solidFill>
                  <a:prstClr val="black"/>
                </a:solidFill>
                <a:latin typeface="Calibri"/>
              </a:rPr>
              <a:t>Estimate</a:t>
            </a:r>
            <a:r>
              <a:rPr lang="nl-NL" sz="1200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sp>
        <p:nvSpPr>
          <p:cNvPr id="129" name="Tekstvak 128">
            <a:extLst>
              <a:ext uri="{FF2B5EF4-FFF2-40B4-BE49-F238E27FC236}">
                <a16:creationId xmlns:a16="http://schemas.microsoft.com/office/drawing/2014/main" id="{F5568A1A-3871-8B63-36F9-C69262CDF5C1}"/>
              </a:ext>
            </a:extLst>
          </p:cNvPr>
          <p:cNvSpPr txBox="1"/>
          <p:nvPr/>
        </p:nvSpPr>
        <p:spPr>
          <a:xfrm>
            <a:off x="9835514" y="2932763"/>
            <a:ext cx="1217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08112"/>
            <a:r>
              <a:rPr lang="nl-NL" sz="1600" dirty="0" err="1">
                <a:solidFill>
                  <a:prstClr val="black"/>
                </a:solidFill>
                <a:latin typeface="Calibri"/>
              </a:rPr>
              <a:t>Estimate</a:t>
            </a:r>
            <a:r>
              <a:rPr lang="nl-NL" sz="1200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130" name="Rechte verbindingslijn 129">
            <a:extLst>
              <a:ext uri="{FF2B5EF4-FFF2-40B4-BE49-F238E27FC236}">
                <a16:creationId xmlns:a16="http://schemas.microsoft.com/office/drawing/2014/main" id="{3DA840E9-99EF-5068-563A-72C5630ED2FB}"/>
              </a:ext>
            </a:extLst>
          </p:cNvPr>
          <p:cNvCxnSpPr/>
          <p:nvPr/>
        </p:nvCxnSpPr>
        <p:spPr>
          <a:xfrm flipV="1">
            <a:off x="2042247" y="1740739"/>
            <a:ext cx="718716" cy="12172"/>
          </a:xfrm>
          <a:prstGeom prst="line">
            <a:avLst/>
          </a:prstGeom>
          <a:noFill/>
          <a:ln w="15875" cap="flat" cmpd="sng" algn="ctr">
            <a:solidFill>
              <a:srgbClr val="4F81BD">
                <a:shade val="95000"/>
                <a:satMod val="105000"/>
              </a:srgbClr>
            </a:solidFill>
            <a:prstDash val="dash"/>
          </a:ln>
          <a:effectLst/>
        </p:spPr>
      </p:cxnSp>
    </p:spTree>
    <p:extLst>
      <p:ext uri="{BB962C8B-B14F-4D97-AF65-F5344CB8AC3E}">
        <p14:creationId xmlns:p14="http://schemas.microsoft.com/office/powerpoint/2010/main" val="48207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/>
      <p:bldP spid="127" grpId="0"/>
      <p:bldP spid="128" grpId="0"/>
      <p:bldP spid="12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3CF0BC-FDEA-4ADE-BE11-E78315D85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Quality</a:t>
            </a:r>
            <a:r>
              <a:rPr lang="nl-NL" dirty="0"/>
              <a:t> </a:t>
            </a:r>
            <a:r>
              <a:rPr lang="nl-NL" dirty="0" err="1"/>
              <a:t>measures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43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sz="2400" dirty="0"/>
              <a:t>MAPE</a:t>
            </a:r>
          </a:p>
          <a:p>
            <a:endParaRPr lang="nl-NL" sz="2400" dirty="0"/>
          </a:p>
          <a:p>
            <a:endParaRPr lang="nl-NL" sz="2400" dirty="0"/>
          </a:p>
          <a:p>
            <a:r>
              <a:rPr lang="nl-NL" sz="2400" dirty="0"/>
              <a:t>(R)MSE</a:t>
            </a:r>
          </a:p>
          <a:p>
            <a:endParaRPr lang="nl-NL" sz="2400" dirty="0"/>
          </a:p>
          <a:p>
            <a:endParaRPr lang="nl-NL" sz="2400" dirty="0"/>
          </a:p>
          <a:p>
            <a:r>
              <a:rPr lang="nl-NL" sz="2400" dirty="0" err="1"/>
              <a:t>Mean</a:t>
            </a:r>
            <a:r>
              <a:rPr lang="nl-NL" sz="2400" dirty="0"/>
              <a:t> error</a:t>
            </a:r>
          </a:p>
          <a:p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hthoek 4"/>
              <p:cNvSpPr/>
              <p:nvPr/>
            </p:nvSpPr>
            <p:spPr>
              <a:xfrm>
                <a:off x="5560545" y="1447408"/>
                <a:ext cx="3375026" cy="10220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54415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NL" sz="2133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MAPE</m:t>
                      </m:r>
                      <m:r>
                        <a:rPr lang="nl-NL" sz="2133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 =</m:t>
                      </m:r>
                      <m:f>
                        <m:f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t</m:t>
                          </m:r>
                          <m: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T</m:t>
                          </m:r>
                          <m: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T</m:t>
                          </m:r>
                        </m:sup>
                        <m:e>
                          <m:sSup>
                            <m:sSupPr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nl-NL" sz="2133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nl-NL" sz="2133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y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nl-NL" sz="2133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t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nl-NL" sz="2133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nl-NL" sz="2133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t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/>
                          </m:sSup>
                        </m:e>
                      </m:nary>
                    </m:oMath>
                  </m:oMathPara>
                </a14:m>
                <a:endParaRPr lang="nl-NL" sz="2133" dirty="0">
                  <a:solidFill>
                    <a:prstClr val="black"/>
                  </a:solidFill>
                  <a:latin typeface="Calibri"/>
                  <a:cs typeface="+mn-cs"/>
                </a:endParaRPr>
              </a:p>
            </p:txBody>
          </p:sp>
        </mc:Choice>
        <mc:Fallback xmlns="">
          <p:sp>
            <p:nvSpPr>
              <p:cNvPr id="5" name="Rechthoek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545" y="1447408"/>
                <a:ext cx="3375026" cy="10220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hthoek 5"/>
              <p:cNvSpPr/>
              <p:nvPr/>
            </p:nvSpPr>
            <p:spPr>
              <a:xfrm>
                <a:off x="5595009" y="4510076"/>
                <a:ext cx="3128099" cy="10220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54415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NL" sz="2133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ME</m:t>
                      </m:r>
                      <m:r>
                        <a:rPr lang="nl-NL" sz="2133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 =</m:t>
                      </m:r>
                      <m:f>
                        <m:f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t</m:t>
                          </m:r>
                          <m: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T</m:t>
                          </m:r>
                          <m: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T</m:t>
                          </m:r>
                        </m:sup>
                        <m:e>
                          <m:sSup>
                            <m:sSupPr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nl-NL" sz="2133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y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t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t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/>
                          </m:sSup>
                        </m:e>
                      </m:nary>
                    </m:oMath>
                  </m:oMathPara>
                </a14:m>
                <a:endParaRPr lang="nl-NL" sz="2133" dirty="0">
                  <a:solidFill>
                    <a:prstClr val="black"/>
                  </a:solidFill>
                  <a:latin typeface="Calibri"/>
                  <a:cs typeface="+mn-cs"/>
                </a:endParaRPr>
              </a:p>
            </p:txBody>
          </p:sp>
        </mc:Choice>
        <mc:Fallback xmlns="">
          <p:sp>
            <p:nvSpPr>
              <p:cNvPr id="6" name="Rechthoek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009" y="4510076"/>
                <a:ext cx="3128099" cy="10220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hthoek 6"/>
              <p:cNvSpPr/>
              <p:nvPr/>
            </p:nvSpPr>
            <p:spPr>
              <a:xfrm>
                <a:off x="5560545" y="2924026"/>
                <a:ext cx="3197029" cy="10220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54415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NL" sz="2133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MSE</m:t>
                      </m:r>
                      <m:r>
                        <a:rPr lang="nl-NL" sz="2133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+mn-cs"/>
                        </a:rPr>
                        <m:t> =</m:t>
                      </m:r>
                      <m:f>
                        <m:fPr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nl-NL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t</m:t>
                          </m:r>
                          <m: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T</m:t>
                          </m:r>
                          <m: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nl-NL" sz="2133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T</m:t>
                          </m:r>
                        </m:sup>
                        <m:e>
                          <m:sSup>
                            <m:sSupPr>
                              <m:ctrlPr>
                                <a:rPr lang="nl-NL" sz="2133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sz="2133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nl-NL" sz="2133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nl-NL" sz="2133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y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t</m:t>
                                      </m:r>
                                    </m:sub>
                                  </m:sSub>
                                  <m:r>
                                    <a:rPr lang="nl-NL" sz="2133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nl-NL" sz="2133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nl-NL" sz="2133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t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nl-NL" sz="2133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nl-NL" sz="2133" dirty="0">
                  <a:solidFill>
                    <a:prstClr val="black"/>
                  </a:solidFill>
                  <a:latin typeface="Calibri"/>
                  <a:cs typeface="+mn-cs"/>
                </a:endParaRPr>
              </a:p>
            </p:txBody>
          </p:sp>
        </mc:Choice>
        <mc:Fallback xmlns="">
          <p:sp>
            <p:nvSpPr>
              <p:cNvPr id="7" name="Rechthoek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545" y="2924026"/>
                <a:ext cx="3197029" cy="10220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66295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2365B0F-E94E-A66E-0936-84009A74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Exercises</a:t>
            </a:r>
            <a:br>
              <a:rPr lang="nl-NL" dirty="0"/>
            </a:b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63763485-3B8A-8069-2B9C-02D064CFF05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 baseline="0">
                <a:solidFill>
                  <a:srgbClr val="271D6C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45CA951-4815-4987-9CD6-BB5D6648C0B5}" type="slidenum">
              <a:rPr lang="nl-NL" sz="1200" smtClean="0"/>
              <a:pPr algn="ctr"/>
              <a:t>44</a:t>
            </a:fld>
            <a:endParaRPr lang="nl-NL" sz="16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1933ED8-AF49-A106-E20C-9E244F523E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latin typeface="Courier" pitchFamily="49" charset="0"/>
              </a:rPr>
              <a:t>2.1_NowcastingSTM_part2.R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Make a </a:t>
            </a:r>
            <a:r>
              <a:rPr lang="nl-NL" dirty="0" err="1"/>
              <a:t>nowcast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Banking sector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>
                <a:solidFill>
                  <a:srgbClr val="FF0000"/>
                </a:solidFill>
              </a:rPr>
              <a:t>2020Q4</a:t>
            </a:r>
          </a:p>
          <a:p>
            <a:pPr marL="0" indent="0">
              <a:buNone/>
            </a:pPr>
            <a:r>
              <a:rPr lang="nl-NL" dirty="0"/>
              <a:t>Make a </a:t>
            </a:r>
            <a:r>
              <a:rPr lang="nl-NL" dirty="0" err="1"/>
              <a:t>nowcast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Insurance sector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>
                <a:solidFill>
                  <a:srgbClr val="FF0000"/>
                </a:solidFill>
              </a:rPr>
              <a:t>2019Q4</a:t>
            </a:r>
          </a:p>
          <a:p>
            <a:pPr marL="0" indent="0">
              <a:buNone/>
            </a:pPr>
            <a:r>
              <a:rPr lang="nl-NL" dirty="0">
                <a:solidFill>
                  <a:srgbClr val="FF0000"/>
                </a:solidFill>
              </a:rPr>
              <a:t> 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>
                <a:solidFill>
                  <a:srgbClr val="FF0000"/>
                </a:solidFill>
              </a:rPr>
              <a:t>2020Q4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outliers</a:t>
            </a:r>
            <a:r>
              <a:rPr lang="nl-NL" dirty="0"/>
              <a:t> </a:t>
            </a:r>
            <a:r>
              <a:rPr lang="nl-NL" dirty="0" err="1"/>
              <a:t>modelled</a:t>
            </a:r>
            <a:r>
              <a:rPr lang="nl-NL" dirty="0"/>
              <a:t> 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Steps:</a:t>
            </a:r>
          </a:p>
          <a:p>
            <a:r>
              <a:rPr lang="nl-NL" dirty="0"/>
              <a:t>Select </a:t>
            </a:r>
            <a:r>
              <a:rPr lang="nl-NL" dirty="0" err="1"/>
              <a:t>auxiliary</a:t>
            </a:r>
            <a:r>
              <a:rPr lang="nl-NL" dirty="0"/>
              <a:t> variables</a:t>
            </a:r>
          </a:p>
          <a:p>
            <a:r>
              <a:rPr lang="nl-NL" dirty="0" err="1"/>
              <a:t>Choose</a:t>
            </a:r>
            <a:r>
              <a:rPr lang="nl-NL" dirty="0"/>
              <a:t> </a:t>
            </a:r>
            <a:r>
              <a:rPr lang="nl-NL" dirty="0" err="1"/>
              <a:t>nowcast</a:t>
            </a:r>
            <a:r>
              <a:rPr lang="nl-NL" dirty="0"/>
              <a:t> </a:t>
            </a:r>
            <a:r>
              <a:rPr lang="nl-NL" dirty="0" err="1"/>
              <a:t>method</a:t>
            </a:r>
            <a:r>
              <a:rPr lang="nl-NL" dirty="0"/>
              <a:t> (ARIMA, STM,…)</a:t>
            </a:r>
          </a:p>
          <a:p>
            <a:r>
              <a:rPr lang="nl-NL" dirty="0"/>
              <a:t>Cross-</a:t>
            </a:r>
            <a:r>
              <a:rPr lang="nl-NL" dirty="0" err="1"/>
              <a:t>validation</a:t>
            </a:r>
            <a:r>
              <a:rPr lang="nl-NL" dirty="0"/>
              <a:t> on rolling horizon (up </a:t>
            </a:r>
            <a:r>
              <a:rPr lang="nl-NL" dirty="0" err="1"/>
              <a:t>to</a:t>
            </a:r>
            <a:r>
              <a:rPr lang="nl-NL" dirty="0"/>
              <a:t> 2019Q3)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411901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636" y="96774"/>
            <a:ext cx="3932093" cy="392001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70FB1B9-BEA8-0CA0-335C-6A756FFB3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Example</a:t>
            </a:r>
            <a:r>
              <a:rPr lang="nl-NL" dirty="0"/>
              <a:t> 1: Beyond GDP</a:t>
            </a:r>
            <a:br>
              <a:rPr lang="nl-NL" dirty="0"/>
            </a:b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sz="half" idx="2"/>
          </p:nvPr>
        </p:nvSpPr>
        <p:spPr>
          <a:xfrm>
            <a:off x="970722" y="1331912"/>
            <a:ext cx="10515597" cy="4194176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nl-NL" sz="1600" b="1" dirty="0">
                <a:solidFill>
                  <a:schemeClr val="tx1"/>
                </a:solidFill>
              </a:rPr>
              <a:t>Monitor on well-</a:t>
            </a:r>
            <a:r>
              <a:rPr lang="nl-NL" sz="1600" b="1" dirty="0" err="1">
                <a:solidFill>
                  <a:schemeClr val="tx1"/>
                </a:solidFill>
              </a:rPr>
              <a:t>being</a:t>
            </a:r>
            <a:r>
              <a:rPr lang="nl-NL" sz="1600" b="1" dirty="0">
                <a:solidFill>
                  <a:schemeClr val="tx1"/>
                </a:solidFill>
              </a:rPr>
              <a:t> </a:t>
            </a:r>
            <a:r>
              <a:rPr lang="nl-NL" sz="1600" b="1" dirty="0" err="1">
                <a:solidFill>
                  <a:schemeClr val="tx1"/>
                </a:solidFill>
              </a:rPr>
              <a:t>and</a:t>
            </a:r>
            <a:r>
              <a:rPr lang="nl-NL" sz="1600" b="1" dirty="0">
                <a:solidFill>
                  <a:schemeClr val="tx1"/>
                </a:solidFill>
              </a:rPr>
              <a:t> </a:t>
            </a:r>
            <a:r>
              <a:rPr lang="nl-NL" sz="1600" b="1" dirty="0" err="1">
                <a:solidFill>
                  <a:schemeClr val="tx1"/>
                </a:solidFill>
              </a:rPr>
              <a:t>sustainable</a:t>
            </a:r>
            <a:r>
              <a:rPr lang="nl-NL" sz="1600" b="1" dirty="0">
                <a:solidFill>
                  <a:schemeClr val="tx1"/>
                </a:solidFill>
              </a:rPr>
              <a:t> development goals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Requested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by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House of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Representatives</a:t>
            </a:r>
            <a:endParaRPr lang="nl-NL" sz="16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200 indicators: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economy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, environment, society / here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and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now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, later,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elsewhere</a:t>
            </a:r>
            <a:endParaRPr lang="nl-NL" sz="16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endParaRPr lang="nl-NL" sz="1600" dirty="0">
              <a:solidFill>
                <a:schemeClr val="tx1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nl-NL" sz="1600" b="1" dirty="0" err="1">
                <a:solidFill>
                  <a:schemeClr val="tx1"/>
                </a:solidFill>
              </a:rPr>
              <a:t>Problem</a:t>
            </a:r>
            <a:r>
              <a:rPr lang="nl-NL" sz="1600" dirty="0">
                <a:solidFill>
                  <a:schemeClr val="tx1"/>
                </a:solidFill>
              </a:rPr>
              <a:t>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Not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all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indicators are T-1 (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can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be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T-2 of T-3) </a:t>
            </a:r>
          </a:p>
          <a:p>
            <a:pPr marL="0" indent="0">
              <a:spcAft>
                <a:spcPts val="600"/>
              </a:spcAft>
              <a:buNone/>
            </a:pPr>
            <a:endParaRPr lang="nl-NL" sz="1600" dirty="0">
              <a:solidFill>
                <a:schemeClr val="tx1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nl-NL" sz="1600" b="1" dirty="0" err="1">
                <a:solidFill>
                  <a:schemeClr val="tx1"/>
                </a:solidFill>
              </a:rPr>
              <a:t>Objective</a:t>
            </a:r>
            <a:endParaRPr lang="nl-NL" sz="1600" b="1" dirty="0">
              <a:solidFill>
                <a:schemeClr val="tx1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More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current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indicators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through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acceleration of processes and methodological solutions</a:t>
            </a:r>
            <a:endParaRPr lang="nl-NL" sz="16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endParaRPr lang="nl-NL" sz="1600" dirty="0">
              <a:solidFill>
                <a:schemeClr val="tx1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nl-NL" sz="1600" b="1" dirty="0">
                <a:solidFill>
                  <a:schemeClr val="tx1"/>
                </a:solidFill>
              </a:rPr>
              <a:t>Solution </a:t>
            </a:r>
            <a:r>
              <a:rPr lang="nl-NL" sz="1600" dirty="0">
                <a:solidFill>
                  <a:schemeClr val="tx1"/>
                </a:solidFill>
              </a:rPr>
              <a:t>	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Nowcasting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framework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for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various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types of indicators. </a:t>
            </a:r>
          </a:p>
          <a:p>
            <a:pPr marL="0" indent="0">
              <a:spcAft>
                <a:spcPts val="600"/>
              </a:spcAft>
              <a:buNone/>
            </a:pPr>
            <a:endParaRPr lang="nl-NL" sz="1600" dirty="0">
              <a:solidFill>
                <a:schemeClr val="tx1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nl-NL" sz="1600" b="1" dirty="0" err="1">
                <a:solidFill>
                  <a:schemeClr val="tx1"/>
                </a:solidFill>
              </a:rPr>
              <a:t>Publication</a:t>
            </a:r>
            <a:r>
              <a:rPr lang="nl-NL" sz="1600" b="1" dirty="0">
                <a:solidFill>
                  <a:schemeClr val="tx1"/>
                </a:solidFill>
              </a:rPr>
              <a:t> </a:t>
            </a:r>
            <a:r>
              <a:rPr lang="nl-NL" sz="1600" b="1" dirty="0" err="1">
                <a:solidFill>
                  <a:schemeClr val="tx1"/>
                </a:solidFill>
              </a:rPr>
              <a:t>since</a:t>
            </a:r>
            <a:r>
              <a:rPr lang="nl-NL" sz="1600" b="1" dirty="0">
                <a:solidFill>
                  <a:schemeClr val="tx1"/>
                </a:solidFill>
              </a:rPr>
              <a:t> 2019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https://www.cbs.nl/en-gb/dossier/dossier-well-being-and-the-sustainable-development-goals</a:t>
            </a:r>
            <a:endParaRPr lang="nl-NL" sz="1600" dirty="0">
              <a:solidFill>
                <a:schemeClr val="tx1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0EDC63B8-28D6-AEAB-543B-0FA27D726F64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01CF334-2D5C-4859-84A6-CA7E6E43FAEB}" type="slidenum">
              <a:rPr lang="en-GB" sz="1200">
                <a:solidFill>
                  <a:srgbClr val="898989"/>
                </a:solidFill>
              </a:rPr>
              <a:pPr algn="r"/>
              <a:t>45</a:t>
            </a:fld>
            <a:endParaRPr lang="en-GB" sz="12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0194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07E391-F12B-1CF8-EF87-F4F4124FA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  <a:br>
              <a:rPr lang="nl-NL" dirty="0"/>
            </a:b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Method: </a:t>
            </a:r>
          </a:p>
          <a:p>
            <a:pPr marL="457189" indent="-457189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compare several models (Univariate STM’s, ARIMA, naïve) with auxiliary variables</a:t>
            </a:r>
          </a:p>
          <a:p>
            <a:pPr marL="457189" indent="-457189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‘automatic’ model and variable selection based on RMSE / ME</a:t>
            </a:r>
          </a:p>
          <a:p>
            <a:pPr marL="457189" indent="-457189">
              <a:buFontTx/>
              <a:buChar char="-"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Acceptance criteria:</a:t>
            </a:r>
          </a:p>
          <a:p>
            <a:pPr marL="457189" indent="-457189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Accelerating process possible? Use partial data?</a:t>
            </a:r>
          </a:p>
          <a:p>
            <a:pPr marL="457189" indent="-457189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Sufficient time series data</a:t>
            </a:r>
          </a:p>
          <a:p>
            <a:pPr marL="457189" indent="-457189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Auxiliary data</a:t>
            </a:r>
          </a:p>
          <a:p>
            <a:pPr marL="457189" indent="-457189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Model type of best model</a:t>
            </a:r>
          </a:p>
          <a:p>
            <a:pPr marL="457189" indent="-457189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Selection based on combination of RMSE and ME </a:t>
            </a:r>
          </a:p>
          <a:p>
            <a:pPr marL="457189" indent="-457189">
              <a:buFontTx/>
              <a:buChar char="-"/>
            </a:pPr>
            <a:r>
              <a:rPr lang="en-US" dirty="0" err="1">
                <a:solidFill>
                  <a:schemeClr val="tx1"/>
                </a:solidFill>
              </a:rPr>
              <a:t>Realisations</a:t>
            </a:r>
            <a:r>
              <a:rPr lang="en-US" dirty="0">
                <a:solidFill>
                  <a:schemeClr val="tx1"/>
                </a:solidFill>
              </a:rPr>
              <a:t> within 95% forecast interval</a:t>
            </a:r>
          </a:p>
          <a:p>
            <a:pPr marL="457189" indent="-457189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Plausibility check</a:t>
            </a:r>
          </a:p>
          <a:p>
            <a:pPr marL="457189" indent="-457189">
              <a:buFontTx/>
              <a:buChar char="-"/>
            </a:pPr>
            <a:endParaRPr lang="en-US" dirty="0">
              <a:solidFill>
                <a:schemeClr val="tx1"/>
              </a:solidFill>
            </a:endParaRPr>
          </a:p>
          <a:p>
            <a:pPr marL="457189" indent="-457189">
              <a:buFontTx/>
              <a:buChar char="-"/>
            </a:pPr>
            <a:endParaRPr lang="en-US" dirty="0">
              <a:solidFill>
                <a:schemeClr val="tx1"/>
              </a:solidFill>
            </a:endParaRPr>
          </a:p>
          <a:p>
            <a:pPr marL="457189" indent="-457189">
              <a:buFontTx/>
              <a:buChar char="-"/>
            </a:pPr>
            <a:endParaRPr lang="en-US" dirty="0">
              <a:solidFill>
                <a:schemeClr val="tx1"/>
              </a:solidFill>
            </a:endParaRPr>
          </a:p>
          <a:p>
            <a:pPr marL="457189" indent="-457189">
              <a:buFontTx/>
              <a:buChar char="-"/>
            </a:pP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16B98520-96E9-0056-E19B-F71A94608795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01CF334-2D5C-4859-84A6-CA7E6E43FAEB}" type="slidenum">
              <a:rPr lang="en-GB" sz="1200">
                <a:solidFill>
                  <a:srgbClr val="898989"/>
                </a:solidFill>
              </a:rPr>
              <a:pPr algn="r"/>
              <a:t>46</a:t>
            </a:fld>
            <a:endParaRPr lang="en-GB" sz="12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1248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4">
            <a:extLst>
              <a:ext uri="{FF2B5EF4-FFF2-40B4-BE49-F238E27FC236}">
                <a16:creationId xmlns:a16="http://schemas.microsoft.com/office/drawing/2014/main" id="{691102FD-0E80-5794-93EF-52683485B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57AEC5F-A97F-6E62-D6C9-4F4B3FB015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 baseline="0">
                <a:solidFill>
                  <a:srgbClr val="271D6C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45CA951-4815-4987-9CD6-BB5D6648C0B5}" type="slidenum">
              <a:rPr lang="nl-NL" sz="1200" smtClean="0"/>
              <a:pPr algn="ctr"/>
              <a:t>47</a:t>
            </a:fld>
            <a:endParaRPr lang="nl-NL" sz="1600" dirty="0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E20ED218-88BB-E935-E784-1CC986B734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FDA72229-B5BE-0941-E56F-04EA4143CD1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79509" y="1124744"/>
            <a:ext cx="8352928" cy="4814365"/>
          </a:xfrm>
          <a:prstGeom prst="rect">
            <a:avLst/>
          </a:prstGeom>
        </p:spPr>
      </p:pic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DF135879-8FA5-3A14-F0C5-4B5CD339D543}"/>
              </a:ext>
            </a:extLst>
          </p:cNvPr>
          <p:cNvCxnSpPr/>
          <p:nvPr/>
        </p:nvCxnSpPr>
        <p:spPr>
          <a:xfrm>
            <a:off x="2552640" y="5696073"/>
            <a:ext cx="0" cy="384043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AD1B3C45-E919-1837-2785-4C6B2E57A32E}"/>
              </a:ext>
            </a:extLst>
          </p:cNvPr>
          <p:cNvCxnSpPr/>
          <p:nvPr/>
        </p:nvCxnSpPr>
        <p:spPr>
          <a:xfrm>
            <a:off x="2552640" y="5888095"/>
            <a:ext cx="6960000" cy="0"/>
          </a:xfrm>
          <a:prstGeom prst="line">
            <a:avLst/>
          </a:prstGeom>
          <a:noFill/>
          <a:ln w="1587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58B1E90B-05E5-AF8E-364A-2E7B11D1828A}"/>
              </a:ext>
            </a:extLst>
          </p:cNvPr>
          <p:cNvCxnSpPr/>
          <p:nvPr/>
        </p:nvCxnSpPr>
        <p:spPr>
          <a:xfrm>
            <a:off x="9520443" y="5696073"/>
            <a:ext cx="0" cy="384043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9" name="Tekstvak 8">
            <a:extLst>
              <a:ext uri="{FF2B5EF4-FFF2-40B4-BE49-F238E27FC236}">
                <a16:creationId xmlns:a16="http://schemas.microsoft.com/office/drawing/2014/main" id="{35060038-56D5-EAB5-3A0A-FB4B5FD40210}"/>
              </a:ext>
            </a:extLst>
          </p:cNvPr>
          <p:cNvSpPr txBox="1"/>
          <p:nvPr/>
        </p:nvSpPr>
        <p:spPr>
          <a:xfrm>
            <a:off x="4034212" y="5491106"/>
            <a:ext cx="1623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4150"/>
            <a:r>
              <a:rPr lang="nl-NL" sz="1600" dirty="0">
                <a:solidFill>
                  <a:prstClr val="black"/>
                </a:solidFill>
                <a:latin typeface="Calibri"/>
                <a:cs typeface="+mn-cs"/>
              </a:rPr>
              <a:t>Fitting</a:t>
            </a:r>
          </a:p>
        </p:txBody>
      </p: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438091DB-7F15-DED9-B656-AFFFA5891CC3}"/>
              </a:ext>
            </a:extLst>
          </p:cNvPr>
          <p:cNvCxnSpPr/>
          <p:nvPr/>
        </p:nvCxnSpPr>
        <p:spPr>
          <a:xfrm>
            <a:off x="7508799" y="5698657"/>
            <a:ext cx="0" cy="384043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11" name="Tekstvak 10">
            <a:extLst>
              <a:ext uri="{FF2B5EF4-FFF2-40B4-BE49-F238E27FC236}">
                <a16:creationId xmlns:a16="http://schemas.microsoft.com/office/drawing/2014/main" id="{4FFFA84C-EBC7-8DEC-8096-05F7C1E8CF76}"/>
              </a:ext>
            </a:extLst>
          </p:cNvPr>
          <p:cNvSpPr txBox="1"/>
          <p:nvPr/>
        </p:nvSpPr>
        <p:spPr>
          <a:xfrm>
            <a:off x="7554889" y="5500171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4150"/>
            <a:r>
              <a:rPr lang="nl-NL" sz="1600" dirty="0" err="1">
                <a:solidFill>
                  <a:prstClr val="black"/>
                </a:solidFill>
                <a:latin typeface="Calibri"/>
                <a:cs typeface="+mn-cs"/>
              </a:rPr>
              <a:t>Holdout</a:t>
            </a:r>
            <a:endParaRPr lang="nl-NL" sz="16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2CFA3441-C39F-B43C-4AEE-27CDC26B3EC9}"/>
              </a:ext>
            </a:extLst>
          </p:cNvPr>
          <p:cNvCxnSpPr/>
          <p:nvPr/>
        </p:nvCxnSpPr>
        <p:spPr>
          <a:xfrm>
            <a:off x="9187312" y="5702231"/>
            <a:ext cx="0" cy="384043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B34179C1-F64E-D344-E29D-4F28466D9C60}"/>
              </a:ext>
            </a:extLst>
          </p:cNvPr>
          <p:cNvCxnSpPr/>
          <p:nvPr/>
        </p:nvCxnSpPr>
        <p:spPr>
          <a:xfrm>
            <a:off x="9208032" y="5885815"/>
            <a:ext cx="336000" cy="0"/>
          </a:xfrm>
          <a:prstGeom prst="line">
            <a:avLst/>
          </a:prstGeom>
          <a:noFill/>
          <a:ln w="15875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15F3D1A1-8397-AF5A-EA25-0BAB6674372D}"/>
              </a:ext>
            </a:extLst>
          </p:cNvPr>
          <p:cNvSpPr txBox="1"/>
          <p:nvPr/>
        </p:nvSpPr>
        <p:spPr>
          <a:xfrm>
            <a:off x="3600315" y="1123935"/>
            <a:ext cx="6048672" cy="4205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sz="2133" dirty="0">
                <a:solidFill>
                  <a:srgbClr val="0F5494"/>
                </a:solidFill>
              </a:rPr>
              <a:t>CO2 </a:t>
            </a:r>
            <a:r>
              <a:rPr lang="nl-NL" sz="2133" dirty="0" err="1">
                <a:solidFill>
                  <a:srgbClr val="0F5494"/>
                </a:solidFill>
              </a:rPr>
              <a:t>emissions</a:t>
            </a:r>
            <a:r>
              <a:rPr lang="nl-NL" sz="2133" dirty="0">
                <a:solidFill>
                  <a:srgbClr val="0F5494"/>
                </a:solidFill>
              </a:rPr>
              <a:t> of </a:t>
            </a:r>
            <a:r>
              <a:rPr lang="nl-NL" sz="2133" dirty="0" err="1">
                <a:solidFill>
                  <a:srgbClr val="0F5494"/>
                </a:solidFill>
              </a:rPr>
              <a:t>national</a:t>
            </a:r>
            <a:r>
              <a:rPr lang="nl-NL" sz="2133" dirty="0">
                <a:solidFill>
                  <a:srgbClr val="0F5494"/>
                </a:solidFill>
              </a:rPr>
              <a:t> </a:t>
            </a:r>
            <a:r>
              <a:rPr lang="nl-NL" sz="2133" dirty="0" err="1">
                <a:solidFill>
                  <a:srgbClr val="0F5494"/>
                </a:solidFill>
              </a:rPr>
              <a:t>airlines</a:t>
            </a:r>
            <a:endParaRPr lang="nl-NL" sz="2133" dirty="0">
              <a:solidFill>
                <a:srgbClr val="0F54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8555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AFA61C-6D3A-FD9B-A528-1C8ED8706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Example</a:t>
            </a:r>
            <a:r>
              <a:rPr lang="nl-NL" dirty="0"/>
              <a:t> 2: Banking sector</a:t>
            </a:r>
            <a:br>
              <a:rPr lang="nl-NL" dirty="0"/>
            </a:b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nl-NL" sz="1600" b="1" dirty="0">
                <a:solidFill>
                  <a:schemeClr val="tx1"/>
                </a:solidFill>
              </a:rPr>
              <a:t>Component of GDP  </a:t>
            </a:r>
          </a:p>
          <a:p>
            <a:pPr marL="0" indent="0">
              <a:buNone/>
            </a:pP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Hardly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any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data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when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producing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Flash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estimate</a:t>
            </a:r>
            <a:endParaRPr lang="nl-NL" sz="16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nl-NL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sz="1600" b="1" dirty="0" err="1">
                <a:solidFill>
                  <a:schemeClr val="tx1"/>
                </a:solidFill>
              </a:rPr>
              <a:t>Current</a:t>
            </a:r>
            <a:r>
              <a:rPr lang="nl-NL" sz="1600" b="1" dirty="0">
                <a:solidFill>
                  <a:schemeClr val="tx1"/>
                </a:solidFill>
              </a:rPr>
              <a:t> </a:t>
            </a:r>
            <a:r>
              <a:rPr lang="nl-NL" sz="1600" b="1" dirty="0" err="1">
                <a:solidFill>
                  <a:schemeClr val="tx1"/>
                </a:solidFill>
              </a:rPr>
              <a:t>method</a:t>
            </a:r>
            <a:r>
              <a:rPr lang="nl-NL" sz="1600" b="1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T-1 (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naive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)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method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+ expert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judgement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based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on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payment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data</a:t>
            </a:r>
          </a:p>
          <a:p>
            <a:pPr marL="0" indent="0">
              <a:buNone/>
            </a:pPr>
            <a:endParaRPr lang="nl-NL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sz="1600" b="1" dirty="0">
                <a:solidFill>
                  <a:schemeClr val="tx1"/>
                </a:solidFill>
              </a:rPr>
              <a:t>Solution</a:t>
            </a:r>
            <a:r>
              <a:rPr lang="nl-NL" sz="1600" dirty="0">
                <a:solidFill>
                  <a:schemeClr val="tx1"/>
                </a:solidFill>
              </a:rPr>
              <a:t> 	 </a:t>
            </a:r>
          </a:p>
          <a:p>
            <a:pPr marL="0" indent="0">
              <a:buNone/>
            </a:pP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Use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payment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data of Dutch Central Bank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to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make a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nowcast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for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volume index</a:t>
            </a:r>
          </a:p>
          <a:p>
            <a:pPr marL="0" indent="0">
              <a:buNone/>
            </a:pP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Taking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into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account data vintages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during</a:t>
            </a:r>
            <a:r>
              <a:rPr lang="nl-NL" sz="1600" dirty="0">
                <a:solidFill>
                  <a:schemeClr val="bg2">
                    <a:lumMod val="75000"/>
                  </a:schemeClr>
                </a:solidFill>
              </a:rPr>
              <a:t> cross </a:t>
            </a:r>
            <a:r>
              <a:rPr lang="nl-NL" sz="1600" dirty="0" err="1">
                <a:solidFill>
                  <a:schemeClr val="bg2">
                    <a:lumMod val="75000"/>
                  </a:schemeClr>
                </a:solidFill>
              </a:rPr>
              <a:t>validation</a:t>
            </a:r>
            <a:endParaRPr lang="nl-NL" sz="1600" dirty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nl-NL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nl-NL" sz="1600" dirty="0" err="1">
                <a:solidFill>
                  <a:schemeClr val="tx1"/>
                </a:solidFill>
              </a:rPr>
              <a:t>Used</a:t>
            </a:r>
            <a:r>
              <a:rPr lang="nl-NL" sz="1600" dirty="0">
                <a:solidFill>
                  <a:schemeClr val="tx1"/>
                </a:solidFill>
              </a:rPr>
              <a:t> in </a:t>
            </a:r>
            <a:r>
              <a:rPr lang="nl-NL" sz="1600" dirty="0" err="1">
                <a:solidFill>
                  <a:schemeClr val="tx1"/>
                </a:solidFill>
              </a:rPr>
              <a:t>production</a:t>
            </a:r>
            <a:r>
              <a:rPr lang="nl-NL" sz="1600" dirty="0">
                <a:solidFill>
                  <a:schemeClr val="tx1"/>
                </a:solidFill>
              </a:rPr>
              <a:t> </a:t>
            </a:r>
            <a:r>
              <a:rPr lang="nl-NL" sz="1600" dirty="0" err="1">
                <a:solidFill>
                  <a:schemeClr val="tx1"/>
                </a:solidFill>
              </a:rPr>
              <a:t>since</a:t>
            </a:r>
            <a:r>
              <a:rPr lang="nl-NL" sz="1600" dirty="0">
                <a:solidFill>
                  <a:schemeClr val="tx1"/>
                </a:solidFill>
              </a:rPr>
              <a:t> 2018 </a:t>
            </a:r>
          </a:p>
          <a:p>
            <a:pPr marL="0" indent="0">
              <a:buNone/>
            </a:pPr>
            <a:endParaRPr lang="nl-NL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nl-NL" sz="1600" dirty="0">
              <a:solidFill>
                <a:schemeClr val="tx1"/>
              </a:solidFill>
            </a:endParaRP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921" y="283137"/>
            <a:ext cx="4862327" cy="1517955"/>
          </a:xfrm>
          <a:prstGeom prst="rect">
            <a:avLst/>
          </a:prstGeom>
        </p:spPr>
      </p:pic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F9984507-60AD-32F0-CD1C-CF5AF7413296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01CF334-2D5C-4859-84A6-CA7E6E43FAEB}" type="slidenum">
              <a:rPr lang="en-GB" sz="1200">
                <a:solidFill>
                  <a:srgbClr val="898989"/>
                </a:solidFill>
              </a:rPr>
              <a:pPr algn="r"/>
              <a:t>48</a:t>
            </a:fld>
            <a:endParaRPr lang="en-GB" sz="12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4992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64B72B-3830-0ADB-DFEE-28291F455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Results</a:t>
            </a:r>
            <a:r>
              <a:rPr lang="nl-NL" dirty="0"/>
              <a:t> </a:t>
            </a:r>
            <a:br>
              <a:rPr lang="nl-NL" dirty="0"/>
            </a:b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nl-NL" sz="2400" dirty="0">
                <a:solidFill>
                  <a:schemeClr val="tx1"/>
                </a:solidFill>
              </a:rPr>
              <a:t>Variables </a:t>
            </a:r>
            <a:r>
              <a:rPr lang="nl-NL" sz="2400" dirty="0" err="1">
                <a:solidFill>
                  <a:schemeClr val="tx1"/>
                </a:solidFill>
              </a:rPr>
              <a:t>used</a:t>
            </a:r>
            <a:r>
              <a:rPr lang="nl-NL" sz="2400" dirty="0">
                <a:solidFill>
                  <a:schemeClr val="tx1"/>
                </a:solidFill>
              </a:rPr>
              <a:t>:  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Payment transactions: </a:t>
            </a:r>
          </a:p>
          <a:p>
            <a:pPr marL="1066759" lvl="1" indent="-457189">
              <a:buFont typeface="Arial" panose="020B0604020202020204" pitchFamily="34" charset="0"/>
              <a:buChar char="•"/>
            </a:pPr>
            <a:r>
              <a:rPr lang="en-US" sz="2000" dirty="0" err="1"/>
              <a:t>Debitcard</a:t>
            </a:r>
            <a:r>
              <a:rPr lang="en-US" sz="2000" dirty="0"/>
              <a:t> </a:t>
            </a:r>
          </a:p>
          <a:p>
            <a:pPr marL="1066759" lvl="1" indent="-457189">
              <a:buFont typeface="Arial" panose="020B0604020202020204" pitchFamily="34" charset="0"/>
              <a:buChar char="•"/>
            </a:pPr>
            <a:r>
              <a:rPr lang="en-US" sz="2000" dirty="0" err="1"/>
              <a:t>Creditcard</a:t>
            </a:r>
            <a:r>
              <a:rPr lang="en-US" sz="2000" dirty="0"/>
              <a:t> domestic</a:t>
            </a:r>
          </a:p>
          <a:p>
            <a:pPr marL="1066759" lvl="1" indent="-457189">
              <a:buFont typeface="Arial" panose="020B0604020202020204" pitchFamily="34" charset="0"/>
              <a:buChar char="•"/>
            </a:pPr>
            <a:r>
              <a:rPr lang="en-US" sz="2000" dirty="0" err="1"/>
              <a:t>Creditcard</a:t>
            </a:r>
            <a:r>
              <a:rPr lang="en-US" sz="2000" dirty="0"/>
              <a:t> foreign</a:t>
            </a:r>
          </a:p>
          <a:p>
            <a:pPr marL="1066759" lvl="1" indent="-457189">
              <a:buFont typeface="Arial" panose="020B0604020202020204" pitchFamily="34" charset="0"/>
              <a:buChar char="•"/>
            </a:pPr>
            <a:r>
              <a:rPr lang="en-US" sz="2000" dirty="0"/>
              <a:t>Cash deposits</a:t>
            </a:r>
          </a:p>
          <a:p>
            <a:pPr marL="1066759" lvl="1" indent="-457189">
              <a:buFont typeface="Arial" panose="020B0604020202020204" pitchFamily="34" charset="0"/>
              <a:buChar char="•"/>
            </a:pPr>
            <a:r>
              <a:rPr lang="en-US" sz="2000" dirty="0"/>
              <a:t>Total payment transactions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dirty="0" err="1">
                <a:solidFill>
                  <a:schemeClr val="tx1"/>
                </a:solidFill>
              </a:rPr>
              <a:t>Mortgages</a:t>
            </a:r>
            <a:endParaRPr lang="nl-NL" dirty="0">
              <a:solidFill>
                <a:schemeClr val="tx1"/>
              </a:solidFill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Euribor</a:t>
            </a:r>
            <a:r>
              <a:rPr lang="en-US" dirty="0">
                <a:solidFill>
                  <a:schemeClr val="tx1"/>
                </a:solidFill>
              </a:rPr>
              <a:t> interest rate </a:t>
            </a:r>
            <a:r>
              <a:rPr lang="en-US" sz="2400" dirty="0">
                <a:solidFill>
                  <a:schemeClr val="tx1"/>
                </a:solidFill>
              </a:rPr>
              <a:t>	</a:t>
            </a:r>
          </a:p>
        </p:txBody>
      </p:sp>
      <p:pic>
        <p:nvPicPr>
          <p:cNvPr id="5" name="Afbeelding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177" y="136526"/>
            <a:ext cx="7105073" cy="438487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F94CCC52-CA66-162C-6905-839BEA519932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01CF334-2D5C-4859-84A6-CA7E6E43FAEB}" type="slidenum">
              <a:rPr lang="en-GB" sz="1200">
                <a:solidFill>
                  <a:srgbClr val="898989"/>
                </a:solidFill>
              </a:rPr>
              <a:pPr algn="r"/>
              <a:t>49</a:t>
            </a:fld>
            <a:endParaRPr lang="en-GB" sz="12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5076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54865-23C6-396F-8BC1-7B48F2EAE3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Props1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189</TotalTime>
  <Words>2101</Words>
  <Application>Microsoft Office PowerPoint</Application>
  <PresentationFormat>Breedbeeld</PresentationFormat>
  <Paragraphs>548</Paragraphs>
  <Slides>50</Slides>
  <Notes>0</Notes>
  <HiddenSlides>1</HiddenSlides>
  <MMClips>0</MMClips>
  <ScaleCrop>false</ScaleCrop>
  <HeadingPairs>
    <vt:vector size="8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50</vt:i4>
      </vt:variant>
    </vt:vector>
  </HeadingPairs>
  <TitlesOfParts>
    <vt:vector size="57" baseType="lpstr">
      <vt:lpstr>Arial</vt:lpstr>
      <vt:lpstr>Calibri</vt:lpstr>
      <vt:lpstr>Cambria Math</vt:lpstr>
      <vt:lpstr>Courier</vt:lpstr>
      <vt:lpstr>Lucida Console</vt:lpstr>
      <vt:lpstr>ESTAT Theme</vt:lpstr>
      <vt:lpstr>Vergelijking</vt:lpstr>
      <vt:lpstr>2.1 Rapid estimates using Structural time series models</vt:lpstr>
      <vt:lpstr>Overview:</vt:lpstr>
      <vt:lpstr>Time series decomposition </vt:lpstr>
      <vt:lpstr>Structural times series model (STM) </vt:lpstr>
      <vt:lpstr>What is a trend? </vt:lpstr>
      <vt:lpstr>STM (random walk plus noise) </vt:lpstr>
      <vt:lpstr>Estimates of signal </vt:lpstr>
      <vt:lpstr>Residuals</vt:lpstr>
      <vt:lpstr>Residuals </vt:lpstr>
      <vt:lpstr>Estimation of parameters </vt:lpstr>
      <vt:lpstr>PowerPoint-presentatie</vt:lpstr>
      <vt:lpstr>Model with trend (local linear trend) </vt:lpstr>
      <vt:lpstr>Model with seasonal </vt:lpstr>
      <vt:lpstr>PowerPoint-presentatie</vt:lpstr>
      <vt:lpstr>How to select a model? </vt:lpstr>
      <vt:lpstr>Akaike Information Criterion (AIC) </vt:lpstr>
      <vt:lpstr>How to select a model in practice (manually)?  </vt:lpstr>
      <vt:lpstr>Example: STM in R </vt:lpstr>
      <vt:lpstr>PowerPoint-presentatie</vt:lpstr>
      <vt:lpstr>PowerPoint-presentatie</vt:lpstr>
      <vt:lpstr>PowerPoint-presentatie</vt:lpstr>
      <vt:lpstr>PowerPoint-presentatie</vt:lpstr>
      <vt:lpstr>Which components to include? </vt:lpstr>
      <vt:lpstr>PowerPoint-presentatie</vt:lpstr>
      <vt:lpstr>A nowcast for two sectors </vt:lpstr>
      <vt:lpstr>PowerPoint-presentatie</vt:lpstr>
      <vt:lpstr>PowerPoint-presentatie</vt:lpstr>
      <vt:lpstr>Time series models </vt:lpstr>
      <vt:lpstr>From forecasting to nowcasting </vt:lpstr>
      <vt:lpstr>Model with explanatory variabele </vt:lpstr>
      <vt:lpstr>Example: bivariate model </vt:lpstr>
      <vt:lpstr>Outliers and breaks </vt:lpstr>
      <vt:lpstr>Example additive outliers </vt:lpstr>
      <vt:lpstr>Example: additive outlier </vt:lpstr>
      <vt:lpstr>Example regressor creation </vt:lpstr>
      <vt:lpstr>PowerPoint-presentatie</vt:lpstr>
      <vt:lpstr>State space form </vt:lpstr>
      <vt:lpstr>Example:  </vt:lpstr>
      <vt:lpstr>Variable selection </vt:lpstr>
      <vt:lpstr>Nowcasting with STM’s </vt:lpstr>
      <vt:lpstr>Cross-validation </vt:lpstr>
      <vt:lpstr>Cross-validation: rolling forecast horizon </vt:lpstr>
      <vt:lpstr>Quality measures </vt:lpstr>
      <vt:lpstr>Exercises </vt:lpstr>
      <vt:lpstr>Example 1: Beyond GDP </vt:lpstr>
      <vt:lpstr>Approach </vt:lpstr>
      <vt:lpstr>PowerPoint-presentatie</vt:lpstr>
      <vt:lpstr>Example 2: Banking sector </vt:lpstr>
      <vt:lpstr>Results  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Ouwehand, P. (Pim)</cp:lastModifiedBy>
  <cp:revision>103</cp:revision>
  <dcterms:created xsi:type="dcterms:W3CDTF">2024-11-22T11:11:00Z</dcterms:created>
  <dcterms:modified xsi:type="dcterms:W3CDTF">2026-10-01T14:41:00Z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