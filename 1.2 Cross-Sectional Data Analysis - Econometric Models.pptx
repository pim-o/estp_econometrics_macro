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81" r:id="rId6"/>
    <p:sldId id="282" r:id="rId7"/>
    <p:sldId id="257" r:id="rId8"/>
    <p:sldId id="264" r:id="rId9"/>
    <p:sldId id="263" r:id="rId10"/>
    <p:sldId id="265" r:id="rId11"/>
    <p:sldId id="266" r:id="rId12"/>
    <p:sldId id="272" r:id="rId13"/>
    <p:sldId id="273" r:id="rId14"/>
    <p:sldId id="268" r:id="rId15"/>
    <p:sldId id="279" r:id="rId16"/>
    <p:sldId id="267" r:id="rId17"/>
    <p:sldId id="271" r:id="rId18"/>
    <p:sldId id="274" r:id="rId19"/>
    <p:sldId id="275" r:id="rId20"/>
    <p:sldId id="276" r:id="rId21"/>
    <p:sldId id="277" r:id="rId22"/>
    <p:sldId id="278" r:id="rId23"/>
    <p:sldId id="262" r:id="rId24"/>
    <p:sldId id="269" r:id="rId25"/>
    <p:sldId id="270" r:id="rId26"/>
    <p:sldId id="280" r:id="rId27"/>
    <p:sldId id="258" r:id="rId28"/>
    <p:sldId id="261" r:id="rId29"/>
  </p:sldIdLst>
  <p:sldSz cx="12192000" cy="6858000"/>
  <p:notesSz cx="6858000" cy="9144000"/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2644A7"/>
    <a:srgbClr val="101010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redný štýl 1 - zvýrazneni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3" d="100"/>
          <a:sy n="93" d="100"/>
        </p:scale>
        <p:origin x="1002" y="90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06/08/2026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Econometric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Cross-Sectional Data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6541462" cy="777875"/>
          </a:xfrm>
        </p:spPr>
        <p:txBody>
          <a:bodyPr/>
          <a:lstStyle/>
          <a:p>
            <a:r>
              <a:rPr lang="en-GB" noProof="0" dirty="0"/>
              <a:t>Dr Peter Knížat</a:t>
            </a:r>
          </a:p>
          <a:p>
            <a:r>
              <a:rPr lang="en-GB" noProof="0" dirty="0"/>
              <a:t>Statistical Office of the Slovak Republic</a:t>
            </a:r>
          </a:p>
          <a:p>
            <a:r>
              <a:rPr lang="en-GB" noProof="0" dirty="0"/>
              <a:t>Comenius University in Bratislava</a:t>
            </a:r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LEARNING OBJECTIVES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b="1" dirty="0" smtClean="0"/>
              <a:t>Learning Objectives</a:t>
            </a:r>
            <a:r>
              <a:rPr lang="en-GB" dirty="0" smtClean="0"/>
              <a:t> </a:t>
            </a:r>
            <a:r>
              <a:rPr lang="en-GB" sz="1800" dirty="0" smtClean="0"/>
              <a:t>– after completing this session, participants will be able </a:t>
            </a:r>
            <a:r>
              <a:rPr lang="en-GB" sz="1800" dirty="0" smtClean="0"/>
              <a:t>to</a:t>
            </a:r>
            <a:endParaRPr lang="en-GB" sz="1800" dirty="0" smtClean="0"/>
          </a:p>
          <a:p>
            <a:r>
              <a:rPr lang="en-GB" sz="1700" dirty="0" smtClean="0"/>
              <a:t>explain </a:t>
            </a:r>
            <a:r>
              <a:rPr lang="en-GB" sz="1700" dirty="0"/>
              <a:t>the role of cross-sectional econometric models in official statistics and evidence-based policy-making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download </a:t>
            </a:r>
            <a:r>
              <a:rPr lang="en-GB" sz="1700" dirty="0"/>
              <a:t>and prepare regional economic data directly from Eurostat using R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specify </a:t>
            </a:r>
            <a:r>
              <a:rPr lang="en-GB" sz="1700" dirty="0"/>
              <a:t>and estimate a multiple linear regression model using Ordinary Least Squares (OLS</a:t>
            </a:r>
            <a:r>
              <a:rPr lang="en-GB" sz="1700" dirty="0" smtClean="0"/>
              <a:t>);</a:t>
            </a:r>
            <a:endParaRPr lang="sk-SK" sz="1700" dirty="0" smtClean="0"/>
          </a:p>
          <a:p>
            <a:r>
              <a:rPr lang="en-GB" sz="1700" dirty="0" smtClean="0"/>
              <a:t>interpret </a:t>
            </a:r>
            <a:r>
              <a:rPr lang="en-GB" sz="1700" dirty="0"/>
              <a:t>estimated regression coefficients, hypothesis tests, confidence intervals and measures of model fit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assess </a:t>
            </a:r>
            <a:r>
              <a:rPr lang="en-GB" sz="1700" dirty="0"/>
              <a:t>the validity of econometric models using graphical and statistical diagnostic tests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recognise </a:t>
            </a:r>
            <a:r>
              <a:rPr lang="en-GB" sz="1700" dirty="0"/>
              <a:t>common violations of OLS assumptions, including multicollinearity, </a:t>
            </a:r>
            <a:r>
              <a:rPr lang="en-GB" sz="1700" dirty="0" err="1"/>
              <a:t>heteroskedasticity</a:t>
            </a:r>
            <a:r>
              <a:rPr lang="en-GB" sz="1700" dirty="0"/>
              <a:t>, endogeneity and spatial autocorrelation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estimate </a:t>
            </a:r>
            <a:r>
              <a:rPr lang="en-GB" sz="1700" dirty="0"/>
              <a:t>alternative regression models including Weighted Least Squares (WLS), Robust Regression (M-estimation), Instrumental Variable / GMM estimation, Quantile Regression and introduce Spatial Econometric Models</a:t>
            </a:r>
            <a:r>
              <a:rPr lang="en-GB" sz="1700" dirty="0" smtClean="0"/>
              <a:t>;</a:t>
            </a:r>
            <a:endParaRPr lang="sk-SK" sz="1700" dirty="0" smtClean="0"/>
          </a:p>
          <a:p>
            <a:r>
              <a:rPr lang="en-GB" sz="1700" dirty="0" smtClean="0"/>
              <a:t>interpret </a:t>
            </a:r>
            <a:r>
              <a:rPr lang="en-GB" sz="1700" dirty="0"/>
              <a:t>econometric results for policy analysis and support evidence-based </a:t>
            </a:r>
            <a:r>
              <a:rPr lang="en-GB" sz="1700" dirty="0" smtClean="0"/>
              <a:t>decision-making.</a:t>
            </a:r>
            <a:endParaRPr lang="en-GB" sz="1700" dirty="0" smtClean="0"/>
          </a:p>
        </p:txBody>
      </p:sp>
    </p:spTree>
    <p:extLst>
      <p:ext uri="{BB962C8B-B14F-4D97-AF65-F5344CB8AC3E}">
        <p14:creationId xmlns:p14="http://schemas.microsoft.com/office/powerpoint/2010/main" val="61098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MOTIVATION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just">
              <a:buNone/>
            </a:pPr>
            <a:endParaRPr lang="en-GB" b="1" dirty="0" smtClean="0"/>
          </a:p>
          <a:p>
            <a:pPr marL="0" indent="0" algn="just">
              <a:buNone/>
            </a:pPr>
            <a:r>
              <a:rPr lang="en-GB" b="1" dirty="0" smtClean="0"/>
              <a:t>Key Question </a:t>
            </a:r>
            <a:r>
              <a:rPr lang="en-GB" sz="1800" b="1" dirty="0" smtClean="0"/>
              <a:t>– </a:t>
            </a:r>
            <a:r>
              <a:rPr lang="en-GB" sz="1800" dirty="0" smtClean="0"/>
              <a:t>How can cross-sectional econometric models help transform regional data into evidence for policy-making?</a:t>
            </a:r>
          </a:p>
          <a:p>
            <a:pPr marL="0" indent="0" algn="just">
              <a:buNone/>
            </a:pPr>
            <a:endParaRPr lang="en-GB" sz="1800" dirty="0" smtClean="0"/>
          </a:p>
          <a:p>
            <a:pPr marL="0" indent="0" algn="just">
              <a:buNone/>
            </a:pPr>
            <a:endParaRPr lang="en-GB" sz="1800" dirty="0" smtClean="0"/>
          </a:p>
          <a:p>
            <a:pPr marL="0" indent="0" algn="just">
              <a:buNone/>
            </a:pPr>
            <a:r>
              <a:rPr lang="en-GB" b="1" dirty="0" smtClean="0"/>
              <a:t>Practical Problem</a:t>
            </a:r>
            <a:r>
              <a:rPr lang="en-GB" sz="1800" dirty="0" smtClean="0"/>
              <a:t> – Estimation and interpretation of the regional unemployment dynamics using real Eurostat NUTS 2 data in R. Comparison of several estimation techniques and their suitability for official statistics. 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608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INTRODUCTION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GB" b="1" dirty="0"/>
                  <a:t>What are Cross-Sectional Data?</a:t>
                </a:r>
              </a:p>
              <a:p>
                <a:pPr algn="just"/>
                <a:r>
                  <a:rPr lang="en-GB" sz="1800" dirty="0"/>
                  <a:t>Cross-sectional data contain observations on multiple statistical units measured at a single point in time.</a:t>
                </a:r>
              </a:p>
              <a:p>
                <a:pPr marL="0" indent="0" algn="just">
                  <a:buNone/>
                </a:pPr>
                <a:endParaRPr lang="en-GB" b="1" dirty="0"/>
              </a:p>
              <a:p>
                <a:pPr marL="0" indent="0" algn="just">
                  <a:buNone/>
                </a:pPr>
                <a:r>
                  <a:rPr lang="en-GB" b="1" dirty="0"/>
                  <a:t>Examples in official statistics:</a:t>
                </a:r>
                <a:endParaRPr lang="en-GB" dirty="0"/>
              </a:p>
              <a:p>
                <a:pPr algn="just"/>
                <a:r>
                  <a:rPr lang="en-GB" sz="1800" dirty="0"/>
                  <a:t>Households observed in a Household Budget Survey </a:t>
                </a:r>
              </a:p>
              <a:p>
                <a:pPr algn="just"/>
                <a:r>
                  <a:rPr lang="en-GB" sz="1800" dirty="0"/>
                  <a:t>Enterprises observed in Structural Business Statistics </a:t>
                </a:r>
              </a:p>
              <a:p>
                <a:pPr algn="just"/>
                <a:r>
                  <a:rPr lang="en-GB" sz="1800" dirty="0"/>
                  <a:t>Individuals observed in Labour Force Surveys</a:t>
                </a:r>
              </a:p>
              <a:p>
                <a:pPr algn="just"/>
                <a:r>
                  <a:rPr lang="en-GB" sz="1800" dirty="0"/>
                  <a:t>Regions observed in Regional Accounts </a:t>
                </a:r>
                <a:endParaRPr lang="en-GB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  <a:p>
                <a:pPr marL="0" indent="0" algn="just">
                  <a:buNone/>
                </a:pPr>
                <a:r>
                  <a:rPr lang="en-GB" sz="1800" dirty="0"/>
                  <a:t>where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800" dirty="0"/>
                  <a:t> denotes the number of observed units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1453" r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93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WHY DO WE ANALYSE CROSS-SECTIONAL DATA?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GB" b="1" noProof="0" dirty="0"/>
                  <a:t>Cross-sectional econometrics </a:t>
                </a:r>
                <a:r>
                  <a:rPr lang="en-GB" noProof="0" dirty="0"/>
                  <a:t>helps us:</a:t>
                </a:r>
              </a:p>
              <a:p>
                <a:pPr algn="just"/>
                <a:r>
                  <a:rPr lang="en-GB" sz="1800" noProof="0" dirty="0"/>
                  <a:t>Identify relationships between economic variables</a:t>
                </a:r>
              </a:p>
              <a:p>
                <a:pPr algn="just"/>
                <a:r>
                  <a:rPr lang="en-GB" sz="1800" noProof="0" dirty="0"/>
                  <a:t>Quantify the impact of explanatory factors</a:t>
                </a:r>
              </a:p>
              <a:p>
                <a:pPr algn="just"/>
                <a:r>
                  <a:rPr lang="en-GB" sz="1800" noProof="0" dirty="0"/>
                  <a:t>Test economic hypotheses</a:t>
                </a:r>
              </a:p>
              <a:p>
                <a:pPr algn="just"/>
                <a:r>
                  <a:rPr lang="en-GB" sz="1800" noProof="0" dirty="0"/>
                  <a:t>Produce evidence for policy-making and official </a:t>
                </a:r>
                <a:r>
                  <a:rPr lang="en-GB" sz="1800" noProof="0" dirty="0" smtClean="0"/>
                  <a:t>statistics</a:t>
                </a:r>
                <a:endParaRPr lang="en-GB" b="1" noProof="0" dirty="0"/>
              </a:p>
              <a:p>
                <a:pPr marL="0" indent="0" algn="just">
                  <a:buNone/>
                </a:pPr>
                <a:r>
                  <a:rPr lang="en-GB" b="1" noProof="0" dirty="0"/>
                  <a:t>Examples:</a:t>
                </a:r>
                <a:endParaRPr lang="en-GB" noProof="0" dirty="0"/>
              </a:p>
              <a:p>
                <a:pPr algn="just"/>
                <a:r>
                  <a:rPr lang="en-GB" sz="1800" noProof="0" dirty="0"/>
                  <a:t>Determinants of household </a:t>
                </a:r>
                <a:r>
                  <a:rPr lang="en-GB" sz="1800" noProof="0" dirty="0" smtClean="0"/>
                  <a:t>consumption</a:t>
                </a:r>
                <a:endParaRPr lang="sk-SK" sz="1800" noProof="0" dirty="0" smtClean="0"/>
              </a:p>
              <a:p>
                <a:pPr algn="just"/>
                <a:r>
                  <a:rPr lang="en-GB" sz="1800" dirty="0"/>
                  <a:t>Drivers of firm productivity</a:t>
                </a:r>
                <a:endParaRPr lang="en-GB" sz="1800" noProof="0" dirty="0"/>
              </a:p>
              <a:p>
                <a:pPr algn="just"/>
                <a:r>
                  <a:rPr lang="en-GB" sz="1800" noProof="0" dirty="0"/>
                  <a:t>Income inequality analysis</a:t>
                </a:r>
              </a:p>
              <a:p>
                <a:pPr algn="just"/>
                <a:r>
                  <a:rPr lang="en-GB" sz="1800" noProof="0" dirty="0"/>
                  <a:t>Factors affecting regional unemployment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sz="1800" i="1" noProof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GB" sz="18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sz="1800" noProof="0" dirty="0"/>
              </a:p>
              <a:p>
                <a:pPr marL="0" indent="0" algn="just">
                  <a:buNone/>
                </a:pPr>
                <a:r>
                  <a:rPr lang="en-GB" sz="1800" noProof="0" dirty="0"/>
                  <a:t>where </a:t>
                </a:r>
                <a14:m>
                  <m:oMath xmlns:m="http://schemas.openxmlformats.org/officeDocument/2006/math">
                    <m:r>
                      <a:rPr lang="en-GB" sz="1800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800" noProof="0" dirty="0"/>
                  <a:t> denotes the number of determinants / factors / explanatory variables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1453" b="-98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40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</a:t>
            </a:r>
            <a:r>
              <a:rPr lang="sk-SK" dirty="0"/>
              <a:t>ATA IN</a:t>
            </a:r>
            <a:r>
              <a:rPr lang="en-GB" dirty="0"/>
              <a:t>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GB" b="1" dirty="0" smtClean="0"/>
              <a:t>The automated data download</a:t>
            </a:r>
            <a:r>
              <a:rPr lang="en-GB" dirty="0" smtClean="0"/>
              <a:t>: many economic data sources can be accessed and downloaded through R packages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Examples:</a:t>
            </a:r>
          </a:p>
          <a:p>
            <a:pPr algn="just"/>
            <a:endParaRPr lang="en-GB" dirty="0" smtClean="0"/>
          </a:p>
          <a:p>
            <a:pPr lvl="1" algn="just"/>
            <a:r>
              <a:rPr lang="en-GB" sz="2000" b="1" dirty="0" smtClean="0"/>
              <a:t>Eurostat</a:t>
            </a:r>
            <a:r>
              <a:rPr lang="en-GB" sz="2000" dirty="0" smtClean="0"/>
              <a:t> – library EUROSTAT (primary source)</a:t>
            </a:r>
          </a:p>
          <a:p>
            <a:pPr algn="just"/>
            <a:endParaRPr lang="en-GB" dirty="0" smtClean="0"/>
          </a:p>
          <a:p>
            <a:pPr lvl="1" algn="just"/>
            <a:r>
              <a:rPr lang="en-GB" sz="2000" b="1" dirty="0" smtClean="0"/>
              <a:t>World Data Indicators</a:t>
            </a:r>
            <a:r>
              <a:rPr lang="en-GB" sz="2000" dirty="0" smtClean="0"/>
              <a:t> – library WDI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We collect data for analysis directly in 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75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BASIC </a:t>
            </a:r>
            <a:r>
              <a:rPr lang="sk-SK" dirty="0" smtClean="0"/>
              <a:t>ECONOMETRIC MODEL FRAMEWORK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The starting point is the linear model:</a:t>
                </a:r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:r>
                  <a:rPr lang="en-GB" dirty="0"/>
                  <a:t>w</a:t>
                </a:r>
                <a:r>
                  <a:rPr lang="en-GB" noProof="0" dirty="0" smtClean="0"/>
                  <a:t>here (bold letters denotes a matrix / vector format):</a:t>
                </a:r>
                <a:endParaRPr lang="en-GB" noProof="0" dirty="0"/>
              </a:p>
              <a:p>
                <a:pPr algn="just"/>
                <a14:m>
                  <m:oMath xmlns:m="http://schemas.openxmlformats.org/officeDocument/2006/math">
                    <m:r>
                      <a:rPr lang="en-GB" b="1" i="0" noProof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noProof="0" dirty="0" smtClean="0"/>
                  <a:t>​ </a:t>
                </a:r>
                <a:r>
                  <a:rPr lang="en-GB" noProof="0" dirty="0"/>
                  <a:t>dependent </a:t>
                </a:r>
                <a:r>
                  <a:rPr lang="en-GB" noProof="0" dirty="0" smtClean="0"/>
                  <a:t>variable, with </a:t>
                </a:r>
                <a14:m>
                  <m:oMath xmlns:m="http://schemas.openxmlformats.org/officeDocument/2006/math"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 noProof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noProof="0" dirty="0" smtClean="0"/>
                  <a:t> number of observed units </a:t>
                </a:r>
                <a:endParaRPr lang="en-GB" noProof="0" dirty="0"/>
              </a:p>
              <a:p>
                <a:pPr algn="just"/>
                <a14:m>
                  <m:oMath xmlns:m="http://schemas.openxmlformats.org/officeDocument/2006/math">
                    <m:r>
                      <a:rPr lang="en-GB" b="1" i="0" noProof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sk-SK" b="1" i="0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k-SK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sk-SK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noProof="0" dirty="0" smtClean="0"/>
                  <a:t>​ </a:t>
                </a:r>
                <a:r>
                  <a:rPr lang="en-GB" noProof="0" dirty="0"/>
                  <a:t>explanatory </a:t>
                </a:r>
                <a:r>
                  <a:rPr lang="en-GB" noProof="0" dirty="0" smtClean="0"/>
                  <a:t>variables (determinants of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GB" noProof="0" dirty="0" smtClean="0"/>
                  <a:t>), </a:t>
                </a:r>
                <a:r>
                  <a:rPr lang="en-GB" noProof="0" dirty="0"/>
                  <a:t>for each </a:t>
                </a:r>
                <a14:m>
                  <m:oMath xmlns:m="http://schemas.openxmlformats.org/officeDocument/2006/math">
                    <m:r>
                      <a:rPr lang="en-GB" i="1" noProof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noProof="0" dirty="0"/>
                  <a:t> we observe </a:t>
                </a:r>
                <a14:m>
                  <m:oMath xmlns:m="http://schemas.openxmlformats.org/officeDocument/2006/math">
                    <m:r>
                      <a:rPr lang="en-GB" i="1" noProof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noProof="0" dirty="0"/>
                  <a:t> number of variables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GB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𝛃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noProof="0" dirty="0"/>
                  <a:t> </a:t>
                </a:r>
                <a:r>
                  <a:rPr lang="en-GB" noProof="0" dirty="0" smtClean="0"/>
                  <a:t>unknown </a:t>
                </a:r>
                <a:r>
                  <a:rPr lang="en-GB" noProof="0" dirty="0"/>
                  <a:t>regression parameters to be </a:t>
                </a:r>
                <a:r>
                  <a:rPr lang="en-GB" noProof="0" dirty="0" smtClean="0"/>
                  <a:t>estimated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noProof="0" dirty="0" smtClean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noProof="0" dirty="0"/>
                  <a:t> is an intercept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GB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𝛆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noProof="0" dirty="0"/>
                  <a:t> </a:t>
                </a:r>
                <a:r>
                  <a:rPr lang="en-GB" noProof="0" dirty="0" smtClean="0"/>
                  <a:t>random </a:t>
                </a:r>
                <a:r>
                  <a:rPr lang="en-GB" noProof="0" dirty="0"/>
                  <a:t>error term (</a:t>
                </a:r>
                <a:r>
                  <a:rPr lang="en-GB" noProof="0" dirty="0" smtClean="0"/>
                  <a:t>residuals)</a:t>
                </a:r>
                <a:r>
                  <a:rPr lang="en-GB" noProof="0" dirty="0"/>
                  <a:t> </a:t>
                </a:r>
                <a:r>
                  <a:rPr lang="en-GB" dirty="0" smtClean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noProof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38" b="-36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09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LINEAR REGRESSION IN R – DYNAMICS OF REGIONAL UNEMPLOYMENT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dirty="0" smtClean="0"/>
                  <a:t>The regression model: to explain the dynamics of the regional unemployment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 smtClean="0"/>
                  <a:t>) 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GB" dirty="0" smtClean="0"/>
                  <a:t> based on theory of „regional competitiveness“ (</a:t>
                </a:r>
                <a:r>
                  <a:rPr lang="en-GB" dirty="0" err="1" smtClean="0"/>
                  <a:t>Formánek</a:t>
                </a:r>
                <a:r>
                  <a:rPr lang="en-GB" dirty="0" smtClean="0"/>
                  <a:t>, 2019; Knížat and Furková, 2024):</a:t>
                </a:r>
                <a:endParaRPr lang="en-GB" dirty="0"/>
              </a:p>
              <a:p>
                <a:pPr algn="just"/>
                <a:endParaRPr lang="en-GB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𝑈𝑁𝐸𝑀𝑃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𝐺𝐷𝑃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𝐻𝑇𝐶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𝑆𝐸𝑅𝑉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𝐷𝐸𝑁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 smtClean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=1,…,190</m:t>
                    </m:r>
                  </m:oMath>
                </a14:m>
                <a:r>
                  <a:rPr lang="en-GB" dirty="0" smtClean="0"/>
                  <a:t> European regions (EU + candidate countries) on NUTS 2 level (Nomenclature of territorial </a:t>
                </a:r>
                <a:r>
                  <a:rPr lang="en-GB" dirty="0"/>
                  <a:t>units for statistics</a:t>
                </a:r>
                <a:r>
                  <a:rPr lang="en-GB" dirty="0" smtClean="0"/>
                  <a:t>) </a:t>
                </a:r>
              </a:p>
              <a:p>
                <a:pPr algn="just"/>
                <a:r>
                  <a:rPr lang="en-GB" dirty="0" smtClean="0"/>
                  <a:t>We </a:t>
                </a:r>
                <a:r>
                  <a:rPr lang="en-GB" dirty="0"/>
                  <a:t>use the function </a:t>
                </a:r>
                <a:r>
                  <a:rPr lang="en-GB" i="1" dirty="0"/>
                  <a:t>lm</a:t>
                </a:r>
                <a:r>
                  <a:rPr lang="en-GB" i="1" dirty="0" smtClean="0"/>
                  <a:t>()</a:t>
                </a:r>
                <a:r>
                  <a:rPr lang="en-GB" dirty="0" smtClean="0"/>
                  <a:t> to estimate </a:t>
                </a:r>
                <a14:m>
                  <m:oMath xmlns:m="http://schemas.openxmlformats.org/officeDocument/2006/math">
                    <m:r>
                      <a:rPr lang="en-GB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𝛃</m:t>
                    </m:r>
                  </m:oMath>
                </a14:m>
                <a:r>
                  <a:rPr lang="en-GB" i="1" dirty="0" smtClean="0"/>
                  <a:t> </a:t>
                </a:r>
                <a:r>
                  <a:rPr lang="en-GB" i="1" dirty="0"/>
                  <a:t>→</a:t>
                </a:r>
                <a:r>
                  <a:rPr lang="en-GB" dirty="0"/>
                  <a:t> to get help on specific functions in R, one can use a question mark, e.g. </a:t>
                </a:r>
                <a:r>
                  <a:rPr lang="en-GB" i="1" dirty="0"/>
                  <a:t>lm?</a:t>
                </a:r>
              </a:p>
              <a:p>
                <a:pPr marL="0" indent="0" algn="just">
                  <a:buNone/>
                </a:pPr>
                <a:endParaRPr lang="en-GB" dirty="0"/>
              </a:p>
              <a:p>
                <a:pPr lvl="1" algn="just"/>
                <a:r>
                  <a:rPr lang="en-GB" dirty="0"/>
                  <a:t>For </a:t>
                </a:r>
                <a:r>
                  <a:rPr lang="en-GB" dirty="0" smtClean="0"/>
                  <a:t>estimated regression </a:t>
                </a:r>
                <a:r>
                  <a:rPr lang="en-GB" dirty="0"/>
                  <a:t>outputs – we use the function </a:t>
                </a:r>
                <a:r>
                  <a:rPr lang="en-GB" i="1" dirty="0"/>
                  <a:t>summary()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471" r="-638" b="-4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49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DYNAMICS </a:t>
            </a:r>
            <a:r>
              <a:rPr lang="sk-SK" dirty="0"/>
              <a:t>OF REGIONAL </a:t>
            </a:r>
            <a:r>
              <a:rPr lang="sk-SK" dirty="0" smtClean="0"/>
              <a:t>UNEMPLOYMENT – KEY DETERMINANTS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Zástupný objekt pre obsah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832131333"/>
                  </p:ext>
                </p:extLst>
              </p:nvPr>
            </p:nvGraphicFramePr>
            <p:xfrm>
              <a:off x="3364601" y="1872184"/>
              <a:ext cx="5257800" cy="3606279"/>
            </p:xfrm>
            <a:graphic>
              <a:graphicData uri="http://schemas.openxmlformats.org/drawingml/2006/table">
                <a:tbl>
                  <a:tblPr firstCol="1">
                    <a:tableStyleId>{B301B821-A1FF-4177-AEE7-76D212191A09}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20151432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126274766"/>
                        </a:ext>
                      </a:extLst>
                    </a:gridCol>
                  </a:tblGrid>
                  <a:tr h="4168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k-SK" sz="1400" noProof="0" dirty="0" smtClean="0"/>
                            <a:t>DETERMINANTS</a:t>
                          </a:r>
                          <a:endParaRPr lang="en-GB" sz="1400" b="1" noProof="0" dirty="0"/>
                        </a:p>
                      </a:txBody>
                      <a:tcPr marL="47481" marR="47481" marT="23741" marB="23741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noProof="0" dirty="0" smtClean="0"/>
                            <a:t>DESCRIPTION</a:t>
                          </a:r>
                          <a:endParaRPr lang="en-GB" sz="1400" b="1" noProof="0" dirty="0"/>
                        </a:p>
                      </a:txBody>
                      <a:tcPr marL="47481" marR="47481" marT="23741" marB="23741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559619"/>
                      </a:ext>
                    </a:extLst>
                  </a:tr>
                  <a:tr h="692796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𝑈𝑁𝐸𝑀𝑃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7481" marR="47481" marT="23741" marB="23741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unemployment rate</a:t>
                          </a:r>
                          <a:r>
                            <a:rPr lang="sk-SK" sz="1000" noProof="0" dirty="0" smtClean="0"/>
                            <a:t> (in %)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4276826046"/>
                      </a:ext>
                    </a:extLst>
                  </a:tr>
                  <a:tr h="585627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𝐺𝐷𝑃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7481" marR="47481" marT="23741" marB="23741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gross domestic product (Euro per inhabitant)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171252168"/>
                      </a:ext>
                    </a:extLst>
                  </a:tr>
                  <a:tr h="57535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𝐻𝑇𝐶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7481" marR="47481" marT="23741" marB="23741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employment in technology and knowledge-intensive sectors – high-technology sectors (</a:t>
                          </a:r>
                          <a:r>
                            <a:rPr lang="sk-SK" sz="1000" noProof="0" dirty="0" smtClean="0"/>
                            <a:t>%</a:t>
                          </a:r>
                          <a:r>
                            <a:rPr lang="en-GB" sz="1000" noProof="0" dirty="0" smtClean="0"/>
                            <a:t> of total employment)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4245776249"/>
                      </a:ext>
                    </a:extLst>
                  </a:tr>
                  <a:tr h="719191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𝑆𝐸𝑅𝑉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7481" marR="47481" marT="23741" marB="23741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employment in technology and knowledge-intensive sectors</a:t>
                          </a:r>
                          <a:r>
                            <a:rPr lang="sk-SK" sz="1000" baseline="0" noProof="0" dirty="0" smtClean="0"/>
                            <a:t> – </a:t>
                          </a:r>
                          <a:r>
                            <a:rPr lang="en-GB" sz="1000" noProof="0" dirty="0" smtClean="0"/>
                            <a:t>services (</a:t>
                          </a:r>
                          <a:r>
                            <a:rPr lang="sk-SK" sz="1000" noProof="0" dirty="0" smtClean="0"/>
                            <a:t>%</a:t>
                          </a:r>
                          <a:r>
                            <a:rPr lang="en-GB" sz="1000" noProof="0" dirty="0" smtClean="0"/>
                            <a:t> of total employment)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3185606521"/>
                      </a:ext>
                    </a:extLst>
                  </a:tr>
                  <a:tr h="61645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noProof="0" smtClean="0">
                                    <a:latin typeface="Cambria Math" panose="02040503050406030204" pitchFamily="18" charset="0"/>
                                  </a:rPr>
                                  <m:t>𝐷𝐸𝑁</m:t>
                                </m:r>
                              </m:oMath>
                            </m:oMathPara>
                          </a14:m>
                          <a:endParaRPr lang="en-GB" sz="1400" b="0" noProof="0" dirty="0"/>
                        </a:p>
                      </a:txBody>
                      <a:tcPr marL="47481" marR="47481" marT="23741" marB="23741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population density (persons per square kilometre)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1504398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Zástupný objekt pre obsah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832131333"/>
                  </p:ext>
                </p:extLst>
              </p:nvPr>
            </p:nvGraphicFramePr>
            <p:xfrm>
              <a:off x="3364601" y="1872184"/>
              <a:ext cx="5257800" cy="3606279"/>
            </p:xfrm>
            <a:graphic>
              <a:graphicData uri="http://schemas.openxmlformats.org/drawingml/2006/table">
                <a:tbl>
                  <a:tblPr firstCol="1">
                    <a:tableStyleId>{B301B821-A1FF-4177-AEE7-76D212191A09}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20151432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126274766"/>
                        </a:ext>
                      </a:extLst>
                    </a:gridCol>
                  </a:tblGrid>
                  <a:tr h="4168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k-SK" sz="1400" noProof="0" dirty="0" smtClean="0"/>
                            <a:t>DETERMINANTS</a:t>
                          </a:r>
                          <a:endParaRPr lang="en-GB" sz="1400" b="1" noProof="0" dirty="0"/>
                        </a:p>
                      </a:txBody>
                      <a:tcPr marL="47481" marR="47481" marT="23741" marB="23741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noProof="0" dirty="0" smtClean="0"/>
                            <a:t>DESCRIPTION</a:t>
                          </a:r>
                          <a:endParaRPr lang="en-GB" sz="1400" b="1" noProof="0" dirty="0"/>
                        </a:p>
                      </a:txBody>
                      <a:tcPr marL="47481" marR="47481" marT="23741" marB="23741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5559619"/>
                      </a:ext>
                    </a:extLst>
                  </a:tr>
                  <a:tr h="6927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81" marR="47481" marT="23741" marB="23741" anchor="ctr">
                        <a:blipFill>
                          <a:blip r:embed="rId2"/>
                          <a:stretch>
                            <a:fillRect l="-231" t="-60526" r="-100463" b="-361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unemployment </a:t>
                          </a:r>
                          <a:r>
                            <a:rPr lang="en-GB" sz="1000" noProof="0" dirty="0" smtClean="0"/>
                            <a:t>rate</a:t>
                          </a:r>
                          <a:r>
                            <a:rPr lang="sk-SK" sz="1000" noProof="0" dirty="0" smtClean="0"/>
                            <a:t> (in %)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4276826046"/>
                      </a:ext>
                    </a:extLst>
                  </a:tr>
                  <a:tr h="5856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81" marR="47481" marT="23741" marB="23741" anchor="ctr">
                        <a:blipFill>
                          <a:blip r:embed="rId2"/>
                          <a:stretch>
                            <a:fillRect l="-231" t="-190625" r="-100463" b="-3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gross domestic product (Euro per inhabitant)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171252168"/>
                      </a:ext>
                    </a:extLst>
                  </a:tr>
                  <a:tr h="575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81" marR="47481" marT="23741" marB="23741" anchor="ctr">
                        <a:blipFill>
                          <a:blip r:embed="rId2"/>
                          <a:stretch>
                            <a:fillRect l="-231" t="-293684" r="-100463" b="-23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employment in technology and knowledge-intensive sectors – high-technology sectors </a:t>
                          </a:r>
                          <a:r>
                            <a:rPr lang="en-GB" sz="1000" noProof="0" dirty="0" smtClean="0"/>
                            <a:t>(</a:t>
                          </a:r>
                          <a:r>
                            <a:rPr lang="sk-SK" sz="1000" noProof="0" dirty="0" smtClean="0"/>
                            <a:t>%</a:t>
                          </a:r>
                          <a:r>
                            <a:rPr lang="en-GB" sz="1000" noProof="0" dirty="0" smtClean="0"/>
                            <a:t> </a:t>
                          </a:r>
                          <a:r>
                            <a:rPr lang="en-GB" sz="1000" noProof="0" dirty="0" smtClean="0"/>
                            <a:t>of total employment</a:t>
                          </a:r>
                          <a:r>
                            <a:rPr lang="en-GB" sz="1000" noProof="0" dirty="0" smtClean="0"/>
                            <a:t>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4245776249"/>
                      </a:ext>
                    </a:extLst>
                  </a:tr>
                  <a:tr h="7191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81" marR="47481" marT="23741" marB="23741" anchor="ctr">
                        <a:blipFill>
                          <a:blip r:embed="rId2"/>
                          <a:stretch>
                            <a:fillRect l="-231" t="-316949" r="-100463" b="-872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employment in technology and knowledge-intensive sectors</a:t>
                          </a:r>
                          <a:r>
                            <a:rPr lang="sk-SK" sz="1000" baseline="0" noProof="0" dirty="0" smtClean="0"/>
                            <a:t> – </a:t>
                          </a:r>
                          <a:r>
                            <a:rPr lang="en-GB" sz="1000" noProof="0" dirty="0" smtClean="0"/>
                            <a:t>services </a:t>
                          </a:r>
                          <a:r>
                            <a:rPr lang="en-GB" sz="1000" noProof="0" dirty="0" smtClean="0"/>
                            <a:t>(</a:t>
                          </a:r>
                          <a:r>
                            <a:rPr lang="sk-SK" sz="1000" noProof="0" dirty="0" smtClean="0"/>
                            <a:t>%</a:t>
                          </a:r>
                          <a:r>
                            <a:rPr lang="en-GB" sz="1000" noProof="0" dirty="0" smtClean="0"/>
                            <a:t> </a:t>
                          </a:r>
                          <a:r>
                            <a:rPr lang="en-GB" sz="1000" noProof="0" dirty="0" smtClean="0"/>
                            <a:t>of total employment)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3185606521"/>
                      </a:ext>
                    </a:extLst>
                  </a:tr>
                  <a:tr h="616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481" marR="47481" marT="23741" marB="23741" anchor="ctr">
                        <a:blipFill>
                          <a:blip r:embed="rId2"/>
                          <a:stretch>
                            <a:fillRect l="-231" t="-487129" r="-100463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000" noProof="0" dirty="0" smtClean="0"/>
                            <a:t>population density (persons per square kilometre)</a:t>
                          </a:r>
                          <a:endParaRPr lang="en-GB" sz="1000" noProof="0" dirty="0"/>
                        </a:p>
                      </a:txBody>
                      <a:tcPr marL="47481" marR="47481" marT="23741" marB="23741" anchor="ctr"/>
                    </a:tc>
                    <a:extLst>
                      <a:ext uri="{0D108BD9-81ED-4DB2-BD59-A6C34878D82A}">
                        <a16:rowId xmlns:a16="http://schemas.microsoft.com/office/drawing/2014/main" val="15043983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22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BASIC ESTIMATION OF ECONOMETRIC 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Ordinary least squares method (OLS)</a:t>
                </a:r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𝛃</m:t>
                          </m:r>
                        </m:e>
                      </m:acc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p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GB" b="1" noProof="0" dirty="0"/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:r>
                  <a:rPr lang="en-GB" noProof="0" dirty="0" smtClean="0"/>
                  <a:t>Assumptions:</a:t>
                </a:r>
                <a:endParaRPr lang="en-GB" noProof="0" dirty="0"/>
              </a:p>
              <a:p>
                <a:pPr algn="just"/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b="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GB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independently and identically distributed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𝛆</m:t>
                    </m:r>
                    <m:r>
                      <a:rPr lang="en-GB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normally distributed with mean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constant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𝛆</m:t>
                        </m:r>
                      </m:e>
                    </m:d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GB" i="1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𝛆</m:t>
                        </m:r>
                      </m:e>
                    </m:d>
                    <m:r>
                      <a:rPr lang="en-GB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noProof="0" dirty="0" smtClean="0"/>
                  <a:t>​ </a:t>
                </a:r>
                <a:r>
                  <a:rPr lang="en-GB" noProof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explanatory 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variables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not correlated with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 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𝛆</m:t>
                    </m:r>
                  </m:oMath>
                </a14:m>
                <a:endParaRPr lang="en-GB" noProof="0" dirty="0" smtClean="0"/>
              </a:p>
              <a:p>
                <a:pPr algn="just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sk-SK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</a:t>
                </a:r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correlation across residuals</a:t>
                </a:r>
                <a:endParaRPr lang="en-GB" noProof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73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ESTIMATION METHODS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6" name="Zástupný objekt pre obsah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57558646"/>
              </p:ext>
            </p:extLst>
          </p:nvPr>
        </p:nvGraphicFramePr>
        <p:xfrm>
          <a:off x="970722" y="1674638"/>
          <a:ext cx="10515600" cy="4340974"/>
        </p:xfrm>
        <a:graphic>
          <a:graphicData uri="http://schemas.openxmlformats.org/drawingml/2006/table">
            <a:tbl>
              <a:tblPr firstCol="1"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015143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62747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92418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45994523"/>
                    </a:ext>
                  </a:extLst>
                </a:gridCol>
              </a:tblGrid>
              <a:tr h="416863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MODEL</a:t>
                      </a:r>
                      <a:endParaRPr lang="en-GB" sz="1400" b="1" noProof="0" dirty="0"/>
                    </a:p>
                  </a:txBody>
                  <a:tcPr marL="47481" marR="47481" marT="23741" marB="2374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ESTIMATION METHOD</a:t>
                      </a:r>
                      <a:endParaRPr lang="en-GB" sz="1400" b="1" noProof="0" dirty="0"/>
                    </a:p>
                  </a:txBody>
                  <a:tcPr marL="47481" marR="47481" marT="23741" marB="2374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DESCRIPTION</a:t>
                      </a:r>
                      <a:endParaRPr lang="en-GB" sz="1400" b="1" noProof="0" dirty="0"/>
                    </a:p>
                  </a:txBody>
                  <a:tcPr marL="47481" marR="47481" marT="23741" marB="2374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ADVANTAGE</a:t>
                      </a:r>
                      <a:endParaRPr lang="en-GB" sz="1400" b="1" noProof="0" dirty="0"/>
                    </a:p>
                  </a:txBody>
                  <a:tcPr marL="47481" marR="47481" marT="23741" marB="2374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559619"/>
                  </a:ext>
                </a:extLst>
              </a:tr>
              <a:tr h="692796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Linear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OLS (Ordinary Least Squares)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Explain regional differences in economic performance using education, investment, innovation, etc.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Simple interpretation and benchmarking</a:t>
                      </a:r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4276826046"/>
                  </a:ext>
                </a:extLst>
              </a:tr>
              <a:tr h="585627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Weighted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WLS (Weighted Least Squares)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Give larger regions greater influence using population or employment weights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Reflects differing statistical importance of regions</a:t>
                      </a:r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171252168"/>
                  </a:ext>
                </a:extLst>
              </a:tr>
              <a:tr h="575352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Robust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 smtClean="0"/>
                        <a:t>M-estimation</a:t>
                      </a:r>
                      <a:r>
                        <a:rPr lang="sk-SK" sz="1000" baseline="0" noProof="0" dirty="0" smtClean="0"/>
                        <a:t>:</a:t>
                      </a:r>
                      <a:r>
                        <a:rPr lang="en-GB" sz="1000" baseline="0" noProof="0" dirty="0" smtClean="0"/>
                        <a:t> </a:t>
                      </a:r>
                      <a:r>
                        <a:rPr lang="en-GB" sz="1000" noProof="0" dirty="0"/>
                        <a:t>Huber‘s Loss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Analysis with influential observations such as capital regions (e.g. Bratislava, Vienna)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Reduces impact of outliers</a:t>
                      </a:r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4245776249"/>
                  </a:ext>
                </a:extLst>
              </a:tr>
              <a:tr h="719191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„Weak“ Linear </a:t>
                      </a:r>
                    </a:p>
                    <a:p>
                      <a:r>
                        <a:rPr lang="en-GB" sz="1400" noProof="0" dirty="0" smtClean="0"/>
                        <a:t>(Instrumental</a:t>
                      </a:r>
                      <a:r>
                        <a:rPr lang="en-GB" sz="1400" baseline="0" noProof="0" dirty="0" smtClean="0"/>
                        <a:t> variables)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 smtClean="0"/>
                        <a:t>Generalised</a:t>
                      </a:r>
                      <a:r>
                        <a:rPr lang="en-GB" sz="1000" baseline="0" noProof="0" dirty="0" smtClean="0"/>
                        <a:t> </a:t>
                      </a:r>
                      <a:r>
                        <a:rPr lang="en-GB" sz="1000" noProof="0" dirty="0" smtClean="0"/>
                        <a:t>Method of Moments (GMM)</a:t>
                      </a:r>
                      <a:endParaRPr lang="en-GB" sz="10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 smtClean="0"/>
                        <a:t>Used when explanatory variables are endogenous or error terms exhibit </a:t>
                      </a:r>
                      <a:r>
                        <a:rPr lang="en-GB" sz="1000" noProof="0" dirty="0" err="1" smtClean="0"/>
                        <a:t>heteroskedasticity</a:t>
                      </a:r>
                      <a:r>
                        <a:rPr lang="en-GB" sz="1000" noProof="0" dirty="0" smtClean="0"/>
                        <a:t>.</a:t>
                      </a:r>
                      <a:endParaRPr lang="en-GB" sz="10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 smtClean="0"/>
                        <a:t>Produces consistent estimates under weaker assumptions than OLS; accommodates </a:t>
                      </a:r>
                      <a:r>
                        <a:rPr lang="en-GB" sz="1000" noProof="0" dirty="0" err="1" smtClean="0"/>
                        <a:t>heteroskedasticity</a:t>
                      </a:r>
                      <a:r>
                        <a:rPr lang="en-GB" sz="1000" noProof="0" dirty="0" smtClean="0"/>
                        <a:t> and endogeneity through instrumental variables.</a:t>
                      </a:r>
                      <a:endParaRPr lang="en-GB" sz="1000" noProof="0" dirty="0"/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3185606521"/>
                  </a:ext>
                </a:extLst>
              </a:tr>
              <a:tr h="616450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Quantile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Quantile Estimation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Assess whether determinants differ between less-developed and highly-developed regions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Captures heterogeneous effects across the distribution</a:t>
                      </a:r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1504398309"/>
                  </a:ext>
                </a:extLst>
              </a:tr>
              <a:tr h="734695">
                <a:tc>
                  <a:txBody>
                    <a:bodyPr/>
                    <a:lstStyle/>
                    <a:p>
                      <a:r>
                        <a:rPr lang="en-GB" sz="1400" noProof="0" dirty="0" smtClean="0"/>
                        <a:t>Spatial (SAR, SEM</a:t>
                      </a:r>
                      <a:r>
                        <a:rPr lang="en-GB" sz="1400" baseline="0" noProof="0" dirty="0" smtClean="0"/>
                        <a:t> etc.</a:t>
                      </a:r>
                      <a:r>
                        <a:rPr lang="en-GB" sz="1400" noProof="0" dirty="0" smtClean="0"/>
                        <a:t>)</a:t>
                      </a:r>
                      <a:endParaRPr lang="en-GB" sz="14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Maximum </a:t>
                      </a:r>
                      <a:r>
                        <a:rPr lang="en-GB" sz="1000" noProof="0" dirty="0" smtClean="0"/>
                        <a:t>Likelihood </a:t>
                      </a:r>
                      <a:endParaRPr lang="en-GB" sz="1000" noProof="0" dirty="0"/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noProof="0" dirty="0"/>
                        <a:t>Measure spillover effects between neighbouring regions; Account for omitted spatially correlated factors; Explore whether relationships vary across geographic space</a:t>
                      </a:r>
                    </a:p>
                  </a:txBody>
                  <a:tcPr marL="47481" marR="47481" marT="23741" marB="2374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noProof="0" dirty="0"/>
                        <a:t>Explicitly models regional interdependence; Corrects for spatial autocorrelation in residuals; Allows coefficients to differ by location</a:t>
                      </a:r>
                    </a:p>
                  </a:txBody>
                  <a:tcPr marL="47481" marR="47481" marT="23741" marB="23741" anchor="ctr"/>
                </a:tc>
                <a:extLst>
                  <a:ext uri="{0D108BD9-81ED-4DB2-BD59-A6C34878D82A}">
                    <a16:rowId xmlns:a16="http://schemas.microsoft.com/office/drawing/2014/main" val="62813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04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INTERPRETATION OF ESTIMATED MODEL‘S OUTPUTS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sz="1800" dirty="0" smtClean="0"/>
                  <a:t>We interpret the output(s) of estimated model in R (from </a:t>
                </a:r>
                <a:r>
                  <a:rPr lang="en-GB" sz="1800" i="1" dirty="0" smtClean="0"/>
                  <a:t>summary()</a:t>
                </a:r>
                <a:r>
                  <a:rPr lang="en-GB" sz="1800" dirty="0" smtClean="0"/>
                  <a:t> function)</a:t>
                </a:r>
              </a:p>
              <a:p>
                <a:pPr lvl="1" algn="just"/>
                <a:r>
                  <a:rPr lang="en-GB" sz="1600" dirty="0" smtClean="0">
                    <a:ea typeface="Cambria Math" panose="02040503050406030204" pitchFamily="18" charset="0"/>
                  </a:rPr>
                  <a:t>The overall model‘s hypothesis, F-statistics and corresponding p-values  </a:t>
                </a:r>
              </a:p>
              <a:p>
                <a:pPr lvl="1" algn="just"/>
                <a:r>
                  <a:rPr lang="en-GB" sz="1600" dirty="0" smtClean="0">
                    <a:ea typeface="Cambria Math" panose="02040503050406030204" pitchFamily="18" charset="0"/>
                  </a:rPr>
                  <a:t>The estimated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GB" sz="1600" dirty="0" smtClean="0">
                    <a:ea typeface="Cambria Math" panose="02040503050406030204" pitchFamily="18" charset="0"/>
                  </a:rPr>
                  <a:t>: the hypothesis test, t-statistics</a:t>
                </a:r>
                <a:r>
                  <a:rPr lang="en-GB" sz="1600" dirty="0">
                    <a:ea typeface="Cambria Math" panose="02040503050406030204" pitchFamily="18" charset="0"/>
                  </a:rPr>
                  <a:t> </a:t>
                </a:r>
                <a:r>
                  <a:rPr lang="en-GB" sz="1600" dirty="0" smtClean="0">
                    <a:ea typeface="Cambria Math" panose="02040503050406030204" pitchFamily="18" charset="0"/>
                  </a:rPr>
                  <a:t>and corresponding p-values, standard errors (confidence intervals)</a:t>
                </a:r>
              </a:p>
              <a:p>
                <a:pPr lvl="1" algn="just"/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 smtClean="0"/>
                  <a:t>: the coefficient of the model‘s determination </a:t>
                </a:r>
                <a:r>
                  <a:rPr lang="en-GB" sz="1600" dirty="0" smtClean="0">
                    <a:cs typeface="Times New Roman" panose="02020603050405020304" pitchFamily="18" charset="0"/>
                  </a:rPr>
                  <a:t>→ how much variability in </a:t>
                </a:r>
                <a14:m>
                  <m:oMath xmlns:m="http://schemas.openxmlformats.org/officeDocument/2006/math">
                    <m:r>
                      <a:rPr lang="en-GB" sz="1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GB" sz="1600" dirty="0" smtClean="0">
                    <a:cs typeface="Times New Roman" panose="02020603050405020304" pitchFamily="18" charset="0"/>
                  </a:rPr>
                  <a:t> is explained by </a:t>
                </a:r>
                <a14:m>
                  <m:oMath xmlns:m="http://schemas.openxmlformats.org/officeDocument/2006/math">
                    <m:r>
                      <a:rPr lang="en-GB" sz="1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</m:oMath>
                </a14:m>
                <a:endParaRPr lang="en-GB" sz="1600" dirty="0" smtClean="0"/>
              </a:p>
              <a:p>
                <a:pPr lvl="1" algn="just"/>
                <a:endParaRPr lang="en-GB" sz="1600" dirty="0" smtClean="0"/>
              </a:p>
              <a:p>
                <a:pPr algn="just"/>
                <a:r>
                  <a:rPr lang="en-GB" sz="1800" dirty="0" smtClean="0"/>
                  <a:t>The interpretation of estimated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GB" sz="1800" dirty="0" smtClean="0"/>
                  <a:t> </a:t>
                </a:r>
                <a:r>
                  <a:rPr lang="en-GB" sz="1800" dirty="0">
                    <a:cs typeface="Times New Roman" panose="02020603050405020304" pitchFamily="18" charset="0"/>
                  </a:rPr>
                  <a:t>→ </a:t>
                </a:r>
                <a:r>
                  <a:rPr lang="en-GB" sz="1800" dirty="0" smtClean="0">
                    <a:cs typeface="Times New Roman" panose="02020603050405020304" pitchFamily="18" charset="0"/>
                  </a:rPr>
                  <a:t>since HTC and SERV (also the response variable UNEMP) are in percentages</a:t>
                </a:r>
                <a:endParaRPr lang="en-GB" sz="1800" dirty="0"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</a:t>
                </a:r>
                <a:r>
                  <a:rPr lang="en-GB" sz="1600" dirty="0">
                    <a:cs typeface="Times New Roman" panose="02020603050405020304" pitchFamily="18" charset="0"/>
                  </a:rPr>
                  <a:t>→ the </a:t>
                </a:r>
                <a:r>
                  <a:rPr lang="en-GB" sz="1600" dirty="0"/>
                  <a:t>increase of 1% in employment in the high-tech sector is associated with an approximately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​percentage-point change in the unemployment rate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600" dirty="0"/>
                  <a:t> </a:t>
                </a:r>
                <a:r>
                  <a:rPr lang="en-GB" sz="1600" dirty="0">
                    <a:cs typeface="Times New Roman" panose="02020603050405020304" pitchFamily="18" charset="0"/>
                  </a:rPr>
                  <a:t>→ the </a:t>
                </a:r>
                <a:r>
                  <a:rPr lang="en-GB" sz="1600" dirty="0"/>
                  <a:t>increase of 1% in employment in the service sector is associated with an approximately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600" dirty="0"/>
                  <a:t> ​percentage-point change in the unemployment </a:t>
                </a:r>
                <a:r>
                  <a:rPr lang="en-GB" sz="1600" dirty="0" smtClean="0"/>
                  <a:t>rate</a:t>
                </a:r>
              </a:p>
              <a:p>
                <a:pPr lvl="1" algn="just"/>
                <a:endParaRPr lang="en-GB" sz="1600" dirty="0"/>
              </a:p>
              <a:p>
                <a:pPr algn="just"/>
                <a:r>
                  <a:rPr lang="en-GB" sz="1800" dirty="0" smtClean="0"/>
                  <a:t>The interpretation of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1800" dirty="0" smtClean="0"/>
                  <a:t> for decision-making is not intuitive </a:t>
                </a:r>
                <a:r>
                  <a:rPr lang="en-GB" sz="1800" dirty="0" smtClean="0">
                    <a:latin typeface="+mn-lt"/>
                    <a:cs typeface="Times New Roman" panose="02020603050405020304" pitchFamily="18" charset="0"/>
                  </a:rPr>
                  <a:t>→ what would you do ?</a:t>
                </a:r>
                <a:endParaRPr lang="en-GB" sz="1800" dirty="0" smtClean="0">
                  <a:latin typeface="+mn-lt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1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907" r="-522" b="-172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132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 </a:t>
            </a:r>
            <a:r>
              <a:rPr lang="sk-SK" dirty="0" smtClean="0"/>
              <a:t>DIAGNOSTICS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 smtClean="0"/>
              <a:t>The function </a:t>
            </a:r>
            <a:r>
              <a:rPr lang="en-GB" i="1" dirty="0" smtClean="0"/>
              <a:t>plot()</a:t>
            </a:r>
            <a:r>
              <a:rPr lang="en-GB" dirty="0" smtClean="0"/>
              <a:t> of the estimated econometric model in R outputs 4 graphs:</a:t>
            </a:r>
          </a:p>
          <a:p>
            <a:pPr algn="just"/>
            <a:endParaRPr lang="en-GB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en-GB" sz="1800" dirty="0" smtClean="0"/>
              <a:t>Residuals vs Fitted responses. Purpose: ✔Linearity ✔Homoscedasticity. Good model: random </a:t>
            </a:r>
            <a:r>
              <a:rPr lang="sk-SK" sz="1800" dirty="0" err="1" smtClean="0"/>
              <a:t>scatter</a:t>
            </a:r>
            <a:r>
              <a:rPr lang="en-GB" sz="1800" dirty="0" smtClean="0"/>
              <a:t>, no pattern. Problems: funnel → </a:t>
            </a:r>
            <a:r>
              <a:rPr lang="en-GB" sz="1800" dirty="0" err="1" smtClean="0"/>
              <a:t>heteroskedasticity</a:t>
            </a:r>
            <a:r>
              <a:rPr lang="en-GB" sz="1800" dirty="0" smtClean="0"/>
              <a:t>; curve → nonlinear relationship.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1800" dirty="0" smtClean="0"/>
              <a:t>Q-Q Residuals. Purpose: ✔Normality of residuals. Good model: points close to line. Problems: Heavy tails; Outliers.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1800" dirty="0" smtClean="0"/>
              <a:t>Scale-Location. Purpose: ✔Constant variance. Good model: horizontal line. Problems: increasing spread → </a:t>
            </a:r>
            <a:r>
              <a:rPr lang="en-GB" sz="1800" dirty="0" err="1" smtClean="0"/>
              <a:t>heteroskedasticity</a:t>
            </a:r>
            <a:r>
              <a:rPr lang="en-GB" sz="18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1800" dirty="0" smtClean="0"/>
              <a:t>Residuals versus Leverage. Purpose: ✔Influential observations. Good model: no observations outside Cook's distance.</a:t>
            </a:r>
          </a:p>
          <a:p>
            <a:pPr marL="457200" indent="-457200" algn="just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03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 </a:t>
            </a:r>
            <a:r>
              <a:rPr lang="sk-SK" dirty="0" smtClean="0"/>
              <a:t>DIAGNOSTICS: </a:t>
            </a:r>
            <a:r>
              <a:rPr lang="sk-SK" sz="3200" dirty="0" smtClean="0"/>
              <a:t>MULTICOLLINEARITY, ENDOGENEITY, HETEROSCEDASTICITY, SPATIAL AUTOCORRELATION</a:t>
            </a:r>
            <a:endParaRPr lang="en-GB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dirty="0" smtClean="0"/>
                  <a:t>The OLS </a:t>
                </a:r>
                <a:r>
                  <a:rPr lang="en-GB" dirty="0"/>
                  <a:t>assumption is violated as: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b="1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are not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independently and identically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distributed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→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although it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does not bias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the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coefficient estimates, it increases their uncertainty, making individual coefficients less reliable and more difficult to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interpret (</a:t>
                </a:r>
                <a:r>
                  <a:rPr lang="en-GB" b="1" dirty="0" smtClean="0">
                    <a:latin typeface="+mn-lt"/>
                    <a:cs typeface="Times New Roman" panose="02020603050405020304" pitchFamily="18" charset="0"/>
                  </a:rPr>
                  <a:t>multicollinearity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)</a:t>
                </a:r>
              </a:p>
              <a:p>
                <a:pPr algn="just"/>
                <a:r>
                  <a:rPr lang="en-GB" dirty="0" smtClean="0"/>
                  <a:t>The OLS </a:t>
                </a:r>
                <a:r>
                  <a:rPr lang="en-GB" dirty="0"/>
                  <a:t>assumption is </a:t>
                </a:r>
                <a:r>
                  <a:rPr lang="en-GB" dirty="0" smtClean="0"/>
                  <a:t>violated as: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𝛆</m:t>
                        </m:r>
                      </m:e>
                    </m:d>
                    <m:r>
                      <a:rPr lang="en-GB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 smtClean="0"/>
                  <a:t>the </a:t>
                </a:r>
                <a:r>
                  <a:rPr lang="en-GB" dirty="0"/>
                  <a:t>estimated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are generally </a:t>
                </a:r>
                <a:r>
                  <a:rPr lang="en-GB" b="1" dirty="0"/>
                  <a:t>biased and inconsistent</a:t>
                </a:r>
                <a:r>
                  <a:rPr lang="en-GB" dirty="0"/>
                  <a:t>, meaning they no longer represent the true relationship between the </a:t>
                </a:r>
                <a:r>
                  <a:rPr lang="en-GB" dirty="0" smtClean="0"/>
                  <a:t>variables (</a:t>
                </a:r>
                <a:r>
                  <a:rPr lang="en-GB" b="1" dirty="0" smtClean="0"/>
                  <a:t>endogeneity</a:t>
                </a:r>
                <a:r>
                  <a:rPr lang="en-GB" dirty="0" smtClean="0"/>
                  <a:t>)</a:t>
                </a:r>
                <a:endParaRPr lang="en-GB" dirty="0"/>
              </a:p>
              <a:p>
                <a:pPr algn="just"/>
                <a:r>
                  <a:rPr lang="en-GB" dirty="0"/>
                  <a:t>The OLS assumption is </a:t>
                </a:r>
                <a:r>
                  <a:rPr lang="en-GB" dirty="0" smtClean="0"/>
                  <a:t>violated as: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/>
                  <a:t>the estimated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remain </a:t>
                </a:r>
                <a:r>
                  <a:rPr lang="en-GB" dirty="0" smtClean="0"/>
                  <a:t>unbiased, but the </a:t>
                </a:r>
                <a:r>
                  <a:rPr lang="en-GB" dirty="0"/>
                  <a:t>estimated standard errors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𝛆</m:t>
                    </m:r>
                  </m:oMath>
                </a14:m>
                <a:r>
                  <a:rPr lang="en-GB" dirty="0" smtClean="0"/>
                  <a:t> </a:t>
                </a:r>
                <a:r>
                  <a:rPr lang="en-GB" dirty="0"/>
                  <a:t>become </a:t>
                </a:r>
                <a:r>
                  <a:rPr lang="en-GB" dirty="0" smtClean="0"/>
                  <a:t>incorrect (</a:t>
                </a:r>
                <a:r>
                  <a:rPr lang="en-GB" b="1" dirty="0" smtClean="0"/>
                  <a:t>heteroscedasticity</a:t>
                </a:r>
                <a:r>
                  <a:rPr lang="en-GB" dirty="0" smtClean="0"/>
                  <a:t>)</a:t>
                </a:r>
              </a:p>
              <a:p>
                <a:pPr algn="just"/>
                <a:r>
                  <a:rPr lang="en-GB" dirty="0"/>
                  <a:t>The OLS assumption is violated as: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=0;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/>
                  <a:t>OLS is also no longer the most efficient estimator, because it ignores the dependence structure among </a:t>
                </a:r>
                <a:r>
                  <a:rPr lang="en-GB" dirty="0" smtClean="0"/>
                  <a:t>observations (</a:t>
                </a:r>
                <a:r>
                  <a:rPr lang="en-GB" b="1" dirty="0" smtClean="0"/>
                  <a:t>spatial autocorrelation</a:t>
                </a:r>
                <a:r>
                  <a:rPr lang="en-GB" dirty="0" smtClean="0"/>
                  <a:t>)</a:t>
                </a:r>
                <a:endParaRPr lang="en-GB" dirty="0"/>
              </a:p>
              <a:p>
                <a:pPr algn="just"/>
                <a:endParaRPr lang="en-GB" dirty="0" smtClean="0"/>
              </a:p>
              <a:p>
                <a:pPr algn="just"/>
                <a:r>
                  <a:rPr lang="en-GB" dirty="0" smtClean="0"/>
                  <a:t>We test all of these </a:t>
                </a:r>
                <a:r>
                  <a:rPr lang="en-GB" dirty="0" smtClean="0">
                    <a:latin typeface="+mn-lt"/>
                  </a:rPr>
                  <a:t>assumptions in R</a:t>
                </a:r>
                <a:endParaRPr lang="en-GB" i="1" dirty="0">
                  <a:latin typeface="+mn-lt"/>
                </a:endParaRPr>
              </a:p>
              <a:p>
                <a:pPr algn="just"/>
                <a:endParaRPr lang="en-GB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471" r="-638" b="-66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78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WEIGHTED ESTIMATION OF ECONOMETRIC 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Weighted least squares method</a:t>
                </a:r>
                <a:r>
                  <a:rPr lang="en-GB" dirty="0"/>
                  <a:t>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 smtClean="0"/>
                  <a:t>allows for different </a:t>
                </a:r>
                <a:r>
                  <a:rPr lang="en-GB" dirty="0"/>
                  <a:t>error </a:t>
                </a:r>
                <a:r>
                  <a:rPr lang="en-GB" dirty="0" smtClean="0"/>
                  <a:t>variances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noProof="0" dirty="0" smtClean="0"/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p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𝐖𝐲</m:t>
                      </m:r>
                    </m:oMath>
                  </m:oMathPara>
                </a14:m>
                <a:endParaRPr lang="en-GB" b="1" noProof="0" dirty="0"/>
              </a:p>
              <a:p>
                <a:pPr algn="just"/>
                <a:r>
                  <a:rPr lang="en-GB" dirty="0"/>
                  <a:t>w</a:t>
                </a:r>
                <a:r>
                  <a:rPr lang="en-GB" noProof="0" dirty="0" smtClean="0"/>
                  <a:t>here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GB" noProof="0" dirty="0" smtClean="0"/>
                  <a:t> is a diagonal matrix of weights</a:t>
                </a:r>
              </a:p>
              <a:p>
                <a:pPr algn="just"/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𝐷𝐸𝑁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𝐷𝐸𝑁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  <a:p>
                <a:pPr algn="just"/>
                <a:r>
                  <a:rPr lang="en-GB" dirty="0"/>
                  <a:t>regions with higher population density receive higher weight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GB" dirty="0" smtClean="0"/>
                  <a:t>useful </a:t>
                </a:r>
                <a:r>
                  <a:rPr lang="en-GB" dirty="0"/>
                  <a:t>when observations differ in </a:t>
                </a:r>
                <a:r>
                  <a:rPr lang="en-GB" dirty="0" smtClean="0"/>
                  <a:t>size</a:t>
                </a:r>
                <a:r>
                  <a:rPr lang="en-GB" dirty="0"/>
                  <a:t>, and when </a:t>
                </a:r>
                <a:r>
                  <a:rPr lang="en-GB" dirty="0" err="1"/>
                  <a:t>heteroskedasticity</a:t>
                </a:r>
                <a:r>
                  <a:rPr lang="en-GB" dirty="0"/>
                  <a:t> is present</a:t>
                </a:r>
                <a:endParaRPr lang="en-GB" noProof="0" dirty="0" smtClean="0"/>
              </a:p>
              <a:p>
                <a:pPr marL="0" indent="0" algn="just">
                  <a:buNone/>
                </a:pPr>
                <a:endParaRPr lang="en-GB" b="1" dirty="0" smtClean="0"/>
              </a:p>
              <a:p>
                <a:pPr marL="0" indent="0" algn="just">
                  <a:buNone/>
                </a:pPr>
                <a:r>
                  <a:rPr lang="en-GB" b="1" dirty="0" smtClean="0"/>
                  <a:t>Exercise</a:t>
                </a:r>
                <a:r>
                  <a:rPr lang="en-GB" dirty="0" smtClean="0"/>
                  <a:t>: Estimate and interpret all of the estimated model‘s outputs and diagnostics (are they different from OLS?)</a:t>
                </a:r>
                <a:endParaRPr lang="en-GB" noProof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471" r="-638" b="-132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22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ROBUST ESTIMATION OF </a:t>
            </a:r>
            <a:r>
              <a:rPr lang="sk-SK" dirty="0"/>
              <a:t>ECONOMETRIC </a:t>
            </a:r>
            <a:r>
              <a:rPr lang="sk-SK" dirty="0" smtClean="0"/>
              <a:t>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Unlike OLS type estimator, </a:t>
                </a:r>
                <a:r>
                  <a:rPr lang="en-GB" dirty="0"/>
                  <a:t>there is no closed-form solution for </a:t>
                </a:r>
                <a:r>
                  <a:rPr lang="en-GB" dirty="0" smtClean="0"/>
                  <a:t>M-estimation. The parameters are estimated iteratively by solving</a:t>
                </a: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𝛃</m:t>
                          </m:r>
                        </m:e>
                      </m:acc>
                      <m:r>
                        <a:rPr lang="sk-S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k-SK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sk-SK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GB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GB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sk-S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𝛃</m:t>
                          </m:r>
                        </m:e>
                      </m:d>
                    </m:oMath>
                  </m:oMathPara>
                </a14:m>
                <a:endParaRPr lang="en-GB" noProof="0" dirty="0"/>
              </a:p>
              <a:p>
                <a:pPr algn="just"/>
                <a:r>
                  <a:rPr lang="en-GB" dirty="0"/>
                  <a:t>w</a:t>
                </a:r>
                <a:r>
                  <a:rPr lang="en-GB" noProof="0" dirty="0" smtClean="0"/>
                  <a:t>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𝛆</m:t>
                        </m:r>
                      </m:e>
                    </m:d>
                  </m:oMath>
                </a14:m>
                <a:r>
                  <a:rPr lang="en-GB" noProof="0" dirty="0" smtClean="0"/>
                  <a:t> is the Huber influence function</a:t>
                </a:r>
                <a:r>
                  <a:rPr lang="en-GB" dirty="0"/>
                  <a:t> </a:t>
                </a:r>
                <a:r>
                  <a:rPr lang="en-GB" dirty="0">
                    <a:cs typeface="Times New Roman" panose="02020603050405020304" pitchFamily="18" charset="0"/>
                  </a:rPr>
                  <a:t>→</a:t>
                </a:r>
                <a:r>
                  <a:rPr lang="en-GB" dirty="0" smtClean="0"/>
                  <a:t> setting </a:t>
                </a:r>
                <a:r>
                  <a:rPr lang="en-GB" dirty="0"/>
                  <a:t>a tuning constant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=1.345</m:t>
                    </m:r>
                  </m:oMath>
                </a14:m>
                <a:endParaRPr lang="en-GB" noProof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         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 smtClean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GB" dirty="0" smtClean="0"/>
                  <a:t>Robust estimation provides </a:t>
                </a:r>
                <a:r>
                  <a:rPr lang="en-GB" dirty="0"/>
                  <a:t>parameter estimates that are less sensitive to </a:t>
                </a:r>
                <a:r>
                  <a:rPr lang="en-GB" dirty="0" smtClean="0">
                    <a:latin typeface="+mn-lt"/>
                  </a:rPr>
                  <a:t>outliers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→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small residuals receive full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weight; large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residuals receive reduced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weight; extreme </a:t>
                </a:r>
                <a:r>
                  <a:rPr lang="en-GB" dirty="0">
                    <a:latin typeface="+mn-lt"/>
                    <a:cs typeface="Times New Roman" panose="02020603050405020304" pitchFamily="18" charset="0"/>
                  </a:rPr>
                  <a:t>outliers have limited influence on the estimated </a:t>
                </a:r>
                <a:r>
                  <a:rPr lang="en-GB" dirty="0" smtClean="0">
                    <a:latin typeface="+mn-lt"/>
                    <a:cs typeface="Times New Roman" panose="02020603050405020304" pitchFamily="18" charset="0"/>
                  </a:rPr>
                  <a:t>coefficients</a:t>
                </a:r>
                <a:endParaRPr lang="en-GB" b="1" dirty="0" smtClean="0"/>
              </a:p>
              <a:p>
                <a:pPr marL="0" indent="0" algn="just">
                  <a:buNone/>
                </a:pPr>
                <a:r>
                  <a:rPr lang="en-GB" b="1" dirty="0" smtClean="0"/>
                  <a:t>Exercise</a:t>
                </a:r>
                <a:r>
                  <a:rPr lang="en-GB" dirty="0" smtClean="0"/>
                  <a:t>: Estimate </a:t>
                </a:r>
                <a:r>
                  <a:rPr lang="en-GB" dirty="0"/>
                  <a:t>and interpret all of the estimated model‘s outputs and </a:t>
                </a:r>
                <a:r>
                  <a:rPr lang="en-GB" dirty="0" smtClean="0"/>
                  <a:t>diagnostics</a:t>
                </a: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38" b="-88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323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GMM ESTIMATION OF </a:t>
            </a:r>
            <a:r>
              <a:rPr lang="sk-SK" dirty="0"/>
              <a:t>ECONOMETRIC </a:t>
            </a:r>
            <a:r>
              <a:rPr lang="sk-SK" dirty="0" smtClean="0"/>
              <a:t>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Generalised Methods of Moments (GMM) method uses Instrumental Variables (IVs)</a:t>
                </a:r>
              </a:p>
              <a:p>
                <a:pPr marL="0" indent="0" algn="just">
                  <a:buNone/>
                </a:pP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GMM</m:t>
                          </m:r>
                        </m:sub>
                      </m:sSub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𝐙𝐖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p>
                          <m:r>
                            <a:rPr lang="en-GB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>
                          <a:latin typeface="Cambria Math" panose="02040503050406030204" pitchFamily="18" charset="0"/>
                        </a:rPr>
                        <m:t>𝐙𝐖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GB" noProof="0" dirty="0"/>
              </a:p>
              <a:p>
                <a:pPr algn="just"/>
                <a:r>
                  <a:rPr lang="en-GB" dirty="0" smtClean="0"/>
                  <a:t>w</a:t>
                </a:r>
                <a:r>
                  <a:rPr lang="en-GB" noProof="0" dirty="0" smtClean="0"/>
                  <a:t>here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1"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sup>
                                <m:r>
                                  <a:rPr lang="en-GB" b="1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GB" b="1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noProof="0" dirty="0" smtClean="0"/>
                  <a:t> and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GB" noProof="0" dirty="0" smtClean="0"/>
                  <a:t> are IVs </a:t>
                </a:r>
                <a:r>
                  <a:rPr lang="en-GB" dirty="0" smtClean="0">
                    <a:cs typeface="Times New Roman" panose="02020603050405020304" pitchFamily="18" charset="0"/>
                  </a:rPr>
                  <a:t>→ in </a:t>
                </a:r>
                <a:r>
                  <a:rPr lang="en-GB" dirty="0">
                    <a:cs typeface="Times New Roman" panose="02020603050405020304" pitchFamily="18" charset="0"/>
                  </a:rPr>
                  <a:t>practice, </a:t>
                </a:r>
                <a:r>
                  <a:rPr lang="en-GB" dirty="0" smtClean="0">
                    <a:cs typeface="Times New Roman" panose="02020603050405020304" pitchFamily="18" charset="0"/>
                  </a:rPr>
                  <a:t>to select </a:t>
                </a:r>
                <a:r>
                  <a:rPr lang="en-GB" dirty="0">
                    <a:cs typeface="Times New Roman" panose="02020603050405020304" pitchFamily="18" charset="0"/>
                  </a:rPr>
                  <a:t>valid </a:t>
                </a:r>
                <a:r>
                  <a:rPr lang="en-GB" dirty="0" smtClean="0">
                    <a:cs typeface="Times New Roman" panose="02020603050405020304" pitchFamily="18" charset="0"/>
                  </a:rPr>
                  <a:t>IVs require </a:t>
                </a:r>
                <a:r>
                  <a:rPr lang="en-GB" dirty="0">
                    <a:cs typeface="Times New Roman" panose="02020603050405020304" pitchFamily="18" charset="0"/>
                  </a:rPr>
                  <a:t>a sound understanding of economic theory, institutional knowledge, and econometric </a:t>
                </a:r>
                <a:r>
                  <a:rPr lang="en-GB" dirty="0" smtClean="0">
                    <a:cs typeface="Times New Roman" panose="02020603050405020304" pitchFamily="18" charset="0"/>
                  </a:rPr>
                  <a:t>testing</a:t>
                </a:r>
                <a:endParaRPr lang="en-GB" dirty="0"/>
              </a:p>
              <a:p>
                <a:pPr algn="just"/>
                <a:endParaRPr lang="en-GB" noProof="0" dirty="0" smtClean="0"/>
              </a:p>
              <a:p>
                <a:pPr algn="just"/>
                <a:r>
                  <a:rPr lang="en-GB" dirty="0"/>
                  <a:t>For illustration purposes, tertiary educational attainment is used as an instrumental variable for GDP per capita. The objective is to demonstrate IV and GMM estimation rather than to establish a causal identification </a:t>
                </a:r>
                <a:r>
                  <a:rPr lang="en-GB" dirty="0" smtClean="0"/>
                  <a:t>strategy</a:t>
                </a:r>
                <a:endParaRPr lang="en-GB" dirty="0"/>
              </a:p>
              <a:p>
                <a:pPr algn="just"/>
                <a:r>
                  <a:rPr lang="en-GB" dirty="0" smtClean="0"/>
                  <a:t>The other option with IVs estimation is to use the 2-stage Least Squares Estimator </a:t>
                </a:r>
              </a:p>
              <a:p>
                <a:pPr algn="just"/>
                <a:endParaRPr lang="en-GB" dirty="0"/>
              </a:p>
              <a:p>
                <a:pPr marL="0" indent="0" algn="just">
                  <a:buNone/>
                </a:pPr>
                <a:r>
                  <a:rPr lang="en-GB" b="1" dirty="0" smtClean="0"/>
                  <a:t>Exercise</a:t>
                </a:r>
                <a:r>
                  <a:rPr lang="en-GB" dirty="0" smtClean="0"/>
                  <a:t>: Estimate </a:t>
                </a:r>
                <a:r>
                  <a:rPr lang="en-GB" dirty="0"/>
                  <a:t>and interpret all of the estimated model‘s outputs and </a:t>
                </a:r>
                <a:r>
                  <a:rPr lang="en-GB" dirty="0" smtClean="0"/>
                  <a:t>diagnostics</a:t>
                </a: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38" b="-79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47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QUANTILE ESTIMATION OF </a:t>
            </a:r>
            <a:r>
              <a:rPr lang="sk-SK" dirty="0"/>
              <a:t>ECONOMETRIC </a:t>
            </a:r>
            <a:r>
              <a:rPr lang="sk-SK" dirty="0" smtClean="0"/>
              <a:t>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dirty="0" smtClean="0"/>
                  <a:t>Unlike OLS type estimator, </a:t>
                </a:r>
                <a:r>
                  <a:rPr lang="en-GB" dirty="0"/>
                  <a:t>there is no closed-form solution for </a:t>
                </a:r>
                <a:r>
                  <a:rPr lang="en-GB" dirty="0" smtClean="0"/>
                  <a:t>quantile estimation. </a:t>
                </a:r>
                <a:r>
                  <a:rPr lang="en-GB" dirty="0"/>
                  <a:t>The parameters are estimated </a:t>
                </a:r>
                <a:r>
                  <a:rPr lang="en-GB" dirty="0" smtClean="0"/>
                  <a:t>iteratively</a:t>
                </a:r>
                <a:r>
                  <a:rPr lang="en-GB" dirty="0"/>
                  <a:t> </a:t>
                </a:r>
                <a:r>
                  <a:rPr lang="en-GB" dirty="0" smtClean="0"/>
                  <a:t>by solving</a:t>
                </a:r>
                <a:endParaRPr lang="en-GB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𝛃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𝛃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algn="just"/>
                <a:r>
                  <a:rPr lang="en-GB" dirty="0"/>
                  <a:t>w</a:t>
                </a:r>
                <a:r>
                  <a:rPr lang="en-GB" dirty="0" smtClean="0"/>
                  <a:t>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0.25,0.5,0.75</m:t>
                        </m:r>
                      </m:e>
                    </m:d>
                  </m:oMath>
                </a14:m>
                <a:r>
                  <a:rPr lang="en-GB" dirty="0" smtClean="0"/>
                  <a:t> are quartiles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GB" dirty="0" smtClean="0"/>
                  <a:t> is the check loss function</a:t>
                </a:r>
                <a:endParaRPr lang="en-GB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:pPr algn="just"/>
                <a:endParaRPr lang="en-GB" dirty="0" smtClean="0"/>
              </a:p>
              <a:p>
                <a:pPr algn="just"/>
                <a:r>
                  <a:rPr lang="en-GB" dirty="0" smtClean="0"/>
                  <a:t>We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𝛃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GB" dirty="0" smtClean="0"/>
                  <a:t> for each quartile </a:t>
                </a:r>
                <a:r>
                  <a:rPr lang="en-GB" dirty="0">
                    <a:cs typeface="Times New Roman" panose="02020603050405020304" pitchFamily="18" charset="0"/>
                  </a:rPr>
                  <a:t>→</a:t>
                </a:r>
                <a:r>
                  <a:rPr lang="en-GB" dirty="0" smtClean="0"/>
                  <a:t> </a:t>
                </a:r>
                <a:r>
                  <a:rPr lang="en-GB" dirty="0"/>
                  <a:t>the estimated effects may differ across </a:t>
                </a:r>
                <a:r>
                  <a:rPr lang="en-GB" dirty="0" smtClean="0"/>
                  <a:t>quartiles (e.g., low unemployment, median unemployment, high unemployment)</a:t>
                </a:r>
                <a:endParaRPr lang="en-GB" dirty="0"/>
              </a:p>
              <a:p>
                <a:pPr marL="0" indent="0" algn="just">
                  <a:buNone/>
                </a:pPr>
                <a:endParaRPr lang="en-GB" b="1" dirty="0"/>
              </a:p>
              <a:p>
                <a:pPr marL="0" indent="0" algn="just">
                  <a:buNone/>
                </a:pPr>
                <a:r>
                  <a:rPr lang="en-GB" b="1" dirty="0"/>
                  <a:t>Exercise</a:t>
                </a:r>
                <a:r>
                  <a:rPr lang="en-GB" dirty="0"/>
                  <a:t>: Estimate and interpret all of the estimated model‘s outputs and diagnostics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38"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96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ESTIMATION OF SPATIAL </a:t>
            </a:r>
            <a:r>
              <a:rPr lang="sk-SK" dirty="0"/>
              <a:t>ECONOMETRIC </a:t>
            </a:r>
            <a:r>
              <a:rPr lang="sk-SK" dirty="0" smtClean="0"/>
              <a:t>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dirty="0" smtClean="0"/>
                  <a:t>One of the spatial econometric models: Spatial </a:t>
                </a:r>
                <a:r>
                  <a:rPr lang="en-GB" dirty="0"/>
                  <a:t>Error </a:t>
                </a:r>
                <a:r>
                  <a:rPr lang="en-GB" dirty="0" smtClean="0"/>
                  <a:t>Model (SEM) </a:t>
                </a:r>
                <a:r>
                  <a:rPr lang="en-GB" dirty="0"/>
                  <a:t>assumes that spatial dependence exists in the error term rather than in the dependent </a:t>
                </a:r>
                <a:r>
                  <a:rPr lang="en-GB" dirty="0" smtClean="0"/>
                  <a:t>variable</a:t>
                </a:r>
                <a:endParaRPr lang="sk-SK" dirty="0" smtClean="0"/>
              </a:p>
              <a:p>
                <a:pPr algn="just"/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GB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GB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𝐖𝐮</m:t>
                      </m:r>
                      <m:r>
                        <a:rPr lang="en-GB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𝛆</m:t>
                      </m:r>
                    </m:oMath>
                  </m:oMathPara>
                </a14:m>
                <a:endParaRPr lang="en-GB" b="1" noProof="0" dirty="0"/>
              </a:p>
              <a:p>
                <a:pPr algn="just"/>
                <a:r>
                  <a:rPr lang="en-GB" dirty="0"/>
                  <a:t>w</a:t>
                </a:r>
                <a:r>
                  <a:rPr lang="en-GB" dirty="0" smtClean="0"/>
                  <a:t>here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𝛆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</m:d>
                  </m:oMath>
                </a14:m>
                <a:r>
                  <a:rPr lang="en-GB" dirty="0" smtClean="0"/>
                  <a:t>,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GB" dirty="0" smtClean="0"/>
                  <a:t> is a spatial weights matrix (requires spatial coordinates for estimation)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 smtClean="0"/>
                  <a:t> is a spatial error coefficient </a:t>
                </a:r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/>
                  <a:t>T</a:t>
                </a:r>
                <a:r>
                  <a:rPr lang="en-GB" dirty="0" smtClean="0"/>
                  <a:t>he model‘s parameters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𝛃</m:t>
                        </m:r>
                        <m:r>
                          <a:rPr lang="en-GB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 smtClean="0"/>
                  <a:t> are estimated by </a:t>
                </a:r>
                <a:r>
                  <a:rPr lang="en-GB" dirty="0"/>
                  <a:t>maximizing the log-likelihood </a:t>
                </a:r>
                <a:r>
                  <a:rPr lang="en-GB" dirty="0" smtClean="0"/>
                  <a:t>function</a:t>
                </a:r>
              </a:p>
              <a:p>
                <a:pPr algn="just"/>
                <a:endParaRPr lang="en-GB" dirty="0"/>
              </a:p>
              <a:p>
                <a:pPr algn="just"/>
                <a:r>
                  <a:rPr lang="en-GB" dirty="0" smtClean="0"/>
                  <a:t>Out of scope </a:t>
                </a:r>
                <a:r>
                  <a:rPr lang="sk-SK" dirty="0" smtClean="0"/>
                  <a:t>in</a:t>
                </a:r>
                <a:r>
                  <a:rPr lang="en-GB" dirty="0" smtClean="0"/>
                  <a:t> this course</a:t>
                </a:r>
              </a:p>
              <a:p>
                <a:pPr algn="just"/>
                <a:endParaRPr lang="en-GB" dirty="0"/>
              </a:p>
              <a:p>
                <a:pPr algn="just"/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0E816B-5CEC-1C6D-582C-69AA81FB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77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TRANSFORMATION FOR ECONOMETRIC ANALYSIS – WHY? 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 smtClean="0"/>
              <a:t>The </a:t>
            </a:r>
            <a:r>
              <a:rPr lang="en-GB" b="1" dirty="0" smtClean="0"/>
              <a:t>reason</a:t>
            </a:r>
            <a:r>
              <a:rPr lang="sk-SK" b="1" dirty="0" smtClean="0"/>
              <a:t>(s)</a:t>
            </a:r>
            <a:r>
              <a:rPr lang="en-GB" b="1" dirty="0" smtClean="0"/>
              <a:t> for transformation</a:t>
            </a:r>
            <a:r>
              <a:rPr lang="en-GB" dirty="0" smtClean="0"/>
              <a:t>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GB" dirty="0" smtClean="0"/>
              <a:t>economic variables often violate the assumptions of standard regression models:</a:t>
            </a:r>
          </a:p>
          <a:p>
            <a:r>
              <a:rPr lang="en-GB" dirty="0" smtClean="0"/>
              <a:t>Highly skewed distributions (GDP, income, investment) </a:t>
            </a:r>
          </a:p>
          <a:p>
            <a:r>
              <a:rPr lang="en-GB" dirty="0" smtClean="0"/>
              <a:t>Non-linear relationships </a:t>
            </a:r>
          </a:p>
          <a:p>
            <a:r>
              <a:rPr lang="en-GB" dirty="0" err="1" smtClean="0"/>
              <a:t>Heteroskedasticity</a:t>
            </a:r>
            <a:r>
              <a:rPr lang="en-GB" dirty="0" smtClean="0"/>
              <a:t> (variance increasing with size) </a:t>
            </a:r>
          </a:p>
          <a:p>
            <a:r>
              <a:rPr lang="en-GB" dirty="0" smtClean="0"/>
              <a:t>Different measurement scales </a:t>
            </a:r>
          </a:p>
          <a:p>
            <a:r>
              <a:rPr lang="en-GB" dirty="0" smtClean="0"/>
              <a:t>Outliers and extreme values </a:t>
            </a:r>
          </a:p>
          <a:p>
            <a:r>
              <a:rPr lang="en-GB" b="1" dirty="0" smtClean="0"/>
              <a:t>Difficulty interpreting coefficients</a:t>
            </a:r>
          </a:p>
          <a:p>
            <a:r>
              <a:rPr lang="en-GB" b="1" dirty="0" smtClean="0"/>
              <a:t>Different objectives for model interpretation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Data transformations can improve model fit, satisfy econometric assumptions, and facilitate interpretation.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7135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LOGARITHMIC DATA TRANSFORMATION IN ECONOMETRICS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Zástupný objekt pre obsah 6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88867581"/>
                  </p:ext>
                </p:extLst>
              </p:nvPr>
            </p:nvGraphicFramePr>
            <p:xfrm>
              <a:off x="970722" y="1696342"/>
              <a:ext cx="10515600" cy="5050277"/>
            </p:xfrm>
            <a:graphic>
              <a:graphicData uri="http://schemas.openxmlformats.org/drawingml/2006/table">
                <a:tbl>
                  <a:tblPr>
                    <a:tableStyleId>{B301B821-A1FF-4177-AEE7-76D212191A09}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140632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4020869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88770145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68147624"/>
                        </a:ext>
                      </a:extLst>
                    </a:gridCol>
                  </a:tblGrid>
                  <a:tr h="6473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Transformation (log)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Formula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When to Use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Interpretation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209601"/>
                      </a:ext>
                    </a:extLst>
                  </a:tr>
                  <a:tr h="91395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Log-Log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14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Elasticity analysis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GB" sz="1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400" noProof="0" dirty="0"/>
                            <a:t> = elasticity (% change in Y from 1% change in X)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646384205"/>
                      </a:ext>
                    </a:extLst>
                  </a:tr>
                  <a:tr h="11805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Log-Linear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14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Exponential relationships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1-unit increase in X </a:t>
                          </a:r>
                          <a:r>
                            <a:rPr lang="en-GB" sz="1400" noProof="0" dirty="0" smtClean="0"/>
                            <a:t>changes Y by approximately (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0" i="0" noProof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sSub>
                                <m:sSubPr>
                                  <m:ctrlPr>
                                    <a:rPr lang="en-GB" sz="1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GB" sz="1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400" noProof="0" dirty="0"/>
                            <a:t>)%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603002464"/>
                      </a:ext>
                    </a:extLst>
                  </a:tr>
                  <a:tr h="6473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Linear-Log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i="1" noProof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𝑙𝑛</m:t>
                                </m:r>
                                <m:d>
                                  <m:d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Diminishing returns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400" noProof="0" dirty="0" smtClean="0"/>
                            <a:t>1-unit increase in X changes Y by approximately (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0" i="0" noProof="0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lang="en-GB" sz="1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noProof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GB" sz="1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400" noProof="0" dirty="0" smtClean="0"/>
                            <a:t>)</a:t>
                          </a:r>
                          <a:r>
                            <a:rPr lang="sk-SK" sz="1400" baseline="0" noProof="0" dirty="0" smtClean="0"/>
                            <a:t>%</a:t>
                          </a:r>
                          <a:endParaRPr lang="en-GB" sz="1400" noProof="0" dirty="0"/>
                        </a:p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858376767"/>
                      </a:ext>
                    </a:extLst>
                  </a:tr>
                  <a:tr h="318611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Other transformations</a:t>
                          </a:r>
                          <a:endParaRPr lang="en-GB" sz="1400" b="1" noProof="0" dirty="0"/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1482114819"/>
                      </a:ext>
                    </a:extLst>
                  </a:tr>
                  <a:tr h="6473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Growth Rate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200" noProof="0" dirty="0"/>
                        </a:p>
                        <a:p>
                          <a:pPr algn="l"/>
                          <a:endParaRPr lang="en-GB" sz="1200" noProof="0" dirty="0"/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Dynamic analysis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Relative change over time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717717078"/>
                      </a:ext>
                    </a:extLst>
                  </a:tr>
                  <a:tr h="647386">
                    <a:tc>
                      <a:txBody>
                        <a:bodyPr/>
                        <a:lstStyle/>
                        <a:p>
                          <a:r>
                            <a:rPr lang="en-GB" sz="1400" b="1" noProof="0" dirty="0"/>
                            <a:t>Standardization (Z-score)</a:t>
                          </a:r>
                          <a:endParaRPr lang="en-GB" sz="14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2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2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GB" sz="12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12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</a:rPr>
                                      <m:t>𝑠𝑑</m:t>
                                    </m:r>
                                    <m:d>
                                      <m:dPr>
                                        <m:ctrlPr>
                                          <a:rPr lang="en-GB" sz="12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sz="12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2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GB" sz="12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GB" sz="1200" noProof="0" dirty="0"/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Variables measured on different scales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Effect measured in standard deviations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695581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Zástupný objekt pre obsah 6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88867581"/>
                  </p:ext>
                </p:extLst>
              </p:nvPr>
            </p:nvGraphicFramePr>
            <p:xfrm>
              <a:off x="970722" y="1696342"/>
              <a:ext cx="10515600" cy="5050277"/>
            </p:xfrm>
            <a:graphic>
              <a:graphicData uri="http://schemas.openxmlformats.org/drawingml/2006/table">
                <a:tbl>
                  <a:tblPr>
                    <a:tableStyleId>{B301B821-A1FF-4177-AEE7-76D212191A09}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140632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4020869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887701456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68147624"/>
                        </a:ext>
                      </a:extLst>
                    </a:gridCol>
                  </a:tblGrid>
                  <a:tr h="6473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Transformation (log)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Formula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When to Use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Interpretation</a:t>
                          </a:r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209601"/>
                      </a:ext>
                    </a:extLst>
                  </a:tr>
                  <a:tr h="91395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Log-Log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100464" t="-71333" r="-200696" b="-3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Elasticity analysis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300696" t="-71333" r="-464" b="-3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6384205"/>
                      </a:ext>
                    </a:extLst>
                  </a:tr>
                  <a:tr h="11805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Log-Linear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100464" t="-132474" r="-200696" b="-196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Exponential relationships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300696" t="-132474" r="-464" b="-1963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3002464"/>
                      </a:ext>
                    </a:extLst>
                  </a:tr>
                  <a:tr h="6950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Linear-Log Model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100464" t="-395614" r="-200696" b="-234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noProof="0" dirty="0"/>
                            <a:t>Diminishing returns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300696" t="-395614" r="-464" b="-23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8376767"/>
                      </a:ext>
                    </a:extLst>
                  </a:tr>
                  <a:tr h="318611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Other transformations</a:t>
                          </a:r>
                          <a:endParaRPr lang="en-GB" sz="1400" b="1" noProof="0" dirty="0"/>
                        </a:p>
                      </a:txBody>
                      <a:tcPr marL="54946" marR="54946" marT="27473" marB="27473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tc hMerge="1">
                      <a:txBody>
                        <a:bodyPr/>
                        <a:lstStyle/>
                        <a:p>
                          <a:pPr algn="l"/>
                          <a:endParaRPr lang="en-GB" sz="1400" noProof="0" dirty="0"/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1482114819"/>
                      </a:ext>
                    </a:extLst>
                  </a:tr>
                  <a:tr h="6473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/>
                            <a:t>Growth Rate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100464" t="-576636" r="-200696" b="-100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Dynamic analysis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Relative change over time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717717078"/>
                      </a:ext>
                    </a:extLst>
                  </a:tr>
                  <a:tr h="647386">
                    <a:tc>
                      <a:txBody>
                        <a:bodyPr/>
                        <a:lstStyle/>
                        <a:p>
                          <a:r>
                            <a:rPr lang="en-GB" sz="1400" b="1" noProof="0" dirty="0"/>
                            <a:t>Standardization (Z-score)</a:t>
                          </a:r>
                          <a:endParaRPr lang="en-GB" sz="14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946" marR="54946" marT="27473" marB="27473" anchor="ctr">
                        <a:blipFill>
                          <a:blip r:embed="rId2"/>
                          <a:stretch>
                            <a:fillRect l="-100464" t="-683019" r="-200696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Variables measured on different scales</a:t>
                          </a:r>
                        </a:p>
                      </a:txBody>
                      <a:tcPr marL="54946" marR="54946" marT="27473" marB="27473"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noProof="0" dirty="0"/>
                            <a:t>Effect measured in standard deviations</a:t>
                          </a:r>
                        </a:p>
                      </a:txBody>
                      <a:tcPr marL="54946" marR="54946" marT="27473" marB="27473" anchor="ctr"/>
                    </a:tc>
                    <a:extLst>
                      <a:ext uri="{0D108BD9-81ED-4DB2-BD59-A6C34878D82A}">
                        <a16:rowId xmlns:a16="http://schemas.microsoft.com/office/drawing/2014/main" val="2695581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792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910F-1A16-8C24-D8BD-4B447483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8EF6-AC0F-0FE4-4EBF-0179BE42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LINEAR-LOG 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67067-E313-EB37-8FF8-19C16A4ABB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17853B-EC9E-067D-362E-72BC16F599A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algn="just"/>
                <a:r>
                  <a:rPr lang="en-GB" noProof="0" dirty="0" smtClean="0"/>
                  <a:t>The </a:t>
                </a:r>
                <a:r>
                  <a:rPr lang="en-GB" dirty="0" smtClean="0"/>
                  <a:t>linear-log</a:t>
                </a:r>
                <a:r>
                  <a:rPr lang="en-GB" noProof="0" dirty="0" smtClean="0"/>
                  <a:t> model is defined as</a:t>
                </a:r>
                <a:endParaRPr lang="en-GB" noProof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𝑈𝑁𝐸𝑀𝑃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𝐺𝐷𝑃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𝐻𝑇𝐶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𝑆𝐸𝑅𝑉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𝐷𝐸𝑁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  <a:p>
                <a:pPr marL="0" indent="0" algn="just">
                  <a:buNone/>
                </a:pPr>
                <a:endParaRPr lang="en-GB" noProof="0" dirty="0" smtClean="0"/>
              </a:p>
              <a:p>
                <a:pPr algn="just"/>
                <a:r>
                  <a:rPr lang="en-GB" noProof="0" dirty="0" smtClean="0"/>
                  <a:t>The interpretation of the estimated parameters, </a:t>
                </a:r>
                <a:r>
                  <a:rPr lang="en-GB" dirty="0"/>
                  <a:t>holding all other variables constant</a:t>
                </a:r>
                <a:r>
                  <a:rPr lang="en-GB" noProof="0" dirty="0" smtClean="0"/>
                  <a:t>:</a:t>
                </a:r>
                <a:endParaRPr lang="sk-SK" noProof="0" dirty="0" smtClean="0"/>
              </a:p>
              <a:p>
                <a:pPr algn="just"/>
                <a:endParaRPr lang="en-GB" noProof="0" dirty="0"/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 smtClean="0">
                    <a:latin typeface="+mn-lt"/>
                  </a:rPr>
                  <a:t> </a:t>
                </a:r>
                <a:r>
                  <a:rPr lang="en-GB" sz="1600" dirty="0" smtClean="0">
                    <a:latin typeface="+mn-lt"/>
                    <a:cs typeface="Times New Roman" panose="02020603050405020304" pitchFamily="18" charset="0"/>
                  </a:rPr>
                  <a:t>→ the </a:t>
                </a:r>
                <a:r>
                  <a:rPr lang="en-GB" sz="1600" dirty="0" smtClean="0"/>
                  <a:t>increase of 1% in </a:t>
                </a:r>
                <a:r>
                  <a:rPr lang="en-GB" sz="1600" dirty="0"/>
                  <a:t>GDP per capita is associated with an </a:t>
                </a:r>
                <a:r>
                  <a:rPr lang="en-GB" sz="1600" dirty="0" smtClean="0"/>
                  <a:t>approximately 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 smtClean="0"/>
                  <a:t> ​</a:t>
                </a:r>
                <a:r>
                  <a:rPr lang="en-GB" sz="1600" dirty="0"/>
                  <a:t>percentage-point change in the unemployment </a:t>
                </a:r>
                <a:r>
                  <a:rPr lang="en-GB" sz="1600" dirty="0" smtClean="0"/>
                  <a:t>rate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1600" dirty="0"/>
                  <a:t> </a:t>
                </a:r>
                <a:r>
                  <a:rPr lang="en-GB" sz="1600" dirty="0">
                    <a:cs typeface="Times New Roman" panose="02020603050405020304" pitchFamily="18" charset="0"/>
                  </a:rPr>
                  <a:t>→ the </a:t>
                </a:r>
                <a:r>
                  <a:rPr lang="en-GB" sz="1600" dirty="0" smtClean="0"/>
                  <a:t>increase </a:t>
                </a:r>
                <a:r>
                  <a:rPr lang="en-GB" sz="1600" dirty="0"/>
                  <a:t>of 1%</a:t>
                </a:r>
                <a:r>
                  <a:rPr lang="en-GB" sz="1600" dirty="0" smtClean="0"/>
                  <a:t> </a:t>
                </a:r>
                <a:r>
                  <a:rPr lang="en-GB" sz="1600" dirty="0"/>
                  <a:t>in population density is associated with an </a:t>
                </a:r>
                <a:r>
                  <a:rPr lang="en-GB" sz="1600" dirty="0" smtClean="0"/>
                  <a:t>approximately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1600" dirty="0" smtClean="0"/>
                  <a:t> ​</a:t>
                </a:r>
                <a:r>
                  <a:rPr lang="en-GB" sz="1600" dirty="0"/>
                  <a:t>percentage-point change </a:t>
                </a:r>
                <a:r>
                  <a:rPr lang="en-GB" sz="1600" dirty="0" smtClean="0"/>
                  <a:t>in the unemployment rate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17853B-EC9E-067D-362E-72BC16F59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89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INTERPRETATION OF ESTIMATED MODEL‘S OUTPUTS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just">
              <a:buNone/>
            </a:pPr>
            <a:endParaRPr lang="en-GB" b="1" dirty="0" smtClean="0"/>
          </a:p>
          <a:p>
            <a:pPr marL="0" indent="0" algn="just">
              <a:buNone/>
            </a:pPr>
            <a:r>
              <a:rPr lang="en-GB" b="1" dirty="0" smtClean="0"/>
              <a:t>Exercises</a:t>
            </a:r>
            <a:r>
              <a:rPr lang="en-GB" dirty="0" smtClean="0"/>
              <a:t>:</a:t>
            </a:r>
          </a:p>
          <a:p>
            <a:pPr marL="0" indent="0" algn="just">
              <a:buNone/>
            </a:pPr>
            <a:endParaRPr lang="en-GB" dirty="0" smtClean="0"/>
          </a:p>
          <a:p>
            <a:pPr lvl="1" algn="just"/>
            <a:r>
              <a:rPr lang="en-GB" dirty="0" smtClean="0">
                <a:ea typeface="Cambria Math" panose="02040503050406030204" pitchFamily="18" charset="0"/>
              </a:rPr>
              <a:t>Use OLS to estimate the model in R  </a:t>
            </a:r>
          </a:p>
          <a:p>
            <a:pPr lvl="1" algn="just"/>
            <a:r>
              <a:rPr lang="en-GB" dirty="0" smtClean="0">
                <a:ea typeface="Cambria Math" panose="02040503050406030204" pitchFamily="18" charset="0"/>
              </a:rPr>
              <a:t>Interpret all of the estimated model‘s outputs</a:t>
            </a:r>
          </a:p>
          <a:p>
            <a:pPr lvl="1" algn="just"/>
            <a:r>
              <a:rPr lang="en-GB" dirty="0" smtClean="0">
                <a:ea typeface="Cambria Math" panose="02040503050406030204" pitchFamily="18" charset="0"/>
              </a:rPr>
              <a:t>Interpret the estimated model‘s parameters</a:t>
            </a:r>
          </a:p>
          <a:p>
            <a:pPr lvl="1" algn="just"/>
            <a:endParaRPr lang="en-GB" dirty="0" smtClean="0">
              <a:ea typeface="Cambria Math" panose="02040503050406030204" pitchFamily="18" charset="0"/>
            </a:endParaRPr>
          </a:p>
          <a:p>
            <a:pPr lvl="1" algn="just"/>
            <a:r>
              <a:rPr lang="en-GB" b="1" dirty="0" smtClean="0">
                <a:ea typeface="Cambria Math" panose="02040503050406030204" pitchFamily="18" charset="0"/>
              </a:rPr>
              <a:t>HOMEWORK</a:t>
            </a:r>
            <a:r>
              <a:rPr lang="en-GB" dirty="0" smtClean="0">
                <a:ea typeface="Cambria Math" panose="02040503050406030204" pitchFamily="18" charset="0"/>
              </a:rPr>
              <a:t>: Use other estimation techniques – which one would you prefer in practice?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9934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97FB-45CD-057E-2EDB-6F9D8E31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INTERPRETATION OF RESULTS FOR DECISION-MAKING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11022E-909C-1D3A-CA9F-2AF3B2CBBE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Zástupný objekt pre obsah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250678099"/>
                  </p:ext>
                </p:extLst>
              </p:nvPr>
            </p:nvGraphicFramePr>
            <p:xfrm>
              <a:off x="970722" y="1910188"/>
              <a:ext cx="5563146" cy="4262260"/>
            </p:xfrm>
            <a:graphic>
              <a:graphicData uri="http://schemas.openxmlformats.org/drawingml/2006/table">
                <a:tbl>
                  <a:tblPr/>
                  <a:tblGrid>
                    <a:gridCol w="1854382">
                      <a:extLst>
                        <a:ext uri="{9D8B030D-6E8A-4147-A177-3AD203B41FA5}">
                          <a16:colId xmlns:a16="http://schemas.microsoft.com/office/drawing/2014/main" val="50654299"/>
                        </a:ext>
                      </a:extLst>
                    </a:gridCol>
                    <a:gridCol w="1854382">
                      <a:extLst>
                        <a:ext uri="{9D8B030D-6E8A-4147-A177-3AD203B41FA5}">
                          <a16:colId xmlns:a16="http://schemas.microsoft.com/office/drawing/2014/main" val="2115388880"/>
                        </a:ext>
                      </a:extLst>
                    </a:gridCol>
                    <a:gridCol w="1854382">
                      <a:extLst>
                        <a:ext uri="{9D8B030D-6E8A-4147-A177-3AD203B41FA5}">
                          <a16:colId xmlns:a16="http://schemas.microsoft.com/office/drawing/2014/main" val="2448725575"/>
                        </a:ext>
                      </a:extLst>
                    </a:gridCol>
                  </a:tblGrid>
                  <a:tr h="4513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ESTIMATED PARAMETER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ECONOMIC INTERPRETATION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DECISION-MAKING</a:t>
                          </a:r>
                          <a:r>
                            <a:rPr lang="en-GB" sz="1400" b="1" baseline="0" noProof="0" dirty="0" smtClean="0"/>
                            <a:t> (POLICY)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058355"/>
                      </a:ext>
                    </a:extLst>
                  </a:tr>
                  <a:tr h="848707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sz="1400" i="1" noProof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4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=0.25</m:t>
                                </m:r>
                              </m:oMath>
                            </m:oMathPara>
                          </a14:m>
                          <a:endParaRPr lang="en-GB" sz="1400" b="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10% increase in GDP per capita is associated with a </a:t>
                          </a:r>
                          <a:r>
                            <a:rPr lang="en-GB" sz="1000" b="1" noProof="0" dirty="0" smtClean="0"/>
                            <a:t>0.025 percentage-point increase</a:t>
                          </a:r>
                          <a:r>
                            <a:rPr lang="en-GB" sz="1000" noProof="0" dirty="0" smtClean="0"/>
                            <a:t> in unemployment.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Policies promoting regional economic growth may contribute to lower unemployment.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5869326"/>
                      </a:ext>
                    </a:extLst>
                  </a:tr>
                  <a:tr h="10458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GB" sz="1400" b="0" i="0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=−0.45</m:t>
                                </m:r>
                              </m:oMath>
                            </m:oMathPara>
                          </a14:m>
                          <a:endParaRPr lang="en-GB" sz="1400" b="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one percentage-point increase in employment in the high-tech sector reduces unemployment by </a:t>
                          </a:r>
                          <a:r>
                            <a:rPr lang="en-GB" sz="1000" b="1" noProof="0" dirty="0" smtClean="0"/>
                            <a:t>0.45 percentage points</a:t>
                          </a:r>
                          <a:r>
                            <a:rPr lang="en-GB" sz="1000" noProof="0" dirty="0" smtClean="0"/>
                            <a:t>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Investments in innovation and high-tech industries may improve labour market outcomes.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7761154"/>
                      </a:ext>
                    </a:extLst>
                  </a:tr>
                  <a:tr h="104589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=−0.02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one percentage-point increase in the share of service employment reduces unemployment by </a:t>
                          </a:r>
                          <a:r>
                            <a:rPr lang="en-GB" sz="1000" b="1" noProof="0" dirty="0" smtClean="0"/>
                            <a:t>0.02 percentage points</a:t>
                          </a:r>
                          <a:r>
                            <a:rPr lang="en-GB" sz="1000" noProof="0" dirty="0" smtClean="0"/>
                            <a:t>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Expanding service-sector employment may help absorb labour supply, particularly in urban regions.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5279320"/>
                      </a:ext>
                    </a:extLst>
                  </a:tr>
                  <a:tr h="848707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400" i="1" noProof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=−0.21</m:t>
                                </m:r>
                              </m:oMath>
                            </m:oMathPara>
                          </a14:m>
                          <a:endParaRPr lang="en-GB" sz="14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10% increase in population density is associated with a </a:t>
                          </a:r>
                          <a:r>
                            <a:rPr lang="en-GB" sz="1000" b="1" noProof="0" dirty="0" smtClean="0"/>
                            <a:t>0.021 percentage-point decrease</a:t>
                          </a:r>
                          <a:r>
                            <a:rPr lang="en-GB" sz="1000" noProof="0" dirty="0" smtClean="0"/>
                            <a:t> in unemployment.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Denser regions may benefit from agglomeration economies and stronger labour-market matching.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44572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Zástupný objekt pre obsah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250678099"/>
                  </p:ext>
                </p:extLst>
              </p:nvPr>
            </p:nvGraphicFramePr>
            <p:xfrm>
              <a:off x="970722" y="1910188"/>
              <a:ext cx="5563146" cy="4262260"/>
            </p:xfrm>
            <a:graphic>
              <a:graphicData uri="http://schemas.openxmlformats.org/drawingml/2006/table">
                <a:tbl>
                  <a:tblPr/>
                  <a:tblGrid>
                    <a:gridCol w="1854382">
                      <a:extLst>
                        <a:ext uri="{9D8B030D-6E8A-4147-A177-3AD203B41FA5}">
                          <a16:colId xmlns:a16="http://schemas.microsoft.com/office/drawing/2014/main" val="50654299"/>
                        </a:ext>
                      </a:extLst>
                    </a:gridCol>
                    <a:gridCol w="1854382">
                      <a:extLst>
                        <a:ext uri="{9D8B030D-6E8A-4147-A177-3AD203B41FA5}">
                          <a16:colId xmlns:a16="http://schemas.microsoft.com/office/drawing/2014/main" val="2115388880"/>
                        </a:ext>
                      </a:extLst>
                    </a:gridCol>
                    <a:gridCol w="1854382">
                      <a:extLst>
                        <a:ext uri="{9D8B030D-6E8A-4147-A177-3AD203B41FA5}">
                          <a16:colId xmlns:a16="http://schemas.microsoft.com/office/drawing/2014/main" val="2448725575"/>
                        </a:ext>
                      </a:extLst>
                    </a:gridCol>
                  </a:tblGrid>
                  <a:tr h="473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ESTIMATED PARAMETER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ECONOMIC INTERPRETATION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400" b="1" noProof="0" dirty="0" smtClean="0"/>
                            <a:t>DECISION-MAKING</a:t>
                          </a:r>
                          <a:r>
                            <a:rPr lang="en-GB" sz="1400" b="1" baseline="0" noProof="0" dirty="0" smtClean="0"/>
                            <a:t> (POLICY)</a:t>
                          </a:r>
                          <a:endParaRPr lang="en-GB" sz="1400" b="1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4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058355"/>
                      </a:ext>
                    </a:extLst>
                  </a:tr>
                  <a:tr h="8487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" t="-59712" r="-200987" b="-348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10% increase in GDP per capita is associated with a </a:t>
                          </a:r>
                          <a:r>
                            <a:rPr lang="en-GB" sz="1000" b="1" noProof="0" dirty="0" smtClean="0"/>
                            <a:t>0.025 percentage-point increase</a:t>
                          </a:r>
                          <a:r>
                            <a:rPr lang="en-GB" sz="1000" noProof="0" dirty="0" smtClean="0"/>
                            <a:t> in unemployment.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Policies promoting regional economic growth may contribute to lower unemployment.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5869326"/>
                      </a:ext>
                    </a:extLst>
                  </a:tr>
                  <a:tr h="10458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" t="-129070" r="-200987" b="-181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one percentage-point increase in employment in the high-tech sector reduces unemployment by </a:t>
                          </a:r>
                          <a:r>
                            <a:rPr lang="en-GB" sz="1000" b="1" noProof="0" dirty="0" smtClean="0"/>
                            <a:t>0.45 percentage points</a:t>
                          </a:r>
                          <a:r>
                            <a:rPr lang="en-GB" sz="1000" noProof="0" dirty="0" smtClean="0"/>
                            <a:t>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Investments in innovation and high-tech industries may improve labour market outcomes.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7761154"/>
                      </a:ext>
                    </a:extLst>
                  </a:tr>
                  <a:tr h="10458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" t="-229070" r="-200987" b="-81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one percentage-point increase in the share of service employment reduces unemployment by </a:t>
                          </a:r>
                          <a:r>
                            <a:rPr lang="en-GB" sz="1000" b="1" noProof="0" dirty="0" smtClean="0"/>
                            <a:t>0.02 percentage points</a:t>
                          </a:r>
                          <a:r>
                            <a:rPr lang="en-GB" sz="1000" noProof="0" dirty="0" smtClean="0"/>
                            <a:t>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Expanding service-sector employment may help absorb labour supply, particularly in urban regions.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5279320"/>
                      </a:ext>
                    </a:extLst>
                  </a:tr>
                  <a:tr h="8487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29" t="-407194" r="-200987" b="-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 smtClean="0"/>
                            <a:t>A 10% increase in population density is associated with a </a:t>
                          </a:r>
                          <a:r>
                            <a:rPr lang="en-GB" sz="1000" b="1" noProof="0" dirty="0" smtClean="0"/>
                            <a:t>0.021 percentage-point decrease</a:t>
                          </a:r>
                          <a:r>
                            <a:rPr lang="en-GB" sz="1000" noProof="0" dirty="0" smtClean="0"/>
                            <a:t> in unemployment.</a:t>
                          </a:r>
                          <a:endParaRPr lang="en-GB" sz="1000" noProof="0" dirty="0"/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000" noProof="0" dirty="0"/>
                            <a:t>Denser regions may benefit from agglomeration economies and stronger labour-market matching.</a:t>
                          </a:r>
                        </a:p>
                      </a:txBody>
                      <a:tcPr marL="46327" marR="46327" marT="23164" marB="23164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644572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D3930D-BD5C-C44F-3F19-976BCF92042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54306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sz="1800" b="1" dirty="0" smtClean="0"/>
              <a:t>From Statistics to Decisions</a:t>
            </a:r>
          </a:p>
          <a:p>
            <a:pPr lvl="1"/>
            <a:r>
              <a:rPr lang="en-GB" sz="1600" dirty="0" smtClean="0"/>
              <a:t>Regions experiencing a 10% increase in GDP per capita tend to exhibit unemployment rates that are approximately 0.025 percentage points higher, holding other factors constant</a:t>
            </a:r>
          </a:p>
          <a:p>
            <a:r>
              <a:rPr lang="en-GB" sz="1800" b="1" dirty="0" smtClean="0"/>
              <a:t>Budget of €100 million</a:t>
            </a:r>
            <a:r>
              <a:rPr lang="en-GB" sz="1600" dirty="0" smtClean="0"/>
              <a:t> to reduce regional unemployment – which </a:t>
            </a:r>
            <a:r>
              <a:rPr lang="en-GB" sz="1800" b="1" dirty="0" smtClean="0"/>
              <a:t>determinant</a:t>
            </a:r>
            <a:r>
              <a:rPr lang="en-GB" sz="1600" dirty="0" smtClean="0"/>
              <a:t> would you target first and why? </a:t>
            </a:r>
            <a:r>
              <a:rPr lang="en-GB" sz="1600" dirty="0" smtClean="0">
                <a:latin typeface="+mn-lt"/>
                <a:cs typeface="Times New Roman" panose="02020603050405020304" pitchFamily="18" charset="0"/>
              </a:rPr>
              <a:t>→ I</a:t>
            </a:r>
            <a:r>
              <a:rPr lang="en-GB" sz="1600" dirty="0" smtClean="0"/>
              <a:t>ncrease innovation and high-tech employment?; Improve transport infrastructure to stimulate GDP?; Support the service sector?; Focus on lagging regions?</a:t>
            </a:r>
          </a:p>
          <a:p>
            <a:r>
              <a:rPr lang="en-GB" sz="1800" b="1" dirty="0" smtClean="0"/>
              <a:t>Econometric models</a:t>
            </a:r>
            <a:r>
              <a:rPr lang="en-GB" sz="1800" dirty="0" smtClean="0"/>
              <a:t> </a:t>
            </a:r>
            <a:r>
              <a:rPr lang="en-GB" sz="1600" dirty="0" smtClean="0"/>
              <a:t>do not make policy decisions – they </a:t>
            </a:r>
            <a:r>
              <a:rPr lang="en-GB" sz="1800" b="1" dirty="0" smtClean="0"/>
              <a:t>provide quantitative evidence to support policy decision-making</a:t>
            </a:r>
            <a:r>
              <a:rPr lang="en-GB" sz="1600" dirty="0" smtClean="0"/>
              <a:t>. Decision-makers must also consider costs, feasibility, equity, and long-term objectives.</a:t>
            </a:r>
          </a:p>
        </p:txBody>
      </p:sp>
    </p:spTree>
    <p:extLst>
      <p:ext uri="{BB962C8B-B14F-4D97-AF65-F5344CB8AC3E}">
        <p14:creationId xmlns:p14="http://schemas.microsoft.com/office/powerpoint/2010/main" val="2762024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Contact: </a:t>
            </a:r>
            <a:r>
              <a:rPr lang="en-GB" noProof="0" dirty="0" smtClean="0"/>
              <a:t>peter.knizat@statistics.sk</a:t>
            </a:r>
            <a:endParaRPr lang="sk-SK" noProof="0" dirty="0" smtClean="0"/>
          </a:p>
          <a:p>
            <a:r>
              <a:rPr lang="sk-SK" dirty="0"/>
              <a:t> </a:t>
            </a:r>
            <a:r>
              <a:rPr lang="sk-SK" dirty="0" smtClean="0"/>
              <a:t>              knizat3@uniba.sk </a:t>
            </a:r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25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purl.org/dc/dcmitype/"/>
    <ds:schemaRef ds:uri="http://purl.org/dc/elements/1.1/"/>
    <ds:schemaRef ds:uri="0e422b70-e85d-4377-8ee0-b6227433d381"/>
    <ds:schemaRef ds:uri="http://www.w3.org/XML/1998/namespace"/>
    <ds:schemaRef ds:uri="199f642e-5af9-486c-ac06-f366742ef41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1215</TotalTime>
  <Words>3333</Words>
  <Application>Microsoft Office PowerPoint</Application>
  <PresentationFormat>Širokouhlá</PresentationFormat>
  <Paragraphs>298</Paragraphs>
  <Slides>25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Times New Roman</vt:lpstr>
      <vt:lpstr>ESTAT Theme</vt:lpstr>
      <vt:lpstr>Cross-Sectional Data Analysis</vt:lpstr>
      <vt:lpstr>LEARNING OBJECTIVES</vt:lpstr>
      <vt:lpstr>MOTIVATION</vt:lpstr>
      <vt:lpstr>INTRODUCTION</vt:lpstr>
      <vt:lpstr>WHY DO WE ANALYSE CROSS-SECTIONAL DATA?</vt:lpstr>
      <vt:lpstr>DATA IN R</vt:lpstr>
      <vt:lpstr>BASIC ECONOMETRIC MODEL FRAMEWORK</vt:lpstr>
      <vt:lpstr>LINEAR REGRESSION IN R – DYNAMICS OF REGIONAL UNEMPLOYMENT</vt:lpstr>
      <vt:lpstr>DYNAMICS OF REGIONAL UNEMPLOYMENT – KEY DETERMINANTS</vt:lpstr>
      <vt:lpstr>BASIC ESTIMATION OF ECONOMETRIC MODEL</vt:lpstr>
      <vt:lpstr>ESTIMATION METHODS</vt:lpstr>
      <vt:lpstr>INTERPRETATION OF ESTIMATED MODEL‘S OUTPUTS</vt:lpstr>
      <vt:lpstr>MODEL DIAGNOSTICS</vt:lpstr>
      <vt:lpstr>MODEL DIAGNOSTICS: MULTICOLLINEARITY, ENDOGENEITY, HETEROSCEDASTICITY, SPATIAL AUTOCORRELATION</vt:lpstr>
      <vt:lpstr>WEIGHTED ESTIMATION OF ECONOMETRIC MODEL</vt:lpstr>
      <vt:lpstr>ROBUST ESTIMATION OF ECONOMETRIC MODEL</vt:lpstr>
      <vt:lpstr>GMM ESTIMATION OF ECONOMETRIC MODEL</vt:lpstr>
      <vt:lpstr>QUANTILE ESTIMATION OF ECONOMETRIC MODEL</vt:lpstr>
      <vt:lpstr>ESTIMATION OF SPATIAL ECONOMETRIC MODEL</vt:lpstr>
      <vt:lpstr>DATA TRANSFORMATION FOR ECONOMETRIC ANALYSIS – WHY? </vt:lpstr>
      <vt:lpstr>LOGARITHMIC DATA TRANSFORMATION IN ECONOMETRICS</vt:lpstr>
      <vt:lpstr>LINEAR-LOG MODEL</vt:lpstr>
      <vt:lpstr>INTERPRETATION OF ESTIMATED MODEL‘S OUTPUTS</vt:lpstr>
      <vt:lpstr>INTERPRETATION OF RESULTS FOR DECISION-MAKING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Knížat Peter</cp:lastModifiedBy>
  <cp:revision>182</cp:revision>
  <dcterms:created xsi:type="dcterms:W3CDTF">2024-11-22T11:11:00Z</dcterms:created>
  <dcterms:modified xsi:type="dcterms:W3CDTF">2026-08-06T11:24:47Z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