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28"/>
  </p:notesMasterIdLst>
  <p:handoutMasterIdLst>
    <p:handoutMasterId r:id="rId29"/>
  </p:handoutMasterIdLst>
  <p:sldIdLst>
    <p:sldId id="256" r:id="rId5"/>
    <p:sldId id="257" r:id="rId6"/>
    <p:sldId id="281" r:id="rId7"/>
    <p:sldId id="283" r:id="rId8"/>
    <p:sldId id="282" r:id="rId9"/>
    <p:sldId id="263" r:id="rId10"/>
    <p:sldId id="266" r:id="rId11"/>
    <p:sldId id="285" r:id="rId12"/>
    <p:sldId id="286" r:id="rId13"/>
    <p:sldId id="287" r:id="rId14"/>
    <p:sldId id="284" r:id="rId15"/>
    <p:sldId id="288" r:id="rId16"/>
    <p:sldId id="289" r:id="rId17"/>
    <p:sldId id="290" r:id="rId18"/>
    <p:sldId id="292" r:id="rId19"/>
    <p:sldId id="291" r:id="rId20"/>
    <p:sldId id="294" r:id="rId21"/>
    <p:sldId id="293" r:id="rId22"/>
    <p:sldId id="296" r:id="rId23"/>
    <p:sldId id="295" r:id="rId24"/>
    <p:sldId id="297" r:id="rId25"/>
    <p:sldId id="280" r:id="rId26"/>
    <p:sldId id="261" r:id="rId27"/>
  </p:sldIdLst>
  <p:sldSz cx="12192000" cy="6858000"/>
  <p:notesSz cx="6858000" cy="9144000"/>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92">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59" roundtripDataSignature="AMtx7mh3YP3xexYcFoahXa2ehi0H5V4Z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010"/>
    <a:srgbClr val="F4F4F4"/>
    <a:srgbClr val="2644A7"/>
    <a:srgbClr val="104F99"/>
    <a:srgbClr val="0E47CB"/>
    <a:srgbClr val="003180"/>
    <a:srgbClr val="0A2744"/>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AA4A9A-08D4-41EC-A222-5D5926BFFED6}" v="2" dt="2025-07-04T13:46:36.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redný štýl 1 - zvýrazneni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81100" autoAdjust="0"/>
  </p:normalViewPr>
  <p:slideViewPr>
    <p:cSldViewPr snapToGrid="0">
      <p:cViewPr varScale="1">
        <p:scale>
          <a:sx n="93" d="100"/>
          <a:sy n="93" d="100"/>
        </p:scale>
        <p:origin x="1002" y="90"/>
      </p:cViewPr>
      <p:guideLst>
        <p:guide orient="horz" pos="2092"/>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5" d="100"/>
          <a:sy n="75" d="100"/>
        </p:scale>
        <p:origin x="293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64"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6D6800-DB9C-EBAC-83AC-5F9D7E2C8B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BDED1430-DB1F-C50E-E2CC-369D36DF27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BFB8CE-488C-4A7E-87F2-3AF6127C51C1}" type="datetimeFigureOut">
              <a:rPr lang="en-IE" smtClean="0"/>
              <a:t>11/08/2026</a:t>
            </a:fld>
            <a:endParaRPr lang="en-IE"/>
          </a:p>
        </p:txBody>
      </p:sp>
      <p:sp>
        <p:nvSpPr>
          <p:cNvPr id="4" name="Footer Placeholder 3">
            <a:extLst>
              <a:ext uri="{FF2B5EF4-FFF2-40B4-BE49-F238E27FC236}">
                <a16:creationId xmlns:a16="http://schemas.microsoft.com/office/drawing/2014/main" id="{E41B46C1-E31F-1BE5-CF29-FC2D8EA3E2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24A38F49-91A1-E3F0-770A-4578CF8E58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9F2F4C-E206-483F-A4B8-E82471BA527C}" type="slidenum">
              <a:rPr lang="en-IE" smtClean="0"/>
              <a:t>‹#›</a:t>
            </a:fld>
            <a:endParaRPr lang="en-IE"/>
          </a:p>
        </p:txBody>
      </p:sp>
    </p:spTree>
    <p:extLst>
      <p:ext uri="{BB962C8B-B14F-4D97-AF65-F5344CB8AC3E}">
        <p14:creationId xmlns:p14="http://schemas.microsoft.com/office/powerpoint/2010/main" val="2619827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en-GB" dirty="0"/>
          </a:p>
        </p:txBody>
      </p:sp>
      <p:sp>
        <p:nvSpPr>
          <p:cNvPr id="4" name="Zástupný objekt pre číslo snímky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14303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en-GB" dirty="0"/>
          </a:p>
        </p:txBody>
      </p:sp>
      <p:sp>
        <p:nvSpPr>
          <p:cNvPr id="4" name="Zástupný objekt pre číslo snímky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15</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14697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 Title Slide">
    <p:spTree>
      <p:nvGrpSpPr>
        <p:cNvPr id="1" name="Shape 14"/>
        <p:cNvGrpSpPr/>
        <p:nvPr/>
      </p:nvGrpSpPr>
      <p:grpSpPr>
        <a:xfrm>
          <a:off x="0" y="0"/>
          <a:ext cx="0" cy="0"/>
          <a:chOff x="0" y="0"/>
          <a:chExt cx="0" cy="0"/>
        </a:xfrm>
      </p:grpSpPr>
      <p:pic>
        <p:nvPicPr>
          <p:cNvPr id="3" name="Picture 2">
            <a:extLst>
              <a:ext uri="{FF2B5EF4-FFF2-40B4-BE49-F238E27FC236}">
                <a16:creationId xmlns:a16="http://schemas.microsoft.com/office/drawing/2014/main" id="{CD898605-EE7A-6AAE-447A-080B2C6D2258}"/>
              </a:ext>
            </a:extLst>
          </p:cNvPr>
          <p:cNvPicPr>
            <a:picLocks noGrp="1" noRot="1" noChangeAspect="1" noMove="1" noResize="1" noEditPoints="1" noAdjustHandles="1" noChangeArrowheads="1" noChangeShapeType="1" noCrop="1"/>
          </p:cNvPicPr>
          <p:nvPr userDrawn="1"/>
        </p:nvPicPr>
        <p:blipFill>
          <a:blip r:embed="rId2"/>
          <a:srcRect t="3042" b="3042"/>
          <a:stretch/>
        </p:blipFill>
        <p:spPr>
          <a:xfrm>
            <a:off x="-918" y="0"/>
            <a:ext cx="12192001" cy="6866879"/>
          </a:xfrm>
          <a:prstGeom prst="rect">
            <a:avLst/>
          </a:prstGeom>
        </p:spPr>
      </p:pic>
      <p:sp>
        <p:nvSpPr>
          <p:cNvPr id="19" name="Google Shape;19;p22"/>
          <p:cNvSpPr txBox="1">
            <a:spLocks noGrp="1"/>
          </p:cNvSpPr>
          <p:nvPr>
            <p:ph type="subTitle" idx="1"/>
          </p:nvPr>
        </p:nvSpPr>
        <p:spPr>
          <a:xfrm>
            <a:off x="1112521" y="3277775"/>
            <a:ext cx="3957106" cy="1745469"/>
          </a:xfrm>
          <a:prstGeom prst="rect">
            <a:avLst/>
          </a:prstGeom>
          <a:noFill/>
          <a:ln>
            <a:noFill/>
          </a:ln>
        </p:spPr>
        <p:txBody>
          <a:bodyPr spcFirstLastPara="1" wrap="square" lIns="91425" tIns="45700" rIns="91425" bIns="45700" anchor="t" anchorCtr="0">
            <a:noAutofit/>
          </a:bodyPr>
          <a:lstStyle>
            <a:lvl1pPr marL="0" lvl="0" algn="l">
              <a:lnSpc>
                <a:spcPct val="100000"/>
              </a:lnSpc>
              <a:spcBef>
                <a:spcPts val="0"/>
              </a:spcBef>
              <a:spcAft>
                <a:spcPts val="0"/>
              </a:spcAft>
              <a:buSzPts val="2800"/>
              <a:buNone/>
              <a:defRPr sz="2800" i="0">
                <a:solidFill>
                  <a:schemeClr val="bg1"/>
                </a:solidFill>
              </a:defRPr>
            </a:lvl1pPr>
            <a:lvl2pPr lvl="1" algn="ctr">
              <a:lnSpc>
                <a:spcPct val="100000"/>
              </a:lnSpc>
              <a:spcBef>
                <a:spcPts val="1800"/>
              </a:spcBef>
              <a:spcAft>
                <a:spcPts val="0"/>
              </a:spcAft>
              <a:buSzPts val="2000"/>
              <a:buNone/>
              <a:defRPr sz="2000"/>
            </a:lvl2pPr>
            <a:lvl3pPr lvl="2" algn="ctr">
              <a:lnSpc>
                <a:spcPct val="100000"/>
              </a:lnSpc>
              <a:spcBef>
                <a:spcPts val="1800"/>
              </a:spcBef>
              <a:spcAft>
                <a:spcPts val="0"/>
              </a:spcAft>
              <a:buSzPts val="1800"/>
              <a:buNone/>
              <a:defRPr sz="1800"/>
            </a:lvl3pPr>
            <a:lvl4pPr lvl="3" algn="ctr">
              <a:lnSpc>
                <a:spcPct val="100000"/>
              </a:lnSpc>
              <a:spcBef>
                <a:spcPts val="1800"/>
              </a:spcBef>
              <a:spcAft>
                <a:spcPts val="0"/>
              </a:spcAft>
              <a:buSzPts val="1600"/>
              <a:buNone/>
              <a:defRPr sz="1600"/>
            </a:lvl4pPr>
            <a:lvl5pPr lvl="4" algn="ctr">
              <a:lnSpc>
                <a:spcPct val="100000"/>
              </a:lnSpc>
              <a:spcBef>
                <a:spcPts val="1800"/>
              </a:spcBef>
              <a:spcAft>
                <a:spcPts val="0"/>
              </a:spcAft>
              <a:buSzPts val="1600"/>
              <a:buNone/>
              <a:defRPr sz="1600"/>
            </a:lvl5pPr>
            <a:lvl6pPr lvl="5" algn="ctr">
              <a:lnSpc>
                <a:spcPct val="90000"/>
              </a:lnSpc>
              <a:spcBef>
                <a:spcPts val="1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dirty="0"/>
              <a:t>Click to edit Master subtitle style</a:t>
            </a:r>
            <a:endParaRPr dirty="0"/>
          </a:p>
        </p:txBody>
      </p:sp>
      <p:pic>
        <p:nvPicPr>
          <p:cNvPr id="5" name="Picture 4">
            <a:extLst>
              <a:ext uri="{FF2B5EF4-FFF2-40B4-BE49-F238E27FC236}">
                <a16:creationId xmlns:a16="http://schemas.microsoft.com/office/drawing/2014/main" id="{0D09F257-77BC-80DD-CDE4-F5B22D79517B}"/>
              </a:ext>
            </a:extLst>
          </p:cNvPr>
          <p:cNvPicPr>
            <a:picLocks noChangeAspect="1"/>
          </p:cNvPicPr>
          <p:nvPr userDrawn="1"/>
        </p:nvPicPr>
        <p:blipFill>
          <a:blip r:embed="rId3"/>
          <a:srcRect/>
          <a:stretch/>
        </p:blipFill>
        <p:spPr>
          <a:xfrm>
            <a:off x="7381876" y="3596720"/>
            <a:ext cx="4224858" cy="1374485"/>
          </a:xfrm>
          <a:prstGeom prst="rect">
            <a:avLst/>
          </a:prstGeom>
        </p:spPr>
      </p:pic>
      <p:sp>
        <p:nvSpPr>
          <p:cNvPr id="16" name="Title 15">
            <a:extLst>
              <a:ext uri="{FF2B5EF4-FFF2-40B4-BE49-F238E27FC236}">
                <a16:creationId xmlns:a16="http://schemas.microsoft.com/office/drawing/2014/main" id="{784A076C-4C5D-810C-C205-F06C491692A3}"/>
              </a:ext>
            </a:extLst>
          </p:cNvPr>
          <p:cNvSpPr>
            <a:spLocks noGrp="1"/>
          </p:cNvSpPr>
          <p:nvPr>
            <p:ph type="title"/>
          </p:nvPr>
        </p:nvSpPr>
        <p:spPr>
          <a:xfrm>
            <a:off x="1112521" y="885018"/>
            <a:ext cx="9448800" cy="2037783"/>
          </a:xfrm>
        </p:spPr>
        <p:txBody>
          <a:bodyPr anchor="ctr"/>
          <a:lstStyle>
            <a:lvl1pPr>
              <a:defRPr sz="4800">
                <a:solidFill>
                  <a:schemeClr val="bg1"/>
                </a:solidFill>
              </a:defRPr>
            </a:lvl1pPr>
          </a:lstStyle>
          <a:p>
            <a:r>
              <a:rPr lang="en-US" dirty="0"/>
              <a:t>Click to edit Master title style</a:t>
            </a:r>
            <a:endParaRPr lang="en-IE" dirty="0"/>
          </a:p>
        </p:txBody>
      </p:sp>
      <p:sp>
        <p:nvSpPr>
          <p:cNvPr id="24" name="Text Placeholder 23">
            <a:extLst>
              <a:ext uri="{FF2B5EF4-FFF2-40B4-BE49-F238E27FC236}">
                <a16:creationId xmlns:a16="http://schemas.microsoft.com/office/drawing/2014/main" id="{E5F2B0E4-A35A-CFA1-4E98-55EAD82CE82B}"/>
              </a:ext>
            </a:extLst>
          </p:cNvPr>
          <p:cNvSpPr>
            <a:spLocks noGrp="1"/>
          </p:cNvSpPr>
          <p:nvPr>
            <p:ph type="body" sz="quarter" idx="10"/>
          </p:nvPr>
        </p:nvSpPr>
        <p:spPr>
          <a:xfrm>
            <a:off x="1307994" y="5771588"/>
            <a:ext cx="2509626" cy="777875"/>
          </a:xfrm>
        </p:spPr>
        <p:txBody>
          <a:bodyPr/>
          <a:lstStyle>
            <a:lvl1pPr marL="0" indent="0">
              <a:buNone/>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159407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1F3BA733-25B6-C4BB-1150-48850654F2C6}"/>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6" name="Picture 5">
            <a:extLst>
              <a:ext uri="{FF2B5EF4-FFF2-40B4-BE49-F238E27FC236}">
                <a16:creationId xmlns:a16="http://schemas.microsoft.com/office/drawing/2014/main" id="{3BD3E27D-21BB-B8BD-0101-611C3D7A991F}"/>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4" name="Content Placeholder 3">
            <a:extLst>
              <a:ext uri="{FF2B5EF4-FFF2-40B4-BE49-F238E27FC236}">
                <a16:creationId xmlns:a16="http://schemas.microsoft.com/office/drawing/2014/main" id="{B938CD64-6B9A-81A2-BDB2-55DA96C9E7A9}"/>
              </a:ext>
            </a:extLst>
          </p:cNvPr>
          <p:cNvSpPr>
            <a:spLocks noGrp="1"/>
          </p:cNvSpPr>
          <p:nvPr>
            <p:ph sz="half" idx="2"/>
          </p:nvPr>
        </p:nvSpPr>
        <p:spPr>
          <a:xfrm>
            <a:off x="970722" y="1901951"/>
            <a:ext cx="10515597" cy="4194176"/>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33350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2">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pic>
        <p:nvPicPr>
          <p:cNvPr id="6" name="Picture 5">
            <a:extLst>
              <a:ext uri="{FF2B5EF4-FFF2-40B4-BE49-F238E27FC236}">
                <a16:creationId xmlns:a16="http://schemas.microsoft.com/office/drawing/2014/main" id="{B0491114-E7C3-4716-7109-6FDE72E853DE}"/>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7" name="Picture 6">
            <a:extLst>
              <a:ext uri="{FF2B5EF4-FFF2-40B4-BE49-F238E27FC236}">
                <a16:creationId xmlns:a16="http://schemas.microsoft.com/office/drawing/2014/main" id="{95C1ABAA-9559-8C24-1A56-0668CC664359}"/>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8" name="Content Placeholder 3">
            <a:extLst>
              <a:ext uri="{FF2B5EF4-FFF2-40B4-BE49-F238E27FC236}">
                <a16:creationId xmlns:a16="http://schemas.microsoft.com/office/drawing/2014/main" id="{EBC1E451-4262-316A-7418-6EF16E04908E}"/>
              </a:ext>
            </a:extLst>
          </p:cNvPr>
          <p:cNvSpPr>
            <a:spLocks noGrp="1"/>
          </p:cNvSpPr>
          <p:nvPr>
            <p:ph sz="half" idx="2"/>
          </p:nvPr>
        </p:nvSpPr>
        <p:spPr>
          <a:xfrm>
            <a:off x="970723"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A0B9F341-14FC-51F5-105A-E4BFB54BFEDD}"/>
              </a:ext>
            </a:extLst>
          </p:cNvPr>
          <p:cNvSpPr>
            <a:spLocks noGrp="1"/>
          </p:cNvSpPr>
          <p:nvPr>
            <p:ph sz="half" idx="16"/>
          </p:nvPr>
        </p:nvSpPr>
        <p:spPr>
          <a:xfrm>
            <a:off x="6533867"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92824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3">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sp>
        <p:nvSpPr>
          <p:cNvPr id="4" name="Text Placeholder 2">
            <a:extLst>
              <a:ext uri="{FF2B5EF4-FFF2-40B4-BE49-F238E27FC236}">
                <a16:creationId xmlns:a16="http://schemas.microsoft.com/office/drawing/2014/main" id="{949220B6-B4CB-BA59-8F58-4304C8D422BD}"/>
              </a:ext>
            </a:extLst>
          </p:cNvPr>
          <p:cNvSpPr>
            <a:spLocks noGrp="1"/>
          </p:cNvSpPr>
          <p:nvPr>
            <p:ph type="body" idx="1"/>
          </p:nvPr>
        </p:nvSpPr>
        <p:spPr>
          <a:xfrm>
            <a:off x="970723" y="1894895"/>
            <a:ext cx="5157787" cy="823912"/>
          </a:xfrm>
        </p:spPr>
        <p:txBody>
          <a:bodyPr wrap="square" anchor="t">
            <a:noAutofit/>
          </a:bodyPr>
          <a:lstStyle>
            <a:lvl1pPr marL="0" indent="0">
              <a:buNone/>
              <a:defRPr sz="2400" b="0" baseline="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DB0ABC1-873A-F2DD-170F-E80FE4830D28}"/>
              </a:ext>
            </a:extLst>
          </p:cNvPr>
          <p:cNvSpPr>
            <a:spLocks noGrp="1"/>
          </p:cNvSpPr>
          <p:nvPr>
            <p:ph sz="half" idx="2"/>
          </p:nvPr>
        </p:nvSpPr>
        <p:spPr>
          <a:xfrm>
            <a:off x="970723" y="2725735"/>
            <a:ext cx="5157787"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4">
            <a:extLst>
              <a:ext uri="{FF2B5EF4-FFF2-40B4-BE49-F238E27FC236}">
                <a16:creationId xmlns:a16="http://schemas.microsoft.com/office/drawing/2014/main" id="{0057B6DC-82B6-DC47-2B36-FBA16BFA54D7}"/>
              </a:ext>
            </a:extLst>
          </p:cNvPr>
          <p:cNvSpPr>
            <a:spLocks noGrp="1"/>
          </p:cNvSpPr>
          <p:nvPr>
            <p:ph type="body" sz="quarter" idx="3"/>
          </p:nvPr>
        </p:nvSpPr>
        <p:spPr>
          <a:xfrm>
            <a:off x="6303134" y="1894895"/>
            <a:ext cx="5183188" cy="823912"/>
          </a:xfrm>
          <a:noFill/>
        </p:spPr>
        <p:txBody>
          <a:bodyPr wrap="square" anchor="t">
            <a:noAutofit/>
          </a:bodyPr>
          <a:lstStyle>
            <a:lvl1pPr marL="0" indent="0">
              <a:buNone/>
              <a:defRPr sz="2400" b="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pic>
        <p:nvPicPr>
          <p:cNvPr id="9" name="Picture 8">
            <a:extLst>
              <a:ext uri="{FF2B5EF4-FFF2-40B4-BE49-F238E27FC236}">
                <a16:creationId xmlns:a16="http://schemas.microsoft.com/office/drawing/2014/main" id="{6495916A-C750-070D-C528-9F655246DF58}"/>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10" name="Picture 9">
            <a:extLst>
              <a:ext uri="{FF2B5EF4-FFF2-40B4-BE49-F238E27FC236}">
                <a16:creationId xmlns:a16="http://schemas.microsoft.com/office/drawing/2014/main" id="{457D36BD-C483-ED07-0866-A0A591A01707}"/>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2" name="Content Placeholder 3">
            <a:extLst>
              <a:ext uri="{FF2B5EF4-FFF2-40B4-BE49-F238E27FC236}">
                <a16:creationId xmlns:a16="http://schemas.microsoft.com/office/drawing/2014/main" id="{A623D267-A36F-1DAC-4912-F35877117825}"/>
              </a:ext>
            </a:extLst>
          </p:cNvPr>
          <p:cNvSpPr>
            <a:spLocks noGrp="1"/>
          </p:cNvSpPr>
          <p:nvPr>
            <p:ph sz="half" idx="13"/>
          </p:nvPr>
        </p:nvSpPr>
        <p:spPr>
          <a:xfrm>
            <a:off x="6309559" y="2725735"/>
            <a:ext cx="5183188"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4734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option 1)" preserve="1" userDrawn="1">
  <p:cSld name="Last slide (option 1)">
    <p:spTree>
      <p:nvGrpSpPr>
        <p:cNvPr id="1" name="Shape 140"/>
        <p:cNvGrpSpPr/>
        <p:nvPr/>
      </p:nvGrpSpPr>
      <p:grpSpPr>
        <a:xfrm>
          <a:off x="0" y="0"/>
          <a:ext cx="0" cy="0"/>
          <a:chOff x="0" y="0"/>
          <a:chExt cx="0" cy="0"/>
        </a:xfrm>
      </p:grpSpPr>
      <p:sp>
        <p:nvSpPr>
          <p:cNvPr id="3" name="Google Shape;141;p37">
            <a:extLst>
              <a:ext uri="{FF2B5EF4-FFF2-40B4-BE49-F238E27FC236}">
                <a16:creationId xmlns:a16="http://schemas.microsoft.com/office/drawing/2014/main" id="{ACED6512-1BD5-58D6-D635-D62C0A34BF8C}"/>
              </a:ext>
            </a:extLst>
          </p:cNvPr>
          <p:cNvSpPr>
            <a:spLocks/>
          </p:cNvSpPr>
          <p:nvPr userDrawn="1"/>
        </p:nvSpPr>
        <p:spPr>
          <a:xfrm>
            <a:off x="0" y="3328560"/>
            <a:ext cx="12192000" cy="2913720"/>
          </a:xfrm>
          <a:prstGeom prst="rect">
            <a:avLst/>
          </a:prstGeom>
          <a:solidFill>
            <a:srgbClr val="2644A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44" name="Google Shape;144;p37"/>
          <p:cNvSpPr txBox="1">
            <a:spLocks noGrp="1"/>
          </p:cNvSpPr>
          <p:nvPr>
            <p:ph type="body" idx="1"/>
          </p:nvPr>
        </p:nvSpPr>
        <p:spPr>
          <a:xfrm>
            <a:off x="970723" y="3777422"/>
            <a:ext cx="6865686" cy="2174332"/>
          </a:xfrm>
          <a:prstGeom prst="rect">
            <a:avLst/>
          </a:prstGeom>
          <a:noFill/>
          <a:ln>
            <a:noFill/>
          </a:ln>
        </p:spPr>
        <p:txBody>
          <a:bodyPr spcFirstLastPara="1" wrap="square" lIns="91425" tIns="45700" rIns="91425" bIns="45700" anchor="t" anchorCtr="0">
            <a:noAutofit/>
          </a:bodyPr>
          <a:lstStyle>
            <a:lvl1pPr marL="0" lvl="0" indent="0" algn="l">
              <a:lnSpc>
                <a:spcPct val="100000"/>
              </a:lnSpc>
              <a:spcBef>
                <a:spcPts val="0"/>
              </a:spcBef>
              <a:spcAft>
                <a:spcPts val="0"/>
              </a:spcAft>
              <a:buSzPts val="1400"/>
              <a:buFont typeface="Arial"/>
              <a:buNone/>
              <a:defRPr sz="2400">
                <a:solidFill>
                  <a:srgbClr val="F4F4F4"/>
                </a:solidFill>
              </a:defRPr>
            </a:lvl1pPr>
            <a:lvl2pPr marL="914400" lvl="1" indent="-228600" algn="l">
              <a:lnSpc>
                <a:spcPct val="100000"/>
              </a:lnSpc>
              <a:spcBef>
                <a:spcPts val="1800"/>
              </a:spcBef>
              <a:spcAft>
                <a:spcPts val="0"/>
              </a:spcAft>
              <a:buSzPts val="2000"/>
              <a:buNone/>
              <a:defRPr/>
            </a:lvl2pPr>
            <a:lvl3pPr marL="1371600" lvl="2" indent="-342900" algn="l">
              <a:lnSpc>
                <a:spcPct val="100000"/>
              </a:lnSpc>
              <a:spcBef>
                <a:spcPts val="1800"/>
              </a:spcBef>
              <a:spcAft>
                <a:spcPts val="0"/>
              </a:spcAft>
              <a:buSzPts val="1800"/>
              <a:buChar char="•"/>
              <a:defRPr/>
            </a:lvl3pPr>
            <a:lvl4pPr marL="1828800" lvl="3" indent="-342900" algn="l">
              <a:lnSpc>
                <a:spcPct val="100000"/>
              </a:lnSpc>
              <a:spcBef>
                <a:spcPts val="1800"/>
              </a:spcBef>
              <a:spcAft>
                <a:spcPts val="0"/>
              </a:spcAft>
              <a:buSzPts val="1800"/>
              <a:buChar char="•"/>
              <a:defRPr/>
            </a:lvl4pPr>
            <a:lvl5pPr marL="2286000" lvl="4" indent="-342900" algn="l">
              <a:lnSpc>
                <a:spcPct val="100000"/>
              </a:lnSpc>
              <a:spcBef>
                <a:spcPts val="1800"/>
              </a:spcBef>
              <a:spcAft>
                <a:spcPts val="0"/>
              </a:spcAft>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pic>
        <p:nvPicPr>
          <p:cNvPr id="5" name="Picture 4">
            <a:extLst>
              <a:ext uri="{FF2B5EF4-FFF2-40B4-BE49-F238E27FC236}">
                <a16:creationId xmlns:a16="http://schemas.microsoft.com/office/drawing/2014/main" id="{3488A19F-A201-3EB2-A71E-1E51EF3E1B23}"/>
              </a:ext>
            </a:extLst>
          </p:cNvPr>
          <p:cNvPicPr>
            <a:picLocks noChangeAspect="1"/>
          </p:cNvPicPr>
          <p:nvPr userDrawn="1"/>
        </p:nvPicPr>
        <p:blipFill>
          <a:blip r:embed="rId2"/>
          <a:srcRect/>
          <a:stretch/>
        </p:blipFill>
        <p:spPr>
          <a:xfrm>
            <a:off x="8107569" y="3538903"/>
            <a:ext cx="2931525" cy="2412704"/>
          </a:xfrm>
          <a:prstGeom prst="rect">
            <a:avLst/>
          </a:prstGeom>
        </p:spPr>
      </p:pic>
      <p:sp>
        <p:nvSpPr>
          <p:cNvPr id="7" name="Title Placeholder 1">
            <a:extLst>
              <a:ext uri="{FF2B5EF4-FFF2-40B4-BE49-F238E27FC236}">
                <a16:creationId xmlns:a16="http://schemas.microsoft.com/office/drawing/2014/main" id="{9CD49B01-566F-CA34-C636-83E50BFD40E0}"/>
              </a:ext>
            </a:extLst>
          </p:cNvPr>
          <p:cNvSpPr>
            <a:spLocks noGrp="1"/>
          </p:cNvSpPr>
          <p:nvPr>
            <p:ph type="title"/>
          </p:nvPr>
        </p:nvSpPr>
        <p:spPr>
          <a:xfrm>
            <a:off x="970722" y="414281"/>
            <a:ext cx="10515600" cy="2937139"/>
          </a:xfrm>
          <a:prstGeom prst="rect">
            <a:avLst/>
          </a:prstGeom>
        </p:spPr>
        <p:txBody>
          <a:bodyPr vert="horz" lIns="91440" tIns="45720" rIns="91440" bIns="0" rtlCol="0" anchor="ctr" anchorCtr="0">
            <a:noAutofit/>
          </a:bodyPr>
          <a:lstStyle>
            <a:lvl1pPr algn="ctr">
              <a:defRPr sz="4800">
                <a:solidFill>
                  <a:srgbClr val="101010"/>
                </a:solidFill>
              </a:defRPr>
            </a:lvl1pPr>
          </a:lstStyle>
          <a:p>
            <a:r>
              <a:rPr lang="en-US" dirty="0"/>
              <a:t>Click to edit Master title style</a:t>
            </a:r>
            <a:endParaRPr lang="en-GB" dirty="0"/>
          </a:p>
        </p:txBody>
      </p:sp>
      <p:sp>
        <p:nvSpPr>
          <p:cNvPr id="8" name="Google Shape;10;p21">
            <a:extLst>
              <a:ext uri="{FF2B5EF4-FFF2-40B4-BE49-F238E27FC236}">
                <a16:creationId xmlns:a16="http://schemas.microsoft.com/office/drawing/2014/main" id="{C209E83E-F338-C8C6-D016-6C5FE194EA8B}"/>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a:t>
            </a:fld>
            <a:endParaRPr lang="en-GB"/>
          </a:p>
        </p:txBody>
      </p:sp>
      <p:pic>
        <p:nvPicPr>
          <p:cNvPr id="2" name="Picture 1">
            <a:extLst>
              <a:ext uri="{FF2B5EF4-FFF2-40B4-BE49-F238E27FC236}">
                <a16:creationId xmlns:a16="http://schemas.microsoft.com/office/drawing/2014/main" id="{736B8EBF-8A1C-818A-CBBC-1DC51D94C547}"/>
              </a:ext>
            </a:extLst>
          </p:cNvPr>
          <p:cNvPicPr>
            <a:picLocks noChangeAspect="1"/>
          </p:cNvPicPr>
          <p:nvPr userDrawn="1"/>
        </p:nvPicPr>
        <p:blipFill>
          <a:blip r:embed="rId3"/>
          <a:srcRect/>
          <a:stretch/>
        </p:blipFill>
        <p:spPr>
          <a:xfrm>
            <a:off x="10326539" y="5728720"/>
            <a:ext cx="1865461" cy="1130560"/>
          </a:xfrm>
          <a:prstGeom prst="rect">
            <a:avLst/>
          </a:prstGeom>
        </p:spPr>
      </p:pic>
      <p:pic>
        <p:nvPicPr>
          <p:cNvPr id="10" name="Picture 9">
            <a:extLst>
              <a:ext uri="{FF2B5EF4-FFF2-40B4-BE49-F238E27FC236}">
                <a16:creationId xmlns:a16="http://schemas.microsoft.com/office/drawing/2014/main" id="{A8541C9F-06FD-4BC7-C438-D852985D159B}"/>
              </a:ext>
            </a:extLst>
          </p:cNvPr>
          <p:cNvPicPr>
            <a:picLocks noChangeAspect="1"/>
          </p:cNvPicPr>
          <p:nvPr userDrawn="1"/>
        </p:nvPicPr>
        <p:blipFill>
          <a:blip r:embed="rId4"/>
          <a:srcRect/>
          <a:stretch/>
        </p:blipFill>
        <p:spPr>
          <a:xfrm>
            <a:off x="424731" y="6499013"/>
            <a:ext cx="1332000" cy="181429"/>
          </a:xfrm>
          <a:prstGeom prst="rect">
            <a:avLst/>
          </a:prstGeom>
        </p:spPr>
      </p:pic>
    </p:spTree>
    <p:extLst>
      <p:ext uri="{BB962C8B-B14F-4D97-AF65-F5344CB8AC3E}">
        <p14:creationId xmlns:p14="http://schemas.microsoft.com/office/powerpoint/2010/main" val="727149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21"/>
          <p:cNvSpPr txBox="1">
            <a:spLocks noGrp="1"/>
          </p:cNvSpPr>
          <p:nvPr>
            <p:ph type="title"/>
          </p:nvPr>
        </p:nvSpPr>
        <p:spPr>
          <a:xfrm>
            <a:off x="838200" y="763064"/>
            <a:ext cx="10515600"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4000"/>
              <a:buFont typeface="Arial"/>
              <a:buNone/>
              <a:defRPr sz="40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2" name="Google Shape;12;p21"/>
          <p:cNvSpPr txBox="1">
            <a:spLocks noGrp="1"/>
          </p:cNvSpPr>
          <p:nvPr>
            <p:ph type="body" idx="1"/>
          </p:nvPr>
        </p:nvSpPr>
        <p:spPr>
          <a:xfrm>
            <a:off x="838200" y="1825625"/>
            <a:ext cx="10515600" cy="388190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dk2"/>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727" r:id="rId1"/>
    <p:sldLayoutId id="2147483717" r:id="rId2"/>
    <p:sldLayoutId id="2147483724" r:id="rId3"/>
    <p:sldLayoutId id="2147483725" r:id="rId4"/>
    <p:sldLayoutId id="2147483723" r:id="rId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2644A7"/>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1177/1874765524130754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86E511-2A8E-CD8D-FA1D-6DDA5388CE10}"/>
              </a:ext>
            </a:extLst>
          </p:cNvPr>
          <p:cNvSpPr>
            <a:spLocks noGrp="1"/>
          </p:cNvSpPr>
          <p:nvPr>
            <p:ph type="subTitle" idx="1"/>
          </p:nvPr>
        </p:nvSpPr>
        <p:spPr>
          <a:xfrm>
            <a:off x="1112520" y="3277775"/>
            <a:ext cx="4774572" cy="1745469"/>
          </a:xfrm>
        </p:spPr>
        <p:txBody>
          <a:bodyPr/>
          <a:lstStyle/>
          <a:p>
            <a:r>
              <a:rPr lang="en-GB" dirty="0" smtClean="0"/>
              <a:t>New Data Sources in Official Statistics </a:t>
            </a:r>
            <a:endParaRPr lang="en-GB" dirty="0"/>
          </a:p>
        </p:txBody>
      </p:sp>
      <p:sp>
        <p:nvSpPr>
          <p:cNvPr id="3" name="Title 2">
            <a:extLst>
              <a:ext uri="{FF2B5EF4-FFF2-40B4-BE49-F238E27FC236}">
                <a16:creationId xmlns:a16="http://schemas.microsoft.com/office/drawing/2014/main" id="{E2518E6D-618C-DDB2-DF84-26EB66F0C2A9}"/>
              </a:ext>
            </a:extLst>
          </p:cNvPr>
          <p:cNvSpPr>
            <a:spLocks noGrp="1"/>
          </p:cNvSpPr>
          <p:nvPr>
            <p:ph type="title"/>
          </p:nvPr>
        </p:nvSpPr>
        <p:spPr/>
        <p:txBody>
          <a:bodyPr/>
          <a:lstStyle/>
          <a:p>
            <a:r>
              <a:rPr lang="sk-SK" noProof="0" dirty="0" smtClean="0"/>
              <a:t>NOWCASTING INDUSTRIAL PRODUCTION INDEX WITH TOLL DATA</a:t>
            </a:r>
            <a:endParaRPr lang="en-GB" noProof="0" dirty="0"/>
          </a:p>
        </p:txBody>
      </p:sp>
      <p:sp>
        <p:nvSpPr>
          <p:cNvPr id="4" name="Text Placeholder 3">
            <a:extLst>
              <a:ext uri="{FF2B5EF4-FFF2-40B4-BE49-F238E27FC236}">
                <a16:creationId xmlns:a16="http://schemas.microsoft.com/office/drawing/2014/main" id="{F3FA50BB-3958-DA6F-CD7B-74B9FFF5C40A}"/>
              </a:ext>
            </a:extLst>
          </p:cNvPr>
          <p:cNvSpPr>
            <a:spLocks noGrp="1"/>
          </p:cNvSpPr>
          <p:nvPr>
            <p:ph type="body" sz="quarter" idx="10"/>
          </p:nvPr>
        </p:nvSpPr>
        <p:spPr>
          <a:xfrm>
            <a:off x="1307994" y="5771588"/>
            <a:ext cx="6541462" cy="777875"/>
          </a:xfrm>
        </p:spPr>
        <p:txBody>
          <a:bodyPr/>
          <a:lstStyle/>
          <a:p>
            <a:r>
              <a:rPr lang="en-GB" noProof="0" dirty="0"/>
              <a:t>Dr Peter Knížat</a:t>
            </a:r>
          </a:p>
          <a:p>
            <a:r>
              <a:rPr lang="en-GB" noProof="0" dirty="0"/>
              <a:t>Statistical Office of the Slovak Republic</a:t>
            </a:r>
          </a:p>
          <a:p>
            <a:r>
              <a:rPr lang="en-GB" noProof="0" dirty="0"/>
              <a:t>Comenius University in Bratislava</a:t>
            </a:r>
          </a:p>
        </p:txBody>
      </p:sp>
    </p:spTree>
    <p:extLst>
      <p:ext uri="{BB962C8B-B14F-4D97-AF65-F5344CB8AC3E}">
        <p14:creationId xmlns:p14="http://schemas.microsoft.com/office/powerpoint/2010/main" val="3481153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LEARNING OBJECTIVES</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2</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Learning Objectives</a:t>
            </a:r>
            <a:r>
              <a:rPr lang="en-GB" dirty="0" smtClean="0"/>
              <a:t> </a:t>
            </a:r>
            <a:r>
              <a:rPr lang="en-GB" sz="1800" dirty="0" smtClean="0"/>
              <a:t>– after completing this session, participants will be able to</a:t>
            </a:r>
          </a:p>
          <a:p>
            <a:pPr algn="just"/>
            <a:endParaRPr lang="en-GB" sz="1800" dirty="0" smtClean="0"/>
          </a:p>
          <a:p>
            <a:pPr algn="just"/>
            <a:r>
              <a:rPr lang="en-GB" sz="1800" dirty="0" smtClean="0"/>
              <a:t>explain why administrative big data are increasingly used in official statistics</a:t>
            </a:r>
          </a:p>
          <a:p>
            <a:pPr algn="just"/>
            <a:r>
              <a:rPr lang="en-GB" sz="1800" dirty="0" smtClean="0"/>
              <a:t>construct a monthly truck-passage index from high-frequency toll records</a:t>
            </a:r>
            <a:r>
              <a:rPr lang="sk-SK" sz="1800" dirty="0" smtClean="0"/>
              <a:t> </a:t>
            </a:r>
            <a:r>
              <a:rPr lang="sk-SK" sz="1800" dirty="0" smtClean="0">
                <a:latin typeface="Times New Roman" panose="02020603050405020304" pitchFamily="18" charset="0"/>
                <a:cs typeface="Times New Roman" panose="02020603050405020304" pitchFamily="18" charset="0"/>
              </a:rPr>
              <a:t>→ </a:t>
            </a:r>
            <a:r>
              <a:rPr lang="en-GB" sz="1800" dirty="0" smtClean="0"/>
              <a:t>estimate bilateral and multilateral indices</a:t>
            </a:r>
          </a:p>
          <a:p>
            <a:pPr algn="just"/>
            <a:r>
              <a:rPr lang="en-GB" sz="1800" dirty="0" smtClean="0"/>
              <a:t>compare estimated indices with the Industrial Production Index (IPI)</a:t>
            </a:r>
          </a:p>
          <a:p>
            <a:pPr algn="just"/>
            <a:r>
              <a:rPr lang="en-GB" sz="1800" dirty="0" smtClean="0"/>
              <a:t>decompose time series into cyclical components using Empirical Mode Decomposition (EMD)</a:t>
            </a:r>
          </a:p>
          <a:p>
            <a:pPr algn="just"/>
            <a:r>
              <a:rPr lang="en-GB" sz="1800" dirty="0" smtClean="0"/>
              <a:t>reproduce the complete methodology in R</a:t>
            </a:r>
          </a:p>
          <a:p>
            <a:pPr marL="0" indent="0" algn="just">
              <a:buNone/>
            </a:pPr>
            <a:endParaRPr lang="en-GB" sz="1800" dirty="0" smtClean="0"/>
          </a:p>
          <a:p>
            <a:pPr marL="0" indent="0" algn="just">
              <a:buNone/>
            </a:pPr>
            <a:r>
              <a:rPr lang="en-GB" b="1" dirty="0" smtClean="0"/>
              <a:t>Key Question </a:t>
            </a:r>
            <a:r>
              <a:rPr lang="en-GB" sz="1800" b="1" dirty="0" smtClean="0"/>
              <a:t>– </a:t>
            </a:r>
            <a:r>
              <a:rPr lang="en-GB" sz="1800" dirty="0" smtClean="0"/>
              <a:t>Can road transport activity provide an early indication of industrial production before official statistics become available?</a:t>
            </a:r>
            <a:endParaRPr lang="en-GB" sz="1800" dirty="0"/>
          </a:p>
        </p:txBody>
      </p:sp>
    </p:spTree>
    <p:extLst>
      <p:ext uri="{BB962C8B-B14F-4D97-AF65-F5344CB8AC3E}">
        <p14:creationId xmlns:p14="http://schemas.microsoft.com/office/powerpoint/2010/main" val="4093939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MOTIVATION – NOWCASTING</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3</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sz="2200" b="1" dirty="0"/>
              <a:t>Why is nowcasting important?</a:t>
            </a:r>
          </a:p>
          <a:p>
            <a:pPr algn="just"/>
            <a:endParaRPr lang="sk-SK" dirty="0" smtClean="0"/>
          </a:p>
          <a:p>
            <a:pPr algn="just"/>
            <a:r>
              <a:rPr lang="en-GB" dirty="0" smtClean="0"/>
              <a:t>Official </a:t>
            </a:r>
            <a:r>
              <a:rPr lang="en-GB" dirty="0"/>
              <a:t>macroeconomic indicators are rarely available immediately after the reference </a:t>
            </a:r>
            <a:r>
              <a:rPr lang="en-GB" dirty="0" smtClean="0"/>
              <a:t>period.</a:t>
            </a:r>
            <a:r>
              <a:rPr lang="sk-SK" dirty="0" smtClean="0"/>
              <a:t> </a:t>
            </a:r>
            <a:r>
              <a:rPr lang="en-GB" dirty="0" smtClean="0"/>
              <a:t>Examples</a:t>
            </a:r>
            <a:r>
              <a:rPr lang="sk-SK" dirty="0" smtClean="0"/>
              <a:t>:</a:t>
            </a:r>
            <a:endParaRPr lang="en-GB" dirty="0"/>
          </a:p>
          <a:p>
            <a:pPr lvl="1" algn="just"/>
            <a:r>
              <a:rPr lang="en-GB" dirty="0" smtClean="0"/>
              <a:t>Gross </a:t>
            </a:r>
            <a:r>
              <a:rPr lang="en-GB" dirty="0"/>
              <a:t>Domestic Product (</a:t>
            </a:r>
            <a:r>
              <a:rPr lang="en-GB" dirty="0" smtClean="0"/>
              <a:t>GDP)</a:t>
            </a:r>
            <a:endParaRPr lang="sk-SK" dirty="0" smtClean="0"/>
          </a:p>
          <a:p>
            <a:pPr lvl="1" algn="just"/>
            <a:r>
              <a:rPr lang="en-GB" b="1" dirty="0" smtClean="0"/>
              <a:t>Industrial </a:t>
            </a:r>
            <a:r>
              <a:rPr lang="en-GB" b="1" dirty="0"/>
              <a:t>Production Index</a:t>
            </a:r>
            <a:r>
              <a:rPr lang="en-GB" dirty="0"/>
              <a:t> (</a:t>
            </a:r>
            <a:r>
              <a:rPr lang="en-GB" b="1" dirty="0" smtClean="0"/>
              <a:t>IPI</a:t>
            </a:r>
            <a:r>
              <a:rPr lang="en-GB" dirty="0" smtClean="0"/>
              <a:t>)</a:t>
            </a:r>
            <a:endParaRPr lang="sk-SK" dirty="0" smtClean="0"/>
          </a:p>
          <a:p>
            <a:pPr lvl="1" algn="just"/>
            <a:r>
              <a:rPr lang="en-GB" dirty="0" smtClean="0"/>
              <a:t>Retail Trade</a:t>
            </a:r>
            <a:endParaRPr lang="sk-SK" dirty="0" smtClean="0"/>
          </a:p>
          <a:p>
            <a:pPr lvl="1" algn="just"/>
            <a:r>
              <a:rPr lang="en-GB" dirty="0" smtClean="0"/>
              <a:t>Employment</a:t>
            </a:r>
            <a:endParaRPr lang="sk-SK" dirty="0"/>
          </a:p>
          <a:p>
            <a:pPr lvl="1" algn="just"/>
            <a:r>
              <a:rPr lang="en-GB" dirty="0" smtClean="0"/>
              <a:t>Construction </a:t>
            </a:r>
            <a:r>
              <a:rPr lang="en-GB" dirty="0"/>
              <a:t>Output</a:t>
            </a:r>
          </a:p>
          <a:p>
            <a:pPr algn="just"/>
            <a:endParaRPr lang="sk-SK" dirty="0" smtClean="0"/>
          </a:p>
          <a:p>
            <a:pPr algn="just"/>
            <a:r>
              <a:rPr lang="en-GB" dirty="0" smtClean="0"/>
              <a:t>These </a:t>
            </a:r>
            <a:r>
              <a:rPr lang="en-GB" dirty="0"/>
              <a:t>indicators usually become available several weeks after the end of the month.</a:t>
            </a:r>
          </a:p>
          <a:p>
            <a:pPr marL="0" indent="0">
              <a:buNone/>
            </a:pPr>
            <a:endParaRPr lang="en-GB" sz="1800" dirty="0" smtClean="0"/>
          </a:p>
        </p:txBody>
      </p:sp>
    </p:spTree>
    <p:extLst>
      <p:ext uri="{BB962C8B-B14F-4D97-AF65-F5344CB8AC3E}">
        <p14:creationId xmlns:p14="http://schemas.microsoft.com/office/powerpoint/2010/main" val="1484548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MOTIVATION – POLICY</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4</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sz="2200" b="1" dirty="0"/>
              <a:t>Policy problem</a:t>
            </a:r>
          </a:p>
          <a:p>
            <a:pPr algn="just"/>
            <a:endParaRPr lang="sk-SK" dirty="0" smtClean="0"/>
          </a:p>
          <a:p>
            <a:pPr marL="0" indent="0" algn="just">
              <a:buNone/>
            </a:pPr>
            <a:r>
              <a:rPr lang="en-GB" dirty="0" smtClean="0"/>
              <a:t>Governments </a:t>
            </a:r>
            <a:r>
              <a:rPr lang="en-GB" dirty="0"/>
              <a:t>and central banks cannot wait several weeks before making </a:t>
            </a:r>
            <a:r>
              <a:rPr lang="en-GB" dirty="0" smtClean="0"/>
              <a:t>decisions.</a:t>
            </a:r>
            <a:r>
              <a:rPr lang="sk-SK" dirty="0" smtClean="0"/>
              <a:t> </a:t>
            </a:r>
            <a:r>
              <a:rPr lang="en-GB" dirty="0" smtClean="0"/>
              <a:t>They </a:t>
            </a:r>
            <a:r>
              <a:rPr lang="en-GB" dirty="0"/>
              <a:t>require information describing</a:t>
            </a:r>
          </a:p>
          <a:p>
            <a:pPr algn="just"/>
            <a:r>
              <a:rPr lang="en-GB" dirty="0"/>
              <a:t>the current state of the economy, </a:t>
            </a:r>
          </a:p>
          <a:p>
            <a:pPr algn="just"/>
            <a:r>
              <a:rPr lang="en-GB" dirty="0"/>
              <a:t>recent changes, </a:t>
            </a:r>
          </a:p>
          <a:p>
            <a:pPr algn="just"/>
            <a:r>
              <a:rPr lang="en-GB" dirty="0"/>
              <a:t>possible turning points. </a:t>
            </a:r>
          </a:p>
          <a:p>
            <a:pPr marL="0" indent="0" algn="just">
              <a:buNone/>
            </a:pPr>
            <a:endParaRPr lang="sk-SK" dirty="0" smtClean="0"/>
          </a:p>
          <a:p>
            <a:pPr marL="0" indent="0" algn="just">
              <a:buNone/>
            </a:pPr>
            <a:r>
              <a:rPr lang="en-GB" dirty="0" smtClean="0"/>
              <a:t>Therefore</a:t>
            </a:r>
            <a:r>
              <a:rPr lang="en-GB" dirty="0"/>
              <a:t>, statistical offices increasingly investigate </a:t>
            </a:r>
            <a:r>
              <a:rPr lang="en-GB" b="1" dirty="0"/>
              <a:t>alternative data sources</a:t>
            </a:r>
            <a:r>
              <a:rPr lang="en-GB" dirty="0"/>
              <a:t> that become available almost immediately after economic activity occurs</a:t>
            </a:r>
            <a:r>
              <a:rPr lang="en-GB" dirty="0" smtClean="0"/>
              <a:t>.</a:t>
            </a:r>
            <a:endParaRPr lang="en-GB" dirty="0"/>
          </a:p>
          <a:p>
            <a:pPr marL="0" indent="0">
              <a:buNone/>
            </a:pPr>
            <a:endParaRPr lang="en-GB" sz="1800" dirty="0" smtClean="0"/>
          </a:p>
        </p:txBody>
      </p:sp>
    </p:spTree>
    <p:extLst>
      <p:ext uri="{BB962C8B-B14F-4D97-AF65-F5344CB8AC3E}">
        <p14:creationId xmlns:p14="http://schemas.microsoft.com/office/powerpoint/2010/main" val="986513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INTRODUCTION</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5</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dirty="0" smtClean="0"/>
              <a:t>Based on the published study: Knížat, P. et al. Nowcasting industrial production index with high-frequency toll data. In: </a:t>
            </a:r>
            <a:r>
              <a:rPr lang="en-GB" i="1" dirty="0" smtClean="0"/>
              <a:t>Statistical Journal of the IAOS</a:t>
            </a:r>
            <a:r>
              <a:rPr lang="en-GB" dirty="0" smtClean="0"/>
              <a:t>, 2025; 41(1): 102-111. </a:t>
            </a:r>
          </a:p>
          <a:p>
            <a:pPr marL="0" indent="0" algn="just">
              <a:buNone/>
            </a:pPr>
            <a:r>
              <a:rPr lang="en-GB" dirty="0" smtClean="0">
                <a:solidFill>
                  <a:schemeClr val="tx1"/>
                </a:solidFill>
                <a:hlinkClick r:id="rId2"/>
              </a:rPr>
              <a:t>https://doi.org/10.1177/18747655241307540</a:t>
            </a:r>
            <a:endParaRPr lang="en-GB" dirty="0" smtClean="0">
              <a:solidFill>
                <a:schemeClr val="tx1"/>
              </a:solidFill>
            </a:endParaRPr>
          </a:p>
          <a:p>
            <a:pPr marL="0" indent="0" algn="just">
              <a:buNone/>
            </a:pPr>
            <a:endParaRPr lang="en-GB" dirty="0" smtClean="0"/>
          </a:p>
          <a:p>
            <a:pPr algn="just"/>
            <a:r>
              <a:rPr lang="en-GB" dirty="0" smtClean="0"/>
              <a:t>focus both on theory and practice</a:t>
            </a:r>
          </a:p>
          <a:p>
            <a:pPr algn="just"/>
            <a:endParaRPr lang="en-GB" dirty="0" smtClean="0"/>
          </a:p>
          <a:p>
            <a:pPr algn="just"/>
            <a:r>
              <a:rPr lang="en-GB" dirty="0" smtClean="0"/>
              <a:t>original data consist of millions of electronic toll records collected automatically every day </a:t>
            </a:r>
            <a:r>
              <a:rPr lang="en-GB" dirty="0" smtClean="0">
                <a:latin typeface="Times New Roman" panose="02020603050405020304" pitchFamily="18" charset="0"/>
                <a:cs typeface="Times New Roman" panose="02020603050405020304" pitchFamily="18" charset="0"/>
              </a:rPr>
              <a:t>→</a:t>
            </a:r>
            <a:r>
              <a:rPr lang="en-GB" dirty="0" smtClean="0"/>
              <a:t> capture freight movement through sections of road network</a:t>
            </a:r>
          </a:p>
          <a:p>
            <a:pPr algn="just"/>
            <a:endParaRPr lang="en-GB" dirty="0" smtClean="0"/>
          </a:p>
          <a:p>
            <a:pPr algn="just"/>
            <a:r>
              <a:rPr lang="en-GB" dirty="0" smtClean="0"/>
              <a:t>reproduce each methodological step using simulated data that have the same structure as the confidential dataset used in the paper</a:t>
            </a:r>
            <a:endParaRPr lang="en-GB" sz="1800" dirty="0" smtClean="0"/>
          </a:p>
          <a:p>
            <a:pPr marL="0" indent="0">
              <a:buNone/>
            </a:pPr>
            <a:endParaRPr lang="en-GB" sz="1800" dirty="0" smtClean="0"/>
          </a:p>
        </p:txBody>
      </p:sp>
    </p:spTree>
    <p:extLst>
      <p:ext uri="{BB962C8B-B14F-4D97-AF65-F5344CB8AC3E}">
        <p14:creationId xmlns:p14="http://schemas.microsoft.com/office/powerpoint/2010/main" val="18783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WHY TOLL DATA?</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6</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dirty="0" smtClean="0"/>
              <a:t>Most </a:t>
            </a:r>
            <a:r>
              <a:rPr lang="en-GB" b="1" dirty="0" smtClean="0"/>
              <a:t>industrial production</a:t>
            </a:r>
            <a:r>
              <a:rPr lang="en-GB" dirty="0" smtClean="0"/>
              <a:t> requires: Raw materials </a:t>
            </a:r>
            <a:r>
              <a:rPr lang="en-GB" dirty="0" smtClean="0">
                <a:latin typeface="Times New Roman" panose="02020603050405020304" pitchFamily="18" charset="0"/>
                <a:cs typeface="Times New Roman" panose="02020603050405020304" pitchFamily="18" charset="0"/>
              </a:rPr>
              <a:t>→</a:t>
            </a:r>
            <a:r>
              <a:rPr lang="en-GB" dirty="0" smtClean="0"/>
              <a:t> </a:t>
            </a:r>
            <a:r>
              <a:rPr lang="en-GB" b="1" dirty="0" smtClean="0"/>
              <a:t>Transportation</a:t>
            </a:r>
            <a:r>
              <a:rPr lang="en-GB" dirty="0" smtClean="0"/>
              <a:t> </a:t>
            </a:r>
            <a:r>
              <a:rPr lang="en-GB" dirty="0" smtClean="0">
                <a:latin typeface="Times New Roman" panose="02020603050405020304" pitchFamily="18" charset="0"/>
                <a:cs typeface="Times New Roman" panose="02020603050405020304" pitchFamily="18" charset="0"/>
              </a:rPr>
              <a:t>→ </a:t>
            </a:r>
            <a:r>
              <a:rPr lang="en-GB" dirty="0" smtClean="0"/>
              <a:t>Production </a:t>
            </a:r>
            <a:r>
              <a:rPr lang="en-GB" dirty="0" smtClean="0">
                <a:latin typeface="Times New Roman" panose="02020603050405020304" pitchFamily="18" charset="0"/>
                <a:cs typeface="Times New Roman" panose="02020603050405020304" pitchFamily="18" charset="0"/>
              </a:rPr>
              <a:t>→ </a:t>
            </a:r>
            <a:r>
              <a:rPr lang="en-GB" dirty="0" smtClean="0"/>
              <a:t>Distribution </a:t>
            </a:r>
            <a:r>
              <a:rPr lang="en-GB" dirty="0" smtClean="0">
                <a:latin typeface="Times New Roman" panose="02020603050405020304" pitchFamily="18" charset="0"/>
                <a:cs typeface="Times New Roman" panose="02020603050405020304" pitchFamily="18" charset="0"/>
              </a:rPr>
              <a:t>→ </a:t>
            </a:r>
            <a:r>
              <a:rPr lang="en-GB" dirty="0" smtClean="0"/>
              <a:t>Customers</a:t>
            </a:r>
          </a:p>
          <a:p>
            <a:pPr algn="just"/>
            <a:r>
              <a:rPr lang="en-GB" dirty="0" smtClean="0"/>
              <a:t>if industrial production increases </a:t>
            </a:r>
            <a:r>
              <a:rPr lang="en-GB" dirty="0" smtClean="0">
                <a:latin typeface="Times New Roman" panose="02020603050405020304" pitchFamily="18" charset="0"/>
                <a:cs typeface="Times New Roman" panose="02020603050405020304" pitchFamily="18" charset="0"/>
              </a:rPr>
              <a:t>→ </a:t>
            </a:r>
            <a:r>
              <a:rPr lang="en-GB" dirty="0" smtClean="0"/>
              <a:t>the transportation of goods is expected to increase as well. </a:t>
            </a:r>
          </a:p>
          <a:p>
            <a:pPr marL="0" indent="0" algn="just">
              <a:buNone/>
            </a:pPr>
            <a:endParaRPr lang="en-GB" dirty="0" smtClean="0"/>
          </a:p>
          <a:p>
            <a:pPr marL="0" indent="0" algn="just">
              <a:buNone/>
            </a:pPr>
            <a:r>
              <a:rPr lang="en-GB" dirty="0" smtClean="0"/>
              <a:t>Therefore, truck traffic (freight) can potentially serve as an </a:t>
            </a:r>
            <a:r>
              <a:rPr lang="en-GB" b="1" dirty="0" smtClean="0"/>
              <a:t>early indicator</a:t>
            </a:r>
            <a:r>
              <a:rPr lang="en-GB" dirty="0" smtClean="0"/>
              <a:t> of industrial production.</a:t>
            </a:r>
          </a:p>
          <a:p>
            <a:pPr marL="0" indent="0" algn="just">
              <a:buNone/>
            </a:pPr>
            <a:endParaRPr lang="en-GB" dirty="0" smtClean="0"/>
          </a:p>
          <a:p>
            <a:pPr algn="just"/>
            <a:r>
              <a:rPr lang="en-GB" dirty="0" smtClean="0"/>
              <a:t>simulation of the monthly freight movement through the section of roads in </a:t>
            </a:r>
            <a:r>
              <a:rPr lang="en-GB" dirty="0" smtClean="0">
                <a:latin typeface="Arial" panose="020B0604020202020204" pitchFamily="34" charset="0"/>
                <a:cs typeface="Arial" panose="020B0604020202020204" pitchFamily="34" charset="0"/>
              </a:rPr>
              <a:t>R</a:t>
            </a:r>
          </a:p>
          <a:p>
            <a:pPr algn="just"/>
            <a:endParaRPr lang="en-GB" dirty="0" smtClean="0"/>
          </a:p>
          <a:p>
            <a:pPr marL="0" indent="0" algn="just">
              <a:buNone/>
            </a:pPr>
            <a:r>
              <a:rPr lang="en-GB" b="1" dirty="0" smtClean="0"/>
              <a:t>Question</a:t>
            </a:r>
            <a:r>
              <a:rPr lang="en-GB" dirty="0" smtClean="0"/>
              <a:t>: Can you think of other administrative or digital data sources suitable for nowcasting?</a:t>
            </a:r>
            <a:endParaRPr lang="en-GB" dirty="0"/>
          </a:p>
        </p:txBody>
      </p:sp>
    </p:spTree>
    <p:extLst>
      <p:ext uri="{BB962C8B-B14F-4D97-AF65-F5344CB8AC3E}">
        <p14:creationId xmlns:p14="http://schemas.microsoft.com/office/powerpoint/2010/main" val="1690759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ELECTRONIC TOLL SYSTEM IN SLOVAKIA</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7</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Data Generation Process</a:t>
            </a:r>
            <a:r>
              <a:rPr lang="en-GB" dirty="0" smtClean="0"/>
              <a:t>:</a:t>
            </a:r>
          </a:p>
          <a:p>
            <a:pPr algn="just"/>
            <a:r>
              <a:rPr lang="en-GB" dirty="0" smtClean="0"/>
              <a:t>automatically records the movement of heavy vehicles travelling on monitored road sections</a:t>
            </a:r>
          </a:p>
          <a:p>
            <a:pPr algn="just"/>
            <a:r>
              <a:rPr lang="en-GB" dirty="0" smtClean="0"/>
              <a:t>every vehicle above the legal weight threshold is equipped with an on-board unit that communicates with the satellite-based toll infrastructure</a:t>
            </a:r>
          </a:p>
          <a:p>
            <a:pPr algn="just"/>
            <a:r>
              <a:rPr lang="en-GB" dirty="0" smtClean="0"/>
              <a:t>a passage through a camera-installed point of the road section generates a digital record</a:t>
            </a:r>
          </a:p>
          <a:p>
            <a:pPr algn="just"/>
            <a:endParaRPr lang="sk-SK" dirty="0" smtClean="0"/>
          </a:p>
          <a:p>
            <a:pPr algn="just"/>
            <a:endParaRPr lang="en-GB" dirty="0" smtClean="0"/>
          </a:p>
          <a:p>
            <a:pPr marL="0" indent="0" algn="just">
              <a:buNone/>
            </a:pPr>
            <a:r>
              <a:rPr lang="en-GB" dirty="0" smtClean="0"/>
              <a:t>Each </a:t>
            </a:r>
            <a:r>
              <a:rPr lang="en-GB" b="1" dirty="0" smtClean="0"/>
              <a:t>digital record</a:t>
            </a:r>
            <a:r>
              <a:rPr lang="en-GB" dirty="0" smtClean="0"/>
              <a:t> contains: vehicle identifier, date and time of passage, road section identifier, vehicle characteristics, country of registration.</a:t>
            </a:r>
          </a:p>
          <a:p>
            <a:pPr marL="0" indent="0" algn="just">
              <a:buNone/>
            </a:pPr>
            <a:endParaRPr lang="en-GB" dirty="0" smtClean="0"/>
          </a:p>
        </p:txBody>
      </p:sp>
    </p:spTree>
    <p:extLst>
      <p:ext uri="{BB962C8B-B14F-4D97-AF65-F5344CB8AC3E}">
        <p14:creationId xmlns:p14="http://schemas.microsoft.com/office/powerpoint/2010/main" val="2578496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TOLL DATA – ADVATAGES AND LIMITATIONS</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8</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buNone/>
            </a:pPr>
            <a:r>
              <a:rPr lang="en-GB" b="1" dirty="0" smtClean="0"/>
              <a:t>Advantages</a:t>
            </a:r>
            <a:endParaRPr lang="sk-SK" dirty="0" smtClean="0"/>
          </a:p>
          <a:p>
            <a:pPr lvl="1"/>
            <a:r>
              <a:rPr lang="en-GB" dirty="0" smtClean="0"/>
              <a:t>fully </a:t>
            </a:r>
            <a:r>
              <a:rPr lang="en-GB" dirty="0"/>
              <a:t>automatic data </a:t>
            </a:r>
            <a:r>
              <a:rPr lang="en-GB" dirty="0" smtClean="0"/>
              <a:t>collection</a:t>
            </a:r>
            <a:endParaRPr lang="sk-SK" dirty="0" smtClean="0"/>
          </a:p>
          <a:p>
            <a:pPr lvl="1"/>
            <a:r>
              <a:rPr lang="en-GB" dirty="0" smtClean="0"/>
              <a:t>no </a:t>
            </a:r>
            <a:r>
              <a:rPr lang="en-GB" dirty="0"/>
              <a:t>additional respondent </a:t>
            </a:r>
            <a:r>
              <a:rPr lang="en-GB" dirty="0" smtClean="0"/>
              <a:t>burden</a:t>
            </a:r>
            <a:endParaRPr lang="sk-SK" dirty="0" smtClean="0"/>
          </a:p>
          <a:p>
            <a:pPr lvl="1"/>
            <a:r>
              <a:rPr lang="en-GB" dirty="0" smtClean="0"/>
              <a:t>available </a:t>
            </a:r>
            <a:r>
              <a:rPr lang="en-GB" dirty="0"/>
              <a:t>shortly after economic activity occurs </a:t>
            </a:r>
            <a:r>
              <a:rPr lang="en-GB" dirty="0">
                <a:latin typeface="Times New Roman" panose="02020603050405020304" pitchFamily="18" charset="0"/>
                <a:cs typeface="Times New Roman" panose="02020603050405020304" pitchFamily="18" charset="0"/>
              </a:rPr>
              <a:t>→ </a:t>
            </a:r>
            <a:r>
              <a:rPr lang="en-GB" dirty="0"/>
              <a:t>generated continuously and therefore become </a:t>
            </a:r>
            <a:r>
              <a:rPr lang="en-GB" b="1" dirty="0"/>
              <a:t>available</a:t>
            </a:r>
            <a:r>
              <a:rPr lang="en-GB" dirty="0"/>
              <a:t> </a:t>
            </a:r>
            <a:r>
              <a:rPr lang="en-GB" b="1" dirty="0"/>
              <a:t>shortly after economic activity occurs</a:t>
            </a:r>
            <a:endParaRPr lang="en-GB" dirty="0"/>
          </a:p>
          <a:p>
            <a:pPr marL="0" indent="0">
              <a:buNone/>
            </a:pPr>
            <a:endParaRPr lang="sk-SK" b="1" dirty="0" smtClean="0"/>
          </a:p>
          <a:p>
            <a:pPr marL="0" indent="0">
              <a:buNone/>
            </a:pPr>
            <a:r>
              <a:rPr lang="en-GB" b="1" dirty="0" smtClean="0"/>
              <a:t>Limitations</a:t>
            </a:r>
            <a:endParaRPr lang="sk-SK" b="1" dirty="0"/>
          </a:p>
          <a:p>
            <a:pPr lvl="1"/>
            <a:r>
              <a:rPr lang="en-GB" dirty="0" smtClean="0"/>
              <a:t>data </a:t>
            </a:r>
            <a:r>
              <a:rPr lang="en-GB" dirty="0"/>
              <a:t>do </a:t>
            </a:r>
            <a:r>
              <a:rPr lang="en-GB" b="1" dirty="0"/>
              <a:t>not</a:t>
            </a:r>
            <a:r>
              <a:rPr lang="en-GB" dirty="0"/>
              <a:t> contain information on the transported </a:t>
            </a:r>
            <a:r>
              <a:rPr lang="en-GB" dirty="0" smtClean="0"/>
              <a:t>goods</a:t>
            </a:r>
            <a:endParaRPr lang="sk-SK" dirty="0"/>
          </a:p>
          <a:p>
            <a:pPr lvl="1"/>
            <a:r>
              <a:rPr lang="en-GB" dirty="0" smtClean="0"/>
              <a:t>transit </a:t>
            </a:r>
            <a:r>
              <a:rPr lang="en-GB" dirty="0"/>
              <a:t>vehicles cannot easily be distinguished from vehicles contributing to domestic </a:t>
            </a:r>
            <a:r>
              <a:rPr lang="en-GB" dirty="0" smtClean="0"/>
              <a:t>production</a:t>
            </a:r>
            <a:endParaRPr lang="sk-SK" dirty="0"/>
          </a:p>
          <a:p>
            <a:pPr lvl="1"/>
            <a:r>
              <a:rPr lang="en-GB" dirty="0" smtClean="0"/>
              <a:t>only </a:t>
            </a:r>
            <a:r>
              <a:rPr lang="en-GB" dirty="0"/>
              <a:t>road freight transport is observed, while rail and other transport modes are </a:t>
            </a:r>
            <a:r>
              <a:rPr lang="en-GB" dirty="0" smtClean="0"/>
              <a:t>excluded</a:t>
            </a:r>
            <a:endParaRPr lang="en-GB" dirty="0"/>
          </a:p>
          <a:p>
            <a:pPr marL="0" indent="0">
              <a:buNone/>
            </a:pPr>
            <a:endParaRPr lang="en-GB" dirty="0"/>
          </a:p>
        </p:txBody>
      </p:sp>
    </p:spTree>
    <p:extLst>
      <p:ext uri="{BB962C8B-B14F-4D97-AF65-F5344CB8AC3E}">
        <p14:creationId xmlns:p14="http://schemas.microsoft.com/office/powerpoint/2010/main" val="520680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CONCEPTUAL FRAMEWORK</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9</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dirty="0" smtClean="0"/>
                  <a:t>Electronic Toll Records </a:t>
                </a:r>
                <a:r>
                  <a:rPr lang="en-GB" b="1" dirty="0" smtClean="0">
                    <a:latin typeface="Times New Roman" panose="02020603050405020304" pitchFamily="18" charset="0"/>
                    <a:cs typeface="Times New Roman" panose="02020603050405020304" pitchFamily="18" charset="0"/>
                  </a:rPr>
                  <a:t>→ </a:t>
                </a:r>
                <a:r>
                  <a:rPr lang="en-GB" b="1" dirty="0" smtClean="0"/>
                  <a:t>Daily Truck Passages</a:t>
                </a:r>
                <a:r>
                  <a:rPr lang="en-GB" dirty="0" smtClean="0"/>
                  <a:t> </a:t>
                </a:r>
                <a:r>
                  <a:rPr lang="en-GB" b="1" dirty="0" smtClean="0">
                    <a:latin typeface="Times New Roman" panose="02020603050405020304" pitchFamily="18" charset="0"/>
                    <a:cs typeface="Times New Roman" panose="02020603050405020304" pitchFamily="18" charset="0"/>
                  </a:rPr>
                  <a:t>→ </a:t>
                </a:r>
                <a:r>
                  <a:rPr lang="en-GB" b="1" dirty="0" smtClean="0"/>
                  <a:t>Monthly Aggregation</a:t>
                </a:r>
                <a:r>
                  <a:rPr lang="en-GB" dirty="0" smtClean="0"/>
                  <a:t> </a:t>
                </a:r>
                <a:r>
                  <a:rPr lang="en-GB" b="1" dirty="0" smtClean="0">
                    <a:latin typeface="Times New Roman" panose="02020603050405020304" pitchFamily="18" charset="0"/>
                    <a:cs typeface="Times New Roman" panose="02020603050405020304" pitchFamily="18" charset="0"/>
                  </a:rPr>
                  <a:t>→ </a:t>
                </a:r>
                <a:r>
                  <a:rPr lang="en-GB" dirty="0" smtClean="0"/>
                  <a:t>Truck-Passage Index </a:t>
                </a:r>
                <a:r>
                  <a:rPr lang="en-GB" b="1" dirty="0" smtClean="0">
                    <a:latin typeface="Times New Roman" panose="02020603050405020304" pitchFamily="18" charset="0"/>
                    <a:cs typeface="Times New Roman" panose="02020603050405020304" pitchFamily="18" charset="0"/>
                  </a:rPr>
                  <a:t>→</a:t>
                </a:r>
                <a:r>
                  <a:rPr lang="en-GB" dirty="0" smtClean="0"/>
                  <a:t> Industrial Production Index </a:t>
                </a:r>
                <a:r>
                  <a:rPr lang="en-GB" b="1" dirty="0" smtClean="0">
                    <a:latin typeface="Times New Roman" panose="02020603050405020304" pitchFamily="18" charset="0"/>
                    <a:cs typeface="Times New Roman" panose="02020603050405020304" pitchFamily="18" charset="0"/>
                  </a:rPr>
                  <a:t>→</a:t>
                </a:r>
                <a:r>
                  <a:rPr lang="en-GB" dirty="0" smtClean="0"/>
                  <a:t> Macroeconomic Nowcasting</a:t>
                </a:r>
                <a:endParaRPr lang="en-GB" b="1" dirty="0" smtClean="0">
                  <a:latin typeface="Arial" panose="020B0604020202020204" pitchFamily="34" charset="0"/>
                  <a:cs typeface="Arial" panose="020B0604020202020204" pitchFamily="34" charset="0"/>
                </a:endParaRPr>
              </a:p>
              <a:p>
                <a:pPr marL="0" indent="0" algn="just">
                  <a:buNone/>
                </a:pPr>
                <a:endParaRPr lang="en-GB" b="1" dirty="0" smtClean="0">
                  <a:latin typeface="Arial" panose="020B0604020202020204" pitchFamily="34" charset="0"/>
                  <a:cs typeface="Arial" panose="020B0604020202020204" pitchFamily="34" charset="0"/>
                </a:endParaRPr>
              </a:p>
              <a:p>
                <a:pPr marL="0" indent="0" algn="just">
                  <a:buNone/>
                </a:pPr>
                <a:r>
                  <a:rPr lang="en-GB" b="1" dirty="0" smtClean="0"/>
                  <a:t>Practical Exercise 1</a:t>
                </a:r>
              </a:p>
              <a:p>
                <a:pPr algn="just"/>
                <a:r>
                  <a:rPr lang="en-GB" dirty="0" smtClean="0"/>
                  <a:t>we do not have access to confidential toll records used in the paper</a:t>
                </a:r>
              </a:p>
              <a:p>
                <a:pPr algn="just"/>
                <a:r>
                  <a:rPr lang="en-GB" dirty="0" smtClean="0"/>
                  <a:t>instead, we create a synthetic dataset having exactly the same structure</a:t>
                </a:r>
              </a:p>
              <a:p>
                <a:pPr algn="just"/>
                <a:r>
                  <a:rPr lang="en-GB" dirty="0" smtClean="0">
                    <a:latin typeface="Arial" panose="020B0604020202020204" pitchFamily="34" charset="0"/>
                    <a:cs typeface="Arial" panose="020B0604020202020204" pitchFamily="34" charset="0"/>
                  </a:rPr>
                  <a:t>open R code: </a:t>
                </a:r>
                <a:r>
                  <a:rPr lang="en-GB" b="1" dirty="0" smtClean="0">
                    <a:latin typeface="Arial" panose="020B0604020202020204" pitchFamily="34" charset="0"/>
                    <a:cs typeface="Arial" panose="020B0604020202020204" pitchFamily="34" charset="0"/>
                  </a:rPr>
                  <a:t>3) </a:t>
                </a:r>
                <a:r>
                  <a:rPr lang="en-GB" b="1" dirty="0" err="1" smtClean="0"/>
                  <a:t>Toll_data_simulation</a:t>
                </a:r>
                <a:r>
                  <a:rPr lang="en-GB" b="1" dirty="0" err="1" smtClean="0">
                    <a:latin typeface="Arial" panose="020B0604020202020204" pitchFamily="34" charset="0"/>
                    <a:cs typeface="Arial" panose="020B0604020202020204" pitchFamily="34" charset="0"/>
                  </a:rPr>
                  <a:t>.R</a:t>
                </a:r>
                <a:endParaRPr lang="en-GB" b="1" dirty="0" smtClean="0">
                  <a:latin typeface="Arial" panose="020B0604020202020204" pitchFamily="34" charset="0"/>
                  <a:cs typeface="Arial" panose="020B0604020202020204" pitchFamily="34" charset="0"/>
                </a:endParaRPr>
              </a:p>
              <a:p>
                <a:pPr marL="0" indent="0" algn="just">
                  <a:buNone/>
                </a:pPr>
                <a:endParaRPr lang="en-GB" dirty="0" smtClean="0"/>
              </a:p>
              <a:p>
                <a:pPr marL="0" indent="0" algn="just">
                  <a:buNone/>
                </a:pPr>
                <a:r>
                  <a:rPr lang="en-GB" dirty="0" smtClean="0"/>
                  <a:t>Each </a:t>
                </a:r>
                <a:r>
                  <a:rPr lang="en-GB" dirty="0"/>
                  <a:t>truck is considered one statistical </a:t>
                </a:r>
                <a:r>
                  <a:rPr lang="en-GB" dirty="0" smtClean="0"/>
                  <a:t>unit</a:t>
                </a:r>
                <a:r>
                  <a:rPr lang="en-GB" dirty="0"/>
                  <a:t> </a:t>
                </a:r>
                <a:r>
                  <a:rPr lang="en-GB" dirty="0" smtClean="0">
                    <a:latin typeface="Times New Roman" panose="02020603050405020304" pitchFamily="18" charset="0"/>
                    <a:cs typeface="Times New Roman" panose="02020603050405020304" pitchFamily="18" charset="0"/>
                  </a:rPr>
                  <a:t>→ </a:t>
                </a:r>
                <a:r>
                  <a:rPr lang="en-GB" dirty="0" smtClean="0"/>
                  <a:t>the </a:t>
                </a:r>
                <a:r>
                  <a:rPr lang="en-GB" dirty="0"/>
                  <a:t>monthly number of passages becomes the observed </a:t>
                </a:r>
                <a:r>
                  <a:rPr lang="en-GB" b="1" dirty="0" smtClean="0"/>
                  <a:t>quantity</a:t>
                </a:r>
                <a:r>
                  <a:rPr lang="en-GB" dirty="0" smtClean="0"/>
                  <a:t> </a:t>
                </a:r>
                <a14:m>
                  <m:oMath xmlns:m="http://schemas.openxmlformats.org/officeDocument/2006/math">
                    <m:sSubSup>
                      <m:sSubSupPr>
                        <m:ctrlPr>
                          <a:rPr lang="en-GB" i="1" smtClean="0">
                            <a:latin typeface="Cambria Math" panose="02040503050406030204" pitchFamily="18" charset="0"/>
                          </a:rPr>
                        </m:ctrlPr>
                      </m:sSubSupPr>
                      <m:e>
                        <m:r>
                          <a:rPr lang="en-GB" b="0" i="1" smtClean="0">
                            <a:latin typeface="Cambria Math" panose="02040503050406030204" pitchFamily="18" charset="0"/>
                          </a:rPr>
                          <m:t>𝑞</m:t>
                        </m:r>
                      </m:e>
                      <m:sub>
                        <m:r>
                          <a:rPr lang="en-GB" b="0" i="1" smtClean="0">
                            <a:latin typeface="Cambria Math" panose="02040503050406030204" pitchFamily="18" charset="0"/>
                          </a:rPr>
                          <m:t>𝑖</m:t>
                        </m:r>
                      </m:sub>
                      <m:sup>
                        <m:r>
                          <a:rPr lang="en-GB" b="0" i="1" smtClean="0">
                            <a:latin typeface="Cambria Math" panose="02040503050406030204" pitchFamily="18" charset="0"/>
                          </a:rPr>
                          <m:t>𝑡</m:t>
                        </m:r>
                      </m:sup>
                    </m:sSubSup>
                  </m:oMath>
                </a14:m>
                <a:r>
                  <a:rPr lang="en-GB" dirty="0" smtClean="0"/>
                  <a:t> for vehicle </a:t>
                </a:r>
                <a14:m>
                  <m:oMath xmlns:m="http://schemas.openxmlformats.org/officeDocument/2006/math">
                    <m:r>
                      <a:rPr lang="en-GB" i="1">
                        <a:latin typeface="Cambria Math" panose="02040503050406030204" pitchFamily="18" charset="0"/>
                      </a:rPr>
                      <m:t>𝑖</m:t>
                    </m:r>
                    <m:r>
                      <a:rPr lang="en-GB" b="0" i="1" smtClean="0">
                        <a:latin typeface="Cambria Math" panose="02040503050406030204" pitchFamily="18" charset="0"/>
                      </a:rPr>
                      <m:t>=1,…,</m:t>
                    </m:r>
                    <m:r>
                      <a:rPr lang="sk-SK" b="0" i="1" smtClean="0">
                        <a:latin typeface="Cambria Math" panose="02040503050406030204" pitchFamily="18" charset="0"/>
                      </a:rPr>
                      <m:t>𝑁</m:t>
                    </m:r>
                  </m:oMath>
                </a14:m>
                <a:r>
                  <a:rPr lang="en-GB" dirty="0" smtClean="0"/>
                  <a:t> during month </a:t>
                </a:r>
                <a14:m>
                  <m:oMath xmlns:m="http://schemas.openxmlformats.org/officeDocument/2006/math">
                    <m:r>
                      <a:rPr lang="en-GB" b="0" i="1" smtClean="0">
                        <a:latin typeface="Cambria Math" panose="02040503050406030204" pitchFamily="18" charset="0"/>
                      </a:rPr>
                      <m:t>𝑡</m:t>
                    </m:r>
                  </m:oMath>
                </a14:m>
                <a:r>
                  <a:rPr lang="en-GB" dirty="0" smtClean="0"/>
                  <a:t> </a:t>
                </a:r>
                <a:r>
                  <a:rPr lang="en-GB" dirty="0" smtClean="0">
                    <a:latin typeface="Times New Roman" panose="02020603050405020304" pitchFamily="18" charset="0"/>
                    <a:cs typeface="Times New Roman" panose="02020603050405020304" pitchFamily="18" charset="0"/>
                  </a:rPr>
                  <a:t>→ t</a:t>
                </a:r>
                <a:r>
                  <a:rPr lang="en-GB" dirty="0" smtClean="0"/>
                  <a:t>his </a:t>
                </a:r>
                <a:r>
                  <a:rPr lang="en-GB" dirty="0"/>
                  <a:t>allows the direct application of </a:t>
                </a:r>
                <a:r>
                  <a:rPr lang="en-GB" dirty="0" smtClean="0"/>
                  <a:t>(price) index-number </a:t>
                </a:r>
                <a:r>
                  <a:rPr lang="en-GB" dirty="0"/>
                  <a:t>methodology to transport </a:t>
                </a:r>
                <a:r>
                  <a:rPr lang="en-GB" dirty="0" smtClean="0"/>
                  <a:t>activity</a:t>
                </a:r>
                <a:endParaRPr lang="en-GB" dirty="0"/>
              </a:p>
              <a:p>
                <a:pPr marL="0" indent="0">
                  <a:buNone/>
                </a:pPr>
                <a:endParaRPr lang="en-GB" dirty="0"/>
              </a:p>
            </p:txBody>
          </p:sp>
        </mc:Choice>
        <mc:Fallback xmlns="">
          <p:sp>
            <p:nvSpPr>
              <p:cNvPr id="4" name="Content Placeholder 3">
                <a:extLst>
                  <a:ext uri="{FF2B5EF4-FFF2-40B4-BE49-F238E27FC236}">
                    <a16:creationId xmlns:a16="http://schemas.microsoft.com/office/drawing/2014/main" id="{8B0E816B-5CEC-1C6D-582C-69AA81FB0EF6}"/>
                  </a:ext>
                </a:extLst>
              </p:cNvPr>
              <p:cNvSpPr>
                <a:spLocks noGrp="1" noRot="1" noChangeAspect="1" noMove="1" noResize="1" noEditPoints="1" noAdjustHandles="1" noChangeArrowheads="1" noChangeShapeType="1" noTextEdit="1"/>
              </p:cNvSpPr>
              <p:nvPr>
                <p:ph sz="half" idx="2"/>
              </p:nvPr>
            </p:nvSpPr>
            <p:spPr>
              <a:blipFill>
                <a:blip r:embed="rId2"/>
                <a:stretch>
                  <a:fillRect l="-754" t="-1599" r="-638"/>
                </a:stretch>
              </a:blipFill>
            </p:spPr>
            <p:txBody>
              <a:bodyPr/>
              <a:lstStyle/>
              <a:p>
                <a:r>
                  <a:rPr lang="en-GB">
                    <a:noFill/>
                  </a:rPr>
                  <a:t> </a:t>
                </a:r>
              </a:p>
            </p:txBody>
          </p:sp>
        </mc:Fallback>
      </mc:AlternateContent>
    </p:spTree>
    <p:extLst>
      <p:ext uri="{BB962C8B-B14F-4D97-AF65-F5344CB8AC3E}">
        <p14:creationId xmlns:p14="http://schemas.microsoft.com/office/powerpoint/2010/main" val="1405432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DICUSSION </a:t>
            </a:r>
            <a:r>
              <a:rPr lang="sk-SK" dirty="0" smtClean="0">
                <a:latin typeface="Times New Roman" panose="02020603050405020304" pitchFamily="18" charset="0"/>
                <a:cs typeface="Times New Roman" panose="02020603050405020304" pitchFamily="18" charset="0"/>
              </a:rPr>
              <a:t>→</a:t>
            </a:r>
            <a:r>
              <a:rPr lang="sk-SK" dirty="0" smtClean="0"/>
              <a:t> DATA</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10</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What is missing in simulated dataset?</a:t>
            </a:r>
            <a:endParaRPr lang="en-GB" dirty="0" smtClean="0"/>
          </a:p>
          <a:p>
            <a:pPr algn="just"/>
            <a:r>
              <a:rPr lang="en-GB" dirty="0" smtClean="0"/>
              <a:t>naive distribution of data – a truck appears in each month (no new and disappearing trucks)</a:t>
            </a:r>
          </a:p>
          <a:p>
            <a:pPr algn="just"/>
            <a:r>
              <a:rPr lang="en-GB" dirty="0" smtClean="0"/>
              <a:t>other data limitations?</a:t>
            </a:r>
          </a:p>
          <a:p>
            <a:pPr marL="0" indent="0" algn="just">
              <a:buNone/>
            </a:pPr>
            <a:endParaRPr lang="en-GB" dirty="0" smtClean="0"/>
          </a:p>
          <a:p>
            <a:pPr marL="0" indent="0" algn="just">
              <a:buNone/>
            </a:pPr>
            <a:r>
              <a:rPr lang="en-GB" b="1" dirty="0" smtClean="0"/>
              <a:t>Why is monthly aggregation preferable to using daily / weekly observations?</a:t>
            </a:r>
          </a:p>
          <a:p>
            <a:pPr algn="just"/>
            <a:r>
              <a:rPr lang="en-GB" dirty="0" smtClean="0"/>
              <a:t>less noise</a:t>
            </a:r>
          </a:p>
          <a:p>
            <a:pPr algn="just"/>
            <a:r>
              <a:rPr lang="en-GB" dirty="0" smtClean="0"/>
              <a:t>comparison with official statistics – Industrial Production Index</a:t>
            </a:r>
          </a:p>
          <a:p>
            <a:pPr marL="0" indent="0" algn="just">
              <a:buNone/>
            </a:pPr>
            <a:endParaRPr lang="en-GB" dirty="0" smtClean="0"/>
          </a:p>
          <a:p>
            <a:pPr marL="0" indent="0" algn="just">
              <a:buNone/>
            </a:pPr>
            <a:r>
              <a:rPr lang="en-GB" dirty="0" smtClean="0"/>
              <a:t>The next step is therefore to understand </a:t>
            </a:r>
            <a:r>
              <a:rPr lang="en-GB" b="1" dirty="0" smtClean="0"/>
              <a:t>how a monthly index is constructed</a:t>
            </a:r>
            <a:r>
              <a:rPr lang="en-GB" dirty="0" smtClean="0"/>
              <a:t>.</a:t>
            </a:r>
          </a:p>
          <a:p>
            <a:pPr marL="0" indent="0">
              <a:buNone/>
            </a:pPr>
            <a:endParaRPr lang="en-GB" dirty="0"/>
          </a:p>
        </p:txBody>
      </p:sp>
    </p:spTree>
    <p:extLst>
      <p:ext uri="{BB962C8B-B14F-4D97-AF65-F5344CB8AC3E}">
        <p14:creationId xmlns:p14="http://schemas.microsoft.com/office/powerpoint/2010/main" val="3067964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CONCEPTS OF MONTHLY INDICES</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11</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Objective</a:t>
                </a:r>
                <a:r>
                  <a:rPr lang="en-GB" dirty="0" smtClean="0"/>
                  <a:t>:</a:t>
                </a:r>
              </a:p>
              <a:p>
                <a:pPr marL="0" indent="0" algn="just">
                  <a:buNone/>
                </a:pPr>
                <a:r>
                  <a:rPr lang="en-GB" dirty="0" smtClean="0"/>
                  <a:t> </a:t>
                </a:r>
              </a:p>
              <a:p>
                <a:pPr algn="just"/>
                <a:r>
                  <a:rPr lang="en-GB" dirty="0" smtClean="0"/>
                  <a:t>to </a:t>
                </a:r>
                <a:r>
                  <a:rPr lang="en-GB" dirty="0"/>
                  <a:t>compare the level of truck activity in every month with one common reference </a:t>
                </a:r>
                <a:r>
                  <a:rPr lang="en-GB" dirty="0" smtClean="0"/>
                  <a:t>month </a:t>
                </a:r>
                <a:r>
                  <a:rPr lang="en-GB" dirty="0" smtClean="0">
                    <a:latin typeface="Times New Roman" panose="02020603050405020304" pitchFamily="18" charset="0"/>
                    <a:cs typeface="Times New Roman" panose="02020603050405020304" pitchFamily="18" charset="0"/>
                  </a:rPr>
                  <a:t>→ </a:t>
                </a:r>
                <a:r>
                  <a:rPr lang="en-GB" dirty="0" smtClean="0"/>
                  <a:t>for </a:t>
                </a:r>
                <a:r>
                  <a:rPr lang="en-GB" dirty="0"/>
                  <a:t>every </a:t>
                </a:r>
                <a:r>
                  <a:rPr lang="en-GB" dirty="0" smtClean="0"/>
                  <a:t>vehicle, we calculate </a:t>
                </a:r>
              </a:p>
              <a:p>
                <a:pPr marL="0" indent="0" algn="just">
                  <a:buNone/>
                </a:pPr>
                <a:r>
                  <a:rPr lang="en-GB" dirty="0"/>
                  <a:t> </a:t>
                </a:r>
                <a:r>
                  <a:rPr lang="en-GB" dirty="0" smtClean="0"/>
                  <a:t>    </a:t>
                </a:r>
                <a14:m>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𝑪𝒖𝒓𝒓𝒆𝒏𝒕</m:t>
                        </m:r>
                        <m:r>
                          <a:rPr lang="en-GB" b="1" i="1" smtClean="0">
                            <a:latin typeface="Cambria Math" panose="02040503050406030204" pitchFamily="18" charset="0"/>
                          </a:rPr>
                          <m:t> </m:t>
                        </m:r>
                        <m:r>
                          <a:rPr lang="en-GB" b="1" i="1" smtClean="0">
                            <a:latin typeface="Cambria Math" panose="02040503050406030204" pitchFamily="18" charset="0"/>
                          </a:rPr>
                          <m:t>𝒎𝒐𝒏𝒕𝒉</m:t>
                        </m:r>
                      </m:num>
                      <m:den>
                        <m:r>
                          <a:rPr lang="en-GB" b="1" i="1" smtClean="0">
                            <a:latin typeface="Cambria Math" panose="02040503050406030204" pitchFamily="18" charset="0"/>
                          </a:rPr>
                          <m:t>𝑩𝒂𝒔𝒆</m:t>
                        </m:r>
                        <m:r>
                          <a:rPr lang="en-GB" b="1" i="1" smtClean="0">
                            <a:latin typeface="Cambria Math" panose="02040503050406030204" pitchFamily="18" charset="0"/>
                          </a:rPr>
                          <m:t> </m:t>
                        </m:r>
                        <m:r>
                          <a:rPr lang="en-GB" b="1" i="1" smtClean="0">
                            <a:latin typeface="Cambria Math" panose="02040503050406030204" pitchFamily="18" charset="0"/>
                          </a:rPr>
                          <m:t>𝒎𝒐𝒏𝒕𝒉</m:t>
                        </m:r>
                      </m:den>
                    </m:f>
                  </m:oMath>
                </a14:m>
                <a:r>
                  <a:rPr lang="en-GB" dirty="0" smtClean="0"/>
                  <a:t> </a:t>
                </a:r>
              </a:p>
              <a:p>
                <a:pPr marL="0" indent="0" algn="just">
                  <a:buNone/>
                </a:pPr>
                <a:r>
                  <a:rPr lang="en-GB" dirty="0"/>
                  <a:t> </a:t>
                </a:r>
                <a:r>
                  <a:rPr lang="en-GB" dirty="0" smtClean="0"/>
                  <a:t>    and then we average these </a:t>
                </a:r>
                <a:r>
                  <a:rPr lang="en-GB" dirty="0"/>
                  <a:t>changes over all </a:t>
                </a:r>
                <a:r>
                  <a:rPr lang="en-GB" dirty="0" smtClean="0"/>
                  <a:t>vehicles</a:t>
                </a:r>
              </a:p>
              <a:p>
                <a:pPr algn="just"/>
                <a:endParaRPr lang="en-GB" dirty="0" smtClean="0"/>
              </a:p>
              <a:p>
                <a:pPr algn="just"/>
                <a:r>
                  <a:rPr lang="en-GB" dirty="0" smtClean="0"/>
                  <a:t>monthly index measures the average monthly changes of freight intensity </a:t>
                </a:r>
                <a:r>
                  <a:rPr lang="en-GB" dirty="0" smtClean="0">
                    <a:latin typeface="Times New Roman" panose="02020603050405020304" pitchFamily="18" charset="0"/>
                    <a:cs typeface="Times New Roman" panose="02020603050405020304" pitchFamily="18" charset="0"/>
                  </a:rPr>
                  <a:t>→ </a:t>
                </a:r>
                <a:r>
                  <a:rPr lang="en-GB" dirty="0" smtClean="0"/>
                  <a:t>we apply a theoretical concept of </a:t>
                </a:r>
                <a:r>
                  <a:rPr lang="en-GB" b="1" dirty="0" smtClean="0"/>
                  <a:t>price indices</a:t>
                </a:r>
                <a:r>
                  <a:rPr lang="en-GB" dirty="0" smtClean="0"/>
                  <a:t> (normally used for estimation of consumer price indices) </a:t>
                </a:r>
              </a:p>
              <a:p>
                <a:pPr marL="0" indent="0" algn="just">
                  <a:buNone/>
                </a:pPr>
                <a:endParaRPr lang="en-GB" dirty="0"/>
              </a:p>
            </p:txBody>
          </p:sp>
        </mc:Choice>
        <mc:Fallback xmlns="">
          <p:sp>
            <p:nvSpPr>
              <p:cNvPr id="4" name="Content Placeholder 3">
                <a:extLst>
                  <a:ext uri="{FF2B5EF4-FFF2-40B4-BE49-F238E27FC236}">
                    <a16:creationId xmlns:a16="http://schemas.microsoft.com/office/drawing/2014/main" id="{8B0E816B-5CEC-1C6D-582C-69AA81FB0EF6}"/>
                  </a:ext>
                </a:extLst>
              </p:cNvPr>
              <p:cNvSpPr>
                <a:spLocks noGrp="1" noRot="1" noChangeAspect="1" noMove="1" noResize="1" noEditPoints="1" noAdjustHandles="1" noChangeArrowheads="1" noChangeShapeType="1" noTextEdit="1"/>
              </p:cNvSpPr>
              <p:nvPr>
                <p:ph sz="half" idx="2"/>
              </p:nvPr>
            </p:nvSpPr>
            <p:spPr>
              <a:blipFill>
                <a:blip r:embed="rId2"/>
                <a:stretch>
                  <a:fillRect l="-754" t="-1453" r="-638"/>
                </a:stretch>
              </a:blipFill>
            </p:spPr>
            <p:txBody>
              <a:bodyPr/>
              <a:lstStyle/>
              <a:p>
                <a:r>
                  <a:rPr lang="en-GB">
                    <a:noFill/>
                  </a:rPr>
                  <a:t> </a:t>
                </a:r>
              </a:p>
            </p:txBody>
          </p:sp>
        </mc:Fallback>
      </mc:AlternateContent>
    </p:spTree>
    <p:extLst>
      <p:ext uri="{BB962C8B-B14F-4D97-AF65-F5344CB8AC3E}">
        <p14:creationId xmlns:p14="http://schemas.microsoft.com/office/powerpoint/2010/main" val="1527304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BILATERAL INDEX</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12</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algn="just"/>
                <a:r>
                  <a:rPr lang="en-GB" dirty="0" smtClean="0"/>
                  <a:t>Fixed-base and chained Jevons indices </a:t>
                </a:r>
                <a:r>
                  <a:rPr lang="en-GB" dirty="0"/>
                  <a:t>(</a:t>
                </a:r>
                <a:r>
                  <a:rPr lang="en-GB" dirty="0" smtClean="0"/>
                  <a:t>based on geometric average, which</a:t>
                </a:r>
                <a:r>
                  <a:rPr lang="en-GB" dirty="0"/>
                  <a:t> measures proportional changes</a:t>
                </a:r>
                <a:r>
                  <a:rPr lang="en-GB" dirty="0" smtClean="0"/>
                  <a:t>) </a:t>
                </a:r>
              </a:p>
              <a:p>
                <a:pPr algn="just"/>
                <a:endParaRPr lang="en-GB" dirty="0"/>
              </a:p>
              <a:p>
                <a:pPr marL="0" indent="0" algn="just">
                  <a:buNone/>
                </a:pPr>
                <a14:m>
                  <m:oMathPara xmlns:m="http://schemas.openxmlformats.org/officeDocument/2006/math">
                    <m:oMathParaPr>
                      <m:jc m:val="centerGroup"/>
                    </m:oMathParaPr>
                    <m:oMath xmlns:m="http://schemas.openxmlformats.org/officeDocument/2006/math">
                      <m:sSubSup>
                        <m:sSubSupPr>
                          <m:ctrlPr>
                            <a:rPr lang="en-GB" i="1" smtClean="0">
                              <a:latin typeface="Cambria Math" panose="02040503050406030204" pitchFamily="18" charset="0"/>
                            </a:rPr>
                          </m:ctrlPr>
                        </m:sSubSupPr>
                        <m:e>
                          <m:r>
                            <a:rPr lang="en-GB" b="0" i="1" smtClean="0">
                              <a:latin typeface="Cambria Math" panose="02040503050406030204" pitchFamily="18" charset="0"/>
                            </a:rPr>
                            <m:t>𝐼</m:t>
                          </m:r>
                        </m:e>
                        <m:sub>
                          <m:sSup>
                            <m:sSupPr>
                              <m:ctrlPr>
                                <a:rPr lang="en-GB" i="1" smtClean="0">
                                  <a:latin typeface="Cambria Math" panose="02040503050406030204" pitchFamily="18" charset="0"/>
                                </a:rPr>
                              </m:ctrlPr>
                            </m:sSupPr>
                            <m:e>
                              <m:r>
                                <a:rPr lang="en-GB" b="0" i="1" smtClean="0">
                                  <a:latin typeface="Cambria Math" panose="02040503050406030204" pitchFamily="18" charset="0"/>
                                </a:rPr>
                                <m:t>𝐽</m:t>
                              </m:r>
                            </m:e>
                            <m:sup>
                              <m:r>
                                <a:rPr lang="en-GB" b="0" i="1" smtClean="0">
                                  <a:latin typeface="Cambria Math" panose="02040503050406030204" pitchFamily="18" charset="0"/>
                                </a:rPr>
                                <m:t>𝐹𝐵</m:t>
                              </m:r>
                            </m:sup>
                          </m:sSup>
                        </m:sub>
                        <m:sup>
                          <m:r>
                            <a:rPr lang="en-GB" b="0" i="1" smtClean="0">
                              <a:latin typeface="Cambria Math" panose="02040503050406030204" pitchFamily="18" charset="0"/>
                            </a:rPr>
                            <m:t>0,</m:t>
                          </m:r>
                          <m:r>
                            <a:rPr lang="en-GB" b="0" i="1" smtClean="0">
                              <a:latin typeface="Cambria Math" panose="02040503050406030204" pitchFamily="18" charset="0"/>
                            </a:rPr>
                            <m:t>𝑡</m:t>
                          </m:r>
                        </m:sup>
                      </m:sSubSup>
                      <m:r>
                        <a:rPr lang="en-GB" i="1">
                          <a:latin typeface="Cambria Math" panose="02040503050406030204" pitchFamily="18" charset="0"/>
                        </a:rPr>
                        <m:t>=</m:t>
                      </m:r>
                      <m:nary>
                        <m:naryPr>
                          <m:chr m:val="∏"/>
                          <m:ctrlPr>
                            <a:rPr lang="en-GB" i="1" smtClean="0">
                              <a:latin typeface="Cambria Math" panose="02040503050406030204" pitchFamily="18" charset="0"/>
                            </a:rPr>
                          </m:ctrlPr>
                        </m:naryPr>
                        <m:sub>
                          <m:r>
                            <m:rPr>
                              <m:brk m:alnAt="23"/>
                            </m:rPr>
                            <a:rPr lang="en-GB" b="0" i="1" smtClean="0">
                              <a:latin typeface="Cambria Math" panose="02040503050406030204" pitchFamily="18" charset="0"/>
                            </a:rPr>
                            <m:t>𝑖</m:t>
                          </m:r>
                          <m:r>
                            <a:rPr lang="en-GB" b="0" i="1" smtClean="0">
                              <a:latin typeface="Cambria Math" panose="02040503050406030204" pitchFamily="18" charset="0"/>
                            </a:rPr>
                            <m:t>=1</m:t>
                          </m:r>
                        </m:sub>
                        <m:sup>
                          <m:r>
                            <a:rPr lang="en-GB" b="0" i="1" smtClean="0">
                              <a:latin typeface="Cambria Math" panose="02040503050406030204" pitchFamily="18" charset="0"/>
                            </a:rPr>
                            <m:t>𝑁</m:t>
                          </m:r>
                        </m:sup>
                        <m:e>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rPr>
                                            <m:t>𝑞</m:t>
                                          </m:r>
                                        </m:e>
                                        <m:sub>
                                          <m:r>
                                            <a:rPr lang="en-GB" i="1">
                                              <a:latin typeface="Cambria Math" panose="02040503050406030204" pitchFamily="18" charset="0"/>
                                            </a:rPr>
                                            <m:t>𝑖</m:t>
                                          </m:r>
                                        </m:sub>
                                        <m:sup>
                                          <m:r>
                                            <a:rPr lang="en-GB" i="1">
                                              <a:latin typeface="Cambria Math" panose="02040503050406030204" pitchFamily="18" charset="0"/>
                                            </a:rPr>
                                            <m:t>𝑡</m:t>
                                          </m:r>
                                        </m:sup>
                                      </m:sSubSup>
                                    </m:num>
                                    <m:den>
                                      <m:sSubSup>
                                        <m:sSubSupPr>
                                          <m:ctrlPr>
                                            <a:rPr lang="en-GB" i="1">
                                              <a:latin typeface="Cambria Math" panose="02040503050406030204" pitchFamily="18" charset="0"/>
                                            </a:rPr>
                                          </m:ctrlPr>
                                        </m:sSubSupPr>
                                        <m:e>
                                          <m:r>
                                            <a:rPr lang="en-GB" i="1">
                                              <a:latin typeface="Cambria Math" panose="02040503050406030204" pitchFamily="18" charset="0"/>
                                            </a:rPr>
                                            <m:t>𝑞</m:t>
                                          </m:r>
                                        </m:e>
                                        <m:sub>
                                          <m:r>
                                            <a:rPr lang="en-GB" b="0" i="1" smtClean="0">
                                              <a:latin typeface="Cambria Math" panose="02040503050406030204" pitchFamily="18" charset="0"/>
                                            </a:rPr>
                                            <m:t>𝑖</m:t>
                                          </m:r>
                                        </m:sub>
                                        <m:sup>
                                          <m:r>
                                            <a:rPr lang="en-GB" b="0" i="1" smtClean="0">
                                              <a:latin typeface="Cambria Math" panose="02040503050406030204" pitchFamily="18" charset="0"/>
                                            </a:rPr>
                                            <m:t>0</m:t>
                                          </m:r>
                                        </m:sup>
                                      </m:sSubSup>
                                    </m:den>
                                  </m:f>
                                </m:e>
                              </m:d>
                            </m:e>
                            <m:sup>
                              <m:f>
                                <m:fPr>
                                  <m:type m:val="skw"/>
                                  <m:ctrlPr>
                                    <a:rPr lang="en-GB"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sup>
                          </m:sSup>
                        </m:e>
                      </m:nary>
                    </m:oMath>
                  </m:oMathPara>
                </a14:m>
                <a:endParaRPr lang="en-GB" i="1" dirty="0" smtClean="0">
                  <a:latin typeface="Cambria Math" panose="02040503050406030204" pitchFamily="18" charset="0"/>
                </a:endParaRPr>
              </a:p>
              <a:p>
                <a:pPr marL="0" indent="0" algn="just">
                  <a:buNone/>
                </a:pPr>
                <a:endParaRPr lang="en-GB" i="1" dirty="0" smtClean="0">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rPr>
                            <m:t>𝐼</m:t>
                          </m:r>
                        </m:e>
                        <m:sub>
                          <m:sSup>
                            <m:sSupPr>
                              <m:ctrlPr>
                                <a:rPr lang="en-GB" i="1" smtClean="0">
                                  <a:latin typeface="Cambria Math" panose="02040503050406030204" pitchFamily="18" charset="0"/>
                                </a:rPr>
                              </m:ctrlPr>
                            </m:sSupPr>
                            <m:e>
                              <m:r>
                                <a:rPr lang="en-GB" b="0" i="1" smtClean="0">
                                  <a:latin typeface="Cambria Math" panose="02040503050406030204" pitchFamily="18" charset="0"/>
                                </a:rPr>
                                <m:t>𝐽</m:t>
                              </m:r>
                            </m:e>
                            <m:sup>
                              <m:r>
                                <a:rPr lang="en-GB" b="0" i="1" smtClean="0">
                                  <a:latin typeface="Cambria Math" panose="02040503050406030204" pitchFamily="18" charset="0"/>
                                </a:rPr>
                                <m:t>𝐶𝐻</m:t>
                              </m:r>
                            </m:sup>
                          </m:sSup>
                        </m:sub>
                        <m:sup>
                          <m:r>
                            <a:rPr lang="en-GB" i="1">
                              <a:latin typeface="Cambria Math" panose="02040503050406030204" pitchFamily="18" charset="0"/>
                            </a:rPr>
                            <m:t>0,</m:t>
                          </m:r>
                          <m:r>
                            <a:rPr lang="en-GB" b="0" i="1" smtClean="0">
                              <a:latin typeface="Cambria Math" panose="02040503050406030204" pitchFamily="18" charset="0"/>
                            </a:rPr>
                            <m:t>𝑇</m:t>
                          </m:r>
                        </m:sup>
                      </m:sSubSup>
                      <m:r>
                        <a:rPr lang="en-GB" i="1">
                          <a:latin typeface="Cambria Math" panose="02040503050406030204" pitchFamily="18" charset="0"/>
                        </a:rPr>
                        <m:t>=</m:t>
                      </m:r>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𝐽</m:t>
                          </m:r>
                        </m:sub>
                        <m:sup>
                          <m:r>
                            <a:rPr lang="en-GB" i="1">
                              <a:latin typeface="Cambria Math" panose="02040503050406030204" pitchFamily="18" charset="0"/>
                            </a:rPr>
                            <m:t>0,</m:t>
                          </m:r>
                          <m:r>
                            <a:rPr lang="en-GB" b="0" i="1" smtClean="0">
                              <a:latin typeface="Cambria Math" panose="02040503050406030204" pitchFamily="18" charset="0"/>
                            </a:rPr>
                            <m:t>1</m:t>
                          </m:r>
                        </m:sup>
                      </m:sSubSup>
                      <m:r>
                        <a:rPr lang="en-GB" i="1" smtClean="0">
                          <a:latin typeface="Cambria Math" panose="02040503050406030204" pitchFamily="18" charset="0"/>
                          <a:ea typeface="Cambria Math" panose="02040503050406030204" pitchFamily="18" charset="0"/>
                        </a:rPr>
                        <m:t>×</m:t>
                      </m:r>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𝐽</m:t>
                          </m:r>
                        </m:sub>
                        <m:sup>
                          <m:r>
                            <a:rPr lang="en-GB" b="0" i="1" smtClean="0">
                              <a:latin typeface="Cambria Math" panose="02040503050406030204" pitchFamily="18" charset="0"/>
                            </a:rPr>
                            <m:t>1</m:t>
                          </m:r>
                          <m:r>
                            <a:rPr lang="en-GB" i="1">
                              <a:latin typeface="Cambria Math" panose="02040503050406030204" pitchFamily="18" charset="0"/>
                            </a:rPr>
                            <m:t>,</m:t>
                          </m:r>
                          <m:r>
                            <a:rPr lang="en-GB" b="0" i="1" smtClean="0">
                              <a:latin typeface="Cambria Math" panose="02040503050406030204" pitchFamily="18" charset="0"/>
                            </a:rPr>
                            <m:t>2</m:t>
                          </m:r>
                        </m:sup>
                      </m:sSubSup>
                      <m:r>
                        <a:rPr lang="en-GB" i="1">
                          <a:latin typeface="Cambria Math" panose="02040503050406030204" pitchFamily="18" charset="0"/>
                          <a:ea typeface="Cambria Math" panose="02040503050406030204" pitchFamily="18" charset="0"/>
                        </a:rPr>
                        <m:t>×</m:t>
                      </m:r>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𝐽</m:t>
                          </m:r>
                        </m:sub>
                        <m:sup>
                          <m:r>
                            <a:rPr lang="en-GB" b="0" i="1" smtClean="0">
                              <a:latin typeface="Cambria Math" panose="02040503050406030204" pitchFamily="18" charset="0"/>
                            </a:rPr>
                            <m:t>2</m:t>
                          </m:r>
                          <m:r>
                            <a:rPr lang="en-GB" i="1">
                              <a:latin typeface="Cambria Math" panose="02040503050406030204" pitchFamily="18" charset="0"/>
                            </a:rPr>
                            <m:t>,</m:t>
                          </m:r>
                          <m:r>
                            <a:rPr lang="en-GB" b="0" i="1" smtClean="0">
                              <a:latin typeface="Cambria Math" panose="02040503050406030204" pitchFamily="18" charset="0"/>
                            </a:rPr>
                            <m:t>3</m:t>
                          </m:r>
                        </m:sup>
                      </m:sSubSup>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m:t>
                      </m:r>
                      <m:sSubSup>
                        <m:sSubSupPr>
                          <m:ctrlPr>
                            <a:rPr lang="en-GB" i="1">
                              <a:latin typeface="Cambria Math" panose="02040503050406030204" pitchFamily="18" charset="0"/>
                            </a:rPr>
                          </m:ctrlPr>
                        </m:sSubSupPr>
                        <m:e>
                          <m:r>
                            <a:rPr lang="en-GB" i="1">
                              <a:latin typeface="Cambria Math" panose="02040503050406030204" pitchFamily="18" charset="0"/>
                            </a:rPr>
                            <m:t>𝐼</m:t>
                          </m:r>
                        </m:e>
                        <m:sub>
                          <m:r>
                            <a:rPr lang="en-GB" i="1">
                              <a:latin typeface="Cambria Math" panose="02040503050406030204" pitchFamily="18" charset="0"/>
                            </a:rPr>
                            <m:t>𝐽</m:t>
                          </m:r>
                        </m:sub>
                        <m:sup>
                          <m:r>
                            <a:rPr lang="en-GB" b="0" i="1" smtClean="0">
                              <a:latin typeface="Cambria Math" panose="02040503050406030204" pitchFamily="18" charset="0"/>
                            </a:rPr>
                            <m:t>𝑇</m:t>
                          </m:r>
                          <m:r>
                            <a:rPr lang="en-GB" b="0" i="1" smtClean="0">
                              <a:latin typeface="Cambria Math" panose="02040503050406030204" pitchFamily="18" charset="0"/>
                            </a:rPr>
                            <m:t>−1,</m:t>
                          </m:r>
                          <m:r>
                            <a:rPr lang="en-GB" b="0" i="1" smtClean="0">
                              <a:latin typeface="Cambria Math" panose="02040503050406030204" pitchFamily="18" charset="0"/>
                            </a:rPr>
                            <m:t>𝑇</m:t>
                          </m:r>
                        </m:sup>
                      </m:sSubSup>
                    </m:oMath>
                  </m:oMathPara>
                </a14:m>
                <a:endParaRPr lang="en-GB" dirty="0" smtClean="0"/>
              </a:p>
              <a:p>
                <a:pPr algn="just"/>
                <a:endParaRPr lang="en-GB" dirty="0" smtClean="0"/>
              </a:p>
              <a:p>
                <a:pPr algn="just"/>
                <a:r>
                  <a:rPr lang="en-GB" dirty="0" smtClean="0"/>
                  <a:t>where </a:t>
                </a:r>
                <a14:m>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rPr>
                          <m:t>𝑞</m:t>
                        </m:r>
                      </m:e>
                      <m:sub>
                        <m:r>
                          <a:rPr lang="en-GB" i="1">
                            <a:latin typeface="Cambria Math" panose="02040503050406030204" pitchFamily="18" charset="0"/>
                          </a:rPr>
                          <m:t>𝑖</m:t>
                        </m:r>
                      </m:sub>
                      <m:sup>
                        <m:r>
                          <a:rPr lang="en-GB" i="1">
                            <a:latin typeface="Cambria Math" panose="02040503050406030204" pitchFamily="18" charset="0"/>
                          </a:rPr>
                          <m:t>𝑡</m:t>
                        </m:r>
                      </m:sup>
                    </m:sSubSup>
                  </m:oMath>
                </a14:m>
                <a:r>
                  <a:rPr lang="en-GB" dirty="0" smtClean="0"/>
                  <a:t> denotes passages of vehicle </a:t>
                </a:r>
                <a14:m>
                  <m:oMath xmlns:m="http://schemas.openxmlformats.org/officeDocument/2006/math">
                    <m:r>
                      <a:rPr lang="en-GB" b="0" i="1" smtClean="0">
                        <a:latin typeface="Cambria Math" panose="02040503050406030204" pitchFamily="18" charset="0"/>
                      </a:rPr>
                      <m:t>𝑖</m:t>
                    </m:r>
                  </m:oMath>
                </a14:m>
                <a:r>
                  <a:rPr lang="en-GB" dirty="0" smtClean="0"/>
                  <a:t> during month </a:t>
                </a:r>
                <a14:m>
                  <m:oMath xmlns:m="http://schemas.openxmlformats.org/officeDocument/2006/math">
                    <m:r>
                      <a:rPr lang="en-GB" b="0" i="1" smtClean="0">
                        <a:latin typeface="Cambria Math" panose="02040503050406030204" pitchFamily="18" charset="0"/>
                      </a:rPr>
                      <m:t>𝑡</m:t>
                    </m:r>
                  </m:oMath>
                </a14:m>
                <a:r>
                  <a:rPr lang="en-GB" dirty="0" smtClean="0"/>
                  <a:t>, </a:t>
                </a:r>
                <a14:m>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rPr>
                          <m:t>𝑞</m:t>
                        </m:r>
                      </m:e>
                      <m:sub>
                        <m:r>
                          <a:rPr lang="en-GB" i="1">
                            <a:latin typeface="Cambria Math" panose="02040503050406030204" pitchFamily="18" charset="0"/>
                          </a:rPr>
                          <m:t>𝑖</m:t>
                        </m:r>
                      </m:sub>
                      <m:sup>
                        <m:r>
                          <a:rPr lang="en-GB" b="0" i="1" smtClean="0">
                            <a:latin typeface="Cambria Math" panose="02040503050406030204" pitchFamily="18" charset="0"/>
                          </a:rPr>
                          <m:t>0</m:t>
                        </m:r>
                      </m:sup>
                    </m:sSubSup>
                  </m:oMath>
                </a14:m>
                <a:r>
                  <a:rPr lang="en-GB" dirty="0"/>
                  <a:t> denotes passages of vehicle </a:t>
                </a:r>
                <a14:m>
                  <m:oMath xmlns:m="http://schemas.openxmlformats.org/officeDocument/2006/math">
                    <m:r>
                      <a:rPr lang="en-GB" i="1">
                        <a:latin typeface="Cambria Math" panose="02040503050406030204" pitchFamily="18" charset="0"/>
                      </a:rPr>
                      <m:t>𝑖</m:t>
                    </m:r>
                  </m:oMath>
                </a14:m>
                <a:r>
                  <a:rPr lang="en-GB" dirty="0"/>
                  <a:t> during month </a:t>
                </a:r>
                <a14:m>
                  <m:oMath xmlns:m="http://schemas.openxmlformats.org/officeDocument/2006/math">
                    <m:r>
                      <a:rPr lang="en-GB" b="0" i="1" smtClean="0">
                        <a:latin typeface="Cambria Math" panose="02040503050406030204" pitchFamily="18" charset="0"/>
                      </a:rPr>
                      <m:t>0</m:t>
                    </m:r>
                  </m:oMath>
                </a14:m>
                <a:r>
                  <a:rPr lang="en-GB" dirty="0" smtClean="0"/>
                  <a:t> and </a:t>
                </a:r>
                <a14:m>
                  <m:oMath xmlns:m="http://schemas.openxmlformats.org/officeDocument/2006/math">
                    <m:r>
                      <a:rPr lang="en-GB" b="0" i="1" smtClean="0">
                        <a:latin typeface="Cambria Math" panose="02040503050406030204" pitchFamily="18" charset="0"/>
                      </a:rPr>
                      <m:t>𝑁</m:t>
                    </m:r>
                  </m:oMath>
                </a14:m>
                <a:r>
                  <a:rPr lang="en-GB" dirty="0" smtClean="0"/>
                  <a:t> is matched vehicles observed in both periods</a:t>
                </a:r>
                <a:endParaRPr lang="sk-SK" dirty="0" smtClean="0"/>
              </a:p>
              <a:p>
                <a:pPr algn="just"/>
                <a:r>
                  <a:rPr lang="en-GB" b="1" dirty="0"/>
                  <a:t>Would you prefer to use fixed-base or chained Jevons</a:t>
                </a:r>
                <a:r>
                  <a:rPr lang="en-GB" b="1" dirty="0" smtClean="0"/>
                  <a:t>?</a:t>
                </a:r>
                <a:endParaRPr lang="en-GB" dirty="0"/>
              </a:p>
              <a:p>
                <a:pPr algn="just"/>
                <a:endParaRPr lang="en-GB" dirty="0">
                  <a:ea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8B0E816B-5CEC-1C6D-582C-69AA81FB0EF6}"/>
                  </a:ext>
                </a:extLst>
              </p:cNvPr>
              <p:cNvSpPr>
                <a:spLocks noGrp="1" noRot="1" noChangeAspect="1" noMove="1" noResize="1" noEditPoints="1" noAdjustHandles="1" noChangeArrowheads="1" noChangeShapeType="1" noTextEdit="1"/>
              </p:cNvSpPr>
              <p:nvPr>
                <p:ph sz="half" idx="2"/>
              </p:nvPr>
            </p:nvSpPr>
            <p:spPr>
              <a:blipFill>
                <a:blip r:embed="rId2"/>
                <a:stretch>
                  <a:fillRect l="-754" t="-2326" r="-638" b="-7558"/>
                </a:stretch>
              </a:blipFill>
            </p:spPr>
            <p:txBody>
              <a:bodyPr/>
              <a:lstStyle/>
              <a:p>
                <a:r>
                  <a:rPr lang="en-GB">
                    <a:noFill/>
                  </a:rPr>
                  <a:t> </a:t>
                </a:r>
              </a:p>
            </p:txBody>
          </p:sp>
        </mc:Fallback>
      </mc:AlternateContent>
    </p:spTree>
    <p:extLst>
      <p:ext uri="{BB962C8B-B14F-4D97-AF65-F5344CB8AC3E}">
        <p14:creationId xmlns:p14="http://schemas.microsoft.com/office/powerpoint/2010/main" val="395455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MULTILATERAL METHODS FOR INDEX COMPILATION</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13</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buNone/>
            </a:pPr>
            <a:r>
              <a:rPr lang="en-GB" b="1" dirty="0" smtClean="0"/>
              <a:t>Problem</a:t>
            </a:r>
          </a:p>
          <a:p>
            <a:r>
              <a:rPr lang="en-GB" dirty="0" smtClean="0"/>
              <a:t>Suppose we observe the following vehicles</a:t>
            </a:r>
          </a:p>
          <a:p>
            <a:endParaRPr lang="en-GB" dirty="0" smtClean="0"/>
          </a:p>
          <a:p>
            <a:endParaRPr lang="en-GB" dirty="0" smtClean="0"/>
          </a:p>
          <a:p>
            <a:endParaRPr lang="en-GB" dirty="0" smtClean="0"/>
          </a:p>
          <a:p>
            <a:endParaRPr lang="en-GB" dirty="0" smtClean="0"/>
          </a:p>
          <a:p>
            <a:r>
              <a:rPr lang="en-GB" b="1" dirty="0" smtClean="0"/>
              <a:t>Question</a:t>
            </a:r>
            <a:r>
              <a:rPr lang="en-GB" dirty="0" smtClean="0"/>
              <a:t>: Can we still construct a bilateral index? Yes,</a:t>
            </a:r>
            <a:r>
              <a:rPr lang="sk-SK" dirty="0" smtClean="0"/>
              <a:t> </a:t>
            </a:r>
            <a:r>
              <a:rPr lang="en-GB" dirty="0" smtClean="0"/>
              <a:t>but the matched sample becomes progressively smaller, leading to increased sampling variability and potential bias due to vehicle churn</a:t>
            </a:r>
          </a:p>
          <a:p>
            <a:endParaRPr lang="en-GB" dirty="0" smtClean="0"/>
          </a:p>
          <a:p>
            <a:r>
              <a:rPr lang="en-GB" b="1" dirty="0" smtClean="0"/>
              <a:t>Motivation</a:t>
            </a:r>
            <a:r>
              <a:rPr lang="sk-SK" dirty="0" smtClean="0"/>
              <a:t>:</a:t>
            </a:r>
            <a:r>
              <a:rPr lang="en-GB" dirty="0" smtClean="0"/>
              <a:t> </a:t>
            </a:r>
            <a:r>
              <a:rPr lang="sk-SK" dirty="0"/>
              <a:t>U</a:t>
            </a:r>
            <a:r>
              <a:rPr lang="en-GB" dirty="0" smtClean="0"/>
              <a:t>se </a:t>
            </a:r>
            <a:r>
              <a:rPr lang="sk-SK" dirty="0" smtClean="0"/>
              <a:t>of </a:t>
            </a:r>
            <a:r>
              <a:rPr lang="en-GB" dirty="0" smtClean="0"/>
              <a:t>multilateral methods for index compilation as a way to overcome this limitation</a:t>
            </a:r>
          </a:p>
          <a:p>
            <a:pPr marL="0" indent="0">
              <a:buNone/>
            </a:pPr>
            <a:endParaRPr lang="en-GB" dirty="0" smtClean="0"/>
          </a:p>
          <a:p>
            <a:pPr algn="just"/>
            <a:endParaRPr lang="en-GB" dirty="0">
              <a:ea typeface="Cambria Math" panose="02040503050406030204" pitchFamily="18" charset="0"/>
            </a:endParaRPr>
          </a:p>
        </p:txBody>
      </p:sp>
      <p:graphicFrame>
        <p:nvGraphicFramePr>
          <p:cNvPr id="6" name="Tabuľka 5"/>
          <p:cNvGraphicFramePr>
            <a:graphicFrameLocks noGrp="1"/>
          </p:cNvGraphicFramePr>
          <p:nvPr>
            <p:extLst>
              <p:ext uri="{D42A27DB-BD31-4B8C-83A1-F6EECF244321}">
                <p14:modId xmlns:p14="http://schemas.microsoft.com/office/powerpoint/2010/main" val="2870194168"/>
              </p:ext>
            </p:extLst>
          </p:nvPr>
        </p:nvGraphicFramePr>
        <p:xfrm>
          <a:off x="970722" y="2779839"/>
          <a:ext cx="5400000" cy="1219200"/>
        </p:xfrm>
        <a:graphic>
          <a:graphicData uri="http://schemas.openxmlformats.org/drawingml/2006/table">
            <a:tbl>
              <a:tblPr/>
              <a:tblGrid>
                <a:gridCol w="1800000">
                  <a:extLst>
                    <a:ext uri="{9D8B030D-6E8A-4147-A177-3AD203B41FA5}">
                      <a16:colId xmlns:a16="http://schemas.microsoft.com/office/drawing/2014/main" val="686582047"/>
                    </a:ext>
                  </a:extLst>
                </a:gridCol>
                <a:gridCol w="1800000">
                  <a:extLst>
                    <a:ext uri="{9D8B030D-6E8A-4147-A177-3AD203B41FA5}">
                      <a16:colId xmlns:a16="http://schemas.microsoft.com/office/drawing/2014/main" val="3813068010"/>
                    </a:ext>
                  </a:extLst>
                </a:gridCol>
                <a:gridCol w="1800000">
                  <a:extLst>
                    <a:ext uri="{9D8B030D-6E8A-4147-A177-3AD203B41FA5}">
                      <a16:colId xmlns:a16="http://schemas.microsoft.com/office/drawing/2014/main" val="2938480460"/>
                    </a:ext>
                  </a:extLst>
                </a:gridCol>
              </a:tblGrid>
              <a:tr h="0">
                <a:tc>
                  <a:txBody>
                    <a:bodyPr/>
                    <a:lstStyle/>
                    <a:p>
                      <a:r>
                        <a:rPr lang="en-GB" b="1" dirty="0"/>
                        <a:t>January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b="1" dirty="0"/>
                        <a:t>February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b="1" dirty="0"/>
                        <a:t>March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2918895"/>
                  </a:ext>
                </a:extLst>
              </a:tr>
              <a:tr h="0">
                <a:tc>
                  <a:txBody>
                    <a:bodyPr/>
                    <a:lstStyle/>
                    <a:p>
                      <a:r>
                        <a:rPr lang="en-GB"/>
                        <a:t>Truck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Truck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Truck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3928898"/>
                  </a:ext>
                </a:extLst>
              </a:tr>
              <a:tr h="0">
                <a:tc>
                  <a:txBody>
                    <a:bodyPr/>
                    <a:lstStyle/>
                    <a:p>
                      <a:r>
                        <a:rPr lang="en-GB"/>
                        <a:t>Truck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Truck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Truck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882337"/>
                  </a:ext>
                </a:extLst>
              </a:tr>
              <a:tr h="0">
                <a:tc>
                  <a:txBody>
                    <a:bodyPr/>
                    <a:lstStyle/>
                    <a:p>
                      <a:r>
                        <a:rPr lang="en-GB"/>
                        <a:t>Truck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Truck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t>Truck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88423"/>
                  </a:ext>
                </a:extLst>
              </a:tr>
            </a:tbl>
          </a:graphicData>
        </a:graphic>
      </p:graphicFrame>
    </p:spTree>
    <p:extLst>
      <p:ext uri="{BB962C8B-B14F-4D97-AF65-F5344CB8AC3E}">
        <p14:creationId xmlns:p14="http://schemas.microsoft.com/office/powerpoint/2010/main" val="1445893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MULTILATERAL INDEX – TIME-PRODUCT DUMMY (TPD)</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14</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algn="just"/>
                <a:r>
                  <a:rPr lang="en-GB" dirty="0" smtClean="0"/>
                  <a:t>Instead of comparing only two months </a:t>
                </a:r>
                <a:r>
                  <a:rPr lang="en-GB" dirty="0" smtClean="0">
                    <a:latin typeface="Times New Roman" panose="02020603050405020304" pitchFamily="18" charset="0"/>
                    <a:cs typeface="Times New Roman" panose="02020603050405020304" pitchFamily="18" charset="0"/>
                  </a:rPr>
                  <a:t>→ </a:t>
                </a:r>
                <a:r>
                  <a:rPr lang="en-GB" dirty="0" smtClean="0"/>
                  <a:t>multilateral indices compare all </a:t>
                </a:r>
                <a:r>
                  <a:rPr lang="en-GB" dirty="0"/>
                  <a:t>months </a:t>
                </a:r>
                <a:r>
                  <a:rPr lang="en-GB" dirty="0" smtClean="0"/>
                  <a:t>simultaneously within a defined time window </a:t>
                </a:r>
                <a14:m>
                  <m:oMath xmlns:m="http://schemas.openxmlformats.org/officeDocument/2006/math">
                    <m:r>
                      <a:rPr lang="en-GB" b="0" i="1" smtClean="0">
                        <a:latin typeface="Cambria Math" panose="02040503050406030204" pitchFamily="18" charset="0"/>
                      </a:rPr>
                      <m:t>𝑇</m:t>
                    </m:r>
                  </m:oMath>
                </a14:m>
                <a:endParaRPr lang="en-GB" dirty="0"/>
              </a:p>
              <a:p>
                <a:pPr algn="just"/>
                <a:endParaRPr lang="en-GB" dirty="0" smtClean="0"/>
              </a:p>
              <a:p>
                <a:pPr algn="just"/>
                <a:r>
                  <a:rPr lang="en-GB" b="1" dirty="0" smtClean="0"/>
                  <a:t>Time-Product Dummy</a:t>
                </a:r>
                <a:r>
                  <a:rPr lang="en-GB" dirty="0" smtClean="0"/>
                  <a:t> (</a:t>
                </a:r>
                <a:r>
                  <a:rPr lang="en-GB" b="1" dirty="0" smtClean="0"/>
                  <a:t>TPD</a:t>
                </a:r>
                <a:r>
                  <a:rPr lang="en-GB" dirty="0" smtClean="0"/>
                  <a:t>) index </a:t>
                </a:r>
                <a:r>
                  <a:rPr lang="en-GB" dirty="0" smtClean="0">
                    <a:latin typeface="Times New Roman" panose="02020603050405020304" pitchFamily="18" charset="0"/>
                    <a:cs typeface="Times New Roman" panose="02020603050405020304" pitchFamily="18" charset="0"/>
                  </a:rPr>
                  <a:t>→</a:t>
                </a:r>
                <a:r>
                  <a:rPr lang="en-GB" dirty="0" smtClean="0"/>
                  <a:t> based on a fixed-effect regression </a:t>
                </a:r>
                <a:r>
                  <a:rPr lang="en-GB" dirty="0">
                    <a:latin typeface="Times New Roman" panose="02020603050405020304" pitchFamily="18" charset="0"/>
                    <a:cs typeface="Times New Roman" panose="02020603050405020304" pitchFamily="18" charset="0"/>
                  </a:rPr>
                  <a:t>→</a:t>
                </a:r>
                <a:r>
                  <a:rPr lang="en-GB" dirty="0" smtClean="0"/>
                  <a:t> every </a:t>
                </a:r>
                <a:r>
                  <a:rPr lang="en-GB" dirty="0"/>
                  <a:t>available vehicle contributes information</a:t>
                </a:r>
                <a:r>
                  <a:rPr lang="en-GB" dirty="0" smtClean="0"/>
                  <a:t>, even </a:t>
                </a:r>
                <a:r>
                  <a:rPr lang="en-GB" dirty="0"/>
                  <a:t>if it is not observed in every </a:t>
                </a:r>
                <a:r>
                  <a:rPr lang="en-GB" dirty="0" smtClean="0"/>
                  <a:t>month</a:t>
                </a:r>
                <a:endParaRPr lang="en-GB" dirty="0"/>
              </a:p>
              <a:p>
                <a:pPr marL="0" indent="0" algn="just">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𝑙𝑛</m:t>
                      </m:r>
                      <m:d>
                        <m:dPr>
                          <m:ctrlPr>
                            <a:rPr lang="en-GB" b="0" i="1" smtClean="0">
                              <a:latin typeface="Cambria Math" panose="02040503050406030204" pitchFamily="18" charset="0"/>
                            </a:rPr>
                          </m:ctrlPr>
                        </m:dPr>
                        <m:e>
                          <m:sSubSup>
                            <m:sSubSupPr>
                              <m:ctrlPr>
                                <a:rPr lang="en-GB" i="1">
                                  <a:latin typeface="Cambria Math" panose="02040503050406030204" pitchFamily="18" charset="0"/>
                                </a:rPr>
                              </m:ctrlPr>
                            </m:sSubSupPr>
                            <m:e>
                              <m:r>
                                <a:rPr lang="en-GB" i="1">
                                  <a:latin typeface="Cambria Math" panose="02040503050406030204" pitchFamily="18" charset="0"/>
                                </a:rPr>
                                <m:t>𝑞</m:t>
                              </m:r>
                            </m:e>
                            <m:sub>
                              <m:r>
                                <a:rPr lang="en-GB" i="1">
                                  <a:latin typeface="Cambria Math" panose="02040503050406030204" pitchFamily="18" charset="0"/>
                                </a:rPr>
                                <m:t>𝑖</m:t>
                              </m:r>
                            </m:sub>
                            <m:sup>
                              <m:r>
                                <a:rPr lang="en-GB" i="1">
                                  <a:latin typeface="Cambria Math" panose="02040503050406030204" pitchFamily="18" charset="0"/>
                                </a:rPr>
                                <m:t>𝑡</m:t>
                              </m:r>
                            </m:sup>
                          </m:sSubSup>
                        </m:e>
                      </m:d>
                      <m:r>
                        <a:rPr lang="en-GB" i="1">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𝛼</m:t>
                          </m:r>
                        </m:e>
                        <m:sub>
                          <m:r>
                            <a:rPr lang="en-GB" b="0" i="1" smtClean="0">
                              <a:latin typeface="Cambria Math" panose="02040503050406030204" pitchFamily="18" charset="0"/>
                            </a:rPr>
                            <m:t>0</m:t>
                          </m:r>
                        </m:sub>
                      </m:sSub>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𝑡</m:t>
                          </m:r>
                          <m:r>
                            <a:rPr lang="en-GB" b="0" i="1" smtClean="0">
                              <a:latin typeface="Cambria Math" panose="02040503050406030204" pitchFamily="18" charset="0"/>
                            </a:rPr>
                            <m:t>=1</m:t>
                          </m:r>
                        </m:sub>
                        <m:sup>
                          <m:r>
                            <a:rPr lang="en-GB" b="0" i="1" smtClean="0">
                              <a:latin typeface="Cambria Math" panose="02040503050406030204" pitchFamily="18" charset="0"/>
                            </a:rPr>
                            <m:t>𝑇</m:t>
                          </m:r>
                        </m:sup>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b="0" i="1" smtClean="0">
                                  <a:latin typeface="Cambria Math" panose="02040503050406030204" pitchFamily="18" charset="0"/>
                                  <a:ea typeface="Cambria Math" panose="02040503050406030204" pitchFamily="18" charset="0"/>
                                </a:rPr>
                                <m:t>𝑡</m:t>
                              </m:r>
                            </m:sub>
                          </m:sSub>
                          <m:sSub>
                            <m:sSubPr>
                              <m:ctrlPr>
                                <a:rPr lang="en-GB" i="1">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𝑡</m:t>
                              </m:r>
                            </m:sub>
                          </m:sSub>
                        </m:e>
                      </m:nary>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𝑡</m:t>
                          </m:r>
                          <m:r>
                            <a:rPr lang="en-GB" i="1">
                              <a:latin typeface="Cambria Math" panose="02040503050406030204" pitchFamily="18" charset="0"/>
                            </a:rPr>
                            <m:t>=1</m:t>
                          </m:r>
                        </m:sub>
                        <m:sup>
                          <m:r>
                            <a:rPr lang="en-GB" b="0" i="1" smtClean="0">
                              <a:latin typeface="Cambria Math" panose="02040503050406030204" pitchFamily="18" charset="0"/>
                            </a:rPr>
                            <m:t>𝑁</m:t>
                          </m:r>
                          <m:r>
                            <a:rPr lang="en-GB" b="0" i="1" smtClean="0">
                              <a:latin typeface="Cambria Math" panose="02040503050406030204" pitchFamily="18" charset="0"/>
                            </a:rPr>
                            <m:t>−1</m:t>
                          </m:r>
                        </m:sup>
                        <m:e>
                          <m:sSub>
                            <m:sSubPr>
                              <m:ctrlPr>
                                <a:rPr lang="en-GB" i="1">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𝛾</m:t>
                              </m:r>
                            </m:e>
                            <m:sub>
                              <m:r>
                                <a:rPr lang="en-GB" b="0" i="1" smtClean="0">
                                  <a:latin typeface="Cambria Math" panose="02040503050406030204" pitchFamily="18" charset="0"/>
                                  <a:ea typeface="Cambria Math" panose="02040503050406030204" pitchFamily="18" charset="0"/>
                                </a:rPr>
                                <m:t>𝑖</m:t>
                              </m:r>
                            </m:sub>
                          </m:sSub>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𝐷</m:t>
                              </m:r>
                            </m:e>
                            <m:sub>
                              <m:r>
                                <a:rPr lang="en-GB" b="0" i="1" smtClean="0">
                                  <a:latin typeface="Cambria Math" panose="02040503050406030204" pitchFamily="18" charset="0"/>
                                  <a:ea typeface="Cambria Math" panose="02040503050406030204" pitchFamily="18" charset="0"/>
                                </a:rPr>
                                <m:t>𝑖</m:t>
                              </m:r>
                            </m:sub>
                          </m:sSub>
                        </m:e>
                      </m:nary>
                      <m:r>
                        <a:rPr lang="en-GB" b="0" i="1" smtClean="0">
                          <a:latin typeface="Cambria Math" panose="02040503050406030204" pitchFamily="18" charset="0"/>
                          <a:ea typeface="Cambria Math" panose="02040503050406030204" pitchFamily="18" charset="0"/>
                        </a:rPr>
                        <m:t>+</m:t>
                      </m:r>
                      <m:sSubSup>
                        <m:sSubSupPr>
                          <m:ctrlPr>
                            <a:rPr lang="en-GB" b="0" i="1" smtClean="0">
                              <a:latin typeface="Cambria Math" panose="02040503050406030204" pitchFamily="18" charset="0"/>
                              <a:ea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𝜀</m:t>
                          </m:r>
                        </m:e>
                        <m:sub>
                          <m:r>
                            <a:rPr lang="en-GB" b="0" i="1" smtClean="0">
                              <a:latin typeface="Cambria Math" panose="02040503050406030204" pitchFamily="18" charset="0"/>
                              <a:ea typeface="Cambria Math" panose="02040503050406030204" pitchFamily="18" charset="0"/>
                            </a:rPr>
                            <m:t>𝑖</m:t>
                          </m:r>
                        </m:sub>
                        <m:sup>
                          <m:r>
                            <a:rPr lang="en-GB" b="0" i="1" smtClean="0">
                              <a:latin typeface="Cambria Math" panose="02040503050406030204" pitchFamily="18" charset="0"/>
                              <a:ea typeface="Cambria Math" panose="02040503050406030204" pitchFamily="18" charset="0"/>
                            </a:rPr>
                            <m:t>𝑡</m:t>
                          </m:r>
                        </m:sup>
                      </m:sSubSup>
                    </m:oMath>
                  </m:oMathPara>
                </a14:m>
                <a:endParaRPr lang="en-GB" dirty="0"/>
              </a:p>
              <a:p>
                <a:pPr algn="just"/>
                <a:r>
                  <a:rPr lang="en-GB" dirty="0"/>
                  <a:t>where</a:t>
                </a:r>
                <a14:m>
                  <m:oMath xmlns:m="http://schemas.openxmlformats.org/officeDocument/2006/math">
                    <m:r>
                      <a:rPr lang="en-GB" b="0" i="0"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𝐷</m:t>
                        </m:r>
                      </m:e>
                      <m:sub>
                        <m:r>
                          <a:rPr lang="en-GB" i="1">
                            <a:latin typeface="Cambria Math" panose="02040503050406030204" pitchFamily="18" charset="0"/>
                            <a:ea typeface="Cambria Math" panose="02040503050406030204" pitchFamily="18" charset="0"/>
                          </a:rPr>
                          <m:t>𝑡</m:t>
                        </m:r>
                      </m:sub>
                    </m:sSub>
                  </m:oMath>
                </a14:m>
                <a:r>
                  <a:rPr lang="en-GB" dirty="0" smtClean="0"/>
                  <a:t> is a time dummy variable,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𝐷</m:t>
                        </m:r>
                      </m:e>
                      <m:sub>
                        <m:r>
                          <a:rPr lang="en-GB" i="1">
                            <a:latin typeface="Cambria Math" panose="02040503050406030204" pitchFamily="18" charset="0"/>
                            <a:ea typeface="Cambria Math" panose="02040503050406030204" pitchFamily="18" charset="0"/>
                          </a:rPr>
                          <m:t>𝑖</m:t>
                        </m:r>
                      </m:sub>
                    </m:sSub>
                  </m:oMath>
                </a14:m>
                <a:r>
                  <a:rPr lang="en-GB" dirty="0" smtClean="0"/>
                  <a:t> is a vehicle dummy variable,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𝛾</m:t>
                        </m:r>
                      </m:e>
                      <m:sub>
                        <m:r>
                          <a:rPr lang="en-GB" i="1">
                            <a:latin typeface="Cambria Math" panose="02040503050406030204" pitchFamily="18" charset="0"/>
                            <a:ea typeface="Cambria Math" panose="02040503050406030204" pitchFamily="18" charset="0"/>
                          </a:rPr>
                          <m:t>𝑖</m:t>
                        </m:r>
                      </m:sub>
                    </m:sSub>
                  </m:oMath>
                </a14:m>
                <a:r>
                  <a:rPr lang="en-GB" dirty="0" smtClean="0"/>
                  <a:t> is a vehicle specific effect,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𝛼</m:t>
                        </m:r>
                      </m:e>
                      <m:sub>
                        <m:r>
                          <a:rPr lang="en-GB" i="1">
                            <a:latin typeface="Cambria Math" panose="02040503050406030204" pitchFamily="18" charset="0"/>
                            <a:ea typeface="Cambria Math" panose="02040503050406030204" pitchFamily="18" charset="0"/>
                          </a:rPr>
                          <m:t>𝑡</m:t>
                        </m:r>
                      </m:sub>
                    </m:sSub>
                  </m:oMath>
                </a14:m>
                <a:r>
                  <a:rPr lang="en-GB" dirty="0" smtClean="0"/>
                  <a:t> are monthly changes to be </a:t>
                </a:r>
                <a:r>
                  <a:rPr lang="en-GB" dirty="0"/>
                  <a:t>estimated and </a:t>
                </a:r>
                <a14:m>
                  <m:oMath xmlns:m="http://schemas.openxmlformats.org/officeDocument/2006/math">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𝜀</m:t>
                        </m:r>
                      </m:e>
                      <m:sub>
                        <m:r>
                          <a:rPr lang="en-GB" i="1">
                            <a:latin typeface="Cambria Math" panose="02040503050406030204" pitchFamily="18" charset="0"/>
                            <a:ea typeface="Cambria Math" panose="02040503050406030204" pitchFamily="18" charset="0"/>
                          </a:rPr>
                          <m:t>𝑖</m:t>
                        </m:r>
                      </m:sub>
                      <m:sup>
                        <m:r>
                          <a:rPr lang="en-GB" i="1">
                            <a:latin typeface="Cambria Math" panose="02040503050406030204" pitchFamily="18" charset="0"/>
                            <a:ea typeface="Cambria Math" panose="02040503050406030204" pitchFamily="18" charset="0"/>
                          </a:rPr>
                          <m:t>𝑡</m:t>
                        </m:r>
                      </m:sup>
                    </m:sSubSup>
                  </m:oMath>
                </a14:m>
                <a:r>
                  <a:rPr lang="en-GB" dirty="0" smtClean="0"/>
                  <a:t> are residuals. It follows that</a:t>
                </a:r>
              </a:p>
              <a:p>
                <a:pPr marL="0" indent="0" algn="just">
                  <a:buNone/>
                </a:pPr>
                <a14:m>
                  <m:oMathPara xmlns:m="http://schemas.openxmlformats.org/officeDocument/2006/math">
                    <m:oMathParaPr>
                      <m:jc m:val="centerGroup"/>
                    </m:oMathParaPr>
                    <m:oMath xmlns:m="http://schemas.openxmlformats.org/officeDocument/2006/math">
                      <m:sSubSup>
                        <m:sSubSupPr>
                          <m:ctrlPr>
                            <a:rPr lang="en-GB" b="1" i="1">
                              <a:latin typeface="Cambria Math" panose="02040503050406030204" pitchFamily="18" charset="0"/>
                            </a:rPr>
                          </m:ctrlPr>
                        </m:sSubSupPr>
                        <m:e>
                          <m:r>
                            <a:rPr lang="en-GB" b="1" i="1">
                              <a:latin typeface="Cambria Math" panose="02040503050406030204" pitchFamily="18" charset="0"/>
                            </a:rPr>
                            <m:t>𝑰</m:t>
                          </m:r>
                        </m:e>
                        <m:sub>
                          <m:r>
                            <a:rPr lang="en-GB" b="1" i="1" smtClean="0">
                              <a:latin typeface="Cambria Math" panose="02040503050406030204" pitchFamily="18" charset="0"/>
                            </a:rPr>
                            <m:t>𝑻𝑷𝑫</m:t>
                          </m:r>
                        </m:sub>
                        <m:sup>
                          <m:r>
                            <a:rPr lang="en-GB" b="1" i="1">
                              <a:latin typeface="Cambria Math" panose="02040503050406030204" pitchFamily="18" charset="0"/>
                            </a:rPr>
                            <m:t>𝟎</m:t>
                          </m:r>
                          <m:r>
                            <a:rPr lang="en-GB" b="1" i="1">
                              <a:latin typeface="Cambria Math" panose="02040503050406030204" pitchFamily="18" charset="0"/>
                            </a:rPr>
                            <m:t>,</m:t>
                          </m:r>
                          <m:r>
                            <a:rPr lang="en-GB" b="1" i="1">
                              <a:latin typeface="Cambria Math" panose="02040503050406030204" pitchFamily="18" charset="0"/>
                            </a:rPr>
                            <m:t>𝒕</m:t>
                          </m:r>
                        </m:sup>
                      </m:sSubSup>
                      <m:r>
                        <a:rPr lang="en-GB" b="1" i="1">
                          <a:latin typeface="Cambria Math" panose="02040503050406030204" pitchFamily="18" charset="0"/>
                        </a:rPr>
                        <m:t>=</m:t>
                      </m:r>
                      <m:r>
                        <a:rPr lang="en-GB" b="1" i="1" smtClean="0">
                          <a:latin typeface="Cambria Math" panose="02040503050406030204" pitchFamily="18" charset="0"/>
                        </a:rPr>
                        <m:t>𝒆𝒙𝒑</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acc>
                                <m:accPr>
                                  <m:chr m:val="̂"/>
                                  <m:ctrlPr>
                                    <a:rPr lang="en-GB" b="1" i="1" smtClean="0">
                                      <a:latin typeface="Cambria Math" panose="02040503050406030204" pitchFamily="18" charset="0"/>
                                    </a:rPr>
                                  </m:ctrlPr>
                                </m:accPr>
                                <m:e>
                                  <m:r>
                                    <a:rPr lang="en-GB" b="1" i="1" smtClean="0">
                                      <a:latin typeface="Cambria Math" panose="02040503050406030204" pitchFamily="18" charset="0"/>
                                      <a:ea typeface="Cambria Math" panose="02040503050406030204" pitchFamily="18" charset="0"/>
                                    </a:rPr>
                                    <m:t>𝜶</m:t>
                                  </m:r>
                                </m:e>
                              </m:acc>
                            </m:e>
                            <m:sub>
                              <m:r>
                                <a:rPr lang="en-GB" b="1" i="1" smtClean="0">
                                  <a:latin typeface="Cambria Math" panose="02040503050406030204" pitchFamily="18" charset="0"/>
                                </a:rPr>
                                <m:t>𝒕</m:t>
                              </m:r>
                            </m:sub>
                          </m:sSub>
                        </m:e>
                      </m:d>
                    </m:oMath>
                  </m:oMathPara>
                </a14:m>
                <a:endParaRPr lang="en-GB" b="1" dirty="0" smtClean="0"/>
              </a:p>
              <a:p>
                <a:pPr algn="just"/>
                <a:endParaRPr lang="en-GB" dirty="0">
                  <a:ea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8B0E816B-5CEC-1C6D-582C-69AA81FB0EF6}"/>
                  </a:ext>
                </a:extLst>
              </p:cNvPr>
              <p:cNvSpPr>
                <a:spLocks noGrp="1" noRot="1" noChangeAspect="1" noMove="1" noResize="1" noEditPoints="1" noAdjustHandles="1" noChangeArrowheads="1" noChangeShapeType="1" noTextEdit="1"/>
              </p:cNvSpPr>
              <p:nvPr>
                <p:ph sz="half" idx="2"/>
              </p:nvPr>
            </p:nvSpPr>
            <p:spPr>
              <a:blipFill>
                <a:blip r:embed="rId3"/>
                <a:stretch>
                  <a:fillRect l="-754" t="-2471" r="-638"/>
                </a:stretch>
              </a:blipFill>
            </p:spPr>
            <p:txBody>
              <a:bodyPr/>
              <a:lstStyle/>
              <a:p>
                <a:r>
                  <a:rPr lang="en-GB">
                    <a:noFill/>
                  </a:rPr>
                  <a:t> </a:t>
                </a:r>
              </a:p>
            </p:txBody>
          </p:sp>
        </mc:Fallback>
      </mc:AlternateContent>
    </p:spTree>
    <p:extLst>
      <p:ext uri="{BB962C8B-B14F-4D97-AF65-F5344CB8AC3E}">
        <p14:creationId xmlns:p14="http://schemas.microsoft.com/office/powerpoint/2010/main" val="117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MULTILATERAL INDEX – REVISION PROBLEM</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15</a:t>
            </a:fld>
            <a:endParaRPr lang="en-GB"/>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Limitation </a:t>
                </a:r>
                <a:r>
                  <a:rPr lang="en-GB" b="1" dirty="0"/>
                  <a:t>of multilateral indices</a:t>
                </a:r>
                <a:r>
                  <a:rPr lang="en-GB" dirty="0"/>
                  <a:t> is that they are estimated over a </a:t>
                </a:r>
                <a:r>
                  <a:rPr lang="en-GB" b="1" dirty="0"/>
                  <a:t>moving time </a:t>
                </a:r>
                <a:r>
                  <a:rPr lang="en-GB" b="1" dirty="0" smtClean="0"/>
                  <a:t>window</a:t>
                </a:r>
                <a:endParaRPr lang="en-GB" dirty="0" smtClean="0"/>
              </a:p>
              <a:p>
                <a:pPr algn="just"/>
                <a:r>
                  <a:rPr lang="en-GB" dirty="0"/>
                  <a:t>w</a:t>
                </a:r>
                <a:r>
                  <a:rPr lang="en-GB" dirty="0" smtClean="0"/>
                  <a:t>hen </a:t>
                </a:r>
                <a:r>
                  <a:rPr lang="en-GB" dirty="0"/>
                  <a:t>a new month is added to the window, the regression is re-estimated, which changes not only the new index but also the previously published values. This phenomenon is known as the </a:t>
                </a:r>
                <a:r>
                  <a:rPr lang="en-GB" b="1" dirty="0"/>
                  <a:t>revision </a:t>
                </a:r>
                <a:r>
                  <a:rPr lang="en-GB" b="1" dirty="0" smtClean="0"/>
                  <a:t>problem</a:t>
                </a:r>
              </a:p>
              <a:p>
                <a:pPr marL="0" indent="0" algn="just">
                  <a:buNone/>
                </a:pPr>
                <a:endParaRPr lang="en-GB" dirty="0" smtClean="0">
                  <a:ea typeface="Cambria Math" panose="02040503050406030204" pitchFamily="18" charset="0"/>
                </a:endParaRPr>
              </a:p>
              <a:p>
                <a:pPr marL="0" indent="0">
                  <a:buNone/>
                </a:pPr>
                <a:r>
                  <a:rPr lang="en-GB" b="1" dirty="0" smtClean="0"/>
                  <a:t>Solution</a:t>
                </a:r>
                <a:r>
                  <a:rPr lang="en-GB" b="1" dirty="0"/>
                  <a:t>: </a:t>
                </a:r>
                <a:r>
                  <a:rPr lang="en-GB" dirty="0"/>
                  <a:t>Movement </a:t>
                </a:r>
                <a:r>
                  <a:rPr lang="en-GB" dirty="0" smtClean="0"/>
                  <a:t>Splice (one of many options)</a:t>
                </a:r>
                <a:endParaRPr lang="en-GB" dirty="0"/>
              </a:p>
              <a:p>
                <a:r>
                  <a:rPr lang="en-GB" b="1" dirty="0"/>
                  <a:t>m</a:t>
                </a:r>
                <a:r>
                  <a:rPr lang="en-GB" b="1" dirty="0" smtClean="0"/>
                  <a:t>ovement </a:t>
                </a:r>
                <a:r>
                  <a:rPr lang="en-GB" b="1" dirty="0"/>
                  <a:t>splice</a:t>
                </a:r>
                <a:r>
                  <a:rPr lang="en-GB" dirty="0"/>
                  <a:t> method to preserve the historical series. Rather than replacing the entire index, only the movement from the newest estimation window is linked to the previously </a:t>
                </a:r>
                <a:r>
                  <a:rPr lang="en-GB" dirty="0" smtClean="0"/>
                  <a:t>published</a:t>
                </a:r>
              </a:p>
              <a:p>
                <a:pPr marL="0" indent="0">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b="0" i="1" smtClean="0">
                              <a:latin typeface="Cambria Math" panose="02040503050406030204" pitchFamily="18" charset="0"/>
                            </a:rPr>
                            <m:t>𝐼</m:t>
                          </m:r>
                        </m:e>
                        <m:sup>
                          <m:r>
                            <a:rPr lang="en-GB" b="0" i="1" smtClean="0">
                              <a:latin typeface="Cambria Math" panose="02040503050406030204" pitchFamily="18" charset="0"/>
                            </a:rPr>
                            <m:t>0,</m:t>
                          </m:r>
                          <m:r>
                            <a:rPr lang="en-GB" b="0" i="1" smtClean="0">
                              <a:latin typeface="Cambria Math" panose="02040503050406030204" pitchFamily="18" charset="0"/>
                            </a:rPr>
                            <m:t>𝑇</m:t>
                          </m:r>
                          <m:r>
                            <a:rPr lang="en-GB" b="0" i="1" smtClean="0">
                              <a:latin typeface="Cambria Math" panose="02040503050406030204" pitchFamily="18" charset="0"/>
                            </a:rPr>
                            <m:t>+1</m:t>
                          </m:r>
                        </m:sup>
                      </m:sSup>
                      <m:r>
                        <a:rPr lang="en-GB" b="0" i="1">
                          <a:latin typeface="Cambria Math" panose="02040503050406030204" pitchFamily="18" charset="0"/>
                        </a:rPr>
                        <m:t>=</m:t>
                      </m:r>
                      <m:sSup>
                        <m:sSupPr>
                          <m:ctrlPr>
                            <a:rPr lang="en-GB" i="1">
                              <a:latin typeface="Cambria Math" panose="02040503050406030204" pitchFamily="18" charset="0"/>
                            </a:rPr>
                          </m:ctrlPr>
                        </m:sSupPr>
                        <m:e>
                          <m:r>
                            <a:rPr lang="en-GB" b="0" i="1">
                              <a:latin typeface="Cambria Math" panose="02040503050406030204" pitchFamily="18" charset="0"/>
                            </a:rPr>
                            <m:t>𝐼</m:t>
                          </m:r>
                        </m:e>
                        <m:sup>
                          <m:r>
                            <a:rPr lang="en-GB" b="0" i="1">
                              <a:latin typeface="Cambria Math" panose="02040503050406030204" pitchFamily="18" charset="0"/>
                            </a:rPr>
                            <m:t>0,</m:t>
                          </m:r>
                          <m:r>
                            <a:rPr lang="en-GB" b="0" i="1">
                              <a:latin typeface="Cambria Math" panose="02040503050406030204" pitchFamily="18" charset="0"/>
                            </a:rPr>
                            <m:t>𝑇</m:t>
                          </m:r>
                        </m:sup>
                      </m:sSup>
                      <m:r>
                        <a:rPr lang="en-GB" b="0"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sSup>
                            <m:sSupPr>
                              <m:ctrlPr>
                                <a:rPr lang="en-GB" i="1">
                                  <a:latin typeface="Cambria Math" panose="02040503050406030204" pitchFamily="18" charset="0"/>
                                </a:rPr>
                              </m:ctrlPr>
                            </m:sSupPr>
                            <m:e>
                              <m:r>
                                <a:rPr lang="en-GB" b="0" i="1">
                                  <a:latin typeface="Cambria Math" panose="02040503050406030204" pitchFamily="18" charset="0"/>
                                </a:rPr>
                                <m:t>𝐼</m:t>
                              </m:r>
                            </m:e>
                            <m:sup>
                              <m:r>
                                <a:rPr lang="en-GB" b="0" i="1" smtClean="0">
                                  <a:latin typeface="Cambria Math" panose="02040503050406030204" pitchFamily="18" charset="0"/>
                                </a:rPr>
                                <m:t>1</m:t>
                              </m:r>
                              <m:r>
                                <a:rPr lang="en-GB" b="0" i="1">
                                  <a:latin typeface="Cambria Math" panose="02040503050406030204" pitchFamily="18" charset="0"/>
                                </a:rPr>
                                <m:t>,</m:t>
                              </m:r>
                              <m:r>
                                <a:rPr lang="en-GB" b="0" i="1">
                                  <a:latin typeface="Cambria Math" panose="02040503050406030204" pitchFamily="18" charset="0"/>
                                </a:rPr>
                                <m:t>𝑇</m:t>
                              </m:r>
                              <m:r>
                                <a:rPr lang="en-GB" b="0" i="1" smtClean="0">
                                  <a:latin typeface="Cambria Math" panose="02040503050406030204" pitchFamily="18" charset="0"/>
                                </a:rPr>
                                <m:t>+1</m:t>
                              </m:r>
                            </m:sup>
                          </m:sSup>
                        </m:num>
                        <m:den>
                          <m:sSup>
                            <m:sSupPr>
                              <m:ctrlPr>
                                <a:rPr lang="en-GB" i="1">
                                  <a:latin typeface="Cambria Math" panose="02040503050406030204" pitchFamily="18" charset="0"/>
                                </a:rPr>
                              </m:ctrlPr>
                            </m:sSupPr>
                            <m:e>
                              <m:r>
                                <a:rPr lang="en-GB" b="0" i="1">
                                  <a:latin typeface="Cambria Math" panose="02040503050406030204" pitchFamily="18" charset="0"/>
                                </a:rPr>
                                <m:t>𝐼</m:t>
                              </m:r>
                            </m:e>
                            <m:sup>
                              <m:r>
                                <a:rPr lang="en-GB" b="0" i="1">
                                  <a:latin typeface="Cambria Math" panose="02040503050406030204" pitchFamily="18" charset="0"/>
                                </a:rPr>
                                <m:t>1,</m:t>
                              </m:r>
                              <m:r>
                                <a:rPr lang="en-GB" b="0" i="1">
                                  <a:latin typeface="Cambria Math" panose="02040503050406030204" pitchFamily="18" charset="0"/>
                                </a:rPr>
                                <m:t>𝑇</m:t>
                              </m:r>
                            </m:sup>
                          </m:sSup>
                        </m:den>
                      </m:f>
                    </m:oMath>
                  </m:oMathPara>
                </a14:m>
                <a:endParaRPr lang="en-GB" dirty="0"/>
              </a:p>
              <a:p>
                <a:r>
                  <a:rPr lang="sk-SK" dirty="0" smtClean="0"/>
                  <a:t>t</a:t>
                </a:r>
                <a:r>
                  <a:rPr lang="en-GB" dirty="0" smtClean="0"/>
                  <a:t>he </a:t>
                </a:r>
                <a:r>
                  <a:rPr lang="en-GB" dirty="0"/>
                  <a:t>movement from the latest estimation window is multiplied by the previously published index, ensuring continuity while avoiding revisions of earlier </a:t>
                </a:r>
                <a:r>
                  <a:rPr lang="en-GB" dirty="0" smtClean="0"/>
                  <a:t>values</a:t>
                </a:r>
                <a:endParaRPr lang="en-GB" dirty="0"/>
              </a:p>
              <a:p>
                <a:pPr marL="0" indent="0" algn="just">
                  <a:buNone/>
                </a:pPr>
                <a:endParaRPr lang="en-GB" dirty="0">
                  <a:ea typeface="Cambria Math" panose="02040503050406030204" pitchFamily="18" charset="0"/>
                </a:endParaRPr>
              </a:p>
            </p:txBody>
          </p:sp>
        </mc:Choice>
        <mc:Fallback xmlns="">
          <p:sp>
            <p:nvSpPr>
              <p:cNvPr id="4" name="Content Placeholder 3">
                <a:extLst>
                  <a:ext uri="{FF2B5EF4-FFF2-40B4-BE49-F238E27FC236}">
                    <a16:creationId xmlns:a16="http://schemas.microsoft.com/office/drawing/2014/main" id="{8B0E816B-5CEC-1C6D-582C-69AA81FB0EF6}"/>
                  </a:ext>
                </a:extLst>
              </p:cNvPr>
              <p:cNvSpPr>
                <a:spLocks noGrp="1" noRot="1" noChangeAspect="1" noMove="1" noResize="1" noEditPoints="1" noAdjustHandles="1" noChangeArrowheads="1" noChangeShapeType="1" noTextEdit="1"/>
              </p:cNvSpPr>
              <p:nvPr>
                <p:ph sz="half" idx="2"/>
              </p:nvPr>
            </p:nvSpPr>
            <p:spPr>
              <a:blipFill>
                <a:blip r:embed="rId3"/>
                <a:stretch>
                  <a:fillRect l="-754" t="-1453" r="-986" b="-8140"/>
                </a:stretch>
              </a:blipFill>
            </p:spPr>
            <p:txBody>
              <a:bodyPr/>
              <a:lstStyle/>
              <a:p>
                <a:r>
                  <a:rPr lang="en-GB">
                    <a:noFill/>
                  </a:rPr>
                  <a:t> </a:t>
                </a:r>
              </a:p>
            </p:txBody>
          </p:sp>
        </mc:Fallback>
      </mc:AlternateContent>
    </p:spTree>
    <p:extLst>
      <p:ext uri="{BB962C8B-B14F-4D97-AF65-F5344CB8AC3E}">
        <p14:creationId xmlns:p14="http://schemas.microsoft.com/office/powerpoint/2010/main" val="2971215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INDUSTRIAL PRODUCTION INDEX</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16</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Empirical Results</a:t>
            </a:r>
            <a:r>
              <a:rPr lang="en-GB" dirty="0" smtClean="0"/>
              <a:t>: Truck-Passage Index vs Industrial Production Index</a:t>
            </a:r>
          </a:p>
          <a:p>
            <a:pPr marL="0" indent="0" algn="just">
              <a:buNone/>
            </a:pPr>
            <a:endParaRPr lang="en-GB" b="1" dirty="0" smtClean="0"/>
          </a:p>
          <a:p>
            <a:pPr algn="just"/>
            <a:r>
              <a:rPr lang="en-GB" dirty="0" smtClean="0"/>
              <a:t>next step is to evaluate whether estimated Truck-Passage Index capture the dynamics of industrial production </a:t>
            </a:r>
            <a:r>
              <a:rPr lang="en-GB" dirty="0" smtClean="0">
                <a:latin typeface="Times New Roman" panose="02020603050405020304" pitchFamily="18" charset="0"/>
                <a:cs typeface="Times New Roman" panose="02020603050405020304" pitchFamily="18" charset="0"/>
              </a:rPr>
              <a:t>→</a:t>
            </a:r>
            <a:r>
              <a:rPr lang="en-GB" dirty="0" smtClean="0"/>
              <a:t> comparison of the </a:t>
            </a:r>
            <a:r>
              <a:rPr lang="en-GB" b="1" dirty="0" smtClean="0"/>
              <a:t>fixed-base Jevons Index</a:t>
            </a:r>
            <a:r>
              <a:rPr lang="en-GB" dirty="0" smtClean="0"/>
              <a:t>, </a:t>
            </a:r>
            <a:r>
              <a:rPr lang="en-GB" b="1" dirty="0" smtClean="0"/>
              <a:t>chained Jevons Index</a:t>
            </a:r>
            <a:r>
              <a:rPr lang="en-GB" dirty="0" smtClean="0"/>
              <a:t>, and </a:t>
            </a:r>
            <a:r>
              <a:rPr lang="en-GB" b="1" dirty="0" smtClean="0"/>
              <a:t>Time-Product Dummy (TPD) Index</a:t>
            </a:r>
            <a:r>
              <a:rPr lang="en-GB" dirty="0" smtClean="0"/>
              <a:t> with the official </a:t>
            </a:r>
            <a:r>
              <a:rPr lang="en-GB" b="1" dirty="0" smtClean="0"/>
              <a:t>Industrial Production Index (IPI)</a:t>
            </a:r>
            <a:r>
              <a:rPr lang="en-GB" dirty="0" smtClean="0"/>
              <a:t> published by the Statistical Office of the Slovak Republic</a:t>
            </a:r>
          </a:p>
          <a:p>
            <a:pPr algn="just"/>
            <a:endParaRPr lang="en-GB" b="1" dirty="0" smtClean="0"/>
          </a:p>
          <a:p>
            <a:pPr algn="just"/>
            <a:r>
              <a:rPr lang="en-GB" b="1" dirty="0" smtClean="0"/>
              <a:t>simulate IPI in R</a:t>
            </a:r>
            <a:r>
              <a:rPr lang="en-GB" dirty="0" smtClean="0"/>
              <a:t> and compare graphically </a:t>
            </a:r>
            <a:r>
              <a:rPr lang="en-GB" dirty="0" smtClean="0">
                <a:latin typeface="Times New Roman" panose="02020603050405020304" pitchFamily="18" charset="0"/>
                <a:cs typeface="Times New Roman" panose="02020603050405020304" pitchFamily="18" charset="0"/>
              </a:rPr>
              <a:t>→</a:t>
            </a:r>
            <a:r>
              <a:rPr lang="sk-SK" dirty="0" smtClean="0">
                <a:latin typeface="Times New Roman" panose="02020603050405020304" pitchFamily="18" charset="0"/>
                <a:cs typeface="Times New Roman" panose="02020603050405020304" pitchFamily="18" charset="0"/>
              </a:rPr>
              <a:t> </a:t>
            </a:r>
            <a:r>
              <a:rPr lang="en-GB" dirty="0" smtClean="0"/>
              <a:t>compare with original time series from the paper</a:t>
            </a:r>
          </a:p>
          <a:p>
            <a:pPr algn="just"/>
            <a:endParaRPr lang="en-GB" dirty="0" smtClean="0"/>
          </a:p>
          <a:p>
            <a:pPr marL="0" indent="0" algn="just">
              <a:buNone/>
            </a:pPr>
            <a:r>
              <a:rPr lang="en-GB" b="1" dirty="0" smtClean="0"/>
              <a:t>What do you observe?</a:t>
            </a:r>
          </a:p>
          <a:p>
            <a:pPr marL="0" indent="0">
              <a:buNone/>
            </a:pPr>
            <a:endParaRPr lang="en-GB" dirty="0"/>
          </a:p>
        </p:txBody>
      </p:sp>
    </p:spTree>
    <p:extLst>
      <p:ext uri="{BB962C8B-B14F-4D97-AF65-F5344CB8AC3E}">
        <p14:creationId xmlns:p14="http://schemas.microsoft.com/office/powerpoint/2010/main" val="1966184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FIGURES – INDICES (PAPER)</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17</a:t>
            </a:fld>
            <a:endParaRPr lang="en-GB"/>
          </a:p>
        </p:txBody>
      </p:sp>
      <p:pic>
        <p:nvPicPr>
          <p:cNvPr id="18" name="Obrázok 17"/>
          <p:cNvPicPr/>
          <p:nvPr/>
        </p:nvPicPr>
        <p:blipFill>
          <a:blip r:embed="rId2"/>
          <a:stretch>
            <a:fillRect/>
          </a:stretch>
        </p:blipFill>
        <p:spPr>
          <a:xfrm>
            <a:off x="970722" y="1764255"/>
            <a:ext cx="4464685" cy="4207510"/>
          </a:xfrm>
          <a:prstGeom prst="rect">
            <a:avLst/>
          </a:prstGeom>
          <a:ln>
            <a:solidFill>
              <a:schemeClr val="tx1"/>
            </a:solidFill>
          </a:ln>
        </p:spPr>
      </p:pic>
      <p:sp>
        <p:nvSpPr>
          <p:cNvPr id="19" name="Content Placeholder 3">
            <a:extLst>
              <a:ext uri="{FF2B5EF4-FFF2-40B4-BE49-F238E27FC236}">
                <a16:creationId xmlns:a16="http://schemas.microsoft.com/office/drawing/2014/main" id="{8B0E816B-5CEC-1C6D-582C-69AA81FB0EF6}"/>
              </a:ext>
            </a:extLst>
          </p:cNvPr>
          <p:cNvSpPr>
            <a:spLocks noGrp="1"/>
          </p:cNvSpPr>
          <p:nvPr>
            <p:ph sz="half" idx="2"/>
          </p:nvPr>
        </p:nvSpPr>
        <p:spPr>
          <a:xfrm>
            <a:off x="5558319" y="1764255"/>
            <a:ext cx="5928003" cy="4207510"/>
          </a:xfrm>
        </p:spPr>
        <p:txBody>
          <a:bodyPr/>
          <a:lstStyle/>
          <a:p>
            <a:pPr algn="just"/>
            <a:r>
              <a:rPr lang="en-GB" b="1" dirty="0" smtClean="0"/>
              <a:t>All three truck-passage indices show very similar dynamics</a:t>
            </a:r>
            <a:r>
              <a:rPr lang="en-GB" dirty="0" smtClean="0"/>
              <a:t> – the fixed-base Jevons, chained Jevons and TPD indices generally identify the same increases, decreases and turning points – the largest differences between index methods appear toward the end of the period when the TPD index tends to remain somewhat higher, while the two Jevons indices are very close to each other</a:t>
            </a:r>
          </a:p>
          <a:p>
            <a:pPr algn="just"/>
            <a:endParaRPr lang="en-GB" dirty="0" smtClean="0"/>
          </a:p>
          <a:p>
            <a:pPr algn="just"/>
            <a:r>
              <a:rPr lang="en-GB" dirty="0" smtClean="0"/>
              <a:t>Truck traffic and industrial production are related but </a:t>
            </a:r>
            <a:r>
              <a:rPr lang="en-GB" b="1" dirty="0" smtClean="0"/>
              <a:t>not identical economic signals</a:t>
            </a:r>
            <a:r>
              <a:rPr lang="en-GB" dirty="0" smtClean="0"/>
              <a:t>. </a:t>
            </a:r>
            <a:endParaRPr lang="en-GB" dirty="0"/>
          </a:p>
        </p:txBody>
      </p:sp>
    </p:spTree>
    <p:extLst>
      <p:ext uri="{BB962C8B-B14F-4D97-AF65-F5344CB8AC3E}">
        <p14:creationId xmlns:p14="http://schemas.microsoft.com/office/powerpoint/2010/main" val="208450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DECOMPOSITION OF INDICES</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18</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Why decompose the index? </a:t>
            </a:r>
            <a:r>
              <a:rPr lang="en-GB" b="1" dirty="0" smtClean="0">
                <a:latin typeface="Times New Roman" panose="02020603050405020304" pitchFamily="18" charset="0"/>
                <a:cs typeface="Times New Roman" panose="02020603050405020304" pitchFamily="18" charset="0"/>
              </a:rPr>
              <a:t>→</a:t>
            </a:r>
            <a:r>
              <a:rPr lang="en-GB" dirty="0" smtClean="0"/>
              <a:t> although the indices exhibit similar movements, they contain several different types of variation simultaneously</a:t>
            </a:r>
          </a:p>
          <a:p>
            <a:pPr algn="just"/>
            <a:r>
              <a:rPr lang="en-GB" dirty="0" smtClean="0"/>
              <a:t>long-term movements</a:t>
            </a:r>
          </a:p>
          <a:p>
            <a:pPr algn="just"/>
            <a:r>
              <a:rPr lang="en-GB" b="1" dirty="0" smtClean="0"/>
              <a:t>business-cycle fluctuations</a:t>
            </a:r>
            <a:r>
              <a:rPr lang="en-GB" dirty="0" smtClean="0"/>
              <a:t> </a:t>
            </a:r>
          </a:p>
          <a:p>
            <a:pPr algn="just"/>
            <a:r>
              <a:rPr lang="en-GB" dirty="0" smtClean="0"/>
              <a:t>seasonal behaviour</a:t>
            </a:r>
          </a:p>
          <a:p>
            <a:pPr algn="just"/>
            <a:r>
              <a:rPr lang="en-GB" dirty="0" smtClean="0"/>
              <a:t>irregular noise</a:t>
            </a:r>
          </a:p>
          <a:p>
            <a:pPr marL="0" indent="0" algn="just">
              <a:buNone/>
            </a:pPr>
            <a:endParaRPr lang="en-GB" dirty="0" smtClean="0"/>
          </a:p>
          <a:p>
            <a:pPr marL="0" indent="0" algn="just">
              <a:buNone/>
            </a:pPr>
            <a:r>
              <a:rPr lang="en-GB" dirty="0" smtClean="0"/>
              <a:t>We are interested to study </a:t>
            </a:r>
            <a:r>
              <a:rPr lang="en-GB" b="1" dirty="0" smtClean="0"/>
              <a:t>the cyclical behaviour</a:t>
            </a:r>
            <a:r>
              <a:rPr lang="en-GB" dirty="0" smtClean="0"/>
              <a:t> of industrial production more closely, the paper applies </a:t>
            </a:r>
            <a:r>
              <a:rPr lang="en-GB" b="1" dirty="0" smtClean="0"/>
              <a:t>Empirical Mode Decomposition (EMD) </a:t>
            </a:r>
            <a:r>
              <a:rPr lang="en-GB" b="1" dirty="0" smtClean="0">
                <a:latin typeface="Times New Roman" panose="02020603050405020304" pitchFamily="18" charset="0"/>
                <a:cs typeface="Times New Roman" panose="02020603050405020304" pitchFamily="18" charset="0"/>
              </a:rPr>
              <a:t>→</a:t>
            </a:r>
            <a:r>
              <a:rPr lang="en-GB" dirty="0" smtClean="0"/>
              <a:t> unlike traditional filters, EMD is designed for </a:t>
            </a:r>
            <a:r>
              <a:rPr lang="en-GB" b="1" dirty="0" smtClean="0"/>
              <a:t>non-linear</a:t>
            </a:r>
            <a:r>
              <a:rPr lang="en-GB" dirty="0" smtClean="0"/>
              <a:t> and </a:t>
            </a:r>
            <a:r>
              <a:rPr lang="en-GB" b="1" dirty="0" smtClean="0"/>
              <a:t>non-stationary</a:t>
            </a:r>
            <a:r>
              <a:rPr lang="en-GB" dirty="0" smtClean="0"/>
              <a:t> time series and decomposes the original series into a finite number of </a:t>
            </a:r>
            <a:r>
              <a:rPr lang="en-GB" b="1" dirty="0" smtClean="0"/>
              <a:t>Intrinsic Mode Functions (IMFs)</a:t>
            </a:r>
            <a:endParaRPr lang="en-GB" b="1" dirty="0" smtClean="0"/>
          </a:p>
        </p:txBody>
      </p:sp>
    </p:spTree>
    <p:extLst>
      <p:ext uri="{BB962C8B-B14F-4D97-AF65-F5344CB8AC3E}">
        <p14:creationId xmlns:p14="http://schemas.microsoft.com/office/powerpoint/2010/main" val="2809946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EMPIRICAL MODE DECOMPOSITION</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19</a:t>
            </a:fld>
            <a:endParaRPr lang="en-GB"/>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lgn="just">
                  <a:buNone/>
                </a:pPr>
                <a:r>
                  <a:rPr lang="en-GB" b="1" dirty="0" smtClean="0"/>
                  <a:t>Mathematical representation</a:t>
                </a:r>
                <a:r>
                  <a:rPr lang="en-GB" dirty="0" smtClean="0"/>
                  <a:t> – based on </a:t>
                </a:r>
                <a:r>
                  <a:rPr lang="en-GB" dirty="0"/>
                  <a:t>using the interpolation technique </a:t>
                </a:r>
                <a:r>
                  <a:rPr lang="en-GB" dirty="0" smtClean="0"/>
                  <a:t>by </a:t>
                </a:r>
                <a:r>
                  <a:rPr lang="en-GB" dirty="0"/>
                  <a:t>cubic splines that are fitted around local maxima and minima of the original time series</a:t>
                </a:r>
                <a:endParaRPr lang="en-GB" b="1" dirty="0"/>
              </a:p>
              <a:p>
                <a:pPr marL="0" indent="0" algn="just">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𝐼</m:t>
                          </m:r>
                        </m:e>
                        <m:sub>
                          <m:r>
                            <a:rPr lang="en-GB" b="0" i="1" smtClean="0">
                              <a:latin typeface="Cambria Math" panose="02040503050406030204" pitchFamily="18" charset="0"/>
                              <a:ea typeface="Cambria Math" panose="02040503050406030204" pitchFamily="18" charset="0"/>
                            </a:rPr>
                            <m:t>𝑡</m:t>
                          </m:r>
                        </m:sub>
                      </m:sSub>
                      <m:r>
                        <a:rPr lang="en-GB" i="1">
                          <a:latin typeface="Cambria Math" panose="02040503050406030204" pitchFamily="18" charset="0"/>
                        </a:rPr>
                        <m:t>=</m:t>
                      </m:r>
                      <m:nary>
                        <m:naryPr>
                          <m:chr m:val="∑"/>
                          <m:ctrlPr>
                            <a:rPr lang="en-GB" i="1">
                              <a:latin typeface="Cambria Math" panose="02040503050406030204" pitchFamily="18" charset="0"/>
                            </a:rPr>
                          </m:ctrlPr>
                        </m:naryPr>
                        <m:sub>
                          <m:r>
                            <a:rPr lang="en-GB" b="0" i="1" smtClean="0">
                              <a:latin typeface="Cambria Math" panose="02040503050406030204" pitchFamily="18" charset="0"/>
                            </a:rPr>
                            <m:t>𝑗</m:t>
                          </m:r>
                          <m:r>
                            <a:rPr lang="en-GB" i="1">
                              <a:latin typeface="Cambria Math" panose="02040503050406030204" pitchFamily="18" charset="0"/>
                            </a:rPr>
                            <m:t>=1</m:t>
                          </m:r>
                        </m:sub>
                        <m:sup>
                          <m:r>
                            <a:rPr lang="en-GB" b="0" i="1" smtClean="0">
                              <a:latin typeface="Cambria Math" panose="02040503050406030204" pitchFamily="18" charset="0"/>
                            </a:rPr>
                            <m:t>𝑛</m:t>
                          </m:r>
                        </m:sup>
                        <m:e>
                          <m:sSub>
                            <m:sSubPr>
                              <m:ctrlPr>
                                <a:rPr lang="en-GB" i="1">
                                  <a:latin typeface="Cambria Math" panose="02040503050406030204" pitchFamily="18" charset="0"/>
                                </a:rPr>
                              </m:ctrlPr>
                            </m:sSubPr>
                            <m:e>
                              <m:r>
                                <a:rPr lang="en-GB" b="0" i="1" smtClean="0">
                                  <a:latin typeface="Cambria Math" panose="02040503050406030204" pitchFamily="18" charset="0"/>
                                </a:rPr>
                                <m:t>𝐼𝑀𝐹</m:t>
                              </m:r>
                            </m:e>
                            <m:sub>
                              <m:r>
                                <a:rPr lang="en-GB" b="0" i="1" smtClean="0">
                                  <a:latin typeface="Cambria Math" panose="02040503050406030204" pitchFamily="18" charset="0"/>
                                  <a:ea typeface="Cambria Math" panose="02040503050406030204" pitchFamily="18" charset="0"/>
                                </a:rPr>
                                <m:t>𝑗</m:t>
                              </m:r>
                            </m:sub>
                          </m:sSub>
                          <m:d>
                            <m:dPr>
                              <m:ctrlPr>
                                <a:rPr lang="en-GB"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𝑡</m:t>
                              </m:r>
                            </m:e>
                          </m:d>
                        </m:e>
                      </m:nary>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𝜀</m:t>
                      </m:r>
                      <m:d>
                        <m:dPr>
                          <m:ctrlPr>
                            <a:rPr lang="en-GB"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𝑡</m:t>
                          </m:r>
                        </m:e>
                      </m:d>
                    </m:oMath>
                  </m:oMathPara>
                </a14:m>
                <a:endParaRPr lang="en-GB" dirty="0" smtClean="0"/>
              </a:p>
              <a:p>
                <a:pPr algn="just"/>
                <a:r>
                  <a:rPr lang="en-GB" dirty="0" smtClean="0"/>
                  <a:t>where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𝐼</m:t>
                        </m:r>
                      </m:e>
                      <m:sub>
                        <m:r>
                          <a:rPr lang="en-GB" i="1">
                            <a:latin typeface="Cambria Math" panose="02040503050406030204" pitchFamily="18" charset="0"/>
                            <a:ea typeface="Cambria Math" panose="02040503050406030204" pitchFamily="18" charset="0"/>
                          </a:rPr>
                          <m:t>𝑡</m:t>
                        </m:r>
                      </m:sub>
                    </m:sSub>
                  </m:oMath>
                </a14:m>
                <a:r>
                  <a:rPr lang="en-GB" dirty="0" smtClean="0"/>
                  <a:t> is the original index series,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𝐼𝑀𝐹</m:t>
                        </m:r>
                      </m:e>
                      <m:sub>
                        <m:r>
                          <a:rPr lang="en-GB" i="1">
                            <a:latin typeface="Cambria Math" panose="02040503050406030204" pitchFamily="18" charset="0"/>
                            <a:ea typeface="Cambria Math" panose="02040503050406030204" pitchFamily="18" charset="0"/>
                          </a:rPr>
                          <m:t>𝑗</m:t>
                        </m:r>
                      </m:sub>
                    </m:sSub>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𝑡</m:t>
                        </m:r>
                      </m:e>
                    </m:d>
                  </m:oMath>
                </a14:m>
                <a:r>
                  <a:rPr lang="en-GB" dirty="0" smtClean="0"/>
                  <a:t> </a:t>
                </a:r>
                <a:r>
                  <a:rPr lang="en-GB" dirty="0"/>
                  <a:t>are the intrinsic mode </a:t>
                </a:r>
                <a:r>
                  <a:rPr lang="en-GB" dirty="0" smtClean="0"/>
                  <a:t>functions </a:t>
                </a:r>
                <a:r>
                  <a:rPr lang="en-GB" dirty="0" smtClean="0"/>
                  <a:t>and </a:t>
                </a:r>
                <a14:m>
                  <m:oMath xmlns:m="http://schemas.openxmlformats.org/officeDocument/2006/math">
                    <m:r>
                      <a:rPr lang="en-GB" i="1">
                        <a:latin typeface="Cambria Math" panose="02040503050406030204" pitchFamily="18" charset="0"/>
                        <a:ea typeface="Cambria Math" panose="02040503050406030204" pitchFamily="18" charset="0"/>
                      </a:rPr>
                      <m:t>𝜀</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𝑡</m:t>
                        </m:r>
                      </m:e>
                    </m:d>
                  </m:oMath>
                </a14:m>
                <a:r>
                  <a:rPr lang="en-GB" dirty="0" smtClean="0"/>
                  <a:t> </a:t>
                </a:r>
                <a:r>
                  <a:rPr lang="en-GB" dirty="0"/>
                  <a:t>is the remaining </a:t>
                </a:r>
                <a:r>
                  <a:rPr lang="en-GB" dirty="0" smtClean="0"/>
                  <a:t>noise component</a:t>
                </a:r>
              </a:p>
              <a:p>
                <a:pPr algn="just"/>
                <a:endParaRPr lang="en-GB" dirty="0"/>
              </a:p>
              <a:p>
                <a:pPr algn="just"/>
                <a:r>
                  <a:rPr lang="en-GB" b="1" dirty="0"/>
                  <a:t>Advantages of </a:t>
                </a:r>
                <a:r>
                  <a:rPr lang="en-GB" b="1" dirty="0" smtClean="0"/>
                  <a:t>EMD</a:t>
                </a:r>
                <a:r>
                  <a:rPr lang="en-GB" dirty="0" smtClean="0"/>
                  <a:t>: </a:t>
                </a:r>
                <a:r>
                  <a:rPr lang="en-GB" dirty="0"/>
                  <a:t>d</a:t>
                </a:r>
                <a:r>
                  <a:rPr lang="en-GB" dirty="0" smtClean="0"/>
                  <a:t>ata-driven, no </a:t>
                </a:r>
                <a:r>
                  <a:rPr lang="en-GB" dirty="0"/>
                  <a:t>predefined basis </a:t>
                </a:r>
                <a:r>
                  <a:rPr lang="en-GB" dirty="0" smtClean="0"/>
                  <a:t>function, suitable </a:t>
                </a:r>
                <a:r>
                  <a:rPr lang="en-GB" dirty="0"/>
                  <a:t>for nonlinear economic </a:t>
                </a:r>
                <a:r>
                  <a:rPr lang="en-GB" dirty="0" smtClean="0"/>
                  <a:t>data, handles </a:t>
                </a:r>
                <a:r>
                  <a:rPr lang="en-GB" dirty="0"/>
                  <a:t>changing </a:t>
                </a:r>
                <a:r>
                  <a:rPr lang="en-GB" dirty="0" smtClean="0"/>
                  <a:t>periodicities – the </a:t>
                </a:r>
                <a:r>
                  <a:rPr lang="en-GB" dirty="0"/>
                  <a:t>method identifies the local cycles of oscillation in data </a:t>
                </a:r>
                <a:r>
                  <a:rPr lang="en-GB" dirty="0" smtClean="0"/>
                  <a:t>empirically</a:t>
                </a:r>
                <a:endParaRPr lang="en-GB" dirty="0"/>
              </a:p>
              <a:p>
                <a:pPr algn="just"/>
                <a:endParaRPr lang="en-GB" dirty="0" smtClean="0"/>
              </a:p>
              <a:p>
                <a:pPr algn="just"/>
                <a:r>
                  <a:rPr lang="en-GB" dirty="0"/>
                  <a:t>IMF1 behaves mainly as </a:t>
                </a:r>
                <a:r>
                  <a:rPr lang="en-GB" b="1" dirty="0" smtClean="0"/>
                  <a:t>noise</a:t>
                </a:r>
                <a:r>
                  <a:rPr lang="en-GB" dirty="0" smtClean="0"/>
                  <a:t>, IMF 2 and IMF 3 reveal </a:t>
                </a:r>
                <a:r>
                  <a:rPr lang="en-GB" b="1" dirty="0"/>
                  <a:t>regular oscillations</a:t>
                </a:r>
                <a:r>
                  <a:rPr lang="en-GB" dirty="0"/>
                  <a:t> that resemble business-cycle movement</a:t>
                </a:r>
              </a:p>
            </p:txBody>
          </p:sp>
        </mc:Choice>
        <mc:Fallback>
          <p:sp>
            <p:nvSpPr>
              <p:cNvPr id="4" name="Content Placeholder 3">
                <a:extLst>
                  <a:ext uri="{FF2B5EF4-FFF2-40B4-BE49-F238E27FC236}">
                    <a16:creationId xmlns:a16="http://schemas.microsoft.com/office/drawing/2014/main" id="{8B0E816B-5CEC-1C6D-582C-69AA81FB0EF6}"/>
                  </a:ext>
                </a:extLst>
              </p:cNvPr>
              <p:cNvSpPr>
                <a:spLocks noGrp="1" noRot="1" noChangeAspect="1" noMove="1" noResize="1" noEditPoints="1" noAdjustHandles="1" noChangeArrowheads="1" noChangeShapeType="1" noTextEdit="1"/>
              </p:cNvSpPr>
              <p:nvPr>
                <p:ph sz="half" idx="2"/>
              </p:nvPr>
            </p:nvSpPr>
            <p:spPr>
              <a:blipFill>
                <a:blip r:embed="rId2"/>
                <a:stretch>
                  <a:fillRect l="-754" t="-1453" r="-638" b="-14099"/>
                </a:stretch>
              </a:blipFill>
            </p:spPr>
            <p:txBody>
              <a:bodyPr/>
              <a:lstStyle/>
              <a:p>
                <a:r>
                  <a:rPr lang="en-GB">
                    <a:noFill/>
                  </a:rPr>
                  <a:t> </a:t>
                </a:r>
              </a:p>
            </p:txBody>
          </p:sp>
        </mc:Fallback>
      </mc:AlternateContent>
    </p:spTree>
    <p:extLst>
      <p:ext uri="{BB962C8B-B14F-4D97-AF65-F5344CB8AC3E}">
        <p14:creationId xmlns:p14="http://schemas.microsoft.com/office/powerpoint/2010/main" val="2021838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FIGURES – IMF </a:t>
            </a:r>
            <a:r>
              <a:rPr lang="sk-SK" dirty="0"/>
              <a:t>2 &amp; </a:t>
            </a:r>
            <a:r>
              <a:rPr lang="sk-SK" dirty="0" smtClean="0"/>
              <a:t>3 (PAPER)  </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20</a:t>
            </a:fld>
            <a:endParaRPr lang="en-GB"/>
          </a:p>
        </p:txBody>
      </p:sp>
      <p:pic>
        <p:nvPicPr>
          <p:cNvPr id="7" name="Obrázok 6"/>
          <p:cNvPicPr/>
          <p:nvPr/>
        </p:nvPicPr>
        <p:blipFill>
          <a:blip r:embed="rId2"/>
          <a:stretch>
            <a:fillRect/>
          </a:stretch>
        </p:blipFill>
        <p:spPr>
          <a:xfrm>
            <a:off x="6287785" y="1797857"/>
            <a:ext cx="5198538" cy="3164561"/>
          </a:xfrm>
          <a:prstGeom prst="rect">
            <a:avLst/>
          </a:prstGeom>
          <a:ln>
            <a:solidFill>
              <a:schemeClr val="tx1"/>
            </a:solidFill>
          </a:ln>
        </p:spPr>
      </p:pic>
      <p:pic>
        <p:nvPicPr>
          <p:cNvPr id="8" name="Obrázok 7"/>
          <p:cNvPicPr/>
          <p:nvPr/>
        </p:nvPicPr>
        <p:blipFill>
          <a:blip r:embed="rId3"/>
          <a:stretch>
            <a:fillRect/>
          </a:stretch>
        </p:blipFill>
        <p:spPr>
          <a:xfrm>
            <a:off x="970721" y="1797857"/>
            <a:ext cx="5204047" cy="3164561"/>
          </a:xfrm>
          <a:prstGeom prst="rect">
            <a:avLst/>
          </a:prstGeom>
          <a:ln>
            <a:solidFill>
              <a:schemeClr val="tx1"/>
            </a:solidFill>
          </a:ln>
        </p:spPr>
      </p:pic>
      <p:sp>
        <p:nvSpPr>
          <p:cNvPr id="9" name="Content Placeholder 3">
            <a:extLst>
              <a:ext uri="{FF2B5EF4-FFF2-40B4-BE49-F238E27FC236}">
                <a16:creationId xmlns:a16="http://schemas.microsoft.com/office/drawing/2014/main" id="{8B0E816B-5CEC-1C6D-582C-69AA81FB0EF6}"/>
              </a:ext>
            </a:extLst>
          </p:cNvPr>
          <p:cNvSpPr>
            <a:spLocks noGrp="1"/>
          </p:cNvSpPr>
          <p:nvPr>
            <p:ph sz="half" idx="2"/>
          </p:nvPr>
        </p:nvSpPr>
        <p:spPr>
          <a:xfrm>
            <a:off x="970721" y="5068388"/>
            <a:ext cx="10515601" cy="1368943"/>
          </a:xfrm>
        </p:spPr>
        <p:txBody>
          <a:bodyPr/>
          <a:lstStyle/>
          <a:p>
            <a:pPr algn="just"/>
            <a:r>
              <a:rPr lang="sk-SK" dirty="0" smtClean="0"/>
              <a:t>IMF 2 </a:t>
            </a:r>
            <a:r>
              <a:rPr lang="en-GB" dirty="0" smtClean="0"/>
              <a:t>appears </a:t>
            </a:r>
            <a:r>
              <a:rPr lang="en-GB" dirty="0"/>
              <a:t>to represent the business-cycle component of the series</a:t>
            </a:r>
            <a:r>
              <a:rPr lang="sk-SK" dirty="0" smtClean="0"/>
              <a:t>; </a:t>
            </a:r>
            <a:r>
              <a:rPr lang="en-GB" dirty="0" smtClean="0"/>
              <a:t>IMF</a:t>
            </a:r>
            <a:r>
              <a:rPr lang="sk-SK" dirty="0" smtClean="0"/>
              <a:t> </a:t>
            </a:r>
            <a:r>
              <a:rPr lang="en-GB" dirty="0" smtClean="0"/>
              <a:t>3 </a:t>
            </a:r>
            <a:r>
              <a:rPr lang="en-GB" dirty="0"/>
              <a:t>of </a:t>
            </a:r>
            <a:r>
              <a:rPr lang="sk-SK" dirty="0" smtClean="0"/>
              <a:t>IPI</a:t>
            </a:r>
            <a:r>
              <a:rPr lang="en-GB" dirty="0" smtClean="0"/>
              <a:t> often behaves </a:t>
            </a:r>
            <a:r>
              <a:rPr lang="en-GB" dirty="0"/>
              <a:t>counter-cyclically relative </a:t>
            </a:r>
            <a:r>
              <a:rPr lang="en-GB" dirty="0" smtClean="0"/>
              <a:t>to </a:t>
            </a:r>
            <a:r>
              <a:rPr lang="sk-SK" dirty="0" smtClean="0"/>
              <a:t>T</a:t>
            </a:r>
            <a:r>
              <a:rPr lang="en-GB" dirty="0" smtClean="0"/>
              <a:t>ruck-</a:t>
            </a:r>
            <a:r>
              <a:rPr lang="sk-SK" dirty="0" smtClean="0"/>
              <a:t>P</a:t>
            </a:r>
            <a:r>
              <a:rPr lang="en-GB" dirty="0" err="1" smtClean="0"/>
              <a:t>assage</a:t>
            </a:r>
            <a:r>
              <a:rPr lang="en-GB" dirty="0" smtClean="0"/>
              <a:t> </a:t>
            </a:r>
            <a:r>
              <a:rPr lang="sk-SK" dirty="0" smtClean="0"/>
              <a:t>Index</a:t>
            </a:r>
          </a:p>
          <a:p>
            <a:pPr algn="just"/>
            <a:r>
              <a:rPr lang="en-GB" dirty="0" smtClean="0"/>
              <a:t>EMD decomposes </a:t>
            </a:r>
            <a:r>
              <a:rPr lang="en-GB" dirty="0"/>
              <a:t>the time series</a:t>
            </a:r>
            <a:r>
              <a:rPr lang="en-GB" dirty="0" smtClean="0"/>
              <a:t>,</a:t>
            </a:r>
            <a:r>
              <a:rPr lang="sk-SK" dirty="0" smtClean="0"/>
              <a:t> </a:t>
            </a:r>
            <a:r>
              <a:rPr lang="en-GB" dirty="0" smtClean="0"/>
              <a:t>but</a:t>
            </a:r>
            <a:r>
              <a:rPr lang="sk-SK" dirty="0" smtClean="0"/>
              <a:t> </a:t>
            </a:r>
            <a:r>
              <a:rPr lang="en-GB" dirty="0" smtClean="0"/>
              <a:t>economic </a:t>
            </a:r>
            <a:r>
              <a:rPr lang="en-GB" dirty="0"/>
              <a:t>interpretation remains </a:t>
            </a:r>
            <a:r>
              <a:rPr lang="en-GB" dirty="0" smtClean="0"/>
              <a:t>challenging</a:t>
            </a:r>
            <a:r>
              <a:rPr lang="sk-SK" dirty="0" smtClean="0"/>
              <a:t> –</a:t>
            </a:r>
            <a:r>
              <a:rPr lang="en-GB" dirty="0" smtClean="0"/>
              <a:t> </a:t>
            </a:r>
            <a:r>
              <a:rPr lang="en-GB" dirty="0"/>
              <a:t>one of the current research topics in macroeconomic time-series </a:t>
            </a:r>
            <a:r>
              <a:rPr lang="en-GB" dirty="0" smtClean="0"/>
              <a:t>analysis </a:t>
            </a:r>
            <a:endParaRPr lang="en-GB" dirty="0"/>
          </a:p>
        </p:txBody>
      </p:sp>
    </p:spTree>
    <p:extLst>
      <p:ext uri="{BB962C8B-B14F-4D97-AF65-F5344CB8AC3E}">
        <p14:creationId xmlns:p14="http://schemas.microsoft.com/office/powerpoint/2010/main" val="1189408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QUESTIONS</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21</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r>
              <a:rPr lang="en-GB" dirty="0" smtClean="0">
                <a:ea typeface="Cambria Math" panose="02040503050406030204" pitchFamily="18" charset="0"/>
              </a:rPr>
              <a:t>C</a:t>
            </a:r>
            <a:r>
              <a:rPr lang="en-GB" dirty="0" smtClean="0">
                <a:ea typeface="Cambria Math" panose="02040503050406030204" pitchFamily="18" charset="0"/>
              </a:rPr>
              <a:t>an you apply similar analysis in your country – access to administrative data, representativeness of freight? Would such an index be useful for nowcasting (a component of) the industrial output?</a:t>
            </a:r>
          </a:p>
          <a:p>
            <a:endParaRPr lang="en-GB" b="1" dirty="0" smtClean="0">
              <a:ea typeface="Cambria Math" panose="02040503050406030204" pitchFamily="18" charset="0"/>
            </a:endParaRPr>
          </a:p>
          <a:p>
            <a:r>
              <a:rPr lang="en-GB" dirty="0" smtClean="0"/>
              <a:t>Why might truck traffic react more quickly than industrial production during turning points of the business cycle?</a:t>
            </a:r>
          </a:p>
          <a:p>
            <a:endParaRPr lang="en-GB" b="1" dirty="0" smtClean="0"/>
          </a:p>
          <a:p>
            <a:r>
              <a:rPr lang="en-GB" dirty="0" smtClean="0"/>
              <a:t>Any other questions or thoughts?</a:t>
            </a:r>
            <a:endParaRPr lang="en-GB" dirty="0"/>
          </a:p>
        </p:txBody>
      </p:sp>
    </p:spTree>
    <p:extLst>
      <p:ext uri="{BB962C8B-B14F-4D97-AF65-F5344CB8AC3E}">
        <p14:creationId xmlns:p14="http://schemas.microsoft.com/office/powerpoint/2010/main" val="3822205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5ED9-AA9C-A1D5-DADA-30BC77A2C44B}"/>
              </a:ext>
            </a:extLst>
          </p:cNvPr>
          <p:cNvSpPr>
            <a:spLocks noGrp="1"/>
          </p:cNvSpPr>
          <p:nvPr>
            <p:ph type="title"/>
          </p:nvPr>
        </p:nvSpPr>
        <p:spPr/>
        <p:txBody>
          <a:bodyPr/>
          <a:lstStyle/>
          <a:p>
            <a:r>
              <a:rPr lang="sk-SK" dirty="0" smtClean="0"/>
              <a:t>DISCUSSION</a:t>
            </a:r>
            <a:endParaRPr lang="en-GB" dirty="0"/>
          </a:p>
        </p:txBody>
      </p:sp>
      <p:sp>
        <p:nvSpPr>
          <p:cNvPr id="3" name="Slide Number Placeholder 2">
            <a:extLst>
              <a:ext uri="{FF2B5EF4-FFF2-40B4-BE49-F238E27FC236}">
                <a16:creationId xmlns:a16="http://schemas.microsoft.com/office/drawing/2014/main" id="{4E684FCE-5582-908D-CA54-E6A6C81218BC}"/>
              </a:ext>
            </a:extLst>
          </p:cNvPr>
          <p:cNvSpPr>
            <a:spLocks noGrp="1"/>
          </p:cNvSpPr>
          <p:nvPr>
            <p:ph type="sldNum" idx="12"/>
          </p:nvPr>
        </p:nvSpPr>
        <p:spPr/>
        <p:txBody>
          <a:bodyPr/>
          <a:lstStyle/>
          <a:p>
            <a:fld id="{00000000-1234-1234-1234-123412341234}" type="slidenum">
              <a:rPr lang="en-GB" smtClean="0"/>
              <a:pPr/>
              <a:t>22</a:t>
            </a:fld>
            <a:endParaRPr lang="en-GB"/>
          </a:p>
        </p:txBody>
      </p:sp>
      <p:sp>
        <p:nvSpPr>
          <p:cNvPr id="4" name="Content Placeholder 3">
            <a:extLst>
              <a:ext uri="{FF2B5EF4-FFF2-40B4-BE49-F238E27FC236}">
                <a16:creationId xmlns:a16="http://schemas.microsoft.com/office/drawing/2014/main" id="{8B0E816B-5CEC-1C6D-582C-69AA81FB0EF6}"/>
              </a:ext>
            </a:extLst>
          </p:cNvPr>
          <p:cNvSpPr>
            <a:spLocks noGrp="1"/>
          </p:cNvSpPr>
          <p:nvPr>
            <p:ph sz="half" idx="2"/>
          </p:nvPr>
        </p:nvSpPr>
        <p:spPr/>
        <p:txBody>
          <a:bodyPr/>
          <a:lstStyle/>
          <a:p>
            <a:pPr marL="0" indent="0">
              <a:buNone/>
            </a:pPr>
            <a:r>
              <a:rPr lang="en-GB" dirty="0" smtClean="0"/>
              <a:t>Several </a:t>
            </a:r>
            <a:r>
              <a:rPr lang="en-GB" b="1" dirty="0" smtClean="0"/>
              <a:t>important advantages</a:t>
            </a:r>
            <a:r>
              <a:rPr lang="en-GB" dirty="0" smtClean="0"/>
              <a:t> of using toll data for official statistics:</a:t>
            </a:r>
          </a:p>
          <a:p>
            <a:r>
              <a:rPr lang="en-GB" dirty="0" smtClean="0"/>
              <a:t>administrative data are generated automatically</a:t>
            </a:r>
          </a:p>
          <a:p>
            <a:r>
              <a:rPr lang="en-GB" dirty="0" smtClean="0"/>
              <a:t>data are available much earlier than official economic indicators </a:t>
            </a:r>
          </a:p>
          <a:p>
            <a:r>
              <a:rPr lang="en-GB" dirty="0" smtClean="0"/>
              <a:t>the truck-passage indices follow movements in industrial production</a:t>
            </a:r>
            <a:endParaRPr lang="sk-SK" dirty="0" smtClean="0"/>
          </a:p>
          <a:p>
            <a:r>
              <a:rPr lang="sk-SK" dirty="0" smtClean="0"/>
              <a:t>EMP</a:t>
            </a:r>
            <a:r>
              <a:rPr lang="en-GB" dirty="0" smtClean="0"/>
              <a:t> </a:t>
            </a:r>
            <a:r>
              <a:rPr lang="en-GB" dirty="0"/>
              <a:t>provides additional insight into cyclical behaviour but requires longer time series for robust economic </a:t>
            </a:r>
            <a:r>
              <a:rPr lang="en-GB" dirty="0" smtClean="0"/>
              <a:t>interpretation</a:t>
            </a:r>
          </a:p>
          <a:p>
            <a:pPr marL="0" indent="0">
              <a:buNone/>
            </a:pPr>
            <a:endParaRPr lang="en-GB" b="1" dirty="0" smtClean="0"/>
          </a:p>
          <a:p>
            <a:pPr marL="0" indent="0">
              <a:buNone/>
            </a:pPr>
            <a:r>
              <a:rPr lang="en-GB" b="1" dirty="0" smtClean="0"/>
              <a:t>Limitations</a:t>
            </a:r>
          </a:p>
          <a:p>
            <a:r>
              <a:rPr lang="en-GB" dirty="0" smtClean="0"/>
              <a:t>no information on transported goods </a:t>
            </a:r>
          </a:p>
          <a:p>
            <a:r>
              <a:rPr lang="en-GB" dirty="0" smtClean="0"/>
              <a:t>transit vehicles cannot be fully identified </a:t>
            </a:r>
          </a:p>
          <a:p>
            <a:r>
              <a:rPr lang="en-GB" dirty="0" smtClean="0"/>
              <a:t>only road transport is observed</a:t>
            </a:r>
          </a:p>
        </p:txBody>
      </p:sp>
    </p:spTree>
    <p:extLst>
      <p:ext uri="{BB962C8B-B14F-4D97-AF65-F5344CB8AC3E}">
        <p14:creationId xmlns:p14="http://schemas.microsoft.com/office/powerpoint/2010/main" val="2489934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9CC45C-6ECF-1414-149F-897E6C17440A}"/>
              </a:ext>
            </a:extLst>
          </p:cNvPr>
          <p:cNvSpPr>
            <a:spLocks noGrp="1"/>
          </p:cNvSpPr>
          <p:nvPr>
            <p:ph type="body" idx="1"/>
          </p:nvPr>
        </p:nvSpPr>
        <p:spPr/>
        <p:txBody>
          <a:bodyPr/>
          <a:lstStyle/>
          <a:p>
            <a:r>
              <a:rPr lang="en-GB" noProof="0" dirty="0"/>
              <a:t>Contact: </a:t>
            </a:r>
            <a:r>
              <a:rPr lang="en-GB" noProof="0" dirty="0" smtClean="0"/>
              <a:t>peter.knizat@statistics.sk</a:t>
            </a:r>
            <a:endParaRPr lang="sk-SK" noProof="0" dirty="0" smtClean="0"/>
          </a:p>
          <a:p>
            <a:r>
              <a:rPr lang="sk-SK" dirty="0" smtClean="0"/>
              <a:t>               knizat3@uniba.sk</a:t>
            </a:r>
            <a:endParaRPr lang="en-GB" noProof="0" dirty="0"/>
          </a:p>
        </p:txBody>
      </p:sp>
      <p:sp>
        <p:nvSpPr>
          <p:cNvPr id="3" name="Title 2">
            <a:extLst>
              <a:ext uri="{FF2B5EF4-FFF2-40B4-BE49-F238E27FC236}">
                <a16:creationId xmlns:a16="http://schemas.microsoft.com/office/drawing/2014/main" id="{B0CA729C-10AD-F90E-DB78-5A4E0B79E3B8}"/>
              </a:ext>
            </a:extLst>
          </p:cNvPr>
          <p:cNvSpPr>
            <a:spLocks noGrp="1"/>
          </p:cNvSpPr>
          <p:nvPr>
            <p:ph type="title"/>
          </p:nvPr>
        </p:nvSpPr>
        <p:spPr/>
        <p:txBody>
          <a:bodyPr/>
          <a:lstStyle/>
          <a:p>
            <a:r>
              <a:rPr lang="en-GB" noProof="0" dirty="0"/>
              <a:t>Thank you</a:t>
            </a:r>
          </a:p>
        </p:txBody>
      </p:sp>
      <p:sp>
        <p:nvSpPr>
          <p:cNvPr id="4" name="Slide Number Placeholder 3">
            <a:extLst>
              <a:ext uri="{FF2B5EF4-FFF2-40B4-BE49-F238E27FC236}">
                <a16:creationId xmlns:a16="http://schemas.microsoft.com/office/drawing/2014/main" id="{66F54865-23C6-396F-8BC1-7B48F2EAE335}"/>
              </a:ext>
            </a:extLst>
          </p:cNvPr>
          <p:cNvSpPr>
            <a:spLocks noGrp="1"/>
          </p:cNvSpPr>
          <p:nvPr>
            <p:ph type="sldNum" idx="12"/>
          </p:nvPr>
        </p:nvSpPr>
        <p:spPr/>
        <p:txBody>
          <a:bodyPr/>
          <a:lstStyle/>
          <a:p>
            <a:fld id="{00000000-1234-1234-1234-123412341234}" type="slidenum">
              <a:rPr lang="en-GB" noProof="0" smtClean="0"/>
              <a:pPr/>
              <a:t>23</a:t>
            </a:fld>
            <a:endParaRPr lang="en-GB" noProof="0" dirty="0"/>
          </a:p>
        </p:txBody>
      </p:sp>
    </p:spTree>
    <p:extLst>
      <p:ext uri="{BB962C8B-B14F-4D97-AF65-F5344CB8AC3E}">
        <p14:creationId xmlns:p14="http://schemas.microsoft.com/office/powerpoint/2010/main" val="1178843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d5f05ec8-edda-47a7-a42e-90bbfcebfc5f"/>
  <p:tag name="SLIDO_EVENT_SECTION_UUID" val="71a6711e-5d0b-4e9f-9223-093e31161b77"/>
</p:tagLst>
</file>

<file path=ppt/theme/theme1.xml><?xml version="1.0" encoding="utf-8"?>
<a:theme xmlns:a="http://schemas.openxmlformats.org/drawingml/2006/main" name="ESTAT Theme">
  <a:themeElements>
    <a:clrScheme name="EC colour scheme">
      <a:dk1>
        <a:srgbClr val="4D4D4D"/>
      </a:dk1>
      <a:lt1>
        <a:srgbClr val="FFFFFF"/>
      </a:lt1>
      <a:dk2>
        <a:srgbClr val="034EA2"/>
      </a:dk2>
      <a:lt2>
        <a:srgbClr val="D3E8F9"/>
      </a:lt2>
      <a:accent1>
        <a:srgbClr val="1E858B"/>
      </a:accent1>
      <a:accent2>
        <a:srgbClr val="4BC5DE"/>
      </a:accent2>
      <a:accent3>
        <a:srgbClr val="1EC08A"/>
      </a:accent3>
      <a:accent4>
        <a:srgbClr val="ED8D2F"/>
      </a:accent4>
      <a:accent5>
        <a:srgbClr val="FFC000"/>
      </a:accent5>
      <a:accent6>
        <a:srgbClr val="E76C53"/>
      </a:accent6>
      <a:hlink>
        <a:srgbClr val="0563C1"/>
      </a:hlink>
      <a:folHlink>
        <a:srgbClr val="243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STAT PPT Template.potx" id="{44100892-7769-4A20-A750-3553371E0F2E}" vid="{905E760A-09FE-4DBA-89B6-DF3A5D6D09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AA5C57F8EADE4E9CD6BB064C0C3195" ma:contentTypeVersion="16" ma:contentTypeDescription="Create a new document." ma:contentTypeScope="" ma:versionID="bb51c19a58f458ddcddd050a07659236">
  <xsd:schema xmlns:xsd="http://www.w3.org/2001/XMLSchema" xmlns:xs="http://www.w3.org/2001/XMLSchema" xmlns:p="http://schemas.microsoft.com/office/2006/metadata/properties" xmlns:ns2="0e422b70-e85d-4377-8ee0-b6227433d381" xmlns:ns3="199f642e-5af9-486c-ac06-f366742ef41a" targetNamespace="http://schemas.microsoft.com/office/2006/metadata/properties" ma:root="true" ma:fieldsID="0ee7a3bac0352a48a43420936abd968a" ns2:_="" ns3:_="">
    <xsd:import namespace="0e422b70-e85d-4377-8ee0-b6227433d381"/>
    <xsd:import namespace="199f642e-5af9-486c-ac06-f366742ef41a"/>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422b70-e85d-4377-8ee0-b6227433d38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22b2fad6-9d2c-441c-a321-3f5f1e9bd928"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9f642e-5af9-486c-ac06-f366742ef41a"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2defd33-e0ca-4991-a4bb-5bf1ac0b491c}" ma:internalName="TaxCatchAll" ma:showField="CatchAllData" ma:web="199f642e-5af9-486c-ac06-f366742ef41a">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e422b70-e85d-4377-8ee0-b6227433d381">
      <Terms xmlns="http://schemas.microsoft.com/office/infopath/2007/PartnerControls"/>
    </lcf76f155ced4ddcb4097134ff3c332f>
    <TaxCatchAll xmlns="199f642e-5af9-486c-ac06-f366742ef41a"/>
  </documentManagement>
</p:properties>
</file>

<file path=customXml/itemProps1.xml><?xml version="1.0" encoding="utf-8"?>
<ds:datastoreItem xmlns:ds="http://schemas.openxmlformats.org/officeDocument/2006/customXml" ds:itemID="{04B464EA-1576-49DD-9675-1E3399D4D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422b70-e85d-4377-8ee0-b6227433d381"/>
    <ds:schemaRef ds:uri="199f642e-5af9-486c-ac06-f366742ef4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DD9E9F-9EEB-4105-B29B-819486C2855A}">
  <ds:schemaRefs>
    <ds:schemaRef ds:uri="http://schemas.microsoft.com/sharepoint/v3/contenttype/forms"/>
  </ds:schemaRefs>
</ds:datastoreItem>
</file>

<file path=customXml/itemProps3.xml><?xml version="1.0" encoding="utf-8"?>
<ds:datastoreItem xmlns:ds="http://schemas.openxmlformats.org/officeDocument/2006/customXml" ds:itemID="{2D6C293B-B8B4-4284-A17E-9F9E4C32B25A}">
  <ds:schemaRefs>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purl.org/dc/dcmitype/"/>
    <ds:schemaRef ds:uri="http://www.w3.org/XML/1998/namespace"/>
    <ds:schemaRef ds:uri="199f642e-5af9-486c-ac06-f366742ef41a"/>
    <ds:schemaRef ds:uri="http://schemas.microsoft.com/office/2006/documentManagement/types"/>
    <ds:schemaRef ds:uri="http://purl.org/dc/terms/"/>
    <ds:schemaRef ds:uri="0e422b70-e85d-4377-8ee0-b6227433d381"/>
  </ds:schemaRefs>
</ds:datastoreItem>
</file>

<file path=docProps/app.xml><?xml version="1.0" encoding="utf-8"?>
<Properties xmlns="http://schemas.openxmlformats.org/officeDocument/2006/extended-properties" xmlns:vt="http://schemas.openxmlformats.org/officeDocument/2006/docPropsVTypes">
  <Template>ESTAT PPT Template</Template>
  <TotalTime>1821</TotalTime>
  <Words>2017</Words>
  <Application>Microsoft Office PowerPoint</Application>
  <PresentationFormat>Širokouhlá</PresentationFormat>
  <Paragraphs>219</Paragraphs>
  <Slides>23</Slides>
  <Notes>2</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23</vt:i4>
      </vt:variant>
    </vt:vector>
  </HeadingPairs>
  <TitlesOfParts>
    <vt:vector size="28" baseType="lpstr">
      <vt:lpstr>Arial</vt:lpstr>
      <vt:lpstr>Calibri</vt:lpstr>
      <vt:lpstr>Cambria Math</vt:lpstr>
      <vt:lpstr>Times New Roman</vt:lpstr>
      <vt:lpstr>ESTAT Theme</vt:lpstr>
      <vt:lpstr>NOWCASTING INDUSTRIAL PRODUCTION INDEX WITH TOLL DATA</vt:lpstr>
      <vt:lpstr>LEARNING OBJECTIVES</vt:lpstr>
      <vt:lpstr>MOTIVATION – NOWCASTING</vt:lpstr>
      <vt:lpstr>MOTIVATION – POLICY</vt:lpstr>
      <vt:lpstr>INTRODUCTION</vt:lpstr>
      <vt:lpstr>WHY TOLL DATA?</vt:lpstr>
      <vt:lpstr>ELECTRONIC TOLL SYSTEM IN SLOVAKIA</vt:lpstr>
      <vt:lpstr>TOLL DATA – ADVATAGES AND LIMITATIONS</vt:lpstr>
      <vt:lpstr>CONCEPTUAL FRAMEWORK</vt:lpstr>
      <vt:lpstr>DICUSSION → DATA</vt:lpstr>
      <vt:lpstr>CONCEPTS OF MONTHLY INDICES</vt:lpstr>
      <vt:lpstr>BILATERAL INDEX</vt:lpstr>
      <vt:lpstr>MULTILATERAL METHODS FOR INDEX COMPILATION</vt:lpstr>
      <vt:lpstr>MULTILATERAL INDEX – TIME-PRODUCT DUMMY (TPD)</vt:lpstr>
      <vt:lpstr>MULTILATERAL INDEX – REVISION PROBLEM</vt:lpstr>
      <vt:lpstr>INDUSTRIAL PRODUCTION INDEX</vt:lpstr>
      <vt:lpstr>FIGURES – INDICES (PAPER)</vt:lpstr>
      <vt:lpstr>DECOMPOSITION OF INDICES</vt:lpstr>
      <vt:lpstr>EMPIRICAL MODE DECOMPOSITION</vt:lpstr>
      <vt:lpstr>FIGURES – IMF 2 &amp; 3 (PAPER)  </vt:lpstr>
      <vt:lpstr>QUESTIONS</vt:lpstr>
      <vt:lpstr>DISCUSSION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title title title title title title title title title title title title</dc:title>
  <dc:creator>HANZEVACKI Andrej (ESTAT)</dc:creator>
  <cp:lastModifiedBy>Knížat Peter</cp:lastModifiedBy>
  <cp:revision>238</cp:revision>
  <dcterms:created xsi:type="dcterms:W3CDTF">2024-11-22T11:11:00Z</dcterms:created>
  <dcterms:modified xsi:type="dcterms:W3CDTF">2026-08-11T08:41:50Z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0x010100E6AA5C57F8EADE4E9CD6BB064C0C3195</vt:lpwstr>
  </property>
  <property fmtid="{D5CDD505-2E9C-101B-9397-08002B2CF9AE}" pid="3" name="MSIP_Label_6bd9ddd1-4d20-43f6-abfa-fc3c07406f94_Enabled">
    <vt:lpwstr>true</vt:lpwstr>
  </property>
  <property fmtid="{D5CDD505-2E9C-101B-9397-08002B2CF9AE}" pid="4" name="MSIP_Label_6bd9ddd1-4d20-43f6-abfa-fc3c07406f94_SetDate">
    <vt:lpwstr>2023-09-26T10:27:54Z</vt:lpwstr>
  </property>
  <property fmtid="{D5CDD505-2E9C-101B-9397-08002B2CF9AE}" pid="5" name="MSIP_Label_6bd9ddd1-4d20-43f6-abfa-fc3c07406f94_Method">
    <vt:lpwstr>Standard</vt:lpwstr>
  </property>
  <property fmtid="{D5CDD505-2E9C-101B-9397-08002B2CF9AE}" pid="6" name="MSIP_Label_6bd9ddd1-4d20-43f6-abfa-fc3c07406f94_Name">
    <vt:lpwstr>Commission Use</vt:lpwstr>
  </property>
  <property fmtid="{D5CDD505-2E9C-101B-9397-08002B2CF9AE}" pid="7" name="MSIP_Label_6bd9ddd1-4d20-43f6-abfa-fc3c07406f94_SiteId">
    <vt:lpwstr>b24c8b06-522c-46fe-9080-70926f8dddb1</vt:lpwstr>
  </property>
  <property fmtid="{D5CDD505-2E9C-101B-9397-08002B2CF9AE}" pid="8" name="MSIP_Label_6bd9ddd1-4d20-43f6-abfa-fc3c07406f94_ActionId">
    <vt:lpwstr>5f9041e0-26c3-439f-9557-91c751557f9e</vt:lpwstr>
  </property>
  <property fmtid="{D5CDD505-2E9C-101B-9397-08002B2CF9AE}" pid="9" name="MSIP_Label_6bd9ddd1-4d20-43f6-abfa-fc3c07406f94_ContentBits">
    <vt:lpwstr>0</vt:lpwstr>
  </property>
  <property fmtid="{D5CDD505-2E9C-101B-9397-08002B2CF9AE}" pid="10" name="SlidoAppVersion">
    <vt:lpwstr>1.5.3.3511</vt:lpwstr>
  </property>
  <property fmtid="{D5CDD505-2E9C-101B-9397-08002B2CF9AE}" pid="11" name="MediaServiceImageTags">
    <vt:lpwstr/>
  </property>
</Properties>
</file>