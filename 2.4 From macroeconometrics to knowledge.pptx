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60" r:id="rId7"/>
    <p:sldId id="258" r:id="rId8"/>
    <p:sldId id="259" r:id="rId9"/>
    <p:sldId id="261" r:id="rId10"/>
  </p:sldIdLst>
  <p:sldSz cx="12192000" cy="6858000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010"/>
    <a:srgbClr val="2644A7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1100" autoAdjust="0"/>
  </p:normalViewPr>
  <p:slideViewPr>
    <p:cSldViewPr snapToGrid="0">
      <p:cViewPr varScale="1">
        <p:scale>
          <a:sx n="67" d="100"/>
          <a:sy n="67" d="100"/>
        </p:scale>
        <p:origin x="1286" y="4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19/08/2026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17" y="2922801"/>
            <a:ext cx="9908088" cy="1745469"/>
          </a:xfrm>
        </p:spPr>
        <p:txBody>
          <a:bodyPr/>
          <a:lstStyle/>
          <a:p>
            <a:r>
              <a:rPr lang="en-IE" dirty="0"/>
              <a:t>	Discussion Session</a:t>
            </a:r>
          </a:p>
          <a:p>
            <a:endParaRPr lang="en-IE" dirty="0"/>
          </a:p>
          <a:p>
            <a:r>
              <a:rPr lang="en-IE" dirty="0" err="1"/>
              <a:t>Dr.</a:t>
            </a:r>
            <a:r>
              <a:rPr lang="en-IE" dirty="0"/>
              <a:t> Sebastiaan Tieleman </a:t>
            </a:r>
          </a:p>
          <a:p>
            <a:r>
              <a:rPr lang="en-IE" dirty="0"/>
              <a:t>( </a:t>
            </a:r>
            <a:r>
              <a:rPr lang="en-IE" dirty="0" err="1"/>
              <a:t>StatNL</a:t>
            </a:r>
            <a:r>
              <a:rPr lang="en-IE" dirty="0"/>
              <a:t>, sb.tieleman@cbs.nl)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From </a:t>
            </a:r>
            <a:r>
              <a:rPr lang="en-IE" dirty="0" err="1"/>
              <a:t>Macroeconometrics</a:t>
            </a:r>
            <a:r>
              <a:rPr lang="en-IE" dirty="0"/>
              <a:t> to Knowledge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3" y="5771588"/>
            <a:ext cx="3212051" cy="777875"/>
          </a:xfrm>
        </p:spPr>
        <p:txBody>
          <a:bodyPr/>
          <a:lstStyle/>
          <a:p>
            <a:r>
              <a:rPr lang="en-IE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1D43-D5D8-4E39-2D76-DF7B99B8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99F0EA-C023-051A-AE62-7A38E0707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E9322-CF64-63FE-15C1-85E926ED9A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statistical methods we have taught in this course claim to allow us to make general statements about the structure and/or behavior of the macroeconomic system, in other words: knowledge</a:t>
            </a:r>
          </a:p>
          <a:p>
            <a:endParaRPr lang="en-US" dirty="0"/>
          </a:p>
          <a:p>
            <a:r>
              <a:rPr lang="en-US" dirty="0"/>
              <a:t>But what are the limits of this knowledge? What do they actually teach about the macroeconomic system?</a:t>
            </a:r>
          </a:p>
          <a:p>
            <a:endParaRPr lang="en-US" dirty="0"/>
          </a:p>
          <a:p>
            <a:r>
              <a:rPr lang="en-US" dirty="0"/>
              <a:t>We will discuss several propositions</a:t>
            </a:r>
          </a:p>
        </p:txBody>
      </p:sp>
    </p:spTree>
    <p:extLst>
      <p:ext uri="{BB962C8B-B14F-4D97-AF65-F5344CB8AC3E}">
        <p14:creationId xmlns:p14="http://schemas.microsoft.com/office/powerpoint/2010/main" val="262398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6E96-BFCF-9757-25AD-1E579EFB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7F1EA4-3832-E8E8-3858-3099FE9EE0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6CB0C-55BE-8003-9A5C-30728D8DC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The limited amount of macroeconomic data makes the identification of stable economic laws impossible.</a:t>
            </a:r>
          </a:p>
        </p:txBody>
      </p:sp>
    </p:spTree>
    <p:extLst>
      <p:ext uri="{BB962C8B-B14F-4D97-AF65-F5344CB8AC3E}">
        <p14:creationId xmlns:p14="http://schemas.microsoft.com/office/powerpoint/2010/main" val="369658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6E96-BFCF-9757-25AD-1E579EFB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7F1EA4-3832-E8E8-3858-3099FE9EE0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6CB0C-55BE-8003-9A5C-30728D8DC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</a:t>
            </a:r>
            <a:r>
              <a:rPr lang="en-US" sz="2800" dirty="0" err="1"/>
              <a:t>macroeconometric</a:t>
            </a:r>
            <a:r>
              <a:rPr lang="en-US" sz="2800" dirty="0"/>
              <a:t> model cannot be empirically validated in the same sense as a model in the natural sciences.</a:t>
            </a:r>
          </a:p>
        </p:txBody>
      </p:sp>
    </p:spTree>
    <p:extLst>
      <p:ext uri="{BB962C8B-B14F-4D97-AF65-F5344CB8AC3E}">
        <p14:creationId xmlns:p14="http://schemas.microsoft.com/office/powerpoint/2010/main" val="214140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5876-B56C-F886-8F3E-38521A93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2705-A1D6-E3C6-F68B-2C5EBC153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C522C-0132-C9B4-DD48-CE35983943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Good forecasting performance provides only weak evidence that a </a:t>
            </a:r>
            <a:r>
              <a:rPr lang="en-US" sz="2800" dirty="0" err="1"/>
              <a:t>macroeconometric</a:t>
            </a:r>
            <a:r>
              <a:rPr lang="en-US" sz="2800" dirty="0"/>
              <a:t> model correctly represents the economy.</a:t>
            </a:r>
          </a:p>
        </p:txBody>
      </p:sp>
    </p:spTree>
    <p:extLst>
      <p:ext uri="{BB962C8B-B14F-4D97-AF65-F5344CB8AC3E}">
        <p14:creationId xmlns:p14="http://schemas.microsoft.com/office/powerpoint/2010/main" val="395664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5876-B56C-F886-8F3E-38521A93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2705-A1D6-E3C6-F68B-2C5EBC153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C522C-0132-C9B4-DD48-CE35983943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Structural parameters in </a:t>
            </a:r>
            <a:r>
              <a:rPr lang="en-US" sz="2800" dirty="0" err="1"/>
              <a:t>macroeconometric</a:t>
            </a:r>
            <a:r>
              <a:rPr lang="en-US" sz="2800" dirty="0"/>
              <a:t> models should not be interpreted as causal merely because they have an economic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20532527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1079</TotalTime>
  <Words>165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ESTAT Theme</vt:lpstr>
      <vt:lpstr>From Macroeconometrics to Knowledge</vt:lpstr>
      <vt:lpstr>Overview</vt:lpstr>
      <vt:lpstr>Proposition 1</vt:lpstr>
      <vt:lpstr>Proposition 2</vt:lpstr>
      <vt:lpstr>Proposition 3</vt:lpstr>
      <vt:lpstr>Proposition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Tieleman, S.B. (Sebastiaan)</cp:lastModifiedBy>
  <cp:revision>105</cp:revision>
  <dcterms:created xsi:type="dcterms:W3CDTF">2024-11-22T11:11:00Z</dcterms:created>
  <dcterms:modified xsi:type="dcterms:W3CDTF">2026-08-19T07:50:44Z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