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notesMasterIdLst>
    <p:notesMasterId r:id="rId9"/>
  </p:notesMasterIdLst>
  <p:handoutMasterIdLst>
    <p:handoutMasterId r:id="rId10"/>
  </p:handoutMasterIdLst>
  <p:sldIdLst>
    <p:sldId id="256" r:id="rId2"/>
    <p:sldId id="264" r:id="rId3"/>
    <p:sldId id="265" r:id="rId4"/>
    <p:sldId id="271" r:id="rId5"/>
    <p:sldId id="269" r:id="rId6"/>
    <p:sldId id="272" r:id="rId7"/>
    <p:sldId id="270" r:id="rId8"/>
  </p:sldIdLst>
  <p:sldSz cx="12192000" cy="6858000"/>
  <p:notesSz cx="6669088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VARRE Elwira (ESTAT)" initials="NE(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5494"/>
    <a:srgbClr val="3166CF"/>
    <a:srgbClr val="2D5EC1"/>
    <a:srgbClr val="FFD624"/>
    <a:srgbClr val="3E6FD2"/>
    <a:srgbClr val="BDDEFF"/>
    <a:srgbClr val="99CCFF"/>
    <a:srgbClr val="808080"/>
    <a:srgbClr val="00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55BD7-A14A-4006-8D6F-6613FF44D760}" v="21" dt="2026-02-02T14:15:15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656" autoAdjust="0"/>
  </p:normalViewPr>
  <p:slideViewPr>
    <p:cSldViewPr>
      <p:cViewPr varScale="1">
        <p:scale>
          <a:sx n="48" d="100"/>
          <a:sy n="48" d="100"/>
        </p:scale>
        <p:origin x="136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21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3259" y="72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66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866" y="0"/>
            <a:ext cx="289066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4"/>
            <a:ext cx="289066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866" y="9428164"/>
            <a:ext cx="289066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EC7A9CE-B5D3-4830-AA57-DD8049CE9F26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766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66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6866" y="0"/>
            <a:ext cx="289066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598" y="4714876"/>
            <a:ext cx="533589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4"/>
            <a:ext cx="289066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866" y="9428164"/>
            <a:ext cx="2890665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36441B25-C4D1-47DB-817D-B9C4FC5392FB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9238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estat-estp-contacts@ec.europa.eu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Welcome to [organisation] and to the ESTP classroom course________________________</a:t>
            </a:r>
          </a:p>
          <a:p>
            <a:endParaRPr lang="en-GB" dirty="0"/>
          </a:p>
          <a:p>
            <a:r>
              <a:rPr lang="en-GB" dirty="0"/>
              <a:t>I am [NAME, SURNAME] and</a:t>
            </a:r>
          </a:p>
          <a:p>
            <a:r>
              <a:rPr lang="en-GB" dirty="0"/>
              <a:t>I would like to say a few words about the European Statistical Training Programme or for shorter the ESTP 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441B25-C4D1-47DB-817D-B9C4FC5392FB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13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Firstly, </a:t>
            </a:r>
          </a:p>
          <a:p>
            <a:r>
              <a:rPr lang="en-GB" dirty="0"/>
              <a:t>What is the purpose of the </a:t>
            </a:r>
            <a:r>
              <a:rPr lang="en-GB" dirty="0" err="1"/>
              <a:t>ESTP</a:t>
            </a:r>
            <a:r>
              <a:rPr lang="en-GB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441B25-C4D1-47DB-817D-B9C4FC5392FB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37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 can attend the ESTP </a:t>
            </a:r>
            <a:r>
              <a:rPr lang="pl-PL" dirty="0" err="1"/>
              <a:t>courses</a:t>
            </a:r>
            <a:r>
              <a:rPr lang="en-GB" dirty="0"/>
              <a:t>?</a:t>
            </a:r>
          </a:p>
          <a:p>
            <a:pPr marL="0" indent="0">
              <a:buNone/>
            </a:pPr>
            <a:endParaRPr lang="pl-PL" dirty="0"/>
          </a:p>
          <a:p>
            <a:pPr marL="228600" indent="-228600">
              <a:buAutoNum type="arabicPeriod"/>
            </a:pPr>
            <a:r>
              <a:rPr lang="pl-PL" sz="1200" dirty="0"/>
              <a:t>Staff</a:t>
            </a:r>
            <a:r>
              <a:rPr lang="en-GB" sz="1200" dirty="0"/>
              <a:t> of NSIs or corresponding </a:t>
            </a:r>
            <a:r>
              <a:rPr lang="pl-PL" sz="1200" dirty="0"/>
              <a:t>O</a:t>
            </a:r>
            <a:r>
              <a:rPr lang="en-GB" sz="1200" dirty="0"/>
              <a:t>NAs of EU Member States, EFTA countries, candidate countries </a:t>
            </a:r>
            <a:r>
              <a:rPr lang="pl-PL" sz="1200" dirty="0"/>
              <a:t>and </a:t>
            </a:r>
            <a:r>
              <a:rPr lang="en-GB" sz="1200" dirty="0"/>
              <a:t>Eurostat can apply.</a:t>
            </a:r>
            <a:endParaRPr lang="pl-PL" sz="1200" dirty="0"/>
          </a:p>
          <a:p>
            <a:pPr marL="228600" indent="-228600">
              <a:buAutoNum type="arabicPeriod"/>
            </a:pPr>
            <a:r>
              <a:rPr lang="en-GB" sz="1200" dirty="0"/>
              <a:t>Occasionally, and on an individual basis, </a:t>
            </a:r>
            <a:r>
              <a:rPr lang="pl-PL" sz="1200" dirty="0" err="1"/>
              <a:t>also</a:t>
            </a:r>
            <a:r>
              <a:rPr lang="pl-PL" sz="1200" baseline="0" dirty="0"/>
              <a:t> </a:t>
            </a:r>
            <a:r>
              <a:rPr lang="en-GB" sz="1200" dirty="0"/>
              <a:t>applicants from other administrations, international organisations and statistical offices of non-European countries may be admitted</a:t>
            </a:r>
            <a:r>
              <a:rPr lang="pl-PL" sz="1200" dirty="0"/>
              <a:t>, </a:t>
            </a:r>
            <a:r>
              <a:rPr lang="pl-PL" sz="1200" dirty="0" err="1"/>
              <a:t>if</a:t>
            </a:r>
            <a:r>
              <a:rPr lang="pl-PL" sz="1200" dirty="0"/>
              <a:t> </a:t>
            </a:r>
            <a:r>
              <a:rPr lang="pl-PL" sz="1200" dirty="0" err="1"/>
              <a:t>places</a:t>
            </a:r>
            <a:r>
              <a:rPr lang="pl-PL" sz="1200" dirty="0"/>
              <a:t> </a:t>
            </a:r>
            <a:r>
              <a:rPr lang="pl-PL" sz="1200" dirty="0" err="1"/>
              <a:t>available</a:t>
            </a:r>
            <a:r>
              <a:rPr lang="pl-PL" sz="1200" dirty="0"/>
              <a:t>.</a:t>
            </a:r>
            <a:endParaRPr lang="es-ES" sz="1200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tudents of universities offering education related to Official Statistics, specifically </a:t>
            </a:r>
            <a:r>
              <a:rPr lang="en-US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EMOS</a:t>
            </a: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students may be admitted, depending on the course goals.</a:t>
            </a:r>
            <a:endParaRPr lang="en-GB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441B25-C4D1-47DB-817D-B9C4FC5392FB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793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TRAINNIG</a:t>
            </a:r>
            <a:r>
              <a:rPr lang="en-GB" dirty="0"/>
              <a:t> FEES? Eurostat,</a:t>
            </a:r>
            <a:r>
              <a:rPr lang="en-GB" baseline="0" dirty="0"/>
              <a:t> </a:t>
            </a:r>
            <a:r>
              <a:rPr lang="en-US" i="0" dirty="0"/>
              <a:t>the Statistical Office of the European Union, </a:t>
            </a:r>
            <a:r>
              <a:rPr lang="en-GB" dirty="0"/>
              <a:t>is financing the ESTP training</a:t>
            </a:r>
            <a:r>
              <a:rPr lang="pl-PL" baseline="0" dirty="0"/>
              <a:t> </a:t>
            </a:r>
            <a:r>
              <a:rPr lang="pl-PL" baseline="0" dirty="0" err="1"/>
              <a:t>courses</a:t>
            </a:r>
            <a:r>
              <a:rPr lang="en-GB" dirty="0"/>
              <a:t>, therefore attendance is free of charge.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r>
              <a:rPr lang="pl-PL" baseline="0" dirty="0" err="1"/>
              <a:t>WHERE</a:t>
            </a:r>
            <a:r>
              <a:rPr lang="pl-PL" baseline="0" dirty="0"/>
              <a:t> </a:t>
            </a:r>
            <a:r>
              <a:rPr lang="pl-PL" baseline="0" dirty="0" err="1"/>
              <a:t>ARE</a:t>
            </a:r>
            <a:r>
              <a:rPr lang="pl-PL" baseline="0" dirty="0"/>
              <a:t> THE ESTP COURSES </a:t>
            </a:r>
            <a:r>
              <a:rPr lang="pl-PL" baseline="0" dirty="0" err="1"/>
              <a:t>ORGANISED</a:t>
            </a:r>
            <a:r>
              <a:rPr lang="es-ES" baseline="0" dirty="0"/>
              <a:t>?</a:t>
            </a:r>
            <a:r>
              <a:rPr lang="pl-PL" baseline="0" dirty="0"/>
              <a:t>:</a:t>
            </a:r>
          </a:p>
          <a:p>
            <a:pPr marL="228600" indent="-228600">
              <a:buAutoNum type="arabicPeriod"/>
            </a:pPr>
            <a:r>
              <a:rPr lang="pl-PL" baseline="0" dirty="0"/>
              <a:t>The </a:t>
            </a:r>
            <a:r>
              <a:rPr lang="pl-PL" baseline="0" dirty="0" err="1"/>
              <a:t>so</a:t>
            </a:r>
            <a:r>
              <a:rPr lang="pl-PL" baseline="0" dirty="0"/>
              <a:t> </a:t>
            </a:r>
            <a:r>
              <a:rPr lang="pl-PL" baseline="0" dirty="0" err="1"/>
              <a:t>called</a:t>
            </a:r>
            <a:r>
              <a:rPr lang="pl-PL" baseline="0" dirty="0"/>
              <a:t> ESTP in-</a:t>
            </a:r>
            <a:r>
              <a:rPr lang="pl-PL" baseline="0" dirty="0" err="1"/>
              <a:t>house</a:t>
            </a:r>
            <a:r>
              <a:rPr lang="pl-PL" baseline="0" dirty="0"/>
              <a:t> </a:t>
            </a:r>
            <a:r>
              <a:rPr lang="pl-PL" baseline="0" dirty="0" err="1"/>
              <a:t>courses</a:t>
            </a:r>
            <a:r>
              <a:rPr lang="pl-PL" baseline="0" dirty="0"/>
              <a:t>, </a:t>
            </a:r>
            <a:r>
              <a:rPr lang="pl-PL" baseline="0" dirty="0" err="1"/>
              <a:t>organised</a:t>
            </a:r>
            <a:r>
              <a:rPr lang="pl-PL" baseline="0" dirty="0"/>
              <a:t> by Eurostat, </a:t>
            </a:r>
            <a:r>
              <a:rPr lang="pl-PL" baseline="0" dirty="0" err="1"/>
              <a:t>take</a:t>
            </a:r>
            <a:r>
              <a:rPr lang="pl-PL" baseline="0" dirty="0"/>
              <a:t> place </a:t>
            </a:r>
            <a:r>
              <a:rPr lang="pl-PL" baseline="0" dirty="0" err="1"/>
              <a:t>at</a:t>
            </a:r>
            <a:r>
              <a:rPr lang="pl-PL" baseline="0" dirty="0"/>
              <a:t> Eurostat </a:t>
            </a:r>
            <a:r>
              <a:rPr lang="pl-PL" baseline="0" dirty="0" err="1"/>
              <a:t>premises</a:t>
            </a:r>
            <a:endParaRPr lang="pl-PL" baseline="0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pl-PL" dirty="0"/>
              <a:t>The</a:t>
            </a:r>
            <a:r>
              <a:rPr lang="pl-PL" baseline="0" dirty="0"/>
              <a:t> </a:t>
            </a:r>
            <a:r>
              <a:rPr lang="pl-PL" baseline="0" dirty="0" err="1"/>
              <a:t>external</a:t>
            </a:r>
            <a:r>
              <a:rPr lang="pl-PL" baseline="0" dirty="0"/>
              <a:t> ESTP </a:t>
            </a:r>
            <a:r>
              <a:rPr lang="pl-PL" baseline="0" dirty="0" err="1"/>
              <a:t>courses</a:t>
            </a:r>
            <a:r>
              <a:rPr lang="pl-PL" baseline="0" dirty="0"/>
              <a:t> </a:t>
            </a:r>
            <a:r>
              <a:rPr lang="pl-PL" baseline="0" dirty="0" err="1"/>
              <a:t>are</a:t>
            </a:r>
            <a:r>
              <a:rPr lang="pl-PL" baseline="0" dirty="0"/>
              <a:t> </a:t>
            </a:r>
            <a:r>
              <a:rPr lang="pl-PL" baseline="0" dirty="0" err="1"/>
              <a:t>organi</a:t>
            </a:r>
            <a:r>
              <a:rPr lang="fr-CH" baseline="0" dirty="0"/>
              <a:t>s</a:t>
            </a:r>
            <a:r>
              <a:rPr lang="pl-PL" baseline="0" dirty="0" err="1"/>
              <a:t>ed</a:t>
            </a:r>
            <a:r>
              <a:rPr lang="pl-PL" baseline="0" dirty="0"/>
              <a:t> </a:t>
            </a:r>
            <a:r>
              <a:rPr lang="en-GB" altLang="en-US" sz="1200" dirty="0"/>
              <a:t>by Eurostat contractors, often in cooperation with </a:t>
            </a:r>
            <a:r>
              <a:rPr lang="en-GB" altLang="en-US" sz="1200" dirty="0" err="1"/>
              <a:t>NSIs</a:t>
            </a:r>
            <a:endParaRPr lang="en-GB" altLang="en-US" sz="1200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pl-PL" baseline="0" dirty="0" err="1"/>
              <a:t>Normally</a:t>
            </a:r>
            <a:r>
              <a:rPr lang="pl-PL" baseline="0" dirty="0"/>
              <a:t>, 2-3 ESTP </a:t>
            </a:r>
            <a:r>
              <a:rPr lang="pl-PL" baseline="0" dirty="0" err="1"/>
              <a:t>courses</a:t>
            </a:r>
            <a:r>
              <a:rPr lang="pl-PL" baseline="0" dirty="0"/>
              <a:t> per </a:t>
            </a:r>
            <a:r>
              <a:rPr lang="pl-PL" baseline="0" dirty="0" err="1"/>
              <a:t>year</a:t>
            </a:r>
            <a:r>
              <a:rPr lang="pl-PL" baseline="0" dirty="0"/>
              <a:t> </a:t>
            </a:r>
            <a:r>
              <a:rPr lang="pl-PL" baseline="0" dirty="0" err="1"/>
              <a:t>are</a:t>
            </a:r>
            <a:r>
              <a:rPr lang="pl-PL" baseline="0" dirty="0"/>
              <a:t> </a:t>
            </a:r>
            <a:r>
              <a:rPr lang="pl-PL" baseline="0" dirty="0" err="1"/>
              <a:t>financed</a:t>
            </a:r>
            <a:r>
              <a:rPr lang="pl-PL" baseline="0" dirty="0"/>
              <a:t>/</a:t>
            </a:r>
            <a:r>
              <a:rPr lang="pl-PL" baseline="0" dirty="0" err="1"/>
              <a:t>organised</a:t>
            </a:r>
            <a:r>
              <a:rPr lang="pl-PL" baseline="0" dirty="0"/>
              <a:t> by EFTA </a:t>
            </a:r>
            <a:r>
              <a:rPr lang="pl-PL" altLang="en-US" sz="1200" dirty="0" err="1"/>
              <a:t>through</a:t>
            </a:r>
            <a:r>
              <a:rPr lang="pl-PL" altLang="en-US" sz="1200" dirty="0"/>
              <a:t> EFTA </a:t>
            </a:r>
            <a:r>
              <a:rPr lang="pl-PL" altLang="en-US" sz="1200" dirty="0" err="1"/>
              <a:t>NSIs</a:t>
            </a:r>
            <a:endParaRPr lang="en-GB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441B25-C4D1-47DB-817D-B9C4FC5392FB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209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00" y="733425"/>
            <a:ext cx="6616700" cy="3722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Do you need more info on the ESTP trainings?</a:t>
            </a:r>
          </a:p>
          <a:p>
            <a:pPr marL="0" indent="0">
              <a:buNone/>
            </a:pPr>
            <a:r>
              <a:rPr lang="en-GB" dirty="0"/>
              <a:t>The 2026 ESTP programme includes: </a:t>
            </a:r>
          </a:p>
          <a:p>
            <a:pPr marL="439738" lvl="1">
              <a:buFont typeface="Wingdings" panose="05000000000000000000" pitchFamily="2" charset="2"/>
              <a:buChar char="Ø"/>
            </a:pPr>
            <a:r>
              <a:rPr lang="en-GB" dirty="0"/>
              <a:t>43 classroom courses and webinar trainings + 4 Masterclasses</a:t>
            </a:r>
          </a:p>
          <a:p>
            <a:r>
              <a:rPr lang="en-GB" dirty="0"/>
              <a:t>With topics covering: </a:t>
            </a:r>
            <a:r>
              <a:rPr lang="de-DE" altLang="en-US" dirty="0" err="1"/>
              <a:t>many</a:t>
            </a:r>
            <a:r>
              <a:rPr lang="de-DE" altLang="en-US" dirty="0"/>
              <a:t> </a:t>
            </a:r>
            <a:r>
              <a:rPr lang="de-DE" altLang="en-US" dirty="0" err="1"/>
              <a:t>statistic</a:t>
            </a:r>
            <a:r>
              <a:rPr lang="de-DE" altLang="en-US" dirty="0"/>
              <a:t> </a:t>
            </a:r>
            <a:r>
              <a:rPr lang="de-DE" altLang="en-US" dirty="0" err="1"/>
              <a:t>topics</a:t>
            </a:r>
            <a:r>
              <a:rPr lang="de-DE" altLang="en-US" dirty="0"/>
              <a:t>, IT, </a:t>
            </a:r>
            <a:r>
              <a:rPr lang="de-DE" altLang="en-US" dirty="0" err="1"/>
              <a:t>data</a:t>
            </a:r>
            <a:r>
              <a:rPr lang="de-DE" altLang="en-US" dirty="0"/>
              <a:t> </a:t>
            </a:r>
            <a:r>
              <a:rPr lang="de-DE" altLang="en-US" dirty="0" err="1"/>
              <a:t>collection</a:t>
            </a:r>
            <a:r>
              <a:rPr lang="de-DE" altLang="en-US" dirty="0"/>
              <a:t>…..</a:t>
            </a:r>
            <a:endParaRPr lang="en-GB" dirty="0"/>
          </a:p>
          <a:p>
            <a:endParaRPr lang="en-GB" dirty="0"/>
          </a:p>
          <a:p>
            <a:r>
              <a:rPr lang="en-GB" dirty="0"/>
              <a:t>Visit the Eurostat CROS website to check the ESTP catalogue.</a:t>
            </a:r>
            <a:r>
              <a:rPr lang="en-GB" baseline="0" dirty="0"/>
              <a:t> Should you find a training </a:t>
            </a:r>
            <a:r>
              <a:rPr lang="pl-PL" baseline="0" dirty="0" err="1"/>
              <a:t>course</a:t>
            </a:r>
            <a:r>
              <a:rPr lang="pl-PL" baseline="0" dirty="0"/>
              <a:t> </a:t>
            </a:r>
            <a:r>
              <a:rPr lang="en-GB" baseline="0" dirty="0"/>
              <a:t>you would like to attend, </a:t>
            </a:r>
            <a:r>
              <a:rPr lang="en-GB" dirty="0"/>
              <a:t>contact your ESTP </a:t>
            </a:r>
            <a:r>
              <a:rPr lang="pl-PL" dirty="0"/>
              <a:t>N</a:t>
            </a:r>
            <a:r>
              <a:rPr lang="en-GB" dirty="0" err="1"/>
              <a:t>ational</a:t>
            </a:r>
            <a:r>
              <a:rPr lang="en-GB" dirty="0"/>
              <a:t> </a:t>
            </a:r>
            <a:r>
              <a:rPr lang="pl-PL" dirty="0"/>
              <a:t>C</a:t>
            </a:r>
            <a:r>
              <a:rPr lang="en-GB" dirty="0" err="1"/>
              <a:t>ontact</a:t>
            </a:r>
            <a:r>
              <a:rPr lang="en-GB" dirty="0"/>
              <a:t> </a:t>
            </a:r>
            <a:r>
              <a:rPr lang="pl-PL" dirty="0"/>
              <a:t>P</a:t>
            </a:r>
            <a:r>
              <a:rPr lang="en-GB" dirty="0" err="1"/>
              <a:t>oints</a:t>
            </a:r>
            <a:r>
              <a:rPr lang="en-GB" dirty="0"/>
              <a:t> by email. </a:t>
            </a:r>
          </a:p>
          <a:p>
            <a:endParaRPr lang="en-GB" dirty="0"/>
          </a:p>
          <a:p>
            <a:r>
              <a:rPr lang="en-GB" dirty="0"/>
              <a:t>All the material for all courses,</a:t>
            </a:r>
            <a:r>
              <a:rPr lang="en-GB" baseline="0" dirty="0"/>
              <a:t> going back a few years, </a:t>
            </a:r>
            <a:r>
              <a:rPr lang="pl-PL" dirty="0" err="1"/>
              <a:t>is</a:t>
            </a:r>
            <a:r>
              <a:rPr lang="en-GB" dirty="0"/>
              <a:t> available in the CIRCABC and you are welcome to use them for any purpose</a:t>
            </a:r>
            <a:r>
              <a:rPr lang="en-GB" baseline="0" dirty="0"/>
              <a:t> you see fit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For international organisations or in case you cannot find what you are looking for, please contact [us] @ </a:t>
            </a:r>
            <a:r>
              <a:rPr lang="en-GB" dirty="0">
                <a:hlinkClick r:id="rId3"/>
              </a:rPr>
              <a:t>estat-estp-contacts@ec.europa.eu</a:t>
            </a:r>
            <a:endParaRPr lang="en-GB" dirty="0"/>
          </a:p>
          <a:p>
            <a:r>
              <a:rPr lang="en-GB" dirty="0"/>
              <a:t>Eurostat’s [our] team will be happy to help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441B25-C4D1-47DB-817D-B9C4FC5392FB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264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057D2-A473-B425-F4BB-6F3E371F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74C7F-BBBD-73FA-A5CD-58C81D28B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400" y="733425"/>
            <a:ext cx="6616700" cy="37226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DD2D9-CDD9-B74B-B71D-FB0CEE2E8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Dear</a:t>
            </a:r>
            <a:r>
              <a:rPr lang="pl-PL" baseline="0" dirty="0"/>
              <a:t> Contractor, i</a:t>
            </a:r>
            <a:r>
              <a:rPr lang="en-GB" dirty="0"/>
              <a:t>f there is a lunch or other social event organised for the participants</a:t>
            </a:r>
            <a:r>
              <a:rPr lang="en-GB" baseline="0" dirty="0"/>
              <a:t> to be mentioned at this point.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140AA-C344-8D64-684B-ABBEE5E467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441B25-C4D1-47DB-817D-B9C4FC5392FB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677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Please help us improve by filling in the e-survey which you will receive by email by the end of </a:t>
            </a:r>
            <a:r>
              <a:rPr lang="en-GB"/>
              <a:t>the course.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441B25-C4D1-47DB-817D-B9C4FC5392FB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872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21231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9C8D21B7-B314-438C-91E9-7FF9087DC078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07911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>
  <p:cSld name="1_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9C8D21B7-B314-438C-91E9-7FF9087DC078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160533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>
  <p:cSld name="1_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9C8D21B7-B314-438C-91E9-7FF9087DC078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834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9C8D21B7-B314-438C-91E9-7FF9087DC078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48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19936" y="1700808"/>
            <a:ext cx="6048672" cy="2016224"/>
          </a:xfrm>
        </p:spPr>
        <p:txBody>
          <a:bodyPr/>
          <a:lstStyle>
            <a:lvl1pPr indent="0">
              <a:defRPr sz="4800">
                <a:solidFill>
                  <a:srgbClr val="FFD624"/>
                </a:solidFill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3392" y="3933056"/>
            <a:ext cx="4992555" cy="1872208"/>
          </a:xfrm>
        </p:spPr>
        <p:txBody>
          <a:bodyPr/>
          <a:lstStyle>
            <a:lvl1pPr marL="0" indent="0">
              <a:buNone/>
              <a:defRPr sz="3000" b="1" i="0">
                <a:solidFill>
                  <a:schemeClr val="bg1"/>
                </a:solidFill>
              </a:defRPr>
            </a:lvl1pPr>
            <a:lvl3pPr marL="228600" indent="-228600" algn="l">
              <a:defRPr sz="3000" b="1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BB59E6E-B967-488E-B209-8B7FA0D7AF99}" type="slidenum">
              <a:rPr lang="en-GB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940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69352" y="6145213"/>
            <a:ext cx="2990849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7" y="980729"/>
            <a:ext cx="10972800" cy="9366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8769351" y="116632"/>
            <a:ext cx="2844800" cy="47625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37126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2276872"/>
            <a:ext cx="10972800" cy="3633788"/>
          </a:xfrm>
        </p:spPr>
        <p:txBody>
          <a:bodyPr/>
          <a:lstStyle>
            <a:lvl1pPr marL="342900" indent="-342900">
              <a:buClr>
                <a:srgbClr val="0F5494"/>
              </a:buClr>
              <a:buFont typeface="Arial" pitchFamily="34" charset="0"/>
              <a:buChar char="•"/>
              <a:defRPr/>
            </a:lvl1pPr>
            <a:lvl2pPr>
              <a:buClr>
                <a:srgbClr val="0F5494"/>
              </a:buClr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39" y="6237312"/>
            <a:ext cx="3209400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70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54316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cros.ec.europa.eu/dashboard/estp-dashboard" TargetMode="External"/><Relationship Id="rId7" Type="http://schemas.openxmlformats.org/officeDocument/2006/relationships/hyperlink" Target="mailto:estat-estp-contacts@ec.europa.e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ircabc.europa.eu/ui/welcome" TargetMode="External"/><Relationship Id="rId5" Type="http://schemas.openxmlformats.org/officeDocument/2006/relationships/hyperlink" Target="https://ec.europa.eu/eurostat/web/european-statistical-system/training-programme-estp" TargetMode="External"/><Relationship Id="rId4" Type="http://schemas.openxmlformats.org/officeDocument/2006/relationships/hyperlink" Target="https://cros.ec.europa.eu/book-page/national-estp-contact-point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90123"/>
            <a:ext cx="9448800" cy="2037783"/>
          </a:xfrm>
        </p:spPr>
        <p:txBody>
          <a:bodyPr/>
          <a:lstStyle/>
          <a:p>
            <a:pPr algn="ctr"/>
            <a:endParaRPr lang="en-IE" sz="6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31C9B6-0D5A-CBB6-4776-D035A3A3E5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410"/>
          <a:stretch/>
        </p:blipFill>
        <p:spPr>
          <a:xfrm>
            <a:off x="911424" y="1340768"/>
            <a:ext cx="6264696" cy="35941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</p:spPr>
        <p:txBody>
          <a:bodyPr wrap="square" anchor="t"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GB" b="1" i="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ESTP</a:t>
            </a:r>
            <a:r>
              <a:rPr lang="en-GB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specialised training programme coordinated by Eurostat </a:t>
            </a:r>
          </a:p>
          <a:p>
            <a:pPr marL="0" indent="0">
              <a:buNone/>
            </a:pPr>
            <a:r>
              <a:rPr lang="en-GB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aims at:  </a:t>
            </a:r>
          </a:p>
          <a:p>
            <a:pPr>
              <a:spcBef>
                <a:spcPts val="600"/>
              </a:spcBef>
            </a:pP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raising the overall quality of European statistics;</a:t>
            </a:r>
          </a:p>
          <a:p>
            <a:pPr>
              <a:spcBef>
                <a:spcPts val="600"/>
              </a:spcBef>
            </a:pP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raising the qualification of statisticians in the ESS in order to promote their independence in line with the European Statistics Code of Practice;</a:t>
            </a:r>
          </a:p>
          <a:p>
            <a:pPr>
              <a:spcBef>
                <a:spcPts val="600"/>
              </a:spcBef>
            </a:pP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encouraging both theoretical and practical learning and development;</a:t>
            </a:r>
          </a:p>
          <a:p>
            <a:pPr>
              <a:spcBef>
                <a:spcPts val="600"/>
              </a:spcBef>
            </a:pP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encouraging the exchange of best practices, know-how and experience; </a:t>
            </a:r>
            <a:endParaRPr lang="en-GB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regularly identify new fields for courses, allowing training program participants to get new qualifications.</a:t>
            </a:r>
            <a:endParaRPr lang="en-GB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86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</p:spPr>
        <p:txBody>
          <a:bodyPr wrap="square" anchor="t">
            <a:normAutofit/>
          </a:bodyPr>
          <a:lstStyle/>
          <a:p>
            <a:r>
              <a:rPr lang="fr-CH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ESTP Target group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970721" y="1910188"/>
            <a:ext cx="7173133" cy="4240591"/>
          </a:xfrm>
        </p:spPr>
        <p:txBody>
          <a:bodyPr wrap="square" anchor="t">
            <a:normAutofit/>
          </a:bodyPr>
          <a:lstStyle/>
          <a:p>
            <a:pPr marL="457200" indent="-457200">
              <a:spcAft>
                <a:spcPts val="2400"/>
              </a:spcAft>
              <a:buFont typeface="+mj-lt"/>
              <a:buAutoNum type="arabicPeriod"/>
              <a:defRPr/>
            </a:pPr>
            <a:r>
              <a:rPr lang="en-US" sz="24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Primarily</a:t>
            </a: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addressed to staff from European National Statistical Institutes (</a:t>
            </a:r>
            <a:r>
              <a:rPr lang="en-US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NSIs</a:t>
            </a: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Other National Authorities (ONAs) in the European Statistical System (ESS) and Eurostat.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pplicants from other administrations, international </a:t>
            </a:r>
            <a:r>
              <a:rPr lang="en-US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organisations</a:t>
            </a: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non-European countries may be admitted depending on available places.</a:t>
            </a:r>
          </a:p>
          <a:p>
            <a:pPr marL="457200" indent="-457200">
              <a:spcAft>
                <a:spcPts val="2400"/>
              </a:spcAft>
              <a:buFont typeface="+mj-lt"/>
              <a:buAutoNum type="arabicPeriod"/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tudents at universities offering education related to Official Statistics, specially </a:t>
            </a:r>
            <a:r>
              <a:rPr lang="en-US" b="1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EMOS</a:t>
            </a:r>
            <a:r>
              <a:rPr lang="en-US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students may also be admitted, depending on the available places and course goals.</a:t>
            </a:r>
            <a:endParaRPr lang="en-GB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l="4025"/>
          <a:stretch>
            <a:fillRect/>
          </a:stretch>
        </p:blipFill>
        <p:spPr>
          <a:xfrm>
            <a:off x="8400256" y="2276872"/>
            <a:ext cx="3536188" cy="28149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5967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</p:spPr>
        <p:txBody>
          <a:bodyPr wrap="square" anchor="t"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55440" y="1780697"/>
            <a:ext cx="11173950" cy="4240591"/>
          </a:xfrm>
        </p:spPr>
        <p:txBody>
          <a:bodyPr wrap="square" anchor="t">
            <a:normAutofit fontScale="92500" lnSpcReduction="10000"/>
          </a:bodyPr>
          <a:lstStyle/>
          <a:p>
            <a:pPr marL="0" indent="0">
              <a:buSzPct val="200000"/>
              <a:buNone/>
              <a:defRPr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training fees? </a:t>
            </a:r>
            <a:r>
              <a:rPr lang="en-GB" sz="2400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</a:p>
          <a:p>
            <a:pPr marL="342000" lvl="1" indent="0">
              <a:buSzPct val="200000"/>
              <a:buNone/>
              <a:defRPr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ESTP trainings are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of charge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financed by Eurostat</a:t>
            </a:r>
          </a:p>
          <a:p>
            <a:pPr marL="630000" lvl="2" indent="0">
              <a:buNone/>
              <a:defRPr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(However,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travel expenses and daily allowances are not covered)</a:t>
            </a:r>
          </a:p>
          <a:p>
            <a:pPr marL="0" indent="0">
              <a:buNone/>
              <a:defRPr/>
            </a:pPr>
            <a:endParaRPr lang="en-US" sz="24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/>
            </a:pPr>
            <a:r>
              <a:rPr lang="en-US" sz="24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do ESTP courses take place?</a:t>
            </a:r>
          </a:p>
          <a:p>
            <a:pPr marL="342900" lvl="1" indent="-342900">
              <a:buSzPct val="150000"/>
              <a:defRPr/>
            </a:pPr>
            <a:r>
              <a:rPr lang="en-GB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Luxembourg</a:t>
            </a:r>
          </a:p>
          <a:p>
            <a:pPr marL="342900" lvl="1" indent="-342900">
              <a:buSzPct val="150000"/>
              <a:defRPr/>
            </a:pPr>
            <a:r>
              <a:rPr lang="en-GB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 Member States</a:t>
            </a:r>
          </a:p>
          <a:p>
            <a:pPr marL="342900" lvl="1" indent="-342900">
              <a:buSzPct val="150000"/>
              <a:defRPr/>
            </a:pPr>
            <a:r>
              <a:rPr lang="en-GB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EFTA countries</a:t>
            </a:r>
          </a:p>
          <a:p>
            <a:pPr marL="342900" lvl="1" indent="-342900">
              <a:buSzPct val="150000"/>
              <a:defRPr/>
            </a:pPr>
            <a:r>
              <a:rPr lang="en-GB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</a:t>
            </a:r>
          </a:p>
          <a:p>
            <a:pPr marL="0" indent="0">
              <a:buNone/>
              <a:defRPr/>
            </a:pPr>
            <a:endParaRPr lang="en-GB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4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Presence list must be signed every day to get the Certificate of attendance</a:t>
            </a:r>
          </a:p>
          <a:p>
            <a:pPr marL="914400" lvl="2" indent="0">
              <a:spcBef>
                <a:spcPts val="0"/>
              </a:spcBef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787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</p:spPr>
        <p:txBody>
          <a:bodyPr wrap="square" anchor="t"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more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6"/>
          </p:nvPr>
        </p:nvSpPr>
        <p:spPr>
          <a:xfrm>
            <a:off x="6096000" y="1910188"/>
            <a:ext cx="5976663" cy="4240591"/>
          </a:xfrm>
        </p:spPr>
        <p:txBody>
          <a:bodyPr wrap="square" anchor="t">
            <a:normAutofit/>
          </a:bodyPr>
          <a:lstStyle/>
          <a:p>
            <a:pPr>
              <a:spcAft>
                <a:spcPts val="2400"/>
              </a:spcAft>
              <a:buSzPct val="105000"/>
            </a:pPr>
            <a:r>
              <a:rPr lang="en-IE" sz="1800" dirty="0">
                <a:hlinkClick r:id="rId3"/>
              </a:rPr>
              <a:t>https://cros.ec.europa.eu/dashboard/estp-dashboard</a:t>
            </a:r>
            <a:endParaRPr lang="en-GB" sz="190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400"/>
              </a:spcAft>
              <a:buSzPct val="105000"/>
            </a:pPr>
            <a:r>
              <a:rPr lang="en-GB" sz="19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ESTP National Contact Point: </a:t>
            </a:r>
            <a:r>
              <a:rPr lang="fr-FR" sz="1800" dirty="0">
                <a:hlinkClick r:id="rId4"/>
              </a:rPr>
              <a:t>https://cros.ec.europa.eu/book-page/national-estp-contact-points</a:t>
            </a:r>
            <a:endParaRPr lang="en-GB" sz="190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5"/>
            </a:endParaRPr>
          </a:p>
          <a:p>
            <a:pPr>
              <a:spcAft>
                <a:spcPts val="2400"/>
              </a:spcAft>
              <a:buSzPct val="105000"/>
            </a:pPr>
            <a:r>
              <a:rPr lang="en-GB" sz="19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 of courses available at ESTP group in </a:t>
            </a:r>
            <a:r>
              <a:rPr lang="en-GB" sz="1900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CIRCABC</a:t>
            </a:r>
            <a:r>
              <a:rPr lang="en-GB" sz="19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https://circabc.europa.eu/ui/welcome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spcAft>
                <a:spcPts val="2400"/>
              </a:spcAft>
              <a:buSzPct val="105000"/>
            </a:pPr>
            <a:r>
              <a:rPr lang="en-GB" sz="19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 Functional Mailbox: 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estat-estp-contacts@ec.europa.eu</a:t>
            </a: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90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5"/>
            </a:endParaRPr>
          </a:p>
          <a:p>
            <a:endParaRPr lang="en-GB" sz="1900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5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A8AD36-748A-C6C7-38FC-9D4F679AE0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464" y="1628800"/>
            <a:ext cx="5618821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5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D1E53-763E-4FDE-EBB1-391B1C95A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F863-CE99-F14B-CC64-9290E79DB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32" y="503240"/>
            <a:ext cx="10515600" cy="782357"/>
          </a:xfrm>
        </p:spPr>
        <p:txBody>
          <a:bodyPr wrap="square" anchor="t"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logistics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242972-905B-9704-C70F-52A0AE214934}"/>
              </a:ext>
            </a:extLst>
          </p:cNvPr>
          <p:cNvSpPr txBox="1"/>
          <p:nvPr/>
        </p:nvSpPr>
        <p:spPr>
          <a:xfrm>
            <a:off x="983432" y="1556793"/>
            <a:ext cx="8163536" cy="4450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F5494"/>
              </a:buClr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rgbClr val="0F5494"/>
                </a:solidFill>
                <a:latin typeface="+mn-lt"/>
                <a:ea typeface="+mn-ea"/>
                <a:cs typeface="+mn-cs"/>
              </a:rPr>
              <a:t>Attendance list to be signed every day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F5494"/>
              </a:buClr>
              <a:buFont typeface="Wingdings" panose="05000000000000000000" pitchFamily="2" charset="2"/>
              <a:buChar char="ü"/>
            </a:pPr>
            <a:endParaRPr lang="en-GB" sz="2400" dirty="0">
              <a:solidFill>
                <a:srgbClr val="0F5494"/>
              </a:solidFill>
              <a:latin typeface="+mn-lt"/>
              <a:ea typeface="+mn-ea"/>
              <a:cs typeface="+mn-cs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F5494"/>
              </a:buClr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rgbClr val="0F5494"/>
                </a:solidFill>
                <a:latin typeface="+mn-lt"/>
                <a:ea typeface="+mn-ea"/>
                <a:cs typeface="+mn-cs"/>
              </a:rPr>
              <a:t>Coffee breaks and refreshments 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F5494"/>
              </a:buClr>
              <a:buFont typeface="Wingdings" panose="05000000000000000000" pitchFamily="2" charset="2"/>
              <a:buChar char="ü"/>
            </a:pPr>
            <a:endParaRPr lang="en-GB" sz="2400" dirty="0">
              <a:solidFill>
                <a:srgbClr val="0F5494"/>
              </a:solidFill>
              <a:latin typeface="+mn-lt"/>
              <a:ea typeface="+mn-ea"/>
              <a:cs typeface="+mn-cs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F5494"/>
              </a:buClr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rgbClr val="0F5494"/>
                </a:solidFill>
                <a:latin typeface="+mn-lt"/>
                <a:ea typeface="+mn-ea"/>
                <a:cs typeface="+mn-cs"/>
              </a:rPr>
              <a:t>Lunch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F5494"/>
              </a:buClr>
            </a:pPr>
            <a:endParaRPr lang="en-GB" sz="2400" dirty="0">
              <a:solidFill>
                <a:srgbClr val="0F5494"/>
              </a:solidFill>
              <a:latin typeface="+mn-lt"/>
              <a:ea typeface="+mn-ea"/>
              <a:cs typeface="+mn-cs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F5494"/>
              </a:buClr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rgbClr val="0F5494"/>
                </a:solidFill>
                <a:latin typeface="+mn-lt"/>
                <a:ea typeface="+mn-ea"/>
                <a:cs typeface="+mn-cs"/>
              </a:rPr>
              <a:t>Social event (dinner)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F5494"/>
              </a:buClr>
              <a:buFont typeface="Wingdings" panose="05000000000000000000" pitchFamily="2" charset="2"/>
              <a:buChar char="ü"/>
            </a:pPr>
            <a:endParaRPr lang="en-GB" sz="2400" dirty="0">
              <a:solidFill>
                <a:srgbClr val="0F5494"/>
              </a:solidFill>
              <a:latin typeface="+mn-lt"/>
              <a:ea typeface="+mn-ea"/>
              <a:cs typeface="+mn-cs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F5494"/>
              </a:buClr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rgbClr val="0F5494"/>
                </a:solidFill>
                <a:latin typeface="+mn-lt"/>
                <a:ea typeface="+mn-ea"/>
                <a:cs typeface="+mn-cs"/>
              </a:rPr>
              <a:t>Certificates of attendance distributed </a:t>
            </a:r>
          </a:p>
          <a:p>
            <a:pPr marL="0" indent="0" fontAlgn="base">
              <a:spcBef>
                <a:spcPct val="20000"/>
              </a:spcBef>
              <a:spcAft>
                <a:spcPct val="0"/>
              </a:spcAft>
              <a:buClr>
                <a:srgbClr val="0F5494"/>
              </a:buClr>
              <a:buNone/>
            </a:pPr>
            <a:r>
              <a:rPr lang="en-GB" sz="2400" dirty="0">
                <a:solidFill>
                  <a:srgbClr val="0F5494"/>
                </a:solidFill>
                <a:latin typeface="+mn-lt"/>
                <a:ea typeface="+mn-ea"/>
                <a:cs typeface="+mn-cs"/>
              </a:rPr>
              <a:t>the last day</a:t>
            </a:r>
          </a:p>
        </p:txBody>
      </p:sp>
    </p:spTree>
    <p:extLst>
      <p:ext uri="{BB962C8B-B14F-4D97-AF65-F5344CB8AC3E}">
        <p14:creationId xmlns:p14="http://schemas.microsoft.com/office/powerpoint/2010/main" val="87183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722" y="810036"/>
            <a:ext cx="10515600" cy="782357"/>
          </a:xfrm>
        </p:spPr>
        <p:txBody>
          <a:bodyPr wrap="square" anchor="t">
            <a:norm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opinion matters…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432454" y="1334124"/>
            <a:ext cx="5327092" cy="1086764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endParaRPr lang="en-GB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GB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Fill in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GB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e-survey to help us improve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546" y="479434"/>
            <a:ext cx="2364360" cy="2157478"/>
          </a:xfrm>
          <a:prstGeom prst="rect">
            <a:avLst/>
          </a:prstGeom>
          <a:noFill/>
          <a:ln/>
          <a:effectLst>
            <a:outerShdw blurRad="1270000" dir="2580000" algn="ctr" rotWithShape="0">
              <a:srgbClr val="000000">
                <a:alpha val="0"/>
              </a:srgbClr>
            </a:outerShdw>
            <a:reflection endPos="0" dist="50800" dir="5400000" sy="-100000" algn="bl" rotWithShape="0"/>
            <a:softEdge rad="76200"/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79F3F99-8C48-F488-FA38-7EB7A3A86C77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512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4000" b="0" i="0" u="none" strike="noStrike" cap="none">
                <a:solidFill>
                  <a:srgbClr val="2644A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</a:p>
          <a:p>
            <a:pPr algn="ctr"/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ENJOY THE COURSE!</a:t>
            </a:r>
          </a:p>
        </p:txBody>
      </p:sp>
    </p:spTree>
    <p:extLst>
      <p:ext uri="{BB962C8B-B14F-4D97-AF65-F5344CB8AC3E}">
        <p14:creationId xmlns:p14="http://schemas.microsoft.com/office/powerpoint/2010/main" val="3662506978"/>
      </p:ext>
    </p:extLst>
  </p:cSld>
  <p:clrMapOvr>
    <a:masterClrMapping/>
  </p:clrMapOvr>
</p:sld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P Presentation.pptx" id="{85432E84-AE38-48A5-8E2A-56BD42AD438C}" vid="{B160F647-7739-49C0-B35A-05A7413225B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ESTP Presentation</Template>
  <TotalTime>1</TotalTime>
  <Words>743</Words>
  <Application>Microsoft Office PowerPoint</Application>
  <PresentationFormat>Breedbeeld</PresentationFormat>
  <Paragraphs>83</Paragraphs>
  <Slides>7</Slides>
  <Notes>7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ESTAT Theme</vt:lpstr>
      <vt:lpstr>PowerPoint-presentatie</vt:lpstr>
      <vt:lpstr>What is the ESTP?</vt:lpstr>
      <vt:lpstr>ESTP Target group</vt:lpstr>
      <vt:lpstr>Course organization</vt:lpstr>
      <vt:lpstr>For more info</vt:lpstr>
      <vt:lpstr>Course logistics</vt:lpstr>
      <vt:lpstr>Your opinion matters…</vt:lpstr>
    </vt:vector>
  </TitlesOfParts>
  <Company>European Commission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European Statistical Training Programme (ESTP)</dc:title>
  <dc:creator>SERFIOTI Maria (ESTAT)</dc:creator>
  <cp:lastModifiedBy>Lodder, B.J.H. (Bob)</cp:lastModifiedBy>
  <cp:revision>58</cp:revision>
  <cp:lastPrinted>2019-12-18T10:00:36Z</cp:lastPrinted>
  <dcterms:created xsi:type="dcterms:W3CDTF">2019-12-12T11:02:57Z</dcterms:created>
  <dcterms:modified xsi:type="dcterms:W3CDTF">2026-08-03T09:24:02Z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d9ddd1-4d20-43f6-abfa-fc3c07406f94_Enabled">
    <vt:lpwstr>true</vt:lpwstr>
  </property>
  <property fmtid="{D5CDD505-2E9C-101B-9397-08002B2CF9AE}" pid="3" name="MSIP_Label_6bd9ddd1-4d20-43f6-abfa-fc3c07406f94_SetDate">
    <vt:lpwstr>2026-02-02T13:36:08Z</vt:lpwstr>
  </property>
  <property fmtid="{D5CDD505-2E9C-101B-9397-08002B2CF9AE}" pid="4" name="MSIP_Label_6bd9ddd1-4d20-43f6-abfa-fc3c07406f94_Method">
    <vt:lpwstr>Standard</vt:lpwstr>
  </property>
  <property fmtid="{D5CDD505-2E9C-101B-9397-08002B2CF9AE}" pid="5" name="MSIP_Label_6bd9ddd1-4d20-43f6-abfa-fc3c07406f94_Name">
    <vt:lpwstr>Commission Use</vt:lpwstr>
  </property>
  <property fmtid="{D5CDD505-2E9C-101B-9397-08002B2CF9AE}" pid="6" name="MSIP_Label_6bd9ddd1-4d20-43f6-abfa-fc3c07406f94_SiteId">
    <vt:lpwstr>b24c8b06-522c-46fe-9080-70926f8dddb1</vt:lpwstr>
  </property>
  <property fmtid="{D5CDD505-2E9C-101B-9397-08002B2CF9AE}" pid="7" name="MSIP_Label_6bd9ddd1-4d20-43f6-abfa-fc3c07406f94_ActionId">
    <vt:lpwstr>b5f6cb18-50ea-4353-9810-ecaa7125d8f2</vt:lpwstr>
  </property>
  <property fmtid="{D5CDD505-2E9C-101B-9397-08002B2CF9AE}" pid="8" name="MSIP_Label_6bd9ddd1-4d20-43f6-abfa-fc3c07406f94_ContentBits">
    <vt:lpwstr>0</vt:lpwstr>
  </property>
  <property fmtid="{D5CDD505-2E9C-101B-9397-08002B2CF9AE}" pid="9" name="MSIP_Label_6bd9ddd1-4d20-43f6-abfa-fc3c07406f94_Tag">
    <vt:lpwstr>10, 3, 0, 1</vt:lpwstr>
  </property>
</Properties>
</file>